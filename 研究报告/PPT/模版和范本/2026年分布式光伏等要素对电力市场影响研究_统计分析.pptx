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3"/>
  </p:sldMasterIdLst>
  <p:notesMasterIdLst>
    <p:notesMasterId r:id="rId5"/>
  </p:notesMasterIdLst>
  <p:handoutMasterIdLst>
    <p:handoutMasterId r:id="rId37"/>
  </p:handoutMasterIdLst>
  <p:sldIdLst>
    <p:sldId id="16604208" r:id="rId4"/>
    <p:sldId id="16604228" r:id="rId6"/>
    <p:sldId id="16604231" r:id="rId7"/>
    <p:sldId id="16604229" r:id="rId8"/>
    <p:sldId id="16604232" r:id="rId9"/>
    <p:sldId id="16604206" r:id="rId10"/>
    <p:sldId id="16604233" r:id="rId11"/>
    <p:sldId id="16604209" r:id="rId12"/>
    <p:sldId id="16604234" r:id="rId13"/>
    <p:sldId id="16604210" r:id="rId14"/>
    <p:sldId id="16604211" r:id="rId15"/>
    <p:sldId id="16604212" r:id="rId16"/>
    <p:sldId id="16604213" r:id="rId17"/>
    <p:sldId id="16604235" r:id="rId18"/>
    <p:sldId id="16604214" r:id="rId19"/>
    <p:sldId id="16604215" r:id="rId20"/>
    <p:sldId id="16604216" r:id="rId21"/>
    <p:sldId id="16604244" r:id="rId22"/>
    <p:sldId id="16604217" r:id="rId23"/>
    <p:sldId id="16604243" r:id="rId24"/>
    <p:sldId id="16604218" r:id="rId25"/>
    <p:sldId id="16604246" r:id="rId26"/>
    <p:sldId id="16604220" r:id="rId27"/>
    <p:sldId id="16604222" r:id="rId28"/>
    <p:sldId id="16604221" r:id="rId29"/>
    <p:sldId id="16604245" r:id="rId30"/>
    <p:sldId id="16604224" r:id="rId31"/>
    <p:sldId id="16604225" r:id="rId32"/>
    <p:sldId id="16604226" r:id="rId33"/>
    <p:sldId id="16604247" r:id="rId34"/>
    <p:sldId id="16604230" r:id="rId35"/>
    <p:sldId id="16604227" r:id="rId36"/>
  </p:sldIdLst>
  <p:sldSz cx="12192000" cy="6858000"/>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73" userDrawn="1">
          <p15:clr>
            <a:srgbClr val="A4A3A4"/>
          </p15:clr>
        </p15:guide>
        <p15:guide id="2" pos="355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angjinrong" initials="y" lastIdx="1" clrIdx="0"/>
  <p:cmAuthor id="1" name="jijie" initials="j" lastIdx="2" clrIdx="0"/>
  <p:cmAuthor id="2" name="lenovo" initials="l" lastIdx="2" clrIdx="0"/>
  <p:cmAuthor id="3" name="肖强" initials="肖" lastIdx="1" clrIdx="1"/>
  <p:cmAuthor id="4" name="sihua guo" initials="s" lastIdx="4" clrIdx="2"/>
  <p:cmAuthor id="5" name="Administrator" initials="A" lastIdx="20" clrIdx="3"/>
  <p:cmAuthor id="6" name="福与天琦" initials="" lastIdx="8" clrIdx="0"/>
  <p:cmAuthor id="8" name="quhep" initials="" lastIdx="33" clrIdx="2"/>
  <p:cmAuthor id="9" name="CEPRI-0592" initials="" lastIdx="1" clrIdx="3"/>
  <p:cmAuthor id="10" name="sunshiming-nb" initials="s" lastIdx="2" clrIdx="8"/>
  <p:cmAuthor id="11" name="zhuangyi" initials="z" lastIdx="3" clrIdx="10"/>
  <p:cmAuthor id="12" name="蒋 超" initials="" lastIdx="0" clrIdx="11"/>
  <p:cmAuthor id="13" name="joseph0311@163.com" initials="Jo" lastIdx="0" clrIdx="1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C55E"/>
    <a:srgbClr val="1D979D"/>
    <a:srgbClr val="78B8B6"/>
    <a:srgbClr val="029694"/>
    <a:srgbClr val="00706B"/>
    <a:srgbClr val="E3732E"/>
    <a:srgbClr val="E55F4D"/>
    <a:srgbClr val="DD5400"/>
    <a:srgbClr val="D9958F"/>
    <a:srgbClr val="CE3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59" autoAdjust="0"/>
    <p:restoredTop sz="94063" autoAdjust="0"/>
  </p:normalViewPr>
  <p:slideViewPr>
    <p:cSldViewPr snapToGrid="0" showGuides="1">
      <p:cViewPr>
        <p:scale>
          <a:sx n="33" d="100"/>
          <a:sy n="33" d="100"/>
        </p:scale>
        <p:origin x="2179" y="744"/>
      </p:cViewPr>
      <p:guideLst>
        <p:guide orient="horz" pos="3373"/>
        <p:guide pos="355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6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6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6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6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3"/>
            <a:ext cx="7315200" cy="2700338"/>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01ACECE-0D32-48DA-BB5F-EC00279CF4C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五类要素：分布式光伏、自备电厂清洁替代、绿电直连、零碳园区、新型储能。每类按政策定位、关键规模、政策要求三条给出；规模数据以2026年8月末为主，试点名单为2025年。下方全链条六环节说明政策约束如何逐级传导到项目。</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上网电量（储能）	储能放电送入电网的关口电量（放电侧计量）。</a:t>
            </a:r>
            <a:endParaRPr lang="zh-CN" altLang="en-US"/>
          </a:p>
          <a:p>
            <a:r>
              <a:rPr lang="zh-CN" altLang="en-US"/>
              <a:t>下网电量（储能）	储能从电网取电的关口电量（充电侧计量）。</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t>用电量指全社会用电量</a:t>
            </a:r>
            <a:endParaRPr 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t>分市新能源发电量占比为本市新能源发电量</a:t>
            </a:r>
            <a:r>
              <a:rPr lang="en-US" altLang="zh-CN"/>
              <a:t>/</a:t>
            </a:r>
            <a:r>
              <a:rPr lang="zh-CN" altLang="en-US"/>
              <a:t>本市</a:t>
            </a:r>
            <a:r>
              <a:rPr lang="zh-CN" altLang="en-US"/>
              <a:t>总发电量</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t>用电量指</a:t>
            </a:r>
            <a:r>
              <a:rPr lang="zh-CN"/>
              <a:t>全社会用电量</a:t>
            </a:r>
            <a:endParaRPr 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页三张图分别对应单位投资、投资回收期（税后）和资本金IRR。单位投资：平价8个样本3106—4793元/千瓦、均值3790元，较2016年参照8725元下降约57%；市场机制2个样本2501—3210元/千瓦。投资回收期：税后8.28—15.4年，渔光互补多在13.05—13.14年，屋顶全额上网为12.71年。资本金IRR：7.35%—17.66%，6个样本落在8.04%—9.45%，贴近8%的资本金税后基准；基准取自《建设项目经济评价方法与参数》（第三版）其他能源发电。</a:t>
            </a:r>
            <a:r>
              <a:rPr lang="zh-CN"/>
              <a:t>如东和龙潭未列出投资回收期和资本金内部收益率。</a:t>
            </a:r>
            <a:r>
              <a:rPr lang="zh-CN" altLang="en-US"/>
              <a:t>8%基准——系第三版"其他能源发电"资本金税后基准，非各可研自用基准，项目自行</a:t>
            </a:r>
            <a:r>
              <a:rPr lang="zh-CN" altLang="en-US"/>
              <a:t>算定。</a:t>
            </a:r>
            <a:endParaRPr lang="zh-CN" altLang="en-US"/>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zh-CN"/>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a:t>净负荷	用电负荷减去新能源出力。</a:t>
            </a:r>
            <a:endParaRPr lang="zh-CN" altLang="en-US"/>
          </a:p>
          <a:p>
            <a:r>
              <a:rPr lang="zh-CN" altLang="en-US"/>
              <a:t>晚峰爬坡	傍晚光伏出力骤降、负荷上升，净负荷快速抬升；衡量爬坡速率，不是容量。</a:t>
            </a:r>
            <a:endParaRPr lang="zh-CN" altLang="en-US"/>
          </a:p>
          <a:p>
            <a:r>
              <a:rPr lang="zh-CN" altLang="en-US"/>
              <a:t>配变倒送	分布式电源出力大于本地负荷，功率由配变低压侧向高压侧反送。</a:t>
            </a:r>
            <a:endParaRPr lang="zh-CN" altLang="en-US"/>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a:t>绿电交易／环境溢价	绿色电力中长期交易；成交价高于电能量价格的部分。</a:t>
            </a:r>
            <a:endParaRPr lang="zh-CN" altLang="en-US"/>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image" Target="../media/image5.jpeg"/><Relationship Id="rId2" Type="http://schemas.openxmlformats.org/officeDocument/2006/relationships/image" Target="../media/image4.png"/><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image" Target="../media/image4.png"/><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image" Target="../media/image4.png"/><Relationship Id="rId15" Type="http://schemas.openxmlformats.org/officeDocument/2006/relationships/tags" Target="../tags/tag34.xml"/><Relationship Id="rId14" Type="http://schemas.openxmlformats.org/officeDocument/2006/relationships/image" Target="../media/image7.svg"/><Relationship Id="rId13" Type="http://schemas.openxmlformats.org/officeDocument/2006/relationships/image" Target="../media/image6.png"/><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image" Target="../media/image5.jpeg"/><Relationship Id="rId2" Type="http://schemas.openxmlformats.org/officeDocument/2006/relationships/image" Target="../media/image4.png"/><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image" Target="../media/image4.png"/><Relationship Id="rId10" Type="http://schemas.openxmlformats.org/officeDocument/2006/relationships/tags" Target="../tags/tag5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image" Target="../media/image4.png"/><Relationship Id="rId15" Type="http://schemas.openxmlformats.org/officeDocument/2006/relationships/tags" Target="../tags/tag68.xml"/><Relationship Id="rId14" Type="http://schemas.openxmlformats.org/officeDocument/2006/relationships/image" Target="../media/image8.svg"/><Relationship Id="rId13" Type="http://schemas.openxmlformats.org/officeDocument/2006/relationships/image" Target="../media/image6.png"/><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无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有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3" name="标题 1"/>
          <p:cNvSpPr>
            <a:spLocks noGrp="1"/>
          </p:cNvSpPr>
          <p:nvPr>
            <p:ph type="title" hasCustomPrompt="1"/>
          </p:nvPr>
        </p:nvSpPr>
        <p:spPr>
          <a:xfrm>
            <a:off x="716279" y="565179"/>
            <a:ext cx="10757035" cy="539650"/>
          </a:xfrm>
          <a:prstGeom prst="rect">
            <a:avLst/>
          </a:prstGeom>
        </p:spPr>
        <p:txBody>
          <a:bodyPr/>
          <a:lstStyle>
            <a:lvl1pPr>
              <a:lnSpc>
                <a:spcPct val="100000"/>
              </a:lnSpc>
              <a:defRPr sz="3000"/>
            </a:lvl1pPr>
          </a:lstStyle>
          <a:p>
            <a:r>
              <a:rPr lang="zh-CN" altLang="en-US" dirty="0"/>
              <a:t>在此输入内容标题</a:t>
            </a:r>
            <a:endParaRPr lang="zh-CN" alt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有标题-纯色背景">
    <p:bg>
      <p:bgPr>
        <a:solidFill>
          <a:schemeClr val="bg1"/>
        </a:solidFill>
        <a:effectLst/>
      </p:bgPr>
    </p:bg>
    <p:spTree>
      <p:nvGrpSpPr>
        <p:cNvPr id="1" name=""/>
        <p:cNvGrpSpPr/>
        <p:nvPr/>
      </p:nvGrpSpPr>
      <p:grpSpPr>
        <a:xfrm>
          <a:off x="0" y="0"/>
          <a:ext cx="0" cy="0"/>
          <a:chOff x="0" y="0"/>
          <a:chExt cx="0" cy="0"/>
        </a:xfrm>
      </p:grpSpPr>
      <p:pic>
        <p:nvPicPr>
          <p:cNvPr id="8" name="图片 7" descr="背景图案&#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1974" cy="6858000"/>
          </a:xfrm>
          <a:prstGeom prst="rect">
            <a:avLst/>
          </a:prstGeom>
        </p:spPr>
      </p:pic>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10001774" y="20211"/>
            <a:ext cx="2028683" cy="745241"/>
          </a:xfrm>
          <a:prstGeom prst="rect">
            <a:avLst/>
          </a:prstGeom>
        </p:spPr>
      </p:pic>
      <p:grpSp>
        <p:nvGrpSpPr>
          <p:cNvPr id="9"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3"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6"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7" name="页脚占位符 3"/>
          <p:cNvSpPr>
            <a:spLocks noGrp="1"/>
          </p:cNvSpPr>
          <p:nvPr>
            <p:ph type="ftr" sz="quarter" idx="11"/>
          </p:nvPr>
        </p:nvSpPr>
        <p:spPr>
          <a:xfrm>
            <a:off x="4038600" y="6356350"/>
            <a:ext cx="4114800" cy="365125"/>
          </a:xfrm>
        </p:spPr>
        <p:txBody>
          <a:bodyPr/>
          <a:lstStyle/>
          <a:p>
            <a:endParaRPr lang="zh-CN" altLang="en-US"/>
          </a:p>
        </p:txBody>
      </p:sp>
      <p:sp>
        <p:nvSpPr>
          <p:cNvPr id="8"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0" y="1"/>
            <a:ext cx="12192000" cy="6857999"/>
          </a:xfrm>
          <a:prstGeom prst="rect">
            <a:avLst/>
          </a:prstGeom>
        </p:spPr>
      </p:pic>
      <p:pic>
        <p:nvPicPr>
          <p:cNvPr id="10" name="图片 9" descr="湖中的塔&#10;&#10;中度可信度描述已自动生成"/>
          <p:cNvPicPr>
            <a:picLocks noChangeAspect="1"/>
          </p:cNvPicPr>
          <p:nvPr userDrawn="1"/>
        </p:nvPicPr>
        <p:blipFill rotWithShape="1">
          <a:blip r:embed="rId3">
            <a:alphaModFix amt="10000"/>
            <a:extLst>
              <a:ext uri="{28A0092B-C50C-407E-A947-70E740481C1C}">
                <a14:useLocalDpi xmlns:a14="http://schemas.microsoft.com/office/drawing/2010/main" val="0"/>
              </a:ext>
            </a:extLst>
          </a:blip>
          <a:srcRect t="29320" r="16998" b="62291"/>
          <a:stretch>
            <a:fillRect/>
          </a:stretch>
        </p:blipFill>
        <p:spPr>
          <a:xfrm flipH="1">
            <a:off x="0" y="3"/>
            <a:ext cx="12191992" cy="820129"/>
          </a:xfrm>
          <a:prstGeom prst="rect">
            <a:avLst/>
          </a:prstGeom>
        </p:spPr>
      </p:pic>
      <p:grpSp>
        <p:nvGrpSpPr>
          <p:cNvPr id="11" name="PA-组合 12"/>
          <p:cNvGrpSpPr/>
          <p:nvPr userDrawn="1">
            <p:custDataLst>
              <p:tags r:id="rId4"/>
            </p:custDataLst>
          </p:nvPr>
        </p:nvGrpSpPr>
        <p:grpSpPr>
          <a:xfrm flipH="1">
            <a:off x="369164" y="347732"/>
            <a:ext cx="299711" cy="301533"/>
            <a:chOff x="2936075" y="352103"/>
            <a:chExt cx="390156" cy="379098"/>
          </a:xfrm>
          <a:gradFill>
            <a:gsLst>
              <a:gs pos="0">
                <a:srgbClr val="1A9F9D"/>
              </a:gs>
              <a:gs pos="100000">
                <a:srgbClr val="18817D">
                  <a:alpha val="50000"/>
                </a:srgbClr>
              </a:gs>
            </a:gsLst>
            <a:lin ang="5400000" scaled="1"/>
          </a:gradFill>
        </p:grpSpPr>
        <p:sp>
          <p:nvSpPr>
            <p:cNvPr id="12" name="PA-矩形 13"/>
            <p:cNvSpPr/>
            <p:nvPr>
              <p:custDataLst>
                <p:tags r:id="rId5"/>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3" name="PA-矩形 14"/>
            <p:cNvSpPr/>
            <p:nvPr>
              <p:custDataLst>
                <p:tags r:id="rId6"/>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2"/>
            <p:cNvSpPr/>
            <p:nvPr>
              <p:custDataLst>
                <p:tags r:id="rId7"/>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5" name="PA-矩形 3"/>
            <p:cNvSpPr/>
            <p:nvPr>
              <p:custDataLst>
                <p:tags r:id="rId8"/>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7"/>
            <p:cNvSpPr/>
            <p:nvPr>
              <p:custDataLst>
                <p:tags r:id="rId9"/>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18"/>
            <p:cNvSpPr/>
            <p:nvPr>
              <p:custDataLst>
                <p:tags r:id="rId10"/>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 name="PA-圆角矩形 4"/>
          <p:cNvSpPr/>
          <p:nvPr userDrawn="1">
            <p:custDataLst>
              <p:tags r:id="rId11"/>
            </p:custDataLst>
          </p:nvPr>
        </p:nvSpPr>
        <p:spPr>
          <a:xfrm>
            <a:off x="337333" y="792610"/>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userDrawn="1"/>
        </p:nvSpPr>
        <p:spPr>
          <a:xfrm>
            <a:off x="3048000" y="6572181"/>
            <a:ext cx="6096000" cy="276999"/>
          </a:xfrm>
          <a:prstGeom prst="rect">
            <a:avLst/>
          </a:prstGeom>
          <a:noFill/>
        </p:spPr>
        <p:txBody>
          <a:bodyPr wrap="square">
            <a:spAutoFit/>
          </a:bodyPr>
          <a:lstStyle/>
          <a:p>
            <a:pPr algn="ctr"/>
            <a:fld id="{48F63A3B-78C7-47BE-AE5E-E10140E04643}" type="slidenum">
              <a:rPr kumimoji="0" lang="en-US" altLang="zh-CN" sz="1200" b="0" i="0" u="none" strike="noStrike" kern="1200" cap="none" spc="0" normalizeH="0" baseline="0" noProof="0" smtClean="0">
                <a:ln>
                  <a:noFill/>
                </a:ln>
                <a:solidFill>
                  <a:prstClr val="white"/>
                </a:solidFill>
                <a:effectLst/>
                <a:uLnTx/>
                <a:uFillTx/>
                <a:latin typeface="等线" panose="02010600030101010101" charset="-122"/>
                <a:ea typeface="等线" panose="02010600030101010101" charset="-122"/>
                <a:cs typeface="微软雅黑" panose="020B0503020204020204" pitchFamily="34" charset="-122"/>
              </a:rPr>
            </a:fld>
            <a:endParaRPr lang="zh-CN" alt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6" name="图片 5"/>
          <p:cNvPicPr>
            <a:picLocks noChangeAspect="1"/>
          </p:cNvPicPr>
          <p:nvPr userDrawn="1"/>
        </p:nvPicPr>
        <p:blipFill>
          <a:blip r:embed="rId2"/>
          <a:stretch>
            <a:fillRect/>
          </a:stretch>
        </p:blipFill>
        <p:spPr>
          <a:xfrm>
            <a:off x="0" y="1"/>
            <a:ext cx="12192000" cy="6857999"/>
          </a:xfrm>
          <a:prstGeom prst="rect">
            <a:avLst/>
          </a:prstGeom>
        </p:spPr>
      </p:pic>
      <p:grpSp>
        <p:nvGrpSpPr>
          <p:cNvPr id="8" name="组合 7"/>
          <p:cNvGrpSpPr/>
          <p:nvPr userDrawn="1"/>
        </p:nvGrpSpPr>
        <p:grpSpPr>
          <a:xfrm>
            <a:off x="6524387" y="435915"/>
            <a:ext cx="3584814" cy="172164"/>
            <a:chOff x="3249935" y="6633341"/>
            <a:chExt cx="11479257" cy="794917"/>
          </a:xfrm>
        </p:grpSpPr>
        <p:sp>
          <p:nvSpPr>
            <p:cNvPr id="9" name="平行四边形 8"/>
            <p:cNvSpPr/>
            <p:nvPr/>
          </p:nvSpPr>
          <p:spPr>
            <a:xfrm>
              <a:off x="3249935" y="6944964"/>
              <a:ext cx="11021960" cy="483294"/>
            </a:xfrm>
            <a:prstGeom prst="parallelogram">
              <a:avLst>
                <a:gd name="adj" fmla="val 73058"/>
              </a:avLst>
            </a:prstGeom>
            <a:gradFill flip="none" rotWithShape="1">
              <a:gsLst>
                <a:gs pos="0">
                  <a:schemeClr val="accent1">
                    <a:alpha val="55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sp>
          <p:nvSpPr>
            <p:cNvPr id="18" name="平行四边形 17"/>
            <p:cNvSpPr/>
            <p:nvPr/>
          </p:nvSpPr>
          <p:spPr>
            <a:xfrm>
              <a:off x="3707233" y="6633341"/>
              <a:ext cx="11021959" cy="483293"/>
            </a:xfrm>
            <a:prstGeom prst="parallelogram">
              <a:avLst>
                <a:gd name="adj" fmla="val 73058"/>
              </a:avLst>
            </a:prstGeom>
            <a:gradFill flip="none" rotWithShape="1">
              <a:gsLst>
                <a:gs pos="0">
                  <a:schemeClr val="accent2">
                    <a:alpha val="99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grpSp>
      <p:grpSp>
        <p:nvGrpSpPr>
          <p:cNvPr id="21" name="PA-组合 12"/>
          <p:cNvGrpSpPr/>
          <p:nvPr userDrawn="1">
            <p:custDataLst>
              <p:tags r:id="rId3"/>
            </p:custDataLst>
          </p:nvPr>
        </p:nvGrpSpPr>
        <p:grpSpPr>
          <a:xfrm flipH="1">
            <a:off x="376421" y="253391"/>
            <a:ext cx="299711" cy="301533"/>
            <a:chOff x="2936075" y="352103"/>
            <a:chExt cx="390156" cy="379098"/>
          </a:xfrm>
          <a:gradFill>
            <a:gsLst>
              <a:gs pos="0">
                <a:srgbClr val="1A9F9D"/>
              </a:gs>
              <a:gs pos="100000">
                <a:srgbClr val="18817D">
                  <a:alpha val="50000"/>
                </a:srgbClr>
              </a:gs>
            </a:gsLst>
            <a:lin ang="5400000" scaled="1"/>
          </a:gradFill>
        </p:grpSpPr>
        <p:sp>
          <p:nvSpPr>
            <p:cNvPr id="22"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3"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4"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5"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7"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3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32" name="PA-圆角矩形 4"/>
          <p:cNvSpPr/>
          <p:nvPr userDrawn="1">
            <p:custDataLst>
              <p:tags r:id="rId10"/>
            </p:custDataLst>
          </p:nvPr>
        </p:nvSpPr>
        <p:spPr>
          <a:xfrm>
            <a:off x="337333" y="727297"/>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20292"/>
            <a:ext cx="12192000" cy="6857999"/>
          </a:xfrm>
          <a:prstGeom prst="rect">
            <a:avLst/>
          </a:prstGeom>
        </p:spPr>
      </p:pic>
      <p:grpSp>
        <p:nvGrpSpPr>
          <p:cNvPr id="14"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5"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1" name="PA-圆角矩形 4"/>
          <p:cNvSpPr/>
          <p:nvPr userDrawn="1">
            <p:custDataLst>
              <p:tags r:id="rId10"/>
            </p:custDataLst>
          </p:nvPr>
        </p:nvSpPr>
        <p:spPr>
          <a:xfrm>
            <a:off x="337333" y="756325"/>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PA-任意多边形 2"/>
          <p:cNvSpPr/>
          <p:nvPr userDrawn="1">
            <p:custDataLst>
              <p:tags r:id="rId11"/>
            </p:custDataLst>
          </p:nvPr>
        </p:nvSpPr>
        <p:spPr>
          <a:xfrm>
            <a:off x="11860363" y="6525314"/>
            <a:ext cx="345010" cy="180286"/>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形 12"/>
          <p:cNvPicPr>
            <a:picLocks noChangeAspect="1"/>
          </p:cNvPicPr>
          <p:nvPr userDrawn="1">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11657242" y="6366416"/>
            <a:ext cx="488898" cy="488898"/>
          </a:xfrm>
          <a:prstGeom prst="rect">
            <a:avLst/>
          </a:prstGeom>
        </p:spPr>
      </p:pic>
      <p:sp>
        <p:nvSpPr>
          <p:cNvPr id="22" name="PA-任意多边形 2"/>
          <p:cNvSpPr/>
          <p:nvPr userDrawn="1">
            <p:custDataLst>
              <p:tags r:id="rId15"/>
            </p:custDataLst>
          </p:nvPr>
        </p:nvSpPr>
        <p:spPr>
          <a:xfrm>
            <a:off x="11840992" y="6510214"/>
            <a:ext cx="381027" cy="201639"/>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48F63A3B-78C7-47BE-AE5E-E10140E04643}" type="slidenum">
              <a:rPr kumimoji="0" lang="en-US" altLang="zh-CN" sz="1200" b="1"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微软雅黑" panose="020B0503020204020204" pitchFamily="34" charset="-122"/>
              </a:rPr>
            </a:fld>
            <a:endParaRPr kumimoji="0" lang="zh-CN" altLang="en-US" sz="1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无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有标题-渐变背景">
    <p:spTree>
      <p:nvGrpSpPr>
        <p:cNvPr id="1" name=""/>
        <p:cNvGrpSpPr/>
        <p:nvPr/>
      </p:nvGrpSpPr>
      <p:grpSpPr>
        <a:xfrm>
          <a:off x="0" y="0"/>
          <a:ext cx="0" cy="0"/>
          <a:chOff x="0" y="0"/>
          <a:chExt cx="0" cy="0"/>
        </a:xfrm>
      </p:grpSpPr>
      <p:pic>
        <p:nvPicPr>
          <p:cNvPr id="2" name="图片 1" descr="查看图片"/>
          <p:cNvPicPr>
            <a:picLocks noChangeAspect="1" noChangeArrowheads="1"/>
          </p:cNvPicPr>
          <p:nvPr userDrawn="1"/>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l="4918" t="2271" r="4918" b="2259"/>
          <a:stretch>
            <a:fillRect/>
          </a:stretch>
        </p:blipFill>
        <p:spPr bwMode="auto">
          <a:xfrm rot="16200000">
            <a:off x="2667000" y="-2667000"/>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3" name="标题 1"/>
          <p:cNvSpPr>
            <a:spLocks noGrp="1"/>
          </p:cNvSpPr>
          <p:nvPr>
            <p:ph type="title" hasCustomPrompt="1"/>
          </p:nvPr>
        </p:nvSpPr>
        <p:spPr>
          <a:xfrm>
            <a:off x="716279" y="565179"/>
            <a:ext cx="10757035" cy="539650"/>
          </a:xfrm>
          <a:prstGeom prst="rect">
            <a:avLst/>
          </a:prstGeom>
        </p:spPr>
        <p:txBody>
          <a:bodyPr/>
          <a:lstStyle>
            <a:lvl1pPr>
              <a:lnSpc>
                <a:spcPct val="100000"/>
              </a:lnSpc>
              <a:defRPr sz="3000"/>
            </a:lvl1pPr>
          </a:lstStyle>
          <a:p>
            <a:r>
              <a:rPr lang="zh-CN" altLang="en-US" dirty="0"/>
              <a:t>在此输入内容标题</a:t>
            </a:r>
            <a:endParaRPr lang="zh-CN" alt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有标题-纯色背景">
    <p:bg>
      <p:bgPr>
        <a:solidFill>
          <a:schemeClr val="bg1"/>
        </a:solidFill>
        <a:effectLst/>
      </p:bgPr>
    </p:bg>
    <p:spTree>
      <p:nvGrpSpPr>
        <p:cNvPr id="1" name=""/>
        <p:cNvGrpSpPr/>
        <p:nvPr/>
      </p:nvGrpSpPr>
      <p:grpSpPr>
        <a:xfrm>
          <a:off x="0" y="0"/>
          <a:ext cx="0" cy="0"/>
          <a:chOff x="0" y="0"/>
          <a:chExt cx="0" cy="0"/>
        </a:xfrm>
      </p:grpSpPr>
      <p:pic>
        <p:nvPicPr>
          <p:cNvPr id="8" name="图片 7" descr="背景图案&#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1974" cy="6858000"/>
          </a:xfrm>
          <a:prstGeom prst="rect">
            <a:avLst/>
          </a:prstGeom>
        </p:spPr>
      </p:pic>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10001774" y="20211"/>
            <a:ext cx="2028683" cy="745241"/>
          </a:xfrm>
          <a:prstGeom prst="rect">
            <a:avLst/>
          </a:prstGeom>
        </p:spPr>
      </p:pic>
      <p:grpSp>
        <p:nvGrpSpPr>
          <p:cNvPr id="9"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3"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6"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7" name="页脚占位符 3"/>
          <p:cNvSpPr>
            <a:spLocks noGrp="1"/>
          </p:cNvSpPr>
          <p:nvPr>
            <p:ph type="ftr" sz="quarter" idx="11"/>
          </p:nvPr>
        </p:nvSpPr>
        <p:spPr>
          <a:xfrm>
            <a:off x="4038600" y="6356350"/>
            <a:ext cx="4114800" cy="365125"/>
          </a:xfrm>
        </p:spPr>
        <p:txBody>
          <a:bodyPr/>
          <a:lstStyle/>
          <a:p>
            <a:endParaRPr lang="zh-CN" altLang="en-US"/>
          </a:p>
        </p:txBody>
      </p:sp>
      <p:sp>
        <p:nvSpPr>
          <p:cNvPr id="8"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0" y="1"/>
            <a:ext cx="12192000" cy="6857999"/>
          </a:xfrm>
          <a:prstGeom prst="rect">
            <a:avLst/>
          </a:prstGeom>
        </p:spPr>
      </p:pic>
      <p:pic>
        <p:nvPicPr>
          <p:cNvPr id="10" name="图片 9" descr="湖中的塔&#10;&#10;中度可信度描述已自动生成"/>
          <p:cNvPicPr>
            <a:picLocks noChangeAspect="1"/>
          </p:cNvPicPr>
          <p:nvPr userDrawn="1"/>
        </p:nvPicPr>
        <p:blipFill rotWithShape="1">
          <a:blip r:embed="rId3">
            <a:alphaModFix amt="10000"/>
            <a:extLst>
              <a:ext uri="{28A0092B-C50C-407E-A947-70E740481C1C}">
                <a14:useLocalDpi xmlns:a14="http://schemas.microsoft.com/office/drawing/2010/main" val="0"/>
              </a:ext>
            </a:extLst>
          </a:blip>
          <a:srcRect t="29320" r="16998" b="62291"/>
          <a:stretch>
            <a:fillRect/>
          </a:stretch>
        </p:blipFill>
        <p:spPr>
          <a:xfrm flipH="1">
            <a:off x="0" y="3"/>
            <a:ext cx="12191992" cy="820129"/>
          </a:xfrm>
          <a:prstGeom prst="rect">
            <a:avLst/>
          </a:prstGeom>
        </p:spPr>
      </p:pic>
      <p:grpSp>
        <p:nvGrpSpPr>
          <p:cNvPr id="11" name="PA-组合 12"/>
          <p:cNvGrpSpPr/>
          <p:nvPr userDrawn="1">
            <p:custDataLst>
              <p:tags r:id="rId4"/>
            </p:custDataLst>
          </p:nvPr>
        </p:nvGrpSpPr>
        <p:grpSpPr>
          <a:xfrm flipH="1">
            <a:off x="369164" y="347732"/>
            <a:ext cx="299711" cy="301533"/>
            <a:chOff x="2936075" y="352103"/>
            <a:chExt cx="390156" cy="379098"/>
          </a:xfrm>
          <a:gradFill>
            <a:gsLst>
              <a:gs pos="0">
                <a:srgbClr val="1A9F9D"/>
              </a:gs>
              <a:gs pos="100000">
                <a:srgbClr val="18817D">
                  <a:alpha val="50000"/>
                </a:srgbClr>
              </a:gs>
            </a:gsLst>
            <a:lin ang="5400000" scaled="1"/>
          </a:gradFill>
        </p:grpSpPr>
        <p:sp>
          <p:nvSpPr>
            <p:cNvPr id="12" name="PA-矩形 13"/>
            <p:cNvSpPr/>
            <p:nvPr>
              <p:custDataLst>
                <p:tags r:id="rId5"/>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3" name="PA-矩形 14"/>
            <p:cNvSpPr/>
            <p:nvPr>
              <p:custDataLst>
                <p:tags r:id="rId6"/>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4" name="PA-矩形 2"/>
            <p:cNvSpPr/>
            <p:nvPr>
              <p:custDataLst>
                <p:tags r:id="rId7"/>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5" name="PA-矩形 3"/>
            <p:cNvSpPr/>
            <p:nvPr>
              <p:custDataLst>
                <p:tags r:id="rId8"/>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7"/>
            <p:cNvSpPr/>
            <p:nvPr>
              <p:custDataLst>
                <p:tags r:id="rId9"/>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18"/>
            <p:cNvSpPr/>
            <p:nvPr>
              <p:custDataLst>
                <p:tags r:id="rId10"/>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 name="PA-圆角矩形 4"/>
          <p:cNvSpPr/>
          <p:nvPr userDrawn="1">
            <p:custDataLst>
              <p:tags r:id="rId11"/>
            </p:custDataLst>
          </p:nvPr>
        </p:nvSpPr>
        <p:spPr>
          <a:xfrm>
            <a:off x="337333" y="792610"/>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userDrawn="1"/>
        </p:nvSpPr>
        <p:spPr>
          <a:xfrm>
            <a:off x="3048000" y="6572181"/>
            <a:ext cx="6096000" cy="276999"/>
          </a:xfrm>
          <a:prstGeom prst="rect">
            <a:avLst/>
          </a:prstGeom>
          <a:noFill/>
        </p:spPr>
        <p:txBody>
          <a:bodyPr wrap="square">
            <a:spAutoFit/>
          </a:bodyPr>
          <a:lstStyle/>
          <a:p>
            <a:pPr algn="ctr"/>
            <a:fld id="{48F63A3B-78C7-47BE-AE5E-E10140E04643}" type="slidenum">
              <a:rPr kumimoji="0" lang="en-US" altLang="zh-CN" sz="1200" b="0" i="0" u="none" strike="noStrike" kern="1200" cap="none" spc="0" normalizeH="0" baseline="0" noProof="0" smtClean="0">
                <a:ln>
                  <a:noFill/>
                </a:ln>
                <a:solidFill>
                  <a:prstClr val="white"/>
                </a:solidFill>
                <a:effectLst/>
                <a:uLnTx/>
                <a:uFillTx/>
                <a:latin typeface="等线" panose="02010600030101010101" charset="-122"/>
                <a:ea typeface="等线" panose="02010600030101010101" charset="-122"/>
                <a:cs typeface="微软雅黑" panose="020B0503020204020204" pitchFamily="34" charset="-122"/>
              </a:rPr>
            </a:fld>
            <a:endParaRPr lang="zh-CN" altLang="en-US" dirty="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82092FD4-FDBA-400E-B464-C991E582C02F}"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7FEDEADB-7CA7-4A2E-87FA-394B3B7FE80F}" type="slidenum">
              <a:rPr lang="zh-CN" altLang="en-US" smtClean="0"/>
            </a:fld>
            <a:endParaRPr lang="zh-CN" altLang="en-US"/>
          </a:p>
        </p:txBody>
      </p:sp>
      <p:pic>
        <p:nvPicPr>
          <p:cNvPr id="6" name="图片 5"/>
          <p:cNvPicPr>
            <a:picLocks noChangeAspect="1"/>
          </p:cNvPicPr>
          <p:nvPr userDrawn="1"/>
        </p:nvPicPr>
        <p:blipFill>
          <a:blip r:embed="rId2"/>
          <a:stretch>
            <a:fillRect/>
          </a:stretch>
        </p:blipFill>
        <p:spPr>
          <a:xfrm>
            <a:off x="0" y="1"/>
            <a:ext cx="12192000" cy="6857999"/>
          </a:xfrm>
          <a:prstGeom prst="rect">
            <a:avLst/>
          </a:prstGeom>
        </p:spPr>
      </p:pic>
      <p:grpSp>
        <p:nvGrpSpPr>
          <p:cNvPr id="8" name="组合 7"/>
          <p:cNvGrpSpPr/>
          <p:nvPr userDrawn="1"/>
        </p:nvGrpSpPr>
        <p:grpSpPr>
          <a:xfrm>
            <a:off x="6524387" y="435915"/>
            <a:ext cx="3584814" cy="172164"/>
            <a:chOff x="3249935" y="6633341"/>
            <a:chExt cx="11479257" cy="794917"/>
          </a:xfrm>
        </p:grpSpPr>
        <p:sp>
          <p:nvSpPr>
            <p:cNvPr id="9" name="平行四边形 8"/>
            <p:cNvSpPr/>
            <p:nvPr/>
          </p:nvSpPr>
          <p:spPr>
            <a:xfrm>
              <a:off x="3249935" y="6944964"/>
              <a:ext cx="11021960" cy="483294"/>
            </a:xfrm>
            <a:prstGeom prst="parallelogram">
              <a:avLst>
                <a:gd name="adj" fmla="val 73058"/>
              </a:avLst>
            </a:prstGeom>
            <a:gradFill flip="none" rotWithShape="1">
              <a:gsLst>
                <a:gs pos="0">
                  <a:schemeClr val="accent1">
                    <a:alpha val="55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sp>
          <p:nvSpPr>
            <p:cNvPr id="18" name="平行四边形 17"/>
            <p:cNvSpPr/>
            <p:nvPr/>
          </p:nvSpPr>
          <p:spPr>
            <a:xfrm>
              <a:off x="3707233" y="6633341"/>
              <a:ext cx="11021959" cy="483293"/>
            </a:xfrm>
            <a:prstGeom prst="parallelogram">
              <a:avLst>
                <a:gd name="adj" fmla="val 73058"/>
              </a:avLst>
            </a:prstGeom>
            <a:gradFill flip="none" rotWithShape="1">
              <a:gsLst>
                <a:gs pos="0">
                  <a:schemeClr val="accent2">
                    <a:alpha val="99000"/>
                  </a:schemeClr>
                </a:gs>
                <a:gs pos="100000">
                  <a:schemeClr val="bg1">
                    <a:alpha val="9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0"/>
            </a:p>
          </p:txBody>
        </p:sp>
      </p:grpSp>
      <p:grpSp>
        <p:nvGrpSpPr>
          <p:cNvPr id="21" name="PA-组合 12"/>
          <p:cNvGrpSpPr/>
          <p:nvPr userDrawn="1">
            <p:custDataLst>
              <p:tags r:id="rId3"/>
            </p:custDataLst>
          </p:nvPr>
        </p:nvGrpSpPr>
        <p:grpSpPr>
          <a:xfrm flipH="1">
            <a:off x="376421" y="253391"/>
            <a:ext cx="299711" cy="301533"/>
            <a:chOff x="2936075" y="352103"/>
            <a:chExt cx="390156" cy="379098"/>
          </a:xfrm>
          <a:gradFill>
            <a:gsLst>
              <a:gs pos="0">
                <a:srgbClr val="1A9F9D"/>
              </a:gs>
              <a:gs pos="100000">
                <a:srgbClr val="18817D">
                  <a:alpha val="50000"/>
                </a:srgbClr>
              </a:gs>
            </a:gsLst>
            <a:lin ang="5400000" scaled="1"/>
          </a:gradFill>
        </p:grpSpPr>
        <p:sp>
          <p:nvSpPr>
            <p:cNvPr id="22"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3"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4"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5"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7"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3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32" name="PA-圆角矩形 4"/>
          <p:cNvSpPr/>
          <p:nvPr userDrawn="1">
            <p:custDataLst>
              <p:tags r:id="rId10"/>
            </p:custDataLst>
          </p:nvPr>
        </p:nvSpPr>
        <p:spPr>
          <a:xfrm>
            <a:off x="337333" y="727297"/>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20292"/>
            <a:ext cx="12192000" cy="6857999"/>
          </a:xfrm>
          <a:prstGeom prst="rect">
            <a:avLst/>
          </a:prstGeom>
        </p:spPr>
      </p:pic>
      <p:grpSp>
        <p:nvGrpSpPr>
          <p:cNvPr id="14" name="PA-组合 12"/>
          <p:cNvGrpSpPr/>
          <p:nvPr userDrawn="1">
            <p:custDataLst>
              <p:tags r:id="rId3"/>
            </p:custDataLst>
          </p:nvPr>
        </p:nvGrpSpPr>
        <p:grpSpPr>
          <a:xfrm flipH="1">
            <a:off x="376421" y="304190"/>
            <a:ext cx="299711" cy="301533"/>
            <a:chOff x="2936075" y="352103"/>
            <a:chExt cx="390156" cy="379098"/>
          </a:xfrm>
          <a:gradFill>
            <a:gsLst>
              <a:gs pos="0">
                <a:srgbClr val="1A9F9D"/>
              </a:gs>
              <a:gs pos="100000">
                <a:srgbClr val="18817D">
                  <a:alpha val="50000"/>
                </a:srgbClr>
              </a:gs>
            </a:gsLst>
            <a:lin ang="5400000" scaled="1"/>
          </a:gradFill>
        </p:grpSpPr>
        <p:sp>
          <p:nvSpPr>
            <p:cNvPr id="15" name="PA-矩形 13"/>
            <p:cNvSpPr/>
            <p:nvPr>
              <p:custDataLst>
                <p:tags r:id="rId4"/>
              </p:custDataLst>
            </p:nvPr>
          </p:nvSpPr>
          <p:spPr>
            <a:xfrm>
              <a:off x="2936075" y="352103"/>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6" name="PA-矩形 14"/>
            <p:cNvSpPr/>
            <p:nvPr>
              <p:custDataLst>
                <p:tags r:id="rId5"/>
              </p:custDataLst>
            </p:nvPr>
          </p:nvSpPr>
          <p:spPr>
            <a:xfrm>
              <a:off x="2936075"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7" name="PA-矩形 2"/>
            <p:cNvSpPr/>
            <p:nvPr>
              <p:custDataLst>
                <p:tags r:id="rId6"/>
              </p:custDataLst>
            </p:nvPr>
          </p:nvSpPr>
          <p:spPr>
            <a:xfrm>
              <a:off x="2936075"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8" name="PA-矩形 3"/>
            <p:cNvSpPr/>
            <p:nvPr>
              <p:custDataLst>
                <p:tags r:id="rId7"/>
              </p:custDataLst>
            </p:nvPr>
          </p:nvSpPr>
          <p:spPr>
            <a:xfrm>
              <a:off x="3073348" y="48209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19" name="PA-矩形 17"/>
            <p:cNvSpPr/>
            <p:nvPr>
              <p:custDataLst>
                <p:tags r:id="rId8"/>
              </p:custDataLst>
            </p:nvPr>
          </p:nvSpPr>
          <p:spPr>
            <a:xfrm>
              <a:off x="3073348" y="618076"/>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sp>
          <p:nvSpPr>
            <p:cNvPr id="20" name="PA-矩形 18"/>
            <p:cNvSpPr/>
            <p:nvPr>
              <p:custDataLst>
                <p:tags r:id="rId9"/>
              </p:custDataLst>
            </p:nvPr>
          </p:nvSpPr>
          <p:spPr>
            <a:xfrm>
              <a:off x="3209098" y="618074"/>
              <a:ext cx="117133" cy="113125"/>
            </a:xfrm>
            <a:prstGeom prst="rect">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微软雅黑" panose="020B0503020204020204" pitchFamily="34" charset="-122"/>
              </a:endParaRPr>
            </a:p>
          </p:txBody>
        </p:sp>
      </p:grpSp>
      <p:sp>
        <p:nvSpPr>
          <p:cNvPr id="21" name="PA-圆角矩形 4"/>
          <p:cNvSpPr/>
          <p:nvPr userDrawn="1">
            <p:custDataLst>
              <p:tags r:id="rId10"/>
            </p:custDataLst>
          </p:nvPr>
        </p:nvSpPr>
        <p:spPr>
          <a:xfrm>
            <a:off x="337333" y="756325"/>
            <a:ext cx="11517334" cy="71983"/>
          </a:xfrm>
          <a:prstGeom prst="roundRect">
            <a:avLst>
              <a:gd name="adj" fmla="val 50000"/>
            </a:avLst>
          </a:prstGeom>
          <a:solidFill>
            <a:srgbClr val="029694"/>
          </a:solidFill>
          <a:ln>
            <a:noFill/>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PA-任意多边形 2"/>
          <p:cNvSpPr/>
          <p:nvPr userDrawn="1">
            <p:custDataLst>
              <p:tags r:id="rId11"/>
            </p:custDataLst>
          </p:nvPr>
        </p:nvSpPr>
        <p:spPr>
          <a:xfrm>
            <a:off x="11860363" y="6525314"/>
            <a:ext cx="345010" cy="180286"/>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形 12"/>
          <p:cNvPicPr>
            <a:picLocks noChangeAspect="1"/>
          </p:cNvPicPr>
          <p:nvPr userDrawn="1">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11657242" y="6366416"/>
            <a:ext cx="488898" cy="488898"/>
          </a:xfrm>
          <a:prstGeom prst="rect">
            <a:avLst/>
          </a:prstGeom>
        </p:spPr>
      </p:pic>
      <p:sp>
        <p:nvSpPr>
          <p:cNvPr id="22" name="PA-任意多边形 2"/>
          <p:cNvSpPr/>
          <p:nvPr userDrawn="1">
            <p:custDataLst>
              <p:tags r:id="rId15"/>
            </p:custDataLst>
          </p:nvPr>
        </p:nvSpPr>
        <p:spPr>
          <a:xfrm>
            <a:off x="11840992" y="6510214"/>
            <a:ext cx="381027" cy="201639"/>
          </a:xfrm>
          <a:custGeom>
            <a:avLst/>
            <a:gdLst>
              <a:gd name="connsiteX0" fmla="*/ 187770 w 11520000"/>
              <a:gd name="connsiteY0" fmla="*/ 0 h 244588"/>
              <a:gd name="connsiteX1" fmla="*/ 4147770 w 11520000"/>
              <a:gd name="connsiteY1" fmla="*/ 0 h 244588"/>
              <a:gd name="connsiteX2" fmla="*/ 4402230 w 11520000"/>
              <a:gd name="connsiteY2" fmla="*/ 0 h 244588"/>
              <a:gd name="connsiteX3" fmla="*/ 7117770 w 11520000"/>
              <a:gd name="connsiteY3" fmla="*/ 0 h 244588"/>
              <a:gd name="connsiteX4" fmla="*/ 8362230 w 11520000"/>
              <a:gd name="connsiteY4" fmla="*/ 0 h 244588"/>
              <a:gd name="connsiteX5" fmla="*/ 11332230 w 11520000"/>
              <a:gd name="connsiteY5" fmla="*/ 0 h 244588"/>
              <a:gd name="connsiteX6" fmla="*/ 11520000 w 11520000"/>
              <a:gd name="connsiteY6" fmla="*/ 187770 h 244588"/>
              <a:gd name="connsiteX7" fmla="*/ 11520000 w 11520000"/>
              <a:gd name="connsiteY7" fmla="*/ 244588 h 244588"/>
              <a:gd name="connsiteX8" fmla="*/ 0 w 11520000"/>
              <a:gd name="connsiteY8" fmla="*/ 244588 h 244588"/>
              <a:gd name="connsiteX9" fmla="*/ 0 w 11520000"/>
              <a:gd name="connsiteY9" fmla="*/ 187770 h 244588"/>
              <a:gd name="connsiteX10" fmla="*/ 187770 w 11520000"/>
              <a:gd name="connsiteY10" fmla="*/ 0 h 24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0000" h="244588">
                <a:moveTo>
                  <a:pt x="187770" y="0"/>
                </a:moveTo>
                <a:lnTo>
                  <a:pt x="4147770" y="0"/>
                </a:lnTo>
                <a:lnTo>
                  <a:pt x="4402230" y="0"/>
                </a:lnTo>
                <a:lnTo>
                  <a:pt x="7117770" y="0"/>
                </a:lnTo>
                <a:lnTo>
                  <a:pt x="8362230" y="0"/>
                </a:lnTo>
                <a:lnTo>
                  <a:pt x="11332230" y="0"/>
                </a:lnTo>
                <a:cubicBezTo>
                  <a:pt x="11435933" y="0"/>
                  <a:pt x="11520000" y="84067"/>
                  <a:pt x="11520000" y="187770"/>
                </a:cubicBezTo>
                <a:lnTo>
                  <a:pt x="11520000" y="244588"/>
                </a:lnTo>
                <a:lnTo>
                  <a:pt x="0" y="244588"/>
                </a:lnTo>
                <a:lnTo>
                  <a:pt x="0" y="187770"/>
                </a:lnTo>
                <a:cubicBezTo>
                  <a:pt x="0" y="84067"/>
                  <a:pt x="84067" y="0"/>
                  <a:pt x="187770" y="0"/>
                </a:cubicBezTo>
                <a:close/>
              </a:path>
            </a:pathLst>
          </a:custGeom>
          <a:noFill/>
          <a:ln w="3175">
            <a:noFill/>
          </a:ln>
          <a:effectLst>
            <a:innerShdw blurRad="38100" dist="127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fld id="{48F63A3B-78C7-47BE-AE5E-E10140E04643}" type="slidenum">
              <a:rPr kumimoji="0" lang="en-US" altLang="zh-CN" sz="1200" b="1" i="0" u="none" strike="noStrike" kern="1200" cap="none" spc="0" normalizeH="0" baseline="0" noProof="0" smtClean="0">
                <a:ln>
                  <a:noFill/>
                </a:ln>
                <a:solidFill>
                  <a:schemeClr val="bg1"/>
                </a:solidFill>
                <a:effectLst>
                  <a:outerShdw blurRad="38100" dist="38100" dir="2700000" algn="tl">
                    <a:srgbClr val="000000">
                      <a:alpha val="43137"/>
                    </a:srgbClr>
                  </a:outerShdw>
                </a:effectLst>
                <a:uLnTx/>
                <a:uFillTx/>
                <a:latin typeface="等线" panose="02010600030101010101" charset="-122"/>
                <a:ea typeface="等线" panose="02010600030101010101" charset="-122"/>
                <a:cs typeface="微软雅黑" panose="020B0503020204020204" pitchFamily="34" charset="-122"/>
              </a:rPr>
            </a:fld>
            <a:endParaRPr kumimoji="0" lang="zh-CN" altLang="en-US" sz="1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slideLayout" Target="../slideLayouts/slideLayout17.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 Type="http://schemas.openxmlformats.org/officeDocument/2006/relationships/slideLayout" Target="../slideLayouts/slideLayout11.xml"/><Relationship Id="rId10"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2.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slide" Target="slide8.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slide" Target="slide6.xml"/><Relationship Id="rId3" Type="http://schemas.openxmlformats.org/officeDocument/2006/relationships/tags" Target="../tags/tag70.xml"/><Relationship Id="rId26" Type="http://schemas.openxmlformats.org/officeDocument/2006/relationships/notesSlide" Target="../notesSlides/notesSlide2.xml"/><Relationship Id="rId25" Type="http://schemas.openxmlformats.org/officeDocument/2006/relationships/slideLayout" Target="../slideLayouts/slideLayout8.xml"/><Relationship Id="rId24" Type="http://schemas.openxmlformats.org/officeDocument/2006/relationships/tags" Target="../tags/tag84.xml"/><Relationship Id="rId23" Type="http://schemas.openxmlformats.org/officeDocument/2006/relationships/tags" Target="../tags/tag83.xml"/><Relationship Id="rId22" Type="http://schemas.openxmlformats.org/officeDocument/2006/relationships/slide" Target="slide31.xml"/><Relationship Id="rId21" Type="http://schemas.openxmlformats.org/officeDocument/2006/relationships/tags" Target="../tags/tag82.xml"/><Relationship Id="rId20" Type="http://schemas.openxmlformats.org/officeDocument/2006/relationships/tags" Target="../tags/tag81.xml"/><Relationship Id="rId2" Type="http://schemas.openxmlformats.org/officeDocument/2006/relationships/tags" Target="../tags/tag69.xml"/><Relationship Id="rId19" Type="http://schemas.openxmlformats.org/officeDocument/2006/relationships/slide" Target="slide27.xml"/><Relationship Id="rId18" Type="http://schemas.openxmlformats.org/officeDocument/2006/relationships/tags" Target="../tags/tag80.xml"/><Relationship Id="rId17" Type="http://schemas.openxmlformats.org/officeDocument/2006/relationships/tags" Target="../tags/tag79.xml"/><Relationship Id="rId16" Type="http://schemas.openxmlformats.org/officeDocument/2006/relationships/slide" Target="slide23.xml"/><Relationship Id="rId15" Type="http://schemas.openxmlformats.org/officeDocument/2006/relationships/tags" Target="../tags/tag78.xml"/><Relationship Id="rId14" Type="http://schemas.openxmlformats.org/officeDocument/2006/relationships/tags" Target="../tags/tag77.xml"/><Relationship Id="rId13" Type="http://schemas.openxmlformats.org/officeDocument/2006/relationships/slide" Target="slide15.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slide" Target="slide10.xml"/><Relationship Id="rId1" Type="http://schemas.openxmlformats.org/officeDocument/2006/relationships/slide" Target="slide4.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8.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slide" Target="slide4.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0" Type="http://schemas.openxmlformats.org/officeDocument/2006/relationships/notesSlide" Target="../notesSlides/notesSlide4.xml"/><Relationship Id="rId1" Type="http://schemas.openxmlformats.org/officeDocument/2006/relationships/tags" Target="../tags/tag87.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8.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slide" Target="slide4.xml"/></Relationships>
</file>

<file path=ppt/slides/_rels/slide6.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image" Target="../media/image10.png"/><Relationship Id="rId3" Type="http://schemas.openxmlformats.org/officeDocument/2006/relationships/tags" Target="../tags/tag99.xml"/><Relationship Id="rId2" Type="http://schemas.openxmlformats.org/officeDocument/2006/relationships/tags" Target="../tags/tag98.xml"/><Relationship Id="rId15" Type="http://schemas.openxmlformats.org/officeDocument/2006/relationships/notesSlide" Target="../notesSlides/notesSlide6.xml"/><Relationship Id="rId14" Type="http://schemas.openxmlformats.org/officeDocument/2006/relationships/slideLayout" Target="../slideLayouts/slideLayout8.xml"/><Relationship Id="rId13" Type="http://schemas.openxmlformats.org/officeDocument/2006/relationships/slide" Target="slide2.xml"/><Relationship Id="rId12" Type="http://schemas.openxmlformats.org/officeDocument/2006/relationships/tags" Target="../tags/tag106.xml"/><Relationship Id="rId11" Type="http://schemas.openxmlformats.org/officeDocument/2006/relationships/tags" Target="../tags/tag105.xml"/><Relationship Id="rId10" Type="http://schemas.openxmlformats.org/officeDocument/2006/relationships/image" Target="../media/image11.png"/><Relationship Id="rId1" Type="http://schemas.openxmlformats.org/officeDocument/2006/relationships/tags" Target="../tags/tag97.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8.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slide" Target="slide4.xml"/></Relationships>
</file>

<file path=ppt/slides/_rels/slide8.xml.rels><?xml version="1.0" encoding="UTF-8" standalone="yes"?>
<Relationships xmlns="http://schemas.openxmlformats.org/package/2006/relationships"><Relationship Id="rId9" Type="http://schemas.openxmlformats.org/officeDocument/2006/relationships/tags" Target="../tags/tag116.xml"/><Relationship Id="rId8" Type="http://schemas.openxmlformats.org/officeDocument/2006/relationships/tags" Target="../tags/tag115.xml"/><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image" Target="../media/image12.png"/><Relationship Id="rId3" Type="http://schemas.openxmlformats.org/officeDocument/2006/relationships/tags" Target="../tags/tag111.xml"/><Relationship Id="rId27" Type="http://schemas.openxmlformats.org/officeDocument/2006/relationships/notesSlide" Target="../notesSlides/notesSlide8.xml"/><Relationship Id="rId26" Type="http://schemas.openxmlformats.org/officeDocument/2006/relationships/slideLayout" Target="../slideLayouts/slideLayout8.xml"/><Relationship Id="rId25" Type="http://schemas.openxmlformats.org/officeDocument/2006/relationships/slide" Target="slid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image" Target="../media/image15.png"/><Relationship Id="rId21" Type="http://schemas.openxmlformats.org/officeDocument/2006/relationships/tags" Target="../tags/tag126.xml"/><Relationship Id="rId20" Type="http://schemas.openxmlformats.org/officeDocument/2006/relationships/tags" Target="../tags/tag125.xml"/><Relationship Id="rId2" Type="http://schemas.openxmlformats.org/officeDocument/2006/relationships/tags" Target="../tags/tag110.xml"/><Relationship Id="rId19" Type="http://schemas.openxmlformats.org/officeDocument/2006/relationships/tags" Target="../tags/tag124.xml"/><Relationship Id="rId18" Type="http://schemas.openxmlformats.org/officeDocument/2006/relationships/tags" Target="../tags/tag123.xml"/><Relationship Id="rId17" Type="http://schemas.openxmlformats.org/officeDocument/2006/relationships/tags" Target="../tags/tag122.xml"/><Relationship Id="rId16" Type="http://schemas.openxmlformats.org/officeDocument/2006/relationships/image" Target="../media/image14.png"/><Relationship Id="rId15" Type="http://schemas.openxmlformats.org/officeDocument/2006/relationships/tags" Target="../tags/tag121.xml"/><Relationship Id="rId14" Type="http://schemas.openxmlformats.org/officeDocument/2006/relationships/tags" Target="../tags/tag120.xml"/><Relationship Id="rId13" Type="http://schemas.openxmlformats.org/officeDocument/2006/relationships/tags" Target="../tags/tag119.xml"/><Relationship Id="rId12" Type="http://schemas.openxmlformats.org/officeDocument/2006/relationships/tags" Target="../tags/tag118.xml"/><Relationship Id="rId11" Type="http://schemas.openxmlformats.org/officeDocument/2006/relationships/tags" Target="../tags/tag117.xml"/><Relationship Id="rId10" Type="http://schemas.openxmlformats.org/officeDocument/2006/relationships/image" Target="../media/image13.png"/><Relationship Id="rId1" Type="http://schemas.openxmlformats.org/officeDocument/2006/relationships/tags" Target="../tags/tag109.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8.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slide" Target="slide4.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slide" Target="slide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image" Target="../media/image2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8.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8.xml"/><Relationship Id="rId5" Type="http://schemas.openxmlformats.org/officeDocument/2006/relationships/slide" Target="slide2.xml"/><Relationship Id="rId4" Type="http://schemas.openxmlformats.org/officeDocument/2006/relationships/image" Target="../media/image26.png"/><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8.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slide" Target="slide4.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8.xml"/><Relationship Id="rId3" Type="http://schemas.openxmlformats.org/officeDocument/2006/relationships/slide" Target="slide2.xml"/><Relationship Id="rId2" Type="http://schemas.openxmlformats.org/officeDocument/2006/relationships/image" Target="../media/image13.png"/><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8.xml"/><Relationship Id="rId3" Type="http://schemas.openxmlformats.org/officeDocument/2006/relationships/image" Target="../media/image28.png"/><Relationship Id="rId2" Type="http://schemas.openxmlformats.org/officeDocument/2006/relationships/slide" Target="slide2.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8.xml"/><Relationship Id="rId2" Type="http://schemas.openxmlformats.org/officeDocument/2006/relationships/image" Target="../media/image29.png"/><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8.xml"/><Relationship Id="rId2" Type="http://schemas.openxmlformats.org/officeDocument/2006/relationships/image" Target="../media/image30.png"/><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8.xml"/><Relationship Id="rId2" Type="http://schemas.openxmlformats.org/officeDocument/2006/relationships/image" Target="../media/image26.png"/><Relationship Id="rId1" Type="http://schemas.openxmlformats.org/officeDocument/2006/relationships/image" Target="../media/image31.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8.xml"/><Relationship Id="rId2" Type="http://schemas.openxmlformats.org/officeDocument/2006/relationships/image" Target="../media/image32.png"/><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8.xml"/><Relationship Id="rId2" Type="http://schemas.openxmlformats.org/officeDocument/2006/relationships/image" Target="../media/image25.png"/><Relationship Id="rId1" Type="http://schemas.openxmlformats.org/officeDocument/2006/relationships/image" Target="../media/image33.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7.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slide" Target="slide4.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8.xml"/><Relationship Id="rId4" Type="http://schemas.openxmlformats.org/officeDocument/2006/relationships/slide" Target="slide2.xml"/><Relationship Id="rId3" Type="http://schemas.openxmlformats.org/officeDocument/2006/relationships/image" Target="../media/image23.png"/><Relationship Id="rId2" Type="http://schemas.openxmlformats.org/officeDocument/2006/relationships/image" Target="../media/image14.png"/><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8.xml"/><Relationship Id="rId3" Type="http://schemas.openxmlformats.org/officeDocument/2006/relationships/image" Target="../media/image34.png"/><Relationship Id="rId2" Type="http://schemas.openxmlformats.org/officeDocument/2006/relationships/slide" Target="slide2.xml"/><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8.xml"/><Relationship Id="rId3" Type="http://schemas.openxmlformats.org/officeDocument/2006/relationships/image" Target="../media/image35.png"/><Relationship Id="rId2" Type="http://schemas.openxmlformats.org/officeDocument/2006/relationships/slide" Target="slide2.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slide" Target="slide4.xml"/></Relationships>
</file>

<file path=ppt/slides/_rels/slide27.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tags" Target="../tags/tag143.xml"/><Relationship Id="rId7" Type="http://schemas.openxmlformats.org/officeDocument/2006/relationships/tags" Target="../tags/tag142.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image" Target="../media/image13.png"/><Relationship Id="rId3" Type="http://schemas.openxmlformats.org/officeDocument/2006/relationships/tags" Target="../tags/tag139.xml"/><Relationship Id="rId27" Type="http://schemas.openxmlformats.org/officeDocument/2006/relationships/notesSlide" Target="../notesSlides/notesSlide27.xml"/><Relationship Id="rId26" Type="http://schemas.openxmlformats.org/officeDocument/2006/relationships/slideLayout" Target="../slideLayouts/slideLayout8.xml"/><Relationship Id="rId25" Type="http://schemas.openxmlformats.org/officeDocument/2006/relationships/slide" Target="slide2.xml"/><Relationship Id="rId24" Type="http://schemas.openxmlformats.org/officeDocument/2006/relationships/tags" Target="../tags/tag156.xml"/><Relationship Id="rId23" Type="http://schemas.openxmlformats.org/officeDocument/2006/relationships/tags" Target="../tags/tag155.xml"/><Relationship Id="rId22" Type="http://schemas.openxmlformats.org/officeDocument/2006/relationships/image" Target="../media/image25.png"/><Relationship Id="rId21" Type="http://schemas.openxmlformats.org/officeDocument/2006/relationships/tags" Target="../tags/tag154.xml"/><Relationship Id="rId20" Type="http://schemas.openxmlformats.org/officeDocument/2006/relationships/tags" Target="../tags/tag153.xml"/><Relationship Id="rId2" Type="http://schemas.openxmlformats.org/officeDocument/2006/relationships/tags" Target="../tags/tag138.xml"/><Relationship Id="rId19" Type="http://schemas.openxmlformats.org/officeDocument/2006/relationships/tags" Target="../tags/tag152.xml"/><Relationship Id="rId18" Type="http://schemas.openxmlformats.org/officeDocument/2006/relationships/tags" Target="../tags/tag151.xml"/><Relationship Id="rId17" Type="http://schemas.openxmlformats.org/officeDocument/2006/relationships/tags" Target="../tags/tag150.xml"/><Relationship Id="rId16" Type="http://schemas.openxmlformats.org/officeDocument/2006/relationships/image" Target="../media/image11.png"/><Relationship Id="rId15" Type="http://schemas.openxmlformats.org/officeDocument/2006/relationships/tags" Target="../tags/tag149.xml"/><Relationship Id="rId14" Type="http://schemas.openxmlformats.org/officeDocument/2006/relationships/tags" Target="../tags/tag148.xml"/><Relationship Id="rId13" Type="http://schemas.openxmlformats.org/officeDocument/2006/relationships/tags" Target="../tags/tag147.xml"/><Relationship Id="rId12" Type="http://schemas.openxmlformats.org/officeDocument/2006/relationships/tags" Target="../tags/tag146.xml"/><Relationship Id="rId11" Type="http://schemas.openxmlformats.org/officeDocument/2006/relationships/tags" Target="../tags/tag145.xml"/><Relationship Id="rId10" Type="http://schemas.openxmlformats.org/officeDocument/2006/relationships/image" Target="../media/image26.png"/><Relationship Id="rId1" Type="http://schemas.openxmlformats.org/officeDocument/2006/relationships/tags" Target="../tags/tag137.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8.xml"/><Relationship Id="rId5" Type="http://schemas.openxmlformats.org/officeDocument/2006/relationships/slide" Target="slide2.xml"/><Relationship Id="rId4" Type="http://schemas.openxmlformats.org/officeDocument/2006/relationships/image" Target="../media/image24.png"/><Relationship Id="rId3" Type="http://schemas.openxmlformats.org/officeDocument/2006/relationships/image" Target="../media/image22.png"/><Relationship Id="rId2" Type="http://schemas.openxmlformats.org/officeDocument/2006/relationships/image" Target="../media/image11.png"/><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8.xml"/><Relationship Id="rId1" Type="http://schemas.openxmlformats.org/officeDocument/2006/relationships/slide" Target="slide2.xm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7.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slide" Target="slide4.xml"/></Relationships>
</file>

<file path=ppt/slides/_rels/slide31.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tags" Target="../tags/tag166.xml"/><Relationship Id="rId7" Type="http://schemas.openxmlformats.org/officeDocument/2006/relationships/tags" Target="../tags/tag165.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8" Type="http://schemas.openxmlformats.org/officeDocument/2006/relationships/notesSlide" Target="../notesSlides/notesSlide31.xml"/><Relationship Id="rId17" Type="http://schemas.openxmlformats.org/officeDocument/2006/relationships/slideLayout" Target="../slideLayouts/slideLayout8.xml"/><Relationship Id="rId16" Type="http://schemas.openxmlformats.org/officeDocument/2006/relationships/tags" Target="../tags/tag174.xml"/><Relationship Id="rId15" Type="http://schemas.openxmlformats.org/officeDocument/2006/relationships/tags" Target="../tags/tag173.xml"/><Relationship Id="rId14" Type="http://schemas.openxmlformats.org/officeDocument/2006/relationships/tags" Target="../tags/tag172.xml"/><Relationship Id="rId13" Type="http://schemas.openxmlformats.org/officeDocument/2006/relationships/tags" Target="../tags/tag171.xml"/><Relationship Id="rId12" Type="http://schemas.openxmlformats.org/officeDocument/2006/relationships/tags" Target="../tags/tag170.xml"/><Relationship Id="rId11" Type="http://schemas.openxmlformats.org/officeDocument/2006/relationships/tags" Target="../tags/tag169.xml"/><Relationship Id="rId10" Type="http://schemas.openxmlformats.org/officeDocument/2006/relationships/tags" Target="../tags/tag168.xml"/><Relationship Id="rId1" Type="http://schemas.openxmlformats.org/officeDocument/2006/relationships/tags" Target="../tags/tag15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357"/>
            <a:ext cx="12192318" cy="6858179"/>
          </a:xfrm>
          <a:prstGeom prst="rect">
            <a:avLst/>
          </a:prstGeom>
        </p:spPr>
      </p:pic>
      <p:sp>
        <p:nvSpPr>
          <p:cNvPr id="5" name="矩形 4"/>
          <p:cNvSpPr/>
          <p:nvPr/>
        </p:nvSpPr>
        <p:spPr>
          <a:xfrm>
            <a:off x="0" y="2037715"/>
            <a:ext cx="12192635" cy="3409950"/>
          </a:xfrm>
          <a:prstGeom prst="rect">
            <a:avLst/>
          </a:prstGeom>
          <a:solidFill>
            <a:srgbClr val="076655"/>
          </a:solidFill>
          <a:ln>
            <a:solidFill>
              <a:srgbClr val="0766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131"/>
          <p:cNvSpPr txBox="1">
            <a:spLocks noChangeArrowheads="1"/>
          </p:cNvSpPr>
          <p:nvPr/>
        </p:nvSpPr>
        <p:spPr bwMode="auto">
          <a:xfrm>
            <a:off x="146050" y="2551430"/>
            <a:ext cx="11915775" cy="2122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bg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bg1"/>
                </a:solidFill>
                <a:latin typeface="Arial" panose="020B0604020202020204" pitchFamily="34" charset="0"/>
                <a:ea typeface="仿宋_GB2312" panose="02010609030101010101"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913130" fontAlgn="base">
              <a:spcBef>
                <a:spcPct val="0"/>
              </a:spcBef>
              <a:spcAft>
                <a:spcPct val="0"/>
              </a:spcAft>
              <a:buNone/>
            </a:pPr>
            <a:r>
              <a:rPr sz="4400">
                <a:latin typeface="微软雅黑" panose="020B0503020204020204" pitchFamily="34" charset="-122"/>
              </a:rPr>
              <a:t>2026年面向分布式光伏等要素对电力市场影响的电力经济统计分析咨询服务</a:t>
            </a:r>
            <a:endParaRPr lang="zh-CN" altLang="zh-CN" sz="4400" dirty="0">
              <a:solidFill>
                <a:schemeClr val="tx1"/>
              </a:solidFill>
              <a:latin typeface="微软雅黑" panose="020B0503020204020204" pitchFamily="34" charset="-122"/>
              <a:ea typeface="微软雅黑" panose="020B0503020204020204" pitchFamily="34" charset="-122"/>
              <a:sym typeface="+mn-ea"/>
            </a:endParaRPr>
          </a:p>
        </p:txBody>
      </p:sp>
      <p:sp>
        <p:nvSpPr>
          <p:cNvPr id="8" name="Rectangle 4"/>
          <p:cNvSpPr txBox="1">
            <a:spLocks noChangeArrowheads="1"/>
          </p:cNvSpPr>
          <p:nvPr/>
        </p:nvSpPr>
        <p:spPr bwMode="auto">
          <a:xfrm>
            <a:off x="2703545" y="4540112"/>
            <a:ext cx="7285866" cy="504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0" tIns="45715" rIns="91430" bIns="45715"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1"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ctr"/>
            <a:r>
              <a:rPr sz="2400">
                <a:latin typeface="微软雅黑" panose="020B0503020204020204" pitchFamily="34" charset="-122"/>
              </a:rPr>
              <a:t>国</a:t>
            </a:r>
            <a:r>
              <a:rPr lang="zh-CN" sz="2400">
                <a:latin typeface="微软雅黑" panose="020B0503020204020204" pitchFamily="34" charset="-122"/>
              </a:rPr>
              <a:t>网徐州供电</a:t>
            </a:r>
            <a:r>
              <a:rPr sz="2400">
                <a:latin typeface="微软雅黑" panose="020B0503020204020204" pitchFamily="34" charset="-122"/>
              </a:rPr>
              <a:t>公司</a:t>
            </a:r>
            <a:endParaRPr sz="2400">
              <a:latin typeface="微软雅黑" panose="020B0503020204020204" pitchFamily="34" charset="-122"/>
            </a:endParaRPr>
          </a:p>
          <a:p>
            <a:pPr algn="ctr"/>
            <a:r>
              <a:rPr sz="2400">
                <a:latin typeface="微软雅黑" panose="020B0503020204020204" pitchFamily="34" charset="-122"/>
              </a:rPr>
              <a:t>2026年10月</a:t>
            </a:r>
            <a:endParaRPr sz="2400">
              <a:latin typeface="微软雅黑" panose="020B0503020204020204" pitchFamily="34" charset="-122"/>
            </a:endParaRPr>
          </a:p>
        </p:txBody>
      </p:sp>
      <p:cxnSp>
        <p:nvCxnSpPr>
          <p:cNvPr id="11" name="直接连接符 10"/>
          <p:cNvCxnSpPr/>
          <p:nvPr/>
        </p:nvCxnSpPr>
        <p:spPr>
          <a:xfrm>
            <a:off x="0" y="2259022"/>
            <a:ext cx="1219231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5347834"/>
            <a:ext cx="1219231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743200"/>
            <a:ext cx="3840480" cy="1097280"/>
          </a:xfrm>
          <a:prstGeom prst="rect">
            <a:avLst/>
          </a:prstGeom>
          <a:noFill/>
        </p:spPr>
        <p:txBody>
          <a:bodyPr wrap="square" lIns="0" tIns="0" rIns="0" bIns="0" anchor="ctr">
            <a:spAutoFit/>
          </a:bodyPr>
          <a:lstStyle/>
          <a:p>
            <a:pPr algn="l"/>
            <a:r>
              <a:rPr sz="5000" b="1" i="0">
                <a:solidFill>
                  <a:srgbClr val="2B3338"/>
                </a:solidFill>
                <a:latin typeface="微软雅黑" panose="020B0503020204020204" pitchFamily="34" charset="-122"/>
                <a:ea typeface="微软雅黑" panose="020B0503020204020204" pitchFamily="34" charset="-122"/>
              </a:rPr>
              <a:t>目录</a:t>
            </a:r>
            <a:endParaRPr sz="5000" b="1" i="0">
              <a:solidFill>
                <a:srgbClr val="2B3338"/>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1252728" y="3803904"/>
            <a:ext cx="3474720" cy="475488"/>
          </a:xfrm>
          <a:prstGeom prst="rect">
            <a:avLst/>
          </a:prstGeom>
          <a:noFill/>
        </p:spPr>
        <p:txBody>
          <a:bodyPr wrap="square" lIns="0" tIns="0" rIns="0" bIns="0" anchor="ctr">
            <a:spAutoFit/>
          </a:bodyPr>
          <a:lstStyle/>
          <a:p>
            <a:pPr algn="l"/>
            <a:r>
              <a:rPr sz="2000" b="0" i="1">
                <a:solidFill>
                  <a:srgbClr val="2E7D6B"/>
                </a:solidFill>
                <a:latin typeface="微软雅黑" panose="020B0503020204020204" pitchFamily="34" charset="-122"/>
                <a:ea typeface="微软雅黑" panose="020B0503020204020204" pitchFamily="34" charset="-122"/>
              </a:rPr>
              <a:t>CONTENTS</a:t>
            </a:r>
            <a:endParaRPr sz="2000" b="0" i="1">
              <a:solidFill>
                <a:srgbClr val="2E7D6B"/>
              </a:solidFill>
              <a:latin typeface="微软雅黑" panose="020B0503020204020204" pitchFamily="34" charset="-122"/>
              <a:ea typeface="微软雅黑" panose="020B0503020204020204" pitchFamily="34" charset="-122"/>
            </a:endParaRPr>
          </a:p>
        </p:txBody>
      </p:sp>
      <p:sp>
        <p:nvSpPr>
          <p:cNvPr id="4" name="Rounded Rectangle 3">
            <a:hlinkClick r:id="rId1" action="ppaction://hlinksldjump"/>
          </p:cNvPr>
          <p:cNvSpPr/>
          <p:nvPr>
            <p:custDataLst>
              <p:tags r:id="rId2"/>
            </p:custDataLst>
          </p:nvPr>
        </p:nvSpPr>
        <p:spPr>
          <a:xfrm>
            <a:off x="5230368" y="1188720"/>
            <a:ext cx="512064" cy="512064"/>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i="0">
                <a:solidFill>
                  <a:srgbClr val="FFFFFF"/>
                </a:solidFill>
                <a:latin typeface="微软雅黑" panose="020B0503020204020204" pitchFamily="34" charset="-122"/>
                <a:ea typeface="微软雅黑" panose="020B0503020204020204" pitchFamily="34" charset="-122"/>
              </a:rPr>
              <a:t>0</a:t>
            </a:r>
            <a:endParaRPr sz="1700" b="1" i="0">
              <a:solidFill>
                <a:srgbClr val="FFFFFF"/>
              </a:solidFill>
              <a:latin typeface="微软雅黑" panose="020B0503020204020204" pitchFamily="34" charset="-122"/>
              <a:ea typeface="微软雅黑" panose="020B0503020204020204" pitchFamily="34" charset="-122"/>
            </a:endParaRPr>
          </a:p>
        </p:txBody>
      </p:sp>
      <p:sp>
        <p:nvSpPr>
          <p:cNvPr id="5" name="TextBox 4">
            <a:hlinkClick r:id="rId1" action="ppaction://hlinksldjump"/>
          </p:cNvPr>
          <p:cNvSpPr txBox="1"/>
          <p:nvPr>
            <p:custDataLst>
              <p:tags r:id="rId3"/>
            </p:custDataLst>
          </p:nvPr>
        </p:nvSpPr>
        <p:spPr>
          <a:xfrm>
            <a:off x="6035040" y="1197864"/>
            <a:ext cx="5669280" cy="493776"/>
          </a:xfrm>
          <a:prstGeom prst="rect">
            <a:avLst/>
          </a:prstGeom>
          <a:noFill/>
        </p:spPr>
        <p:txBody>
          <a:bodyPr wrap="square" lIns="0" tIns="0" rIns="0" bIns="0" anchor="ctr">
            <a:spAutoFit/>
          </a:bodyPr>
          <a:lstStyle/>
          <a:p>
            <a:pPr algn="l"/>
            <a:r>
              <a:rPr sz="1650" b="1" i="0">
                <a:solidFill>
                  <a:srgbClr val="2E7D6B"/>
                </a:solidFill>
                <a:latin typeface="微软雅黑" panose="020B0503020204020204" pitchFamily="34" charset="-122"/>
                <a:ea typeface="微软雅黑" panose="020B0503020204020204" pitchFamily="34" charset="-122"/>
              </a:rPr>
              <a:t>工作总结</a:t>
            </a:r>
            <a:endParaRPr sz="1650" b="1" i="0">
              <a:solidFill>
                <a:srgbClr val="2E7D6B"/>
              </a:solidFill>
              <a:latin typeface="微软雅黑" panose="020B0503020204020204" pitchFamily="34" charset="-122"/>
              <a:ea typeface="微软雅黑" panose="020B0503020204020204" pitchFamily="34" charset="-122"/>
            </a:endParaRPr>
          </a:p>
        </p:txBody>
      </p:sp>
      <p:sp>
        <p:nvSpPr>
          <p:cNvPr id="6" name="Rounded Rectangle 5">
            <a:hlinkClick r:id="rId4" action="ppaction://hlinksldjump"/>
          </p:cNvPr>
          <p:cNvSpPr/>
          <p:nvPr>
            <p:custDataLst>
              <p:tags r:id="rId5"/>
            </p:custDataLst>
          </p:nvPr>
        </p:nvSpPr>
        <p:spPr>
          <a:xfrm>
            <a:off x="5230368" y="1819656"/>
            <a:ext cx="512064" cy="512064"/>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i="0">
                <a:solidFill>
                  <a:srgbClr val="FFFFFF"/>
                </a:solidFill>
                <a:latin typeface="微软雅黑" panose="020B0503020204020204" pitchFamily="34" charset="-122"/>
                <a:ea typeface="微软雅黑" panose="020B0503020204020204" pitchFamily="34" charset="-122"/>
              </a:rPr>
              <a:t>1</a:t>
            </a:r>
            <a:endParaRPr sz="1700" b="1" i="0">
              <a:solidFill>
                <a:srgbClr val="FFFFFF"/>
              </a:solidFill>
              <a:latin typeface="微软雅黑" panose="020B0503020204020204" pitchFamily="34" charset="-122"/>
              <a:ea typeface="微软雅黑" panose="020B0503020204020204" pitchFamily="34" charset="-122"/>
            </a:endParaRPr>
          </a:p>
        </p:txBody>
      </p:sp>
      <p:sp>
        <p:nvSpPr>
          <p:cNvPr id="7" name="TextBox 6">
            <a:hlinkClick r:id="rId4" action="ppaction://hlinksldjump"/>
          </p:cNvPr>
          <p:cNvSpPr txBox="1"/>
          <p:nvPr>
            <p:custDataLst>
              <p:tags r:id="rId6"/>
            </p:custDataLst>
          </p:nvPr>
        </p:nvSpPr>
        <p:spPr>
          <a:xfrm>
            <a:off x="6035040" y="1828800"/>
            <a:ext cx="5669280" cy="493776"/>
          </a:xfrm>
          <a:prstGeom prst="rect">
            <a:avLst/>
          </a:prstGeom>
          <a:noFill/>
        </p:spPr>
        <p:txBody>
          <a:bodyPr wrap="square" lIns="0" tIns="0" rIns="0" bIns="0" anchor="ctr">
            <a:spAutoFit/>
          </a:bodyPr>
          <a:lstStyle/>
          <a:p>
            <a:pPr algn="l"/>
            <a:r>
              <a:rPr sz="1650" b="1" i="0">
                <a:solidFill>
                  <a:srgbClr val="2E7D6B"/>
                </a:solidFill>
                <a:latin typeface="微软雅黑" panose="020B0503020204020204" pitchFamily="34" charset="-122"/>
                <a:ea typeface="微软雅黑" panose="020B0503020204020204" pitchFamily="34" charset="-122"/>
              </a:rPr>
              <a:t>研究背景与目标</a:t>
            </a:r>
            <a:endParaRPr sz="1650" b="1" i="0">
              <a:solidFill>
                <a:srgbClr val="2E7D6B"/>
              </a:solidFill>
              <a:latin typeface="微软雅黑" panose="020B0503020204020204" pitchFamily="34" charset="-122"/>
              <a:ea typeface="微软雅黑" panose="020B0503020204020204" pitchFamily="34" charset="-122"/>
            </a:endParaRPr>
          </a:p>
        </p:txBody>
      </p:sp>
      <p:sp>
        <p:nvSpPr>
          <p:cNvPr id="8" name="Rounded Rectangle 7">
            <a:hlinkClick r:id="rId7" action="ppaction://hlinksldjump"/>
          </p:cNvPr>
          <p:cNvSpPr/>
          <p:nvPr>
            <p:custDataLst>
              <p:tags r:id="rId8"/>
            </p:custDataLst>
          </p:nvPr>
        </p:nvSpPr>
        <p:spPr>
          <a:xfrm>
            <a:off x="5230368" y="2450591"/>
            <a:ext cx="512064" cy="512064"/>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i="0">
                <a:solidFill>
                  <a:srgbClr val="FFFFFF"/>
                </a:solidFill>
                <a:latin typeface="微软雅黑" panose="020B0503020204020204" pitchFamily="34" charset="-122"/>
                <a:ea typeface="微软雅黑" panose="020B0503020204020204" pitchFamily="34" charset="-122"/>
              </a:rPr>
              <a:t>2</a:t>
            </a:r>
            <a:endParaRPr sz="1700" b="1" i="0">
              <a:solidFill>
                <a:srgbClr val="FFFFFF"/>
              </a:solidFill>
              <a:latin typeface="微软雅黑" panose="020B0503020204020204" pitchFamily="34" charset="-122"/>
              <a:ea typeface="微软雅黑" panose="020B0503020204020204" pitchFamily="34" charset="-122"/>
            </a:endParaRPr>
          </a:p>
        </p:txBody>
      </p:sp>
      <p:sp>
        <p:nvSpPr>
          <p:cNvPr id="9" name="TextBox 8">
            <a:hlinkClick r:id="rId7" action="ppaction://hlinksldjump"/>
          </p:cNvPr>
          <p:cNvSpPr txBox="1"/>
          <p:nvPr>
            <p:custDataLst>
              <p:tags r:id="rId9"/>
            </p:custDataLst>
          </p:nvPr>
        </p:nvSpPr>
        <p:spPr>
          <a:xfrm>
            <a:off x="6035040" y="2459735"/>
            <a:ext cx="5669280" cy="493776"/>
          </a:xfrm>
          <a:prstGeom prst="rect">
            <a:avLst/>
          </a:prstGeom>
          <a:noFill/>
        </p:spPr>
        <p:txBody>
          <a:bodyPr wrap="square" lIns="0" tIns="0" rIns="0" bIns="0" anchor="ctr">
            <a:spAutoFit/>
          </a:bodyPr>
          <a:lstStyle/>
          <a:p>
            <a:pPr algn="l"/>
            <a:r>
              <a:rPr sz="1650" b="1" i="0">
                <a:solidFill>
                  <a:srgbClr val="2E7D6B"/>
                </a:solidFill>
                <a:latin typeface="微软雅黑" panose="020B0503020204020204" pitchFamily="34" charset="-122"/>
                <a:ea typeface="微软雅黑" panose="020B0503020204020204" pitchFamily="34" charset="-122"/>
              </a:rPr>
              <a:t>研究框架与主要内容</a:t>
            </a:r>
            <a:endParaRPr sz="1650" b="1" i="0">
              <a:solidFill>
                <a:srgbClr val="2E7D6B"/>
              </a:solidFill>
              <a:latin typeface="微软雅黑" panose="020B0503020204020204" pitchFamily="34" charset="-122"/>
              <a:ea typeface="微软雅黑" panose="020B0503020204020204" pitchFamily="34" charset="-122"/>
            </a:endParaRPr>
          </a:p>
        </p:txBody>
      </p:sp>
      <p:sp>
        <p:nvSpPr>
          <p:cNvPr id="10" name="Rounded Rectangle 9">
            <a:hlinkClick r:id="rId10" action="ppaction://hlinksldjump"/>
          </p:cNvPr>
          <p:cNvSpPr/>
          <p:nvPr>
            <p:custDataLst>
              <p:tags r:id="rId11"/>
            </p:custDataLst>
          </p:nvPr>
        </p:nvSpPr>
        <p:spPr>
          <a:xfrm>
            <a:off x="5230368" y="3081527"/>
            <a:ext cx="512064" cy="512064"/>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i="0">
                <a:solidFill>
                  <a:srgbClr val="FFFFFF"/>
                </a:solidFill>
                <a:latin typeface="微软雅黑" panose="020B0503020204020204" pitchFamily="34" charset="-122"/>
                <a:ea typeface="微软雅黑" panose="020B0503020204020204" pitchFamily="34" charset="-122"/>
              </a:rPr>
              <a:t>3</a:t>
            </a:r>
            <a:endParaRPr sz="1700" b="1" i="0">
              <a:solidFill>
                <a:srgbClr val="FFFFFF"/>
              </a:solidFill>
              <a:latin typeface="微软雅黑" panose="020B0503020204020204" pitchFamily="34" charset="-122"/>
              <a:ea typeface="微软雅黑" panose="020B0503020204020204" pitchFamily="34" charset="-122"/>
            </a:endParaRPr>
          </a:p>
        </p:txBody>
      </p:sp>
      <p:sp>
        <p:nvSpPr>
          <p:cNvPr id="11" name="TextBox 10">
            <a:hlinkClick r:id="rId10" action="ppaction://hlinksldjump"/>
          </p:cNvPr>
          <p:cNvSpPr txBox="1"/>
          <p:nvPr>
            <p:custDataLst>
              <p:tags r:id="rId12"/>
            </p:custDataLst>
          </p:nvPr>
        </p:nvSpPr>
        <p:spPr>
          <a:xfrm>
            <a:off x="6035040" y="3090671"/>
            <a:ext cx="5669280" cy="493776"/>
          </a:xfrm>
          <a:prstGeom prst="rect">
            <a:avLst/>
          </a:prstGeom>
          <a:noFill/>
        </p:spPr>
        <p:txBody>
          <a:bodyPr wrap="square" lIns="0" tIns="0" rIns="0" bIns="0" anchor="ctr">
            <a:spAutoFit/>
          </a:bodyPr>
          <a:lstStyle/>
          <a:p>
            <a:pPr algn="l"/>
            <a:r>
              <a:rPr sz="1650" b="1" i="0">
                <a:solidFill>
                  <a:srgbClr val="2E7D6B"/>
                </a:solidFill>
                <a:latin typeface="微软雅黑" panose="020B0503020204020204" pitchFamily="34" charset="-122"/>
                <a:ea typeface="微软雅黑" panose="020B0503020204020204" pitchFamily="34" charset="-122"/>
              </a:rPr>
              <a:t>政策体系梳理与全链条解析</a:t>
            </a:r>
            <a:endParaRPr sz="1650" b="1" i="0">
              <a:solidFill>
                <a:srgbClr val="2E7D6B"/>
              </a:solidFill>
              <a:latin typeface="微软雅黑" panose="020B0503020204020204" pitchFamily="34" charset="-122"/>
              <a:ea typeface="微软雅黑" panose="020B0503020204020204" pitchFamily="34" charset="-122"/>
            </a:endParaRPr>
          </a:p>
        </p:txBody>
      </p:sp>
      <p:sp>
        <p:nvSpPr>
          <p:cNvPr id="12" name="Rounded Rectangle 11">
            <a:hlinkClick r:id="rId13" action="ppaction://hlinksldjump"/>
          </p:cNvPr>
          <p:cNvSpPr/>
          <p:nvPr>
            <p:custDataLst>
              <p:tags r:id="rId14"/>
            </p:custDataLst>
          </p:nvPr>
        </p:nvSpPr>
        <p:spPr>
          <a:xfrm>
            <a:off x="5230368" y="3712463"/>
            <a:ext cx="512064" cy="512064"/>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i="0">
                <a:solidFill>
                  <a:srgbClr val="FFFFFF"/>
                </a:solidFill>
                <a:latin typeface="微软雅黑" panose="020B0503020204020204" pitchFamily="34" charset="-122"/>
                <a:ea typeface="微软雅黑" panose="020B0503020204020204" pitchFamily="34" charset="-122"/>
              </a:rPr>
              <a:t>4</a:t>
            </a:r>
            <a:endParaRPr sz="1700" b="1" i="0">
              <a:solidFill>
                <a:srgbClr val="FFFFFF"/>
              </a:solidFill>
              <a:latin typeface="微软雅黑" panose="020B0503020204020204" pitchFamily="34" charset="-122"/>
              <a:ea typeface="微软雅黑" panose="020B0503020204020204" pitchFamily="34" charset="-122"/>
            </a:endParaRPr>
          </a:p>
        </p:txBody>
      </p:sp>
      <p:sp>
        <p:nvSpPr>
          <p:cNvPr id="13" name="TextBox 12">
            <a:hlinkClick r:id="rId13" action="ppaction://hlinksldjump"/>
          </p:cNvPr>
          <p:cNvSpPr txBox="1"/>
          <p:nvPr>
            <p:custDataLst>
              <p:tags r:id="rId15"/>
            </p:custDataLst>
          </p:nvPr>
        </p:nvSpPr>
        <p:spPr>
          <a:xfrm>
            <a:off x="6035040" y="3721607"/>
            <a:ext cx="5669280" cy="493776"/>
          </a:xfrm>
          <a:prstGeom prst="rect">
            <a:avLst/>
          </a:prstGeom>
          <a:noFill/>
        </p:spPr>
        <p:txBody>
          <a:bodyPr wrap="square" lIns="0" tIns="0" rIns="0" bIns="0" anchor="ctr">
            <a:spAutoFit/>
          </a:bodyPr>
          <a:lstStyle/>
          <a:p>
            <a:pPr algn="l"/>
            <a:r>
              <a:rPr sz="1650" b="1" i="0">
                <a:solidFill>
                  <a:srgbClr val="2E7D6B"/>
                </a:solidFill>
                <a:latin typeface="微软雅黑" panose="020B0503020204020204" pitchFamily="34" charset="-122"/>
                <a:ea typeface="微软雅黑" panose="020B0503020204020204" pitchFamily="34" charset="-122"/>
              </a:rPr>
              <a:t>新兴要素发展及其对电力市场影响的多维度统计分析</a:t>
            </a:r>
            <a:endParaRPr sz="1650" b="1" i="0">
              <a:solidFill>
                <a:srgbClr val="2E7D6B"/>
              </a:solidFill>
              <a:latin typeface="微软雅黑" panose="020B0503020204020204" pitchFamily="34" charset="-122"/>
              <a:ea typeface="微软雅黑" panose="020B0503020204020204" pitchFamily="34" charset="-122"/>
            </a:endParaRPr>
          </a:p>
        </p:txBody>
      </p:sp>
      <p:sp>
        <p:nvSpPr>
          <p:cNvPr id="14" name="Rounded Rectangle 13">
            <a:hlinkClick r:id="rId16" action="ppaction://hlinksldjump"/>
          </p:cNvPr>
          <p:cNvSpPr/>
          <p:nvPr>
            <p:custDataLst>
              <p:tags r:id="rId17"/>
            </p:custDataLst>
          </p:nvPr>
        </p:nvSpPr>
        <p:spPr>
          <a:xfrm>
            <a:off x="5230368" y="4343400"/>
            <a:ext cx="512064" cy="512064"/>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i="0">
                <a:solidFill>
                  <a:srgbClr val="FFFFFF"/>
                </a:solidFill>
                <a:latin typeface="微软雅黑" panose="020B0503020204020204" pitchFamily="34" charset="-122"/>
                <a:ea typeface="微软雅黑" panose="020B0503020204020204" pitchFamily="34" charset="-122"/>
              </a:rPr>
              <a:t>5</a:t>
            </a:r>
            <a:endParaRPr sz="1700" b="1" i="0">
              <a:solidFill>
                <a:srgbClr val="FFFFFF"/>
              </a:solidFill>
              <a:latin typeface="微软雅黑" panose="020B0503020204020204" pitchFamily="34" charset="-122"/>
              <a:ea typeface="微软雅黑" panose="020B0503020204020204" pitchFamily="34" charset="-122"/>
            </a:endParaRPr>
          </a:p>
        </p:txBody>
      </p:sp>
      <p:sp>
        <p:nvSpPr>
          <p:cNvPr id="15" name="TextBox 14">
            <a:hlinkClick r:id="rId16" action="ppaction://hlinksldjump"/>
          </p:cNvPr>
          <p:cNvSpPr txBox="1"/>
          <p:nvPr>
            <p:custDataLst>
              <p:tags r:id="rId18"/>
            </p:custDataLst>
          </p:nvPr>
        </p:nvSpPr>
        <p:spPr>
          <a:xfrm>
            <a:off x="6035040" y="4352544"/>
            <a:ext cx="5669280" cy="493776"/>
          </a:xfrm>
          <a:prstGeom prst="rect">
            <a:avLst/>
          </a:prstGeom>
          <a:noFill/>
        </p:spPr>
        <p:txBody>
          <a:bodyPr wrap="square" lIns="0" tIns="0" rIns="0" bIns="0" anchor="ctr">
            <a:spAutoFit/>
          </a:bodyPr>
          <a:lstStyle/>
          <a:p>
            <a:pPr algn="l"/>
            <a:r>
              <a:rPr sz="1650" b="1" i="0">
                <a:solidFill>
                  <a:srgbClr val="2E7D6B"/>
                </a:solidFill>
                <a:latin typeface="微软雅黑" panose="020B0503020204020204" pitchFamily="34" charset="-122"/>
                <a:ea typeface="微软雅黑" panose="020B0503020204020204" pitchFamily="34" charset="-122"/>
              </a:rPr>
              <a:t>典型项目经济效益测算与案例分析</a:t>
            </a:r>
            <a:endParaRPr sz="1650" b="1" i="0">
              <a:solidFill>
                <a:srgbClr val="2E7D6B"/>
              </a:solidFill>
              <a:latin typeface="微软雅黑" panose="020B0503020204020204" pitchFamily="34" charset="-122"/>
              <a:ea typeface="微软雅黑" panose="020B0503020204020204" pitchFamily="34" charset="-122"/>
            </a:endParaRPr>
          </a:p>
        </p:txBody>
      </p:sp>
      <p:sp>
        <p:nvSpPr>
          <p:cNvPr id="16" name="Rounded Rectangle 15">
            <a:hlinkClick r:id="rId19" action="ppaction://hlinksldjump"/>
          </p:cNvPr>
          <p:cNvSpPr/>
          <p:nvPr>
            <p:custDataLst>
              <p:tags r:id="rId20"/>
            </p:custDataLst>
          </p:nvPr>
        </p:nvSpPr>
        <p:spPr>
          <a:xfrm>
            <a:off x="5230368" y="4974336"/>
            <a:ext cx="512064" cy="512064"/>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i="0">
                <a:solidFill>
                  <a:srgbClr val="FFFFFF"/>
                </a:solidFill>
                <a:latin typeface="微软雅黑" panose="020B0503020204020204" pitchFamily="34" charset="-122"/>
                <a:ea typeface="微软雅黑" panose="020B0503020204020204" pitchFamily="34" charset="-122"/>
              </a:rPr>
              <a:t>6</a:t>
            </a:r>
            <a:endParaRPr sz="1700" b="1" i="0">
              <a:solidFill>
                <a:srgbClr val="FFFFFF"/>
              </a:solidFill>
              <a:latin typeface="微软雅黑" panose="020B0503020204020204" pitchFamily="34" charset="-122"/>
              <a:ea typeface="微软雅黑" panose="020B0503020204020204" pitchFamily="34" charset="-122"/>
            </a:endParaRPr>
          </a:p>
        </p:txBody>
      </p:sp>
      <p:sp>
        <p:nvSpPr>
          <p:cNvPr id="17" name="TextBox 16">
            <a:hlinkClick r:id="rId19" action="ppaction://hlinksldjump"/>
          </p:cNvPr>
          <p:cNvSpPr txBox="1"/>
          <p:nvPr>
            <p:custDataLst>
              <p:tags r:id="rId21"/>
            </p:custDataLst>
          </p:nvPr>
        </p:nvSpPr>
        <p:spPr>
          <a:xfrm>
            <a:off x="6035040" y="4983479"/>
            <a:ext cx="5669280" cy="493776"/>
          </a:xfrm>
          <a:prstGeom prst="rect">
            <a:avLst/>
          </a:prstGeom>
          <a:noFill/>
        </p:spPr>
        <p:txBody>
          <a:bodyPr wrap="square" lIns="0" tIns="0" rIns="0" bIns="0" anchor="ctr">
            <a:spAutoFit/>
          </a:bodyPr>
          <a:lstStyle/>
          <a:p>
            <a:pPr algn="l"/>
            <a:r>
              <a:rPr sz="1650" b="1" i="0">
                <a:solidFill>
                  <a:srgbClr val="2E7D6B"/>
                </a:solidFill>
                <a:latin typeface="微软雅黑" panose="020B0503020204020204" pitchFamily="34" charset="-122"/>
                <a:ea typeface="微软雅黑" panose="020B0503020204020204" pitchFamily="34" charset="-122"/>
              </a:rPr>
              <a:t>新兴要素对电力市场的综合影响</a:t>
            </a:r>
            <a:endParaRPr sz="1650" b="1" i="0">
              <a:solidFill>
                <a:srgbClr val="2E7D6B"/>
              </a:solidFill>
              <a:latin typeface="微软雅黑" panose="020B0503020204020204" pitchFamily="34" charset="-122"/>
              <a:ea typeface="微软雅黑" panose="020B0503020204020204" pitchFamily="34" charset="-122"/>
            </a:endParaRPr>
          </a:p>
        </p:txBody>
      </p:sp>
      <p:sp>
        <p:nvSpPr>
          <p:cNvPr id="18" name="Rounded Rectangle 17">
            <a:hlinkClick r:id="rId22" action="ppaction://hlinksldjump"/>
          </p:cNvPr>
          <p:cNvSpPr/>
          <p:nvPr>
            <p:custDataLst>
              <p:tags r:id="rId23"/>
            </p:custDataLst>
          </p:nvPr>
        </p:nvSpPr>
        <p:spPr>
          <a:xfrm>
            <a:off x="5230368" y="5605271"/>
            <a:ext cx="512064" cy="512064"/>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i="0">
                <a:solidFill>
                  <a:srgbClr val="FFFFFF"/>
                </a:solidFill>
                <a:latin typeface="微软雅黑" panose="020B0503020204020204" pitchFamily="34" charset="-122"/>
                <a:ea typeface="微软雅黑" panose="020B0503020204020204" pitchFamily="34" charset="-122"/>
              </a:rPr>
              <a:t>7</a:t>
            </a:r>
            <a:endParaRPr sz="1700" b="1" i="0">
              <a:solidFill>
                <a:srgbClr val="FFFFFF"/>
              </a:solidFill>
              <a:latin typeface="微软雅黑" panose="020B0503020204020204" pitchFamily="34" charset="-122"/>
              <a:ea typeface="微软雅黑" panose="020B0503020204020204" pitchFamily="34" charset="-122"/>
            </a:endParaRPr>
          </a:p>
        </p:txBody>
      </p:sp>
      <p:sp>
        <p:nvSpPr>
          <p:cNvPr id="19" name="TextBox 18">
            <a:hlinkClick r:id="rId22" action="ppaction://hlinksldjump"/>
          </p:cNvPr>
          <p:cNvSpPr txBox="1"/>
          <p:nvPr>
            <p:custDataLst>
              <p:tags r:id="rId24"/>
            </p:custDataLst>
          </p:nvPr>
        </p:nvSpPr>
        <p:spPr>
          <a:xfrm>
            <a:off x="6035040" y="5614415"/>
            <a:ext cx="5669280" cy="493776"/>
          </a:xfrm>
          <a:prstGeom prst="rect">
            <a:avLst/>
          </a:prstGeom>
          <a:noFill/>
        </p:spPr>
        <p:txBody>
          <a:bodyPr wrap="square" lIns="0" tIns="0" rIns="0" bIns="0" anchor="ctr">
            <a:spAutoFit/>
          </a:bodyPr>
          <a:lstStyle/>
          <a:p>
            <a:pPr algn="l"/>
            <a:r>
              <a:rPr sz="1650" b="1" i="0">
                <a:solidFill>
                  <a:srgbClr val="2E7D6B"/>
                </a:solidFill>
                <a:latin typeface="微软雅黑" panose="020B0503020204020204" pitchFamily="34" charset="-122"/>
                <a:ea typeface="微软雅黑" panose="020B0503020204020204" pitchFamily="34" charset="-122"/>
              </a:rPr>
              <a:t>下一步计划</a:t>
            </a:r>
            <a:endParaRPr sz="1650" b="1" i="0">
              <a:solidFill>
                <a:srgbClr val="2E7D6B"/>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hlinkClick r:id="rId1" action="ppaction://hlinksldjump"/>
          </p:cNvPr>
          <p:cNvSpPr/>
          <p:nvPr>
            <p:custDataLst>
              <p:tags r:id="rId2"/>
            </p:custDataLst>
          </p:nvPr>
        </p:nvSpPr>
        <p:spPr>
          <a:xfrm>
            <a:off x="4130040" y="2843530"/>
            <a:ext cx="1284605" cy="1171575"/>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4800" b="1" i="0">
                <a:solidFill>
                  <a:srgbClr val="FFFFFF"/>
                </a:solidFill>
                <a:latin typeface="微软雅黑" panose="020B0503020204020204" pitchFamily="34" charset="-122"/>
                <a:ea typeface="微软雅黑" panose="020B0503020204020204" pitchFamily="34" charset="-122"/>
              </a:rPr>
              <a:t>0</a:t>
            </a:r>
            <a:endParaRPr sz="4800" b="1" i="0">
              <a:solidFill>
                <a:srgbClr val="FFFFFF"/>
              </a:solidFill>
              <a:latin typeface="微软雅黑" panose="020B0503020204020204" pitchFamily="34" charset="-122"/>
              <a:ea typeface="微软雅黑" panose="020B0503020204020204" pitchFamily="34" charset="-122"/>
            </a:endParaRPr>
          </a:p>
        </p:txBody>
      </p:sp>
      <p:sp>
        <p:nvSpPr>
          <p:cNvPr id="5" name="TextBox 4">
            <a:hlinkClick r:id="rId1" action="ppaction://hlinksldjump"/>
          </p:cNvPr>
          <p:cNvSpPr txBox="1"/>
          <p:nvPr>
            <p:custDataLst>
              <p:tags r:id="rId3"/>
            </p:custDataLst>
          </p:nvPr>
        </p:nvSpPr>
        <p:spPr>
          <a:xfrm>
            <a:off x="5937885" y="3059240"/>
            <a:ext cx="5669280" cy="738505"/>
          </a:xfrm>
          <a:prstGeom prst="rect">
            <a:avLst/>
          </a:prstGeom>
          <a:noFill/>
        </p:spPr>
        <p:txBody>
          <a:bodyPr wrap="square" lIns="0" tIns="0" rIns="0" bIns="0" anchor="ctr">
            <a:spAutoFit/>
          </a:bodyPr>
          <a:lstStyle/>
          <a:p>
            <a:pPr algn="l"/>
            <a:r>
              <a:rPr sz="4800" b="1" i="0">
                <a:solidFill>
                  <a:srgbClr val="2E7D6B"/>
                </a:solidFill>
                <a:latin typeface="微软雅黑" panose="020B0503020204020204" pitchFamily="34" charset="-122"/>
                <a:ea typeface="微软雅黑" panose="020B0503020204020204" pitchFamily="34" charset="-122"/>
              </a:rPr>
              <a:t>工作总结</a:t>
            </a:r>
            <a:endParaRPr sz="4800" b="1" i="0">
              <a:solidFill>
                <a:srgbClr val="2E7D6B"/>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rIns="73152" bIns="0" rtlCol="0" anchor="ctr"/>
          <a:lstStyle/>
          <a:p>
            <a:pPr algn="l"/>
            <a:r>
              <a:rPr sz="2100" b="0">
                <a:solidFill>
                  <a:srgbClr val="1F5A4D"/>
                </a:solidFill>
                <a:latin typeface="微软雅黑" panose="020B0503020204020204" pitchFamily="34" charset="-122"/>
                <a:ea typeface="微软雅黑" panose="020B0503020204020204" pitchFamily="34" charset="-122"/>
              </a:rPr>
              <a:t>研究报告六章已完成；数据收资、政策梳理、统计分析、效益测算与论文同步推进</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Rounded Rectangle 3"/>
          <p:cNvSpPr/>
          <p:nvPr>
            <p:custDataLst>
              <p:tags r:id="rId1"/>
            </p:custDataLst>
          </p:nvPr>
        </p:nvSpPr>
        <p:spPr>
          <a:xfrm>
            <a:off x="612775" y="1572895"/>
            <a:ext cx="4963160" cy="5229225"/>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custDataLst>
              <p:tags r:id="rId2"/>
            </p:custDataLst>
          </p:nvPr>
        </p:nvSpPr>
        <p:spPr>
          <a:xfrm>
            <a:off x="612775" y="1572895"/>
            <a:ext cx="86995" cy="5227955"/>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custDataLst>
              <p:tags r:id="rId3"/>
            </p:custDataLst>
          </p:nvPr>
        </p:nvSpPr>
        <p:spPr>
          <a:xfrm>
            <a:off x="850392" y="1711897"/>
            <a:ext cx="4608576" cy="343535"/>
          </a:xfrm>
          <a:prstGeom prst="rect">
            <a:avLst/>
          </a:prstGeom>
          <a:noFill/>
        </p:spPr>
        <p:txBody>
          <a:bodyPr wrap="square" lIns="0" tIns="36576" rIns="73152" bIns="0" anchor="ctr">
            <a:spAutoFit/>
          </a:bodyPr>
          <a:lstStyle/>
          <a:p>
            <a:pPr algn="l"/>
            <a:r>
              <a:rPr sz="2000" b="1">
                <a:solidFill>
                  <a:srgbClr val="2E7D6B"/>
                </a:solidFill>
                <a:latin typeface="微软雅黑" panose="020B0503020204020204" pitchFamily="34" charset="-122"/>
                <a:ea typeface="微软雅黑" panose="020B0503020204020204" pitchFamily="34" charset="-122"/>
              </a:rPr>
              <a:t>一、数据收资</a:t>
            </a:r>
            <a:endParaRPr sz="2000" b="1">
              <a:solidFill>
                <a:srgbClr val="2E7D6B"/>
              </a:solidFill>
              <a:latin typeface="微软雅黑" panose="020B0503020204020204" pitchFamily="34" charset="-122"/>
              <a:ea typeface="微软雅黑" panose="020B0503020204020204" pitchFamily="34" charset="-122"/>
            </a:endParaRPr>
          </a:p>
        </p:txBody>
      </p:sp>
      <p:sp>
        <p:nvSpPr>
          <p:cNvPr id="7" name="TextBox 6"/>
          <p:cNvSpPr txBox="1"/>
          <p:nvPr>
            <p:custDataLst>
              <p:tags r:id="rId4"/>
            </p:custDataLst>
          </p:nvPr>
        </p:nvSpPr>
        <p:spPr>
          <a:xfrm>
            <a:off x="850392" y="2139696"/>
            <a:ext cx="4553712" cy="4661535"/>
          </a:xfrm>
          <a:prstGeom prst="rect">
            <a:avLst/>
          </a:prstGeom>
          <a:noFill/>
        </p:spPr>
        <p:txBody>
          <a:bodyPr wrap="square">
            <a:spAutoFit/>
          </a:bodyPr>
          <a:lstStyle/>
          <a:p>
            <a:pPr algn="l">
              <a:spcAft>
                <a:spcPts val="900"/>
              </a:spcAft>
            </a:pPr>
            <a:r>
              <a:rPr>
                <a:solidFill>
                  <a:srgbClr val="2E7D6B"/>
                </a:solidFill>
                <a:latin typeface="Noto Sans SC" panose="020B0200000000000000" charset="-122"/>
                <a:ea typeface="Noto Sans SC" panose="020B0200000000000000" charset="-122"/>
              </a:rPr>
              <a:t>▪ </a:t>
            </a:r>
            <a:r>
              <a:rPr>
                <a:solidFill>
                  <a:srgbClr val="4B5563"/>
                </a:solidFill>
                <a:latin typeface="Noto Sans SC" panose="020B0200000000000000" charset="-122"/>
                <a:ea typeface="Noto Sans SC" panose="020B0200000000000000" charset="-122"/>
              </a:rPr>
              <a:t>1、政策文件：国家、江苏省两级，2021—2026年</a:t>
            </a:r>
            <a:r>
              <a:rPr lang="zh-CN">
                <a:solidFill>
                  <a:srgbClr val="4B5563"/>
                </a:solidFill>
                <a:latin typeface="Noto Sans SC" panose="020B0200000000000000" charset="-122"/>
                <a:ea typeface="Noto Sans SC" panose="020B0200000000000000" charset="-122"/>
              </a:rPr>
              <a:t>。</a:t>
            </a:r>
            <a:endParaRPr lang="zh-CN">
              <a:solidFill>
                <a:srgbClr val="4B5563"/>
              </a:solidFill>
              <a:latin typeface="Noto Sans SC" panose="020B0200000000000000" charset="-122"/>
              <a:ea typeface="Noto Sans SC" panose="020B0200000000000000" charset="-122"/>
            </a:endParaRPr>
          </a:p>
          <a:p>
            <a:pPr algn="l">
              <a:spcAft>
                <a:spcPts val="900"/>
              </a:spcAft>
            </a:pPr>
            <a:r>
              <a:rPr>
                <a:solidFill>
                  <a:srgbClr val="2E7D6B"/>
                </a:solidFill>
                <a:latin typeface="Noto Sans SC" panose="020B0200000000000000" charset="-122"/>
                <a:ea typeface="Noto Sans SC" panose="020B0200000000000000" charset="-122"/>
              </a:rPr>
              <a:t>▪</a:t>
            </a:r>
            <a:r>
              <a:rPr>
                <a:solidFill>
                  <a:schemeClr val="tx1"/>
                </a:solidFill>
                <a:latin typeface="Noto Sans SC" panose="020B0200000000000000" charset="-122"/>
                <a:ea typeface="Noto Sans SC" panose="020B0200000000000000" charset="-122"/>
              </a:rPr>
              <a:t> </a:t>
            </a:r>
            <a:r>
              <a:rPr>
                <a:solidFill>
                  <a:srgbClr val="4B5563"/>
                </a:solidFill>
                <a:latin typeface="Noto Sans SC" panose="020B0200000000000000" charset="-122"/>
                <a:ea typeface="Noto Sans SC" panose="020B0200000000000000" charset="-122"/>
              </a:rPr>
              <a:t>2、多维度统计分析相关资料：</a:t>
            </a:r>
            <a:endParaRPr>
              <a:solidFill>
                <a:srgbClr val="4B5563"/>
              </a:solidFill>
              <a:latin typeface="Noto Sans SC" panose="020B0200000000000000" charset="-122"/>
              <a:ea typeface="Noto Sans SC" panose="020B0200000000000000" charset="-122"/>
            </a:endParaRPr>
          </a:p>
          <a:p>
            <a:pPr algn="l">
              <a:spcAft>
                <a:spcPts val="900"/>
              </a:spcAft>
            </a:pPr>
            <a:r>
              <a:rPr>
                <a:solidFill>
                  <a:srgbClr val="4B5563"/>
                </a:solidFill>
                <a:latin typeface="Noto Sans SC" panose="020B0200000000000000" charset="-122"/>
                <a:ea typeface="Noto Sans SC" panose="020B0200000000000000" charset="-122"/>
              </a:rPr>
              <a:t> </a:t>
            </a:r>
            <a:r>
              <a:rPr lang="en-US">
                <a:solidFill>
                  <a:srgbClr val="4B5563"/>
                </a:solidFill>
                <a:latin typeface="Noto Sans SC" panose="020B0200000000000000" charset="-122"/>
                <a:ea typeface="Noto Sans SC" panose="020B0200000000000000" charset="-122"/>
              </a:rPr>
              <a:t>    </a:t>
            </a:r>
            <a:r>
              <a:rPr>
                <a:solidFill>
                  <a:srgbClr val="4B5563"/>
                </a:solidFill>
                <a:latin typeface="Noto Sans SC" panose="020B0200000000000000" charset="-122"/>
                <a:ea typeface="Noto Sans SC" panose="020B0200000000000000" charset="-122"/>
              </a:rPr>
              <a:t>2.1、新能源电厂并网运行情况表：装机、发电量、上网电量、利用小时数，2021年1月—2026年8月共68个月</a:t>
            </a:r>
            <a:r>
              <a:rPr lang="zh-CN">
                <a:solidFill>
                  <a:srgbClr val="4B5563"/>
                </a:solidFill>
                <a:latin typeface="Noto Sans SC" panose="020B0200000000000000" charset="-122"/>
                <a:ea typeface="Noto Sans SC" panose="020B0200000000000000" charset="-122"/>
              </a:rPr>
              <a:t>。</a:t>
            </a:r>
            <a:endParaRPr>
              <a:solidFill>
                <a:srgbClr val="4B5563"/>
              </a:solidFill>
              <a:latin typeface="Noto Sans SC" panose="020B0200000000000000" charset="-122"/>
              <a:ea typeface="Noto Sans SC" panose="020B0200000000000000" charset="-122"/>
            </a:endParaRPr>
          </a:p>
          <a:p>
            <a:pPr algn="l">
              <a:spcAft>
                <a:spcPts val="900"/>
              </a:spcAft>
            </a:pPr>
            <a:r>
              <a:rPr lang="en-US">
                <a:solidFill>
                  <a:srgbClr val="4B5563"/>
                </a:solidFill>
                <a:latin typeface="Noto Sans SC" panose="020B0200000000000000" charset="-122"/>
                <a:ea typeface="Noto Sans SC" panose="020B0200000000000000" charset="-122"/>
              </a:rPr>
              <a:t>     2.2 </a:t>
            </a:r>
            <a:r>
              <a:rPr lang="zh-CN" altLang="en-US">
                <a:solidFill>
                  <a:srgbClr val="4B5563"/>
                </a:solidFill>
                <a:latin typeface="Noto Sans SC" panose="020B0200000000000000" charset="-122"/>
                <a:ea typeface="Noto Sans SC" panose="020B0200000000000000" charset="-122"/>
              </a:rPr>
              <a:t>、</a:t>
            </a:r>
            <a:r>
              <a:rPr>
                <a:solidFill>
                  <a:srgbClr val="4B5563"/>
                </a:solidFill>
                <a:latin typeface="Noto Sans SC" panose="020B0200000000000000" charset="-122"/>
                <a:ea typeface="Noto Sans SC" panose="020B0200000000000000" charset="-122"/>
              </a:rPr>
              <a:t>分市全社会用电情况简报：全省、苏南苏中苏北、13个设区市，共68个月</a:t>
            </a:r>
            <a:r>
              <a:rPr lang="zh-CN">
                <a:solidFill>
                  <a:srgbClr val="4B5563"/>
                </a:solidFill>
                <a:latin typeface="Noto Sans SC" panose="020B0200000000000000" charset="-122"/>
                <a:ea typeface="Noto Sans SC" panose="020B0200000000000000" charset="-122"/>
              </a:rPr>
              <a:t>。</a:t>
            </a:r>
            <a:endParaRPr lang="zh-CN">
              <a:solidFill>
                <a:srgbClr val="4B5563"/>
              </a:solidFill>
              <a:latin typeface="Noto Sans SC" panose="020B0200000000000000" charset="-122"/>
              <a:ea typeface="Noto Sans SC" panose="020B0200000000000000" charset="-122"/>
            </a:endParaRPr>
          </a:p>
          <a:p>
            <a:pPr algn="l">
              <a:spcAft>
                <a:spcPts val="900"/>
              </a:spcAft>
            </a:pPr>
            <a:r>
              <a:rPr lang="en-US">
                <a:solidFill>
                  <a:srgbClr val="4B5563"/>
                </a:solidFill>
                <a:latin typeface="Noto Sans SC" panose="020B0200000000000000" charset="-122"/>
                <a:ea typeface="Noto Sans SC" panose="020B0200000000000000" charset="-122"/>
              </a:rPr>
              <a:t>     2.3</a:t>
            </a:r>
            <a:r>
              <a:rPr lang="zh-CN" altLang="en-US">
                <a:solidFill>
                  <a:srgbClr val="4B5563"/>
                </a:solidFill>
                <a:latin typeface="Noto Sans SC" panose="020B0200000000000000" charset="-122"/>
                <a:ea typeface="Noto Sans SC" panose="020B0200000000000000" charset="-122"/>
              </a:rPr>
              <a:t>、</a:t>
            </a:r>
            <a:r>
              <a:rPr>
                <a:solidFill>
                  <a:srgbClr val="4B5563"/>
                </a:solidFill>
                <a:latin typeface="Noto Sans SC" panose="020B0200000000000000" charset="-122"/>
                <a:ea typeface="Noto Sans SC" panose="020B0200000000000000" charset="-122"/>
              </a:rPr>
              <a:t>新型储能电站运行情况统计表：充电量、充放电次数、循环效率，2023年1月—2026年8月共44个月</a:t>
            </a:r>
            <a:r>
              <a:rPr lang="zh-CN">
                <a:solidFill>
                  <a:srgbClr val="4B5563"/>
                </a:solidFill>
                <a:latin typeface="Noto Sans SC" panose="020B0200000000000000" charset="-122"/>
                <a:ea typeface="Noto Sans SC" panose="020B0200000000000000" charset="-122"/>
              </a:rPr>
              <a:t>。</a:t>
            </a:r>
            <a:endParaRPr>
              <a:solidFill>
                <a:srgbClr val="4B5563"/>
              </a:solidFill>
              <a:latin typeface="Noto Sans SC" panose="020B0200000000000000" charset="-122"/>
              <a:ea typeface="Noto Sans SC" panose="020B0200000000000000" charset="-122"/>
            </a:endParaRPr>
          </a:p>
          <a:p>
            <a:pPr algn="l">
              <a:spcAft>
                <a:spcPts val="900"/>
              </a:spcAft>
            </a:pPr>
            <a:r>
              <a:rPr lang="en-US">
                <a:solidFill>
                  <a:srgbClr val="4B5563"/>
                </a:solidFill>
                <a:latin typeface="Noto Sans SC" panose="020B0200000000000000" charset="-122"/>
                <a:ea typeface="Noto Sans SC" panose="020B0200000000000000" charset="-122"/>
              </a:rPr>
              <a:t>...</a:t>
            </a:r>
            <a:endParaRPr>
              <a:solidFill>
                <a:srgbClr val="4B5563"/>
              </a:solidFill>
              <a:latin typeface="Noto Sans SC" panose="020B0200000000000000" charset="-122"/>
              <a:ea typeface="Noto Sans SC" panose="020B0200000000000000" charset="-122"/>
            </a:endParaRPr>
          </a:p>
          <a:p>
            <a:pPr algn="l">
              <a:spcAft>
                <a:spcPts val="900"/>
              </a:spcAft>
            </a:pPr>
            <a:r>
              <a:rPr>
                <a:solidFill>
                  <a:srgbClr val="2E7D6B"/>
                </a:solidFill>
                <a:latin typeface="Noto Sans SC" panose="020B0200000000000000" charset="-122"/>
                <a:ea typeface="Noto Sans SC" panose="020B0200000000000000" charset="-122"/>
              </a:rPr>
              <a:t>▪</a:t>
            </a:r>
            <a:r>
              <a:rPr>
                <a:solidFill>
                  <a:srgbClr val="4B5563"/>
                </a:solidFill>
                <a:latin typeface="Noto Sans SC" panose="020B0200000000000000" charset="-122"/>
                <a:ea typeface="Noto Sans SC" panose="020B0200000000000000" charset="-122"/>
              </a:rPr>
              <a:t> 3、项目资料：可行性研究</a:t>
            </a:r>
            <a:r>
              <a:rPr lang="zh-CN">
                <a:solidFill>
                  <a:srgbClr val="4B5563"/>
                </a:solidFill>
                <a:latin typeface="Noto Sans SC" panose="020B0200000000000000" charset="-122"/>
                <a:ea typeface="Noto Sans SC" panose="020B0200000000000000" charset="-122"/>
              </a:rPr>
              <a:t>报告</a:t>
            </a:r>
            <a:r>
              <a:rPr>
                <a:solidFill>
                  <a:srgbClr val="4B5563"/>
                </a:solidFill>
                <a:latin typeface="Noto Sans SC" panose="020B0200000000000000" charset="-122"/>
                <a:ea typeface="Noto Sans SC" panose="020B0200000000000000" charset="-122"/>
              </a:rPr>
              <a:t>共23份</a:t>
            </a:r>
            <a:r>
              <a:rPr lang="zh-CN">
                <a:solidFill>
                  <a:srgbClr val="4B5563"/>
                </a:solidFill>
                <a:latin typeface="Noto Sans SC" panose="020B0200000000000000" charset="-122"/>
                <a:ea typeface="Noto Sans SC" panose="020B0200000000000000" charset="-122"/>
              </a:rPr>
              <a:t>，涉及到苏北、苏中、苏南，覆盖全江苏。</a:t>
            </a:r>
            <a:endParaRPr lang="zh-CN">
              <a:solidFill>
                <a:srgbClr val="4B5563"/>
              </a:solidFill>
              <a:latin typeface="Noto Sans SC" panose="020B0200000000000000" charset="-122"/>
              <a:ea typeface="Noto Sans SC" panose="020B0200000000000000" charset="-122"/>
            </a:endParaRPr>
          </a:p>
        </p:txBody>
      </p:sp>
      <p:sp>
        <p:nvSpPr>
          <p:cNvPr id="8" name="Rounded Rectangle 7"/>
          <p:cNvSpPr/>
          <p:nvPr>
            <p:custDataLst>
              <p:tags r:id="rId5"/>
            </p:custDataLst>
          </p:nvPr>
        </p:nvSpPr>
        <p:spPr>
          <a:xfrm>
            <a:off x="5788025" y="1572895"/>
            <a:ext cx="5797550" cy="5227955"/>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custDataLst>
              <p:tags r:id="rId6"/>
            </p:custDataLst>
          </p:nvPr>
        </p:nvSpPr>
        <p:spPr>
          <a:xfrm>
            <a:off x="5788025" y="1572895"/>
            <a:ext cx="76200" cy="5227955"/>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custDataLst>
              <p:tags r:id="rId7"/>
            </p:custDataLst>
          </p:nvPr>
        </p:nvSpPr>
        <p:spPr>
          <a:xfrm>
            <a:off x="6025896" y="1711897"/>
            <a:ext cx="5449824" cy="343535"/>
          </a:xfrm>
          <a:prstGeom prst="rect">
            <a:avLst/>
          </a:prstGeom>
          <a:noFill/>
        </p:spPr>
        <p:txBody>
          <a:bodyPr wrap="square" lIns="0" tIns="36576" rIns="73152" bIns="0" anchor="ctr">
            <a:spAutoFit/>
          </a:bodyPr>
          <a:lstStyle/>
          <a:p>
            <a:pPr algn="l"/>
            <a:r>
              <a:rPr sz="2000" b="1">
                <a:solidFill>
                  <a:srgbClr val="2E7D6B"/>
                </a:solidFill>
                <a:latin typeface="微软雅黑" panose="020B0503020204020204" pitchFamily="34" charset="-122"/>
                <a:ea typeface="微软雅黑" panose="020B0503020204020204" pitchFamily="34" charset="-122"/>
              </a:rPr>
              <a:t>二、主要工作与成果</a:t>
            </a:r>
            <a:endParaRPr sz="2000" b="1">
              <a:solidFill>
                <a:srgbClr val="2E7D6B"/>
              </a:solidFill>
              <a:latin typeface="微软雅黑" panose="020B0503020204020204" pitchFamily="34" charset="-122"/>
              <a:ea typeface="微软雅黑" panose="020B0503020204020204" pitchFamily="34" charset="-122"/>
            </a:endParaRPr>
          </a:p>
        </p:txBody>
      </p:sp>
      <p:sp>
        <p:nvSpPr>
          <p:cNvPr id="11" name="TextBox 10"/>
          <p:cNvSpPr txBox="1"/>
          <p:nvPr>
            <p:custDataLst>
              <p:tags r:id="rId8"/>
            </p:custDataLst>
          </p:nvPr>
        </p:nvSpPr>
        <p:spPr>
          <a:xfrm>
            <a:off x="6025896" y="2322576"/>
            <a:ext cx="5394959" cy="4154170"/>
          </a:xfrm>
          <a:prstGeom prst="rect">
            <a:avLst/>
          </a:prstGeom>
          <a:noFill/>
        </p:spPr>
        <p:txBody>
          <a:bodyPr wrap="square">
            <a:spAutoFit/>
          </a:bodyPr>
          <a:lstStyle/>
          <a:p>
            <a:pPr algn="l">
              <a:spcAft>
                <a:spcPts val="900"/>
              </a:spcAft>
            </a:pPr>
            <a:r>
              <a:rPr>
                <a:solidFill>
                  <a:srgbClr val="2E7D6B"/>
                </a:solidFill>
                <a:latin typeface="Noto Sans SC" panose="020B0200000000000000" charset="-122"/>
                <a:ea typeface="Noto Sans SC" panose="020B0200000000000000" charset="-122"/>
              </a:rPr>
              <a:t>▪ </a:t>
            </a:r>
            <a:r>
              <a:rPr>
                <a:solidFill>
                  <a:srgbClr val="4B5563"/>
                </a:solidFill>
                <a:latin typeface="Noto Sans SC" panose="020B0200000000000000" charset="-122"/>
                <a:ea typeface="Noto Sans SC" panose="020B0200000000000000" charset="-122"/>
              </a:rPr>
              <a:t>已完成研究报告六章</a:t>
            </a:r>
            <a:r>
              <a:rPr lang="zh-CN">
                <a:solidFill>
                  <a:srgbClr val="4B5563"/>
                </a:solidFill>
                <a:latin typeface="Noto Sans SC" panose="020B0200000000000000" charset="-122"/>
                <a:ea typeface="Noto Sans SC" panose="020B0200000000000000" charset="-122"/>
              </a:rPr>
              <a:t>（共七章）</a:t>
            </a:r>
            <a:r>
              <a:rPr>
                <a:solidFill>
                  <a:srgbClr val="4B5563"/>
                </a:solidFill>
                <a:latin typeface="Noto Sans SC" panose="020B0200000000000000" charset="-122"/>
                <a:ea typeface="Noto Sans SC" panose="020B0200000000000000" charset="-122"/>
              </a:rPr>
              <a:t>：项目概述、理论基础与文献综述、政策体系梳理与全链条解析、多维度统计分析、典型项目经济效益测算与案例分析、新兴要素对电力市场的综合影响</a:t>
            </a:r>
            <a:r>
              <a:rPr lang="zh-CN">
                <a:solidFill>
                  <a:srgbClr val="4B5563"/>
                </a:solidFill>
                <a:latin typeface="Noto Sans SC" panose="020B0200000000000000" charset="-122"/>
                <a:ea typeface="Noto Sans SC" panose="020B0200000000000000" charset="-122"/>
              </a:rPr>
              <a:t>。</a:t>
            </a:r>
            <a:endParaRPr>
              <a:solidFill>
                <a:srgbClr val="4B5563"/>
              </a:solidFill>
              <a:latin typeface="Noto Sans SC" panose="020B0200000000000000" charset="-122"/>
              <a:ea typeface="Noto Sans SC" panose="020B0200000000000000" charset="-122"/>
            </a:endParaRPr>
          </a:p>
          <a:p>
            <a:pPr algn="l">
              <a:spcAft>
                <a:spcPts val="900"/>
              </a:spcAft>
            </a:pPr>
            <a:r>
              <a:rPr>
                <a:solidFill>
                  <a:srgbClr val="2E7D6B"/>
                </a:solidFill>
                <a:latin typeface="Noto Sans SC" panose="020B0200000000000000" charset="-122"/>
                <a:ea typeface="Noto Sans SC" panose="020B0200000000000000" charset="-122"/>
              </a:rPr>
              <a:t>▪ </a:t>
            </a:r>
            <a:r>
              <a:rPr>
                <a:solidFill>
                  <a:srgbClr val="4B5563"/>
                </a:solidFill>
                <a:latin typeface="Noto Sans SC" panose="020B0200000000000000" charset="-122"/>
                <a:ea typeface="Noto Sans SC" panose="020B0200000000000000" charset="-122"/>
              </a:rPr>
              <a:t>政策</a:t>
            </a:r>
            <a:r>
              <a:rPr lang="zh-CN">
                <a:solidFill>
                  <a:srgbClr val="4B5563"/>
                </a:solidFill>
                <a:latin typeface="Noto Sans SC" panose="020B0200000000000000" charset="-122"/>
                <a:ea typeface="Noto Sans SC" panose="020B0200000000000000" charset="-122"/>
              </a:rPr>
              <a:t>文件</a:t>
            </a:r>
            <a:r>
              <a:rPr>
                <a:solidFill>
                  <a:srgbClr val="4B5563"/>
                </a:solidFill>
                <a:latin typeface="Noto Sans SC" panose="020B0200000000000000" charset="-122"/>
                <a:ea typeface="Noto Sans SC" panose="020B0200000000000000" charset="-122"/>
              </a:rPr>
              <a:t>体系：完成国家与江苏两级政策分类，搭建全链条六环节框架，归纳三条主线、两次身份转变、四次边界变化</a:t>
            </a:r>
            <a:r>
              <a:rPr lang="zh-CN">
                <a:solidFill>
                  <a:srgbClr val="4B5563"/>
                </a:solidFill>
                <a:latin typeface="Noto Sans SC" panose="020B0200000000000000" charset="-122"/>
                <a:ea typeface="Noto Sans SC" panose="020B0200000000000000" charset="-122"/>
              </a:rPr>
              <a:t>。</a:t>
            </a:r>
            <a:endParaRPr>
              <a:solidFill>
                <a:srgbClr val="4B5563"/>
              </a:solidFill>
              <a:latin typeface="Noto Sans SC" panose="020B0200000000000000" charset="-122"/>
              <a:ea typeface="Noto Sans SC" panose="020B0200000000000000" charset="-122"/>
            </a:endParaRPr>
          </a:p>
          <a:p>
            <a:pPr algn="l">
              <a:spcAft>
                <a:spcPts val="900"/>
              </a:spcAft>
            </a:pPr>
            <a:r>
              <a:rPr>
                <a:solidFill>
                  <a:srgbClr val="2E7D6B"/>
                </a:solidFill>
                <a:latin typeface="Noto Sans SC" panose="020B0200000000000000" charset="-122"/>
                <a:ea typeface="Noto Sans SC" panose="020B0200000000000000" charset="-122"/>
              </a:rPr>
              <a:t>▪ </a:t>
            </a:r>
            <a:r>
              <a:rPr>
                <a:solidFill>
                  <a:srgbClr val="4B5563"/>
                </a:solidFill>
                <a:latin typeface="Noto Sans SC" panose="020B0200000000000000" charset="-122"/>
                <a:ea typeface="Noto Sans SC" panose="020B0200000000000000" charset="-122"/>
              </a:rPr>
              <a:t>多维度</a:t>
            </a:r>
            <a:r>
              <a:rPr lang="zh-CN">
                <a:solidFill>
                  <a:srgbClr val="4B5563"/>
                </a:solidFill>
                <a:latin typeface="Noto Sans SC" panose="020B0200000000000000" charset="-122"/>
                <a:ea typeface="Noto Sans SC" panose="020B0200000000000000" charset="-122"/>
              </a:rPr>
              <a:t>数据</a:t>
            </a:r>
            <a:r>
              <a:rPr>
                <a:solidFill>
                  <a:srgbClr val="4B5563"/>
                </a:solidFill>
                <a:latin typeface="Noto Sans SC" panose="020B0200000000000000" charset="-122"/>
                <a:ea typeface="Noto Sans SC" panose="020B0200000000000000" charset="-122"/>
              </a:rPr>
              <a:t>统计：</a:t>
            </a:r>
            <a:r>
              <a:rPr lang="zh-CN">
                <a:solidFill>
                  <a:srgbClr val="4B5563"/>
                </a:solidFill>
                <a:latin typeface="Noto Sans SC" panose="020B0200000000000000" charset="-122"/>
                <a:ea typeface="Noto Sans SC" panose="020B0200000000000000" charset="-122"/>
              </a:rPr>
              <a:t>完成时间和区域两个主要维度和</a:t>
            </a:r>
            <a:r>
              <a:rPr>
                <a:solidFill>
                  <a:srgbClr val="4B5563"/>
                </a:solidFill>
                <a:latin typeface="Noto Sans SC" panose="020B0200000000000000" charset="-122"/>
                <a:ea typeface="Noto Sans SC" panose="020B0200000000000000" charset="-122"/>
                <a:sym typeface="+mn-ea"/>
              </a:rPr>
              <a:t>装机结构、上网耦合</a:t>
            </a:r>
            <a:r>
              <a:rPr lang="zh-CN">
                <a:solidFill>
                  <a:srgbClr val="4B5563"/>
                </a:solidFill>
                <a:latin typeface="Noto Sans SC" panose="020B0200000000000000" charset="-122"/>
                <a:ea typeface="Noto Sans SC" panose="020B0200000000000000" charset="-122"/>
                <a:sym typeface="+mn-ea"/>
              </a:rPr>
              <a:t>、</a:t>
            </a:r>
            <a:r>
              <a:rPr>
                <a:solidFill>
                  <a:srgbClr val="4B5563"/>
                </a:solidFill>
                <a:latin typeface="Noto Sans SC" panose="020B0200000000000000" charset="-122"/>
                <a:ea typeface="Noto Sans SC" panose="020B0200000000000000" charset="-122"/>
                <a:sym typeface="+mn-ea"/>
              </a:rPr>
              <a:t>储能</a:t>
            </a:r>
            <a:r>
              <a:rPr lang="zh-CN">
                <a:solidFill>
                  <a:srgbClr val="4B5563"/>
                </a:solidFill>
                <a:latin typeface="Noto Sans SC" panose="020B0200000000000000" charset="-122"/>
                <a:ea typeface="Noto Sans SC" panose="020B0200000000000000" charset="-122"/>
                <a:sym typeface="+mn-ea"/>
              </a:rPr>
              <a:t>及</a:t>
            </a:r>
            <a:r>
              <a:rPr>
                <a:solidFill>
                  <a:srgbClr val="4B5563"/>
                </a:solidFill>
                <a:latin typeface="Noto Sans SC" panose="020B0200000000000000" charset="-122"/>
                <a:ea typeface="Noto Sans SC" panose="020B0200000000000000" charset="-122"/>
                <a:sym typeface="+mn-ea"/>
              </a:rPr>
              <a:t>绿电交易</a:t>
            </a:r>
            <a:r>
              <a:rPr lang="zh-CN">
                <a:solidFill>
                  <a:srgbClr val="4B5563"/>
                </a:solidFill>
                <a:latin typeface="Noto Sans SC" panose="020B0200000000000000" charset="-122"/>
                <a:ea typeface="Noto Sans SC" panose="020B0200000000000000" charset="-122"/>
                <a:sym typeface="+mn-ea"/>
              </a:rPr>
              <a:t>的分析</a:t>
            </a:r>
            <a:endParaRPr lang="zh-CN">
              <a:solidFill>
                <a:srgbClr val="4B5563"/>
              </a:solidFill>
              <a:latin typeface="Noto Sans SC" panose="020B0200000000000000" charset="-122"/>
              <a:ea typeface="Noto Sans SC" panose="020B0200000000000000" charset="-122"/>
            </a:endParaRPr>
          </a:p>
          <a:p>
            <a:pPr algn="l">
              <a:spcAft>
                <a:spcPts val="900"/>
              </a:spcAft>
            </a:pPr>
            <a:r>
              <a:rPr>
                <a:solidFill>
                  <a:srgbClr val="2E7D6B"/>
                </a:solidFill>
                <a:latin typeface="Noto Sans SC" panose="020B0200000000000000" charset="-122"/>
                <a:ea typeface="Noto Sans SC" panose="020B0200000000000000" charset="-122"/>
              </a:rPr>
              <a:t>▪ </a:t>
            </a:r>
            <a:r>
              <a:rPr>
                <a:solidFill>
                  <a:srgbClr val="4B5563"/>
                </a:solidFill>
                <a:latin typeface="Noto Sans SC" panose="020B0200000000000000" charset="-122"/>
                <a:ea typeface="Noto Sans SC" panose="020B0200000000000000" charset="-122"/>
              </a:rPr>
              <a:t>项目效益测算：完成12个深度样本＋11个参照样本的成本收益测算，形成机制电价情景与收益拐点</a:t>
            </a:r>
            <a:endParaRPr>
              <a:solidFill>
                <a:srgbClr val="4B5563"/>
              </a:solidFill>
              <a:latin typeface="Noto Sans SC" panose="020B0200000000000000" charset="-122"/>
              <a:ea typeface="Noto Sans SC" panose="020B0200000000000000" charset="-122"/>
            </a:endParaRPr>
          </a:p>
          <a:p>
            <a:pPr algn="l">
              <a:spcAft>
                <a:spcPts val="900"/>
              </a:spcAft>
            </a:pPr>
            <a:r>
              <a:rPr>
                <a:solidFill>
                  <a:srgbClr val="2E7D6B"/>
                </a:solidFill>
                <a:latin typeface="Noto Sans SC" panose="020B0200000000000000" charset="-122"/>
                <a:ea typeface="Noto Sans SC" panose="020B0200000000000000" charset="-122"/>
              </a:rPr>
              <a:t>▪ </a:t>
            </a:r>
            <a:r>
              <a:rPr>
                <a:solidFill>
                  <a:srgbClr val="4B5563"/>
                </a:solidFill>
                <a:latin typeface="Noto Sans SC" panose="020B0200000000000000" charset="-122"/>
                <a:ea typeface="Noto Sans SC" panose="020B0200000000000000" charset="-122"/>
              </a:rPr>
              <a:t>论文：已撰写2篇，</a:t>
            </a:r>
            <a:r>
              <a:rPr lang="zh-CN">
                <a:solidFill>
                  <a:srgbClr val="4B5563"/>
                </a:solidFill>
                <a:latin typeface="Noto Sans SC" panose="020B0200000000000000" charset="-122"/>
                <a:ea typeface="Noto Sans SC" panose="020B0200000000000000" charset="-122"/>
              </a:rPr>
              <a:t>一篇已有录用通知，另一篇等待通知。</a:t>
            </a:r>
            <a:endParaRPr lang="zh-CN">
              <a:solidFill>
                <a:srgbClr val="4B5563"/>
              </a:solidFill>
              <a:latin typeface="Noto Sans SC" panose="020B0200000000000000" charset="-122"/>
              <a:ea typeface="Noto Sans SC" panose="020B0200000000000000" charset="-122"/>
            </a:endParaRPr>
          </a:p>
        </p:txBody>
      </p:sp>
      <p:sp>
        <p:nvSpPr>
          <p:cNvPr id="12" name="TextBox 11"/>
          <p:cNvSpPr txBox="1"/>
          <p:nvPr/>
        </p:nvSpPr>
        <p:spPr>
          <a:xfrm>
            <a:off x="786384" y="182880"/>
            <a:ext cx="10881360" cy="548640"/>
          </a:xfrm>
          <a:prstGeom prst="rect">
            <a:avLst/>
          </a:prstGeom>
          <a:noFill/>
        </p:spPr>
        <p:txBody>
          <a:bodyPr wrap="square" lIns="18288" tIns="0" rIns="0" bIns="0" anchor="ctr">
            <a:spAutoFit/>
          </a:bodyPr>
          <a:lstStyle/>
          <a:p>
            <a:pPr algn="l"/>
            <a:r>
              <a:rPr sz="2800" b="1">
                <a:solidFill>
                  <a:srgbClr val="1F5A4D"/>
                </a:solidFill>
                <a:latin typeface="微软雅黑" panose="020B0503020204020204" pitchFamily="34" charset="-122"/>
                <a:ea typeface="微软雅黑" panose="020B0503020204020204" pitchFamily="34" charset="-122"/>
              </a:rPr>
              <a:t>0 工作总结    </a:t>
            </a:r>
            <a:r>
              <a:rPr sz="2200" b="1">
                <a:solidFill>
                  <a:srgbClr val="029694"/>
                </a:solidFill>
                <a:latin typeface="微软雅黑" panose="020B0503020204020204" pitchFamily="34" charset="-122"/>
                <a:ea typeface="微软雅黑" panose="020B0503020204020204" pitchFamily="34" charset="-122"/>
              </a:rPr>
              <a:t>前期工作总结</a:t>
            </a:r>
            <a:endParaRPr sz="2200" b="1">
              <a:solidFill>
                <a:srgbClr val="029694"/>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hlinkClick r:id="rId1" action="ppaction://hlinksldjump"/>
          </p:cNvPr>
          <p:cNvSpPr/>
          <p:nvPr>
            <p:custDataLst>
              <p:tags r:id="rId2"/>
            </p:custDataLst>
          </p:nvPr>
        </p:nvSpPr>
        <p:spPr>
          <a:xfrm>
            <a:off x="3268345" y="2842895"/>
            <a:ext cx="1284605" cy="1171575"/>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4800" b="1" i="0">
                <a:solidFill>
                  <a:srgbClr val="FFFFFF"/>
                </a:solidFill>
                <a:latin typeface="微软雅黑" panose="020B0503020204020204" pitchFamily="34" charset="-122"/>
                <a:ea typeface="微软雅黑" panose="020B0503020204020204" pitchFamily="34" charset="-122"/>
              </a:rPr>
              <a:t>1</a:t>
            </a:r>
            <a:endParaRPr lang="en-US" sz="4800" b="1" i="0">
              <a:solidFill>
                <a:srgbClr val="FFFFFF"/>
              </a:solidFill>
              <a:latin typeface="微软雅黑" panose="020B0503020204020204" pitchFamily="34" charset="-122"/>
              <a:ea typeface="微软雅黑" panose="020B0503020204020204" pitchFamily="34" charset="-122"/>
            </a:endParaRPr>
          </a:p>
        </p:txBody>
      </p:sp>
      <p:sp>
        <p:nvSpPr>
          <p:cNvPr id="5" name="TextBox 4">
            <a:hlinkClick r:id="rId1" action="ppaction://hlinksldjump"/>
          </p:cNvPr>
          <p:cNvSpPr txBox="1"/>
          <p:nvPr>
            <p:custDataLst>
              <p:tags r:id="rId3"/>
            </p:custDataLst>
          </p:nvPr>
        </p:nvSpPr>
        <p:spPr>
          <a:xfrm>
            <a:off x="4920615" y="3059875"/>
            <a:ext cx="5669280" cy="738505"/>
          </a:xfrm>
          <a:prstGeom prst="rect">
            <a:avLst/>
          </a:prstGeom>
          <a:noFill/>
        </p:spPr>
        <p:txBody>
          <a:bodyPr wrap="square" lIns="0" tIns="0" rIns="0" bIns="0" anchor="ctr">
            <a:spAutoFit/>
          </a:bodyPr>
          <a:lstStyle/>
          <a:p>
            <a:pPr algn="l"/>
            <a:r>
              <a:rPr sz="4800" b="1">
                <a:solidFill>
                  <a:srgbClr val="2E7D6B"/>
                </a:solidFill>
                <a:latin typeface="微软雅黑" panose="020B0503020204020204" pitchFamily="34" charset="-122"/>
                <a:ea typeface="微软雅黑" panose="020B0503020204020204" pitchFamily="34" charset="-122"/>
                <a:sym typeface="+mn-ea"/>
              </a:rPr>
              <a:t>研究背景与目标</a:t>
            </a:r>
            <a:endParaRPr sz="4800" b="1" i="0">
              <a:solidFill>
                <a:srgbClr val="2E7D6B"/>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sz="2100" b="0">
                <a:solidFill>
                  <a:srgbClr val="1F5A4D"/>
                </a:solidFill>
                <a:latin typeface="微软雅黑" panose="020B0503020204020204" pitchFamily="34" charset="-122"/>
                <a:ea typeface="微软雅黑" panose="020B0503020204020204" pitchFamily="34" charset="-122"/>
              </a:rPr>
              <a:t>双碳与电价市场化驱动、新兴要素加速渗透 → 明确研究核心问题与目标</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Rounded Rectangle 3"/>
          <p:cNvSpPr/>
          <p:nvPr>
            <p:custDataLst>
              <p:tags r:id="rId1"/>
            </p:custDataLst>
          </p:nvPr>
        </p:nvSpPr>
        <p:spPr>
          <a:xfrm>
            <a:off x="612648" y="1627632"/>
            <a:ext cx="5390388" cy="4828031"/>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custDataLst>
              <p:tags r:id="rId2"/>
            </p:custDataLst>
          </p:nvPr>
        </p:nvSpPr>
        <p:spPr>
          <a:xfrm>
            <a:off x="612648" y="1627632"/>
            <a:ext cx="77724" cy="4828031"/>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_blue.png"/>
          <p:cNvPicPr>
            <a:picLocks noChangeAspect="1"/>
          </p:cNvPicPr>
          <p:nvPr>
            <p:custDataLst>
              <p:tags r:id="rId3"/>
            </p:custDataLst>
          </p:nvPr>
        </p:nvPicPr>
        <p:blipFill>
          <a:blip r:embed="rId4"/>
          <a:stretch>
            <a:fillRect/>
          </a:stretch>
        </p:blipFill>
        <p:spPr>
          <a:xfrm>
            <a:off x="832104" y="1792224"/>
            <a:ext cx="365760" cy="365760"/>
          </a:xfrm>
          <a:prstGeom prst="rect">
            <a:avLst/>
          </a:prstGeom>
        </p:spPr>
      </p:pic>
      <p:sp>
        <p:nvSpPr>
          <p:cNvPr id="7" name="TextBox 6"/>
          <p:cNvSpPr txBox="1"/>
          <p:nvPr>
            <p:custDataLst>
              <p:tags r:id="rId5"/>
            </p:custDataLst>
          </p:nvPr>
        </p:nvSpPr>
        <p:spPr>
          <a:xfrm>
            <a:off x="1289304" y="1773936"/>
            <a:ext cx="4604003" cy="402336"/>
          </a:xfrm>
          <a:prstGeom prst="rect">
            <a:avLst/>
          </a:prstGeom>
          <a:noFill/>
        </p:spPr>
        <p:txBody>
          <a:bodyPr wrap="square" lIns="0" tIns="0" bIns="36576" anchor="ctr">
            <a:spAutoFit/>
          </a:bodyPr>
          <a:lstStyle/>
          <a:p>
            <a:pPr algn="l">
              <a:spcAft>
                <a:spcPts val="400"/>
              </a:spcAft>
            </a:pPr>
            <a:r>
              <a:rPr sz="2000" b="1">
                <a:solidFill>
                  <a:srgbClr val="2E7D6B"/>
                </a:solidFill>
                <a:latin typeface="Noto Sans SC" panose="020B0200000000000000" charset="-122"/>
                <a:ea typeface="Noto Sans SC" panose="020B0200000000000000" charset="-122"/>
              </a:rPr>
              <a:t>研究背景</a:t>
            </a:r>
            <a:endParaRPr sz="2000" b="1">
              <a:solidFill>
                <a:srgbClr val="2E7D6B"/>
              </a:solidFill>
              <a:latin typeface="Noto Sans SC" panose="020B0200000000000000" charset="-122"/>
              <a:ea typeface="Noto Sans SC" panose="020B0200000000000000" charset="-122"/>
            </a:endParaRPr>
          </a:p>
        </p:txBody>
      </p:sp>
      <p:sp>
        <p:nvSpPr>
          <p:cNvPr id="8" name="TextBox 7"/>
          <p:cNvSpPr txBox="1"/>
          <p:nvPr>
            <p:custDataLst>
              <p:tags r:id="rId6"/>
            </p:custDataLst>
          </p:nvPr>
        </p:nvSpPr>
        <p:spPr>
          <a:xfrm>
            <a:off x="868680" y="2286000"/>
            <a:ext cx="4988051" cy="4059935"/>
          </a:xfrm>
          <a:prstGeom prst="rect">
            <a:avLst/>
          </a:prstGeom>
          <a:noFill/>
        </p:spPr>
        <p:txBody>
          <a:bodyPr wrap="square">
            <a:spAutoFit/>
          </a:bodyPr>
          <a:lstStyle/>
          <a:p>
            <a:pPr algn="l">
              <a:lnSpc>
                <a:spcPct val="105000"/>
              </a:lnSpc>
              <a:spcAft>
                <a:spcPts val="1600"/>
              </a:spcAft>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双碳目标与新型电力系统</a:t>
            </a:r>
            <a:r>
              <a:rPr sz="1500" b="0">
                <a:solidFill>
                  <a:srgbClr val="4B5563"/>
                </a:solidFill>
                <a:latin typeface="Noto Sans SC" panose="020B0200000000000000" charset="-122"/>
                <a:ea typeface="Noto Sans SC" panose="020B0200000000000000" charset="-122"/>
              </a:rPr>
              <a:t>：电源由集中式为主转向分布式为主、由电源侧接入转向用户侧接入</a:t>
            </a:r>
            <a:endParaRPr sz="1500" b="0">
              <a:solidFill>
                <a:srgbClr val="4B5563"/>
              </a:solidFill>
              <a:latin typeface="Noto Sans SC" panose="020B0200000000000000" charset="-122"/>
              <a:ea typeface="Noto Sans SC" panose="020B0200000000000000" charset="-122"/>
            </a:endParaRPr>
          </a:p>
          <a:p>
            <a:pPr algn="l">
              <a:lnSpc>
                <a:spcPct val="105000"/>
              </a:lnSpc>
              <a:spcAft>
                <a:spcPts val="1600"/>
              </a:spcAft>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新能源全面入市</a:t>
            </a:r>
            <a:r>
              <a:rPr sz="1500" b="0">
                <a:solidFill>
                  <a:srgbClr val="4B5563"/>
                </a:solidFill>
                <a:latin typeface="Noto Sans SC" panose="020B0200000000000000" charset="-122"/>
                <a:ea typeface="Noto Sans SC" panose="020B0200000000000000" charset="-122"/>
              </a:rPr>
              <a:t>：2026年1月1日起，全省风电、光伏上网电量原则上全部进入电力市场</a:t>
            </a:r>
            <a:endParaRPr sz="1500" b="0">
              <a:solidFill>
                <a:srgbClr val="4B5563"/>
              </a:solidFill>
              <a:latin typeface="Noto Sans SC" panose="020B0200000000000000" charset="-122"/>
              <a:ea typeface="Noto Sans SC" panose="020B0200000000000000" charset="-122"/>
            </a:endParaRPr>
          </a:p>
          <a:p>
            <a:pPr algn="l">
              <a:lnSpc>
                <a:spcPct val="105000"/>
              </a:lnSpc>
              <a:spcAft>
                <a:spcPts val="1600"/>
              </a:spcAft>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绿电消费刚性增长</a:t>
            </a:r>
            <a:r>
              <a:rPr sz="1500" b="0">
                <a:solidFill>
                  <a:srgbClr val="4B5563"/>
                </a:solidFill>
                <a:latin typeface="Noto Sans SC" panose="020B0200000000000000" charset="-122"/>
                <a:ea typeface="Noto Sans SC" panose="020B0200000000000000" charset="-122"/>
              </a:rPr>
              <a:t>：供应链绿色化、碳足迹核算与出口合规，推动绿电直连、绿证、零碳园区加快落地</a:t>
            </a:r>
            <a:endParaRPr sz="1500" b="0">
              <a:solidFill>
                <a:srgbClr val="4B5563"/>
              </a:solidFill>
              <a:latin typeface="Noto Sans SC" panose="020B0200000000000000" charset="-122"/>
              <a:ea typeface="Noto Sans SC" panose="020B0200000000000000" charset="-122"/>
            </a:endParaRPr>
          </a:p>
          <a:p>
            <a:pPr algn="l">
              <a:lnSpc>
                <a:spcPct val="105000"/>
              </a:lnSpc>
              <a:spcAft>
                <a:spcPts val="1600"/>
              </a:spcAft>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新兴要素加速渗透</a:t>
            </a:r>
            <a:r>
              <a:rPr sz="1500" b="0">
                <a:solidFill>
                  <a:srgbClr val="4B5563"/>
                </a:solidFill>
                <a:latin typeface="Noto Sans SC" panose="020B0200000000000000" charset="-122"/>
                <a:ea typeface="Noto Sans SC" panose="020B0200000000000000" charset="-122"/>
              </a:rPr>
              <a:t>：分布式光伏、自备电厂转型、绿电直连、零碳园区改变电源分布、负荷特性与交易边界</a:t>
            </a:r>
            <a:endParaRPr sz="1500" b="0">
              <a:solidFill>
                <a:srgbClr val="4B5563"/>
              </a:solidFill>
              <a:latin typeface="Noto Sans SC" panose="020B0200000000000000" charset="-122"/>
              <a:ea typeface="Noto Sans SC" panose="020B0200000000000000" charset="-122"/>
            </a:endParaRPr>
          </a:p>
          <a:p>
            <a:pPr algn="l">
              <a:lnSpc>
                <a:spcPct val="105000"/>
              </a:lnSpc>
              <a:spcAft>
                <a:spcPts val="1600"/>
              </a:spcAft>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电价机制重构</a:t>
            </a:r>
            <a:r>
              <a:rPr sz="1500" b="0">
                <a:solidFill>
                  <a:srgbClr val="4B5563"/>
                </a:solidFill>
                <a:latin typeface="Noto Sans SC" panose="020B0200000000000000" charset="-122"/>
                <a:ea typeface="Noto Sans SC" panose="020B0200000000000000" charset="-122"/>
              </a:rPr>
              <a:t>：上网电价由行政核定转向市场形成，分时价格、容量电价、系统运行费用同步调整</a:t>
            </a:r>
            <a:endParaRPr sz="1500" b="0">
              <a:solidFill>
                <a:srgbClr val="4B5563"/>
              </a:solidFill>
              <a:latin typeface="Noto Sans SC" panose="020B0200000000000000" charset="-122"/>
              <a:ea typeface="Noto Sans SC" panose="020B0200000000000000" charset="-122"/>
            </a:endParaRPr>
          </a:p>
        </p:txBody>
      </p:sp>
      <p:sp>
        <p:nvSpPr>
          <p:cNvPr id="9" name="Rounded Rectangle 8"/>
          <p:cNvSpPr/>
          <p:nvPr>
            <p:custDataLst>
              <p:tags r:id="rId7"/>
            </p:custDataLst>
          </p:nvPr>
        </p:nvSpPr>
        <p:spPr>
          <a:xfrm>
            <a:off x="6204203" y="1627632"/>
            <a:ext cx="5390388" cy="4828031"/>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custDataLst>
              <p:tags r:id="rId8"/>
            </p:custDataLst>
          </p:nvPr>
        </p:nvSpPr>
        <p:spPr>
          <a:xfrm>
            <a:off x="6204203" y="1627632"/>
            <a:ext cx="77724" cy="4828031"/>
          </a:xfrm>
          <a:prstGeom prst="roundRect">
            <a:avLst>
              <a:gd name="adj"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net.png"/>
          <p:cNvPicPr>
            <a:picLocks noChangeAspect="1"/>
          </p:cNvPicPr>
          <p:nvPr>
            <p:custDataLst>
              <p:tags r:id="rId9"/>
            </p:custDataLst>
          </p:nvPr>
        </p:nvPicPr>
        <p:blipFill>
          <a:blip r:embed="rId10"/>
          <a:stretch>
            <a:fillRect/>
          </a:stretch>
        </p:blipFill>
        <p:spPr>
          <a:xfrm>
            <a:off x="6423659" y="1792224"/>
            <a:ext cx="365760" cy="365760"/>
          </a:xfrm>
          <a:prstGeom prst="rect">
            <a:avLst/>
          </a:prstGeom>
        </p:spPr>
      </p:pic>
      <p:sp>
        <p:nvSpPr>
          <p:cNvPr id="12" name="TextBox 11"/>
          <p:cNvSpPr txBox="1"/>
          <p:nvPr>
            <p:custDataLst>
              <p:tags r:id="rId11"/>
            </p:custDataLst>
          </p:nvPr>
        </p:nvSpPr>
        <p:spPr>
          <a:xfrm>
            <a:off x="6880859" y="1773936"/>
            <a:ext cx="4604003" cy="402336"/>
          </a:xfrm>
          <a:prstGeom prst="rect">
            <a:avLst/>
          </a:prstGeom>
          <a:noFill/>
        </p:spPr>
        <p:txBody>
          <a:bodyPr wrap="square" lIns="0" tIns="0" bIns="36576" anchor="ctr">
            <a:spAutoFit/>
          </a:bodyPr>
          <a:lstStyle/>
          <a:p>
            <a:pPr algn="l">
              <a:spcAft>
                <a:spcPts val="400"/>
              </a:spcAft>
            </a:pPr>
            <a:r>
              <a:rPr sz="2000" b="1">
                <a:solidFill>
                  <a:srgbClr val="0070C0"/>
                </a:solidFill>
                <a:latin typeface="Noto Sans SC" panose="020B0200000000000000" charset="-122"/>
                <a:ea typeface="Noto Sans SC" panose="020B0200000000000000" charset="-122"/>
              </a:rPr>
              <a:t>核心问题与研究目标</a:t>
            </a:r>
            <a:endParaRPr sz="2000" b="1">
              <a:solidFill>
                <a:srgbClr val="0070C0"/>
              </a:solidFill>
              <a:latin typeface="Noto Sans SC" panose="020B0200000000000000" charset="-122"/>
              <a:ea typeface="Noto Sans SC" panose="020B0200000000000000" charset="-122"/>
            </a:endParaRPr>
          </a:p>
        </p:txBody>
      </p:sp>
      <p:sp>
        <p:nvSpPr>
          <p:cNvPr id="13" name="TextBox 12"/>
          <p:cNvSpPr txBox="1"/>
          <p:nvPr>
            <p:custDataLst>
              <p:tags r:id="rId12"/>
            </p:custDataLst>
          </p:nvPr>
        </p:nvSpPr>
        <p:spPr>
          <a:xfrm>
            <a:off x="6460236" y="2286000"/>
            <a:ext cx="4988051" cy="3329305"/>
          </a:xfrm>
          <a:prstGeom prst="rect">
            <a:avLst/>
          </a:prstGeom>
          <a:noFill/>
        </p:spPr>
        <p:txBody>
          <a:bodyPr wrap="square">
            <a:spAutoFit/>
          </a:bodyPr>
          <a:lstStyle/>
          <a:p>
            <a:pPr algn="l">
              <a:lnSpc>
                <a:spcPct val="105000"/>
              </a:lnSpc>
              <a:spcAft>
                <a:spcPts val="1600"/>
              </a:spcAft>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核心问题</a:t>
            </a:r>
            <a:r>
              <a:rPr sz="1500" b="0">
                <a:solidFill>
                  <a:srgbClr val="4B5563"/>
                </a:solidFill>
                <a:latin typeface="Noto Sans SC" panose="020B0200000000000000" charset="-122"/>
                <a:ea typeface="Noto Sans SC" panose="020B0200000000000000" charset="-122"/>
              </a:rPr>
              <a:t>：新兴要素将如何影响交易规模、价格机制、供需平衡与电网电源规划建设</a:t>
            </a:r>
            <a:endParaRPr sz="1500" b="0">
              <a:solidFill>
                <a:srgbClr val="4B5563"/>
              </a:solidFill>
              <a:latin typeface="Noto Sans SC" panose="020B0200000000000000" charset="-122"/>
              <a:ea typeface="Noto Sans SC" panose="020B0200000000000000" charset="-122"/>
            </a:endParaRPr>
          </a:p>
          <a:p>
            <a:pPr algn="l">
              <a:lnSpc>
                <a:spcPct val="105000"/>
              </a:lnSpc>
              <a:spcAft>
                <a:spcPts val="1600"/>
              </a:spcAft>
              <a:buClrTx/>
              <a:buSzTx/>
              <a:buFontTx/>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研究对象：</a:t>
            </a:r>
            <a:r>
              <a:rPr sz="1500">
                <a:solidFill>
                  <a:srgbClr val="4B5563"/>
                </a:solidFill>
                <a:latin typeface="Noto Sans SC" panose="020B0200000000000000" charset="-122"/>
                <a:ea typeface="Noto Sans SC" panose="020B0200000000000000" charset="-122"/>
              </a:rPr>
              <a:t>分布式光伏、自备电厂清洁替代、绿电直连、零碳园区、新型储能五类要素</a:t>
            </a:r>
            <a:endParaRPr sz="1500" b="0">
              <a:solidFill>
                <a:srgbClr val="4B5563"/>
              </a:solidFill>
              <a:latin typeface="Noto Sans SC" panose="020B0200000000000000" charset="-122"/>
              <a:ea typeface="Noto Sans SC" panose="020B0200000000000000" charset="-122"/>
            </a:endParaRPr>
          </a:p>
          <a:p>
            <a:pPr algn="l">
              <a:lnSpc>
                <a:spcPct val="105000"/>
              </a:lnSpc>
              <a:spcAft>
                <a:spcPts val="1600"/>
              </a:spcAft>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研究范围</a:t>
            </a:r>
            <a:r>
              <a:rPr sz="1500" b="0">
                <a:solidFill>
                  <a:srgbClr val="4B5563"/>
                </a:solidFill>
                <a:latin typeface="Noto Sans SC" panose="020B0200000000000000" charset="-122"/>
                <a:ea typeface="Noto Sans SC" panose="020B0200000000000000" charset="-122"/>
              </a:rPr>
              <a:t>：时间2021—2026年；空间为国家＋江苏省两级，统计口径为全省及13个设区市</a:t>
            </a:r>
            <a:endParaRPr sz="1500" b="0">
              <a:solidFill>
                <a:srgbClr val="4B5563"/>
              </a:solidFill>
              <a:latin typeface="Noto Sans SC" panose="020B0200000000000000" charset="-122"/>
              <a:ea typeface="Noto Sans SC" panose="020B0200000000000000" charset="-122"/>
            </a:endParaRPr>
          </a:p>
          <a:p>
            <a:pPr algn="l">
              <a:lnSpc>
                <a:spcPct val="105000"/>
              </a:lnSpc>
              <a:spcAft>
                <a:spcPts val="1600"/>
              </a:spcAft>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研究方法</a:t>
            </a:r>
            <a:r>
              <a:rPr sz="1500" b="0">
                <a:solidFill>
                  <a:srgbClr val="4B5563"/>
                </a:solidFill>
                <a:latin typeface="Noto Sans SC" panose="020B0200000000000000" charset="-122"/>
                <a:ea typeface="Noto Sans SC" panose="020B0200000000000000" charset="-122"/>
              </a:rPr>
              <a:t>：政策解析、运行数据统计、典型项目测算三条路径相互印证</a:t>
            </a:r>
            <a:endParaRPr sz="1500" b="0">
              <a:solidFill>
                <a:srgbClr val="4B5563"/>
              </a:solidFill>
              <a:latin typeface="Noto Sans SC" panose="020B0200000000000000" charset="-122"/>
              <a:ea typeface="Noto Sans SC" panose="020B0200000000000000" charset="-122"/>
            </a:endParaRPr>
          </a:p>
          <a:p>
            <a:pPr algn="l">
              <a:lnSpc>
                <a:spcPct val="105000"/>
              </a:lnSpc>
              <a:spcAft>
                <a:spcPts val="1600"/>
              </a:spcAft>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研究目标</a:t>
            </a:r>
            <a:r>
              <a:rPr sz="1500" b="0">
                <a:solidFill>
                  <a:srgbClr val="4B5563"/>
                </a:solidFill>
                <a:latin typeface="Noto Sans SC" panose="020B0200000000000000" charset="-122"/>
                <a:ea typeface="Noto Sans SC" panose="020B0200000000000000" charset="-122"/>
              </a:rPr>
              <a:t>：形成综合影响研判，为后续规划研究提供依据</a:t>
            </a:r>
            <a:endParaRPr sz="1500" b="0">
              <a:solidFill>
                <a:srgbClr val="4B5563"/>
              </a:solidFill>
              <a:latin typeface="Noto Sans SC" panose="020B0200000000000000" charset="-122"/>
              <a:ea typeface="Noto Sans SC" panose="020B0200000000000000" charset="-122"/>
            </a:endParaRPr>
          </a:p>
        </p:txBody>
      </p:sp>
      <p:sp>
        <p:nvSpPr>
          <p:cNvPr id="14" name="TextBox 13">
            <a:hlinkClick r:id="rId13" action="ppaction://hlinksldjump"/>
          </p:cNvPr>
          <p:cNvSpPr txBox="1"/>
          <p:nvPr/>
        </p:nvSpPr>
        <p:spPr>
          <a:xfrm>
            <a:off x="11238992" y="274320"/>
            <a:ext cx="309880" cy="260350"/>
          </a:xfrm>
          <a:prstGeom prst="rect">
            <a:avLst/>
          </a:prstGeom>
          <a:noFill/>
        </p:spPr>
        <p:txBody>
          <a:bodyPr wrap="none">
            <a:spAutoFit/>
          </a:bodyPr>
          <a:lstStyle/>
          <a:p>
            <a:pPr algn="r"/>
            <a:endParaRPr sz="1100">
              <a:solidFill>
                <a:srgbClr val="2E7D6B"/>
              </a:solidFill>
              <a:latin typeface="Noto Sans SC" panose="020B0200000000000000" charset="-122"/>
              <a:ea typeface="Noto Sans SC" panose="020B0200000000000000" charset="-122"/>
            </a:endParaRPr>
          </a:p>
        </p:txBody>
      </p:sp>
      <p:sp>
        <p:nvSpPr>
          <p:cNvPr id="15" name="Rounded Rectangle 14"/>
          <p:cNvSpPr/>
          <p:nvPr/>
        </p:nvSpPr>
        <p:spPr>
          <a:xfrm>
            <a:off x="786384" y="274320"/>
            <a:ext cx="1225296" cy="347472"/>
          </a:xfrm>
          <a:prstGeom prst="roundRect">
            <a:avLst>
              <a:gd name="adj" fmla="val 35000"/>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l"/>
            <a:r>
              <a:rPr lang="zh-CN" sz="2800" b="1">
                <a:solidFill>
                  <a:srgbClr val="1F5A4D"/>
                </a:solidFill>
                <a:latin typeface="微软雅黑" panose="020B0503020204020204" pitchFamily="34" charset="-122"/>
                <a:ea typeface="微软雅黑" panose="020B0503020204020204" pitchFamily="34" charset="-122"/>
              </a:rPr>
              <a:t>1 研究背景与目标</a:t>
            </a:r>
            <a:endParaRPr lang="zh-CN" sz="2800" b="1">
              <a:solidFill>
                <a:srgbClr val="1F5A4D"/>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hlinkClick r:id="rId1" action="ppaction://hlinksldjump"/>
          </p:cNvPr>
          <p:cNvSpPr/>
          <p:nvPr>
            <p:custDataLst>
              <p:tags r:id="rId2"/>
            </p:custDataLst>
          </p:nvPr>
        </p:nvSpPr>
        <p:spPr>
          <a:xfrm>
            <a:off x="2592705" y="2843530"/>
            <a:ext cx="1284605" cy="1171575"/>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4800" b="1" i="0">
                <a:solidFill>
                  <a:srgbClr val="FFFFFF"/>
                </a:solidFill>
                <a:latin typeface="微软雅黑" panose="020B0503020204020204" pitchFamily="34" charset="-122"/>
                <a:ea typeface="微软雅黑" panose="020B0503020204020204" pitchFamily="34" charset="-122"/>
              </a:rPr>
              <a:t>2</a:t>
            </a:r>
            <a:endParaRPr lang="en-US" sz="4800" b="1" i="0">
              <a:solidFill>
                <a:srgbClr val="FFFFFF"/>
              </a:solidFill>
              <a:latin typeface="微软雅黑" panose="020B0503020204020204" pitchFamily="34" charset="-122"/>
              <a:ea typeface="微软雅黑" panose="020B0503020204020204" pitchFamily="34" charset="-122"/>
            </a:endParaRPr>
          </a:p>
        </p:txBody>
      </p:sp>
      <p:sp>
        <p:nvSpPr>
          <p:cNvPr id="5" name="TextBox 4">
            <a:hlinkClick r:id="rId1" action="ppaction://hlinksldjump"/>
          </p:cNvPr>
          <p:cNvSpPr txBox="1"/>
          <p:nvPr>
            <p:custDataLst>
              <p:tags r:id="rId3"/>
            </p:custDataLst>
          </p:nvPr>
        </p:nvSpPr>
        <p:spPr>
          <a:xfrm>
            <a:off x="4445000" y="3059240"/>
            <a:ext cx="5669280" cy="738505"/>
          </a:xfrm>
          <a:prstGeom prst="rect">
            <a:avLst/>
          </a:prstGeom>
          <a:noFill/>
        </p:spPr>
        <p:txBody>
          <a:bodyPr wrap="square" lIns="0" tIns="0" rIns="0" bIns="0" anchor="ctr">
            <a:spAutoFit/>
          </a:bodyPr>
          <a:lstStyle/>
          <a:p>
            <a:pPr algn="l"/>
            <a:r>
              <a:rPr sz="4800" b="1">
                <a:solidFill>
                  <a:srgbClr val="2E7D6B"/>
                </a:solidFill>
                <a:latin typeface="微软雅黑" panose="020B0503020204020204" pitchFamily="34" charset="-122"/>
                <a:ea typeface="微软雅黑" panose="020B0503020204020204" pitchFamily="34" charset="-122"/>
                <a:sym typeface="+mn-ea"/>
              </a:rPr>
              <a:t>研究</a:t>
            </a:r>
            <a:r>
              <a:rPr lang="zh-CN" sz="4800" b="1">
                <a:solidFill>
                  <a:srgbClr val="2E7D6B"/>
                </a:solidFill>
                <a:latin typeface="微软雅黑" panose="020B0503020204020204" pitchFamily="34" charset="-122"/>
                <a:ea typeface="微软雅黑" panose="020B0503020204020204" pitchFamily="34" charset="-122"/>
                <a:sym typeface="+mn-ea"/>
              </a:rPr>
              <a:t>框架与主要内容</a:t>
            </a:r>
            <a:endParaRPr lang="zh-CN" sz="4800" b="1">
              <a:solidFill>
                <a:srgbClr val="2E7D6B"/>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sz="2100" b="0">
                <a:solidFill>
                  <a:srgbClr val="1F5A4D"/>
                </a:solidFill>
                <a:latin typeface="微软雅黑" panose="020B0503020204020204" pitchFamily="34" charset="-122"/>
                <a:ea typeface="微软雅黑" panose="020B0503020204020204" pitchFamily="34" charset="-122"/>
              </a:rPr>
              <a:t>以统计分析为主线：先统计、后分析，形成综合影响研判</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Rounded Rectangle 3"/>
          <p:cNvSpPr/>
          <p:nvPr>
            <p:custDataLst>
              <p:tags r:id="rId1"/>
            </p:custDataLst>
          </p:nvPr>
        </p:nvSpPr>
        <p:spPr>
          <a:xfrm>
            <a:off x="612648" y="1627632"/>
            <a:ext cx="5399532" cy="2304288"/>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custDataLst>
              <p:tags r:id="rId2"/>
            </p:custDataLst>
          </p:nvPr>
        </p:nvSpPr>
        <p:spPr>
          <a:xfrm>
            <a:off x="612648" y="1627632"/>
            <a:ext cx="77724" cy="2304288"/>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_teal.png"/>
          <p:cNvPicPr>
            <a:picLocks noChangeAspect="1"/>
          </p:cNvPicPr>
          <p:nvPr>
            <p:custDataLst>
              <p:tags r:id="rId3"/>
            </p:custDataLst>
          </p:nvPr>
        </p:nvPicPr>
        <p:blipFill>
          <a:blip r:embed="rId4"/>
          <a:stretch>
            <a:fillRect/>
          </a:stretch>
        </p:blipFill>
        <p:spPr>
          <a:xfrm>
            <a:off x="832104" y="1792224"/>
            <a:ext cx="365760" cy="365760"/>
          </a:xfrm>
          <a:prstGeom prst="rect">
            <a:avLst/>
          </a:prstGeom>
        </p:spPr>
      </p:pic>
      <p:sp>
        <p:nvSpPr>
          <p:cNvPr id="7" name="TextBox 6"/>
          <p:cNvSpPr txBox="1"/>
          <p:nvPr>
            <p:custDataLst>
              <p:tags r:id="rId5"/>
            </p:custDataLst>
          </p:nvPr>
        </p:nvSpPr>
        <p:spPr>
          <a:xfrm>
            <a:off x="1289304" y="1818577"/>
            <a:ext cx="4613148" cy="313055"/>
          </a:xfrm>
          <a:prstGeom prst="rect">
            <a:avLst/>
          </a:prstGeom>
          <a:noFill/>
        </p:spPr>
        <p:txBody>
          <a:bodyPr wrap="square" lIns="0" tIns="0" bIns="36576" anchor="ctr">
            <a:spAutoFit/>
          </a:bodyPr>
          <a:lstStyle/>
          <a:p>
            <a:pPr algn="l">
              <a:spcAft>
                <a:spcPts val="400"/>
              </a:spcAft>
            </a:pPr>
            <a:r>
              <a:rPr sz="1800" b="1">
                <a:solidFill>
                  <a:srgbClr val="2E7D6B"/>
                </a:solidFill>
                <a:latin typeface="Noto Sans SC" panose="020B0200000000000000" charset="-122"/>
                <a:ea typeface="Noto Sans SC" panose="020B0200000000000000" charset="-122"/>
              </a:rPr>
              <a:t>一、政策体系</a:t>
            </a:r>
            <a:r>
              <a:rPr lang="zh-CN" sz="1800" b="1">
                <a:solidFill>
                  <a:srgbClr val="2E7D6B"/>
                </a:solidFill>
                <a:latin typeface="Noto Sans SC" panose="020B0200000000000000" charset="-122"/>
                <a:ea typeface="Noto Sans SC" panose="020B0200000000000000" charset="-122"/>
              </a:rPr>
              <a:t>梳理</a:t>
            </a:r>
            <a:r>
              <a:rPr sz="1800" b="1">
                <a:solidFill>
                  <a:srgbClr val="2E7D6B"/>
                </a:solidFill>
                <a:latin typeface="Noto Sans SC" panose="020B0200000000000000" charset="-122"/>
                <a:ea typeface="Noto Sans SC" panose="020B0200000000000000" charset="-122"/>
              </a:rPr>
              <a:t>与全链条</a:t>
            </a:r>
            <a:r>
              <a:rPr lang="zh-CN" sz="1800" b="1">
                <a:solidFill>
                  <a:srgbClr val="2E7D6B"/>
                </a:solidFill>
                <a:latin typeface="Noto Sans SC" panose="020B0200000000000000" charset="-122"/>
                <a:ea typeface="Noto Sans SC" panose="020B0200000000000000" charset="-122"/>
              </a:rPr>
              <a:t>解析</a:t>
            </a:r>
            <a:endParaRPr lang="zh-CN" sz="1800" b="1">
              <a:solidFill>
                <a:srgbClr val="2E7D6B"/>
              </a:solidFill>
              <a:latin typeface="Noto Sans SC" panose="020B0200000000000000" charset="-122"/>
              <a:ea typeface="Noto Sans SC" panose="020B0200000000000000" charset="-122"/>
            </a:endParaRPr>
          </a:p>
        </p:txBody>
      </p:sp>
      <p:sp>
        <p:nvSpPr>
          <p:cNvPr id="8" name="TextBox 7"/>
          <p:cNvSpPr txBox="1"/>
          <p:nvPr>
            <p:custDataLst>
              <p:tags r:id="rId6"/>
            </p:custDataLst>
          </p:nvPr>
        </p:nvSpPr>
        <p:spPr>
          <a:xfrm>
            <a:off x="868680" y="2286000"/>
            <a:ext cx="4997196" cy="1536192"/>
          </a:xfrm>
          <a:prstGeom prst="rect">
            <a:avLst/>
          </a:prstGeom>
          <a:noFill/>
        </p:spPr>
        <p:txBody>
          <a:bodyPr wrap="square">
            <a:spAutoFit/>
          </a:bodyPr>
          <a:lstStyle/>
          <a:p>
            <a:pPr algn="l">
              <a:lnSpc>
                <a:spcPct val="105000"/>
              </a:lnSpc>
              <a:spcAft>
                <a:spcPts val="18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识别2021—2026年政策节点</a:t>
            </a:r>
            <a:endParaRPr sz="1400" b="0">
              <a:solidFill>
                <a:srgbClr val="4B5563"/>
              </a:solidFill>
              <a:latin typeface="Noto Sans SC" panose="020B0200000000000000" charset="-122"/>
              <a:ea typeface="Noto Sans SC" panose="020B0200000000000000" charset="-122"/>
            </a:endParaRPr>
          </a:p>
          <a:p>
            <a:pPr algn="l">
              <a:lnSpc>
                <a:spcPct val="105000"/>
              </a:lnSpc>
              <a:spcAft>
                <a:spcPts val="18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归纳</a:t>
            </a:r>
            <a:r>
              <a:rPr sz="1400" b="1">
                <a:solidFill>
                  <a:srgbClr val="1F5A4D"/>
                </a:solidFill>
                <a:latin typeface="Noto Sans SC" panose="020B0200000000000000" charset="-122"/>
                <a:ea typeface="Noto Sans SC" panose="020B0200000000000000" charset="-122"/>
              </a:rPr>
              <a:t>三条主线</a:t>
            </a:r>
            <a:r>
              <a:rPr sz="1400" b="0">
                <a:solidFill>
                  <a:srgbClr val="4B5563"/>
                </a:solidFill>
                <a:latin typeface="Noto Sans SC" panose="020B0200000000000000" charset="-122"/>
                <a:ea typeface="Noto Sans SC" panose="020B0200000000000000" charset="-122"/>
              </a:rPr>
              <a:t>、</a:t>
            </a:r>
            <a:r>
              <a:rPr sz="1400" b="1">
                <a:solidFill>
                  <a:srgbClr val="1F5A4D"/>
                </a:solidFill>
                <a:latin typeface="Noto Sans SC" panose="020B0200000000000000" charset="-122"/>
                <a:ea typeface="Noto Sans SC" panose="020B0200000000000000" charset="-122"/>
              </a:rPr>
              <a:t>两次身份转变</a:t>
            </a:r>
            <a:r>
              <a:rPr sz="1400" b="0">
                <a:solidFill>
                  <a:srgbClr val="4B5563"/>
                </a:solidFill>
                <a:latin typeface="Noto Sans SC" panose="020B0200000000000000" charset="-122"/>
                <a:ea typeface="Noto Sans SC" panose="020B0200000000000000" charset="-122"/>
              </a:rPr>
              <a:t>、</a:t>
            </a:r>
            <a:r>
              <a:rPr sz="1400" b="1">
                <a:solidFill>
                  <a:srgbClr val="1F5A4D"/>
                </a:solidFill>
                <a:latin typeface="Noto Sans SC" panose="020B0200000000000000" charset="-122"/>
                <a:ea typeface="Noto Sans SC" panose="020B0200000000000000" charset="-122"/>
              </a:rPr>
              <a:t>四次边界变化</a:t>
            </a:r>
            <a:endParaRPr sz="1400" b="1">
              <a:solidFill>
                <a:srgbClr val="1F5A4D"/>
              </a:solidFill>
              <a:latin typeface="Noto Sans SC" panose="020B0200000000000000" charset="-122"/>
              <a:ea typeface="Noto Sans SC" panose="020B0200000000000000" charset="-122"/>
            </a:endParaRPr>
          </a:p>
          <a:p>
            <a:pPr algn="l">
              <a:lnSpc>
                <a:spcPct val="105000"/>
              </a:lnSpc>
              <a:spcAft>
                <a:spcPts val="18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构建</a:t>
            </a:r>
            <a:r>
              <a:rPr sz="1400" b="1">
                <a:solidFill>
                  <a:srgbClr val="1F5A4D"/>
                </a:solidFill>
                <a:latin typeface="Noto Sans SC" panose="020B0200000000000000" charset="-122"/>
                <a:ea typeface="Noto Sans SC" panose="020B0200000000000000" charset="-122"/>
              </a:rPr>
              <a:t>全链条六环节</a:t>
            </a:r>
            <a:r>
              <a:rPr sz="1400" b="0">
                <a:solidFill>
                  <a:srgbClr val="4B5563"/>
                </a:solidFill>
                <a:latin typeface="Noto Sans SC" panose="020B0200000000000000" charset="-122"/>
                <a:ea typeface="Noto Sans SC" panose="020B0200000000000000" charset="-122"/>
              </a:rPr>
              <a:t>传导框架</a:t>
            </a:r>
            <a:endParaRPr sz="1400" b="0">
              <a:solidFill>
                <a:srgbClr val="4B5563"/>
              </a:solidFill>
              <a:latin typeface="Noto Sans SC" panose="020B0200000000000000" charset="-122"/>
              <a:ea typeface="Noto Sans SC" panose="020B0200000000000000" charset="-122"/>
            </a:endParaRPr>
          </a:p>
        </p:txBody>
      </p:sp>
      <p:sp>
        <p:nvSpPr>
          <p:cNvPr id="9" name="Rounded Rectangle 8"/>
          <p:cNvSpPr/>
          <p:nvPr>
            <p:custDataLst>
              <p:tags r:id="rId7"/>
            </p:custDataLst>
          </p:nvPr>
        </p:nvSpPr>
        <p:spPr>
          <a:xfrm>
            <a:off x="6195060" y="1627632"/>
            <a:ext cx="5399532" cy="2304288"/>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custDataLst>
              <p:tags r:id="rId8"/>
            </p:custDataLst>
          </p:nvPr>
        </p:nvSpPr>
        <p:spPr>
          <a:xfrm>
            <a:off x="6195060" y="1627632"/>
            <a:ext cx="77724" cy="2304288"/>
          </a:xfrm>
          <a:prstGeom prst="roundRect">
            <a:avLst>
              <a:gd name="adj"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art.png"/>
          <p:cNvPicPr>
            <a:picLocks noChangeAspect="1"/>
          </p:cNvPicPr>
          <p:nvPr>
            <p:custDataLst>
              <p:tags r:id="rId9"/>
            </p:custDataLst>
          </p:nvPr>
        </p:nvPicPr>
        <p:blipFill>
          <a:blip r:embed="rId10"/>
          <a:stretch>
            <a:fillRect/>
          </a:stretch>
        </p:blipFill>
        <p:spPr>
          <a:xfrm>
            <a:off x="6414516" y="1792224"/>
            <a:ext cx="365760" cy="365760"/>
          </a:xfrm>
          <a:prstGeom prst="rect">
            <a:avLst/>
          </a:prstGeom>
        </p:spPr>
      </p:pic>
      <p:sp>
        <p:nvSpPr>
          <p:cNvPr id="12" name="TextBox 11"/>
          <p:cNvSpPr txBox="1"/>
          <p:nvPr>
            <p:custDataLst>
              <p:tags r:id="rId11"/>
            </p:custDataLst>
          </p:nvPr>
        </p:nvSpPr>
        <p:spPr>
          <a:xfrm>
            <a:off x="6871716" y="1773936"/>
            <a:ext cx="4613148" cy="402336"/>
          </a:xfrm>
          <a:prstGeom prst="rect">
            <a:avLst/>
          </a:prstGeom>
          <a:noFill/>
        </p:spPr>
        <p:txBody>
          <a:bodyPr wrap="square" lIns="0" tIns="0" bIns="36576" anchor="ctr">
            <a:spAutoFit/>
          </a:bodyPr>
          <a:lstStyle/>
          <a:p>
            <a:pPr algn="l">
              <a:spcAft>
                <a:spcPts val="400"/>
              </a:spcAft>
            </a:pPr>
            <a:r>
              <a:rPr sz="1800" b="1">
                <a:solidFill>
                  <a:srgbClr val="0070C0"/>
                </a:solidFill>
                <a:latin typeface="Noto Sans SC" panose="020B0200000000000000" charset="-122"/>
                <a:ea typeface="Noto Sans SC" panose="020B0200000000000000" charset="-122"/>
              </a:rPr>
              <a:t>二、新兴要素多维度统计分析</a:t>
            </a:r>
            <a:endParaRPr sz="1800" b="1">
              <a:solidFill>
                <a:srgbClr val="0070C0"/>
              </a:solidFill>
              <a:latin typeface="Noto Sans SC" panose="020B0200000000000000" charset="-122"/>
              <a:ea typeface="Noto Sans SC" panose="020B0200000000000000" charset="-122"/>
            </a:endParaRPr>
          </a:p>
        </p:txBody>
      </p:sp>
      <p:sp>
        <p:nvSpPr>
          <p:cNvPr id="13" name="TextBox 12"/>
          <p:cNvSpPr txBox="1"/>
          <p:nvPr>
            <p:custDataLst>
              <p:tags r:id="rId12"/>
            </p:custDataLst>
          </p:nvPr>
        </p:nvSpPr>
        <p:spPr>
          <a:xfrm>
            <a:off x="6451092" y="2286000"/>
            <a:ext cx="4997196" cy="2138045"/>
          </a:xfrm>
          <a:prstGeom prst="rect">
            <a:avLst/>
          </a:prstGeom>
          <a:noFill/>
        </p:spPr>
        <p:txBody>
          <a:bodyPr wrap="square">
            <a:spAutoFit/>
          </a:bodyPr>
          <a:lstStyle/>
          <a:p>
            <a:pPr algn="l">
              <a:lnSpc>
                <a:spcPct val="105000"/>
              </a:lnSpc>
              <a:spcAft>
                <a:spcPts val="18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先统计：装机、发电、上网、储能、绿电的68／44个月月度与分市统计</a:t>
            </a:r>
            <a:endParaRPr sz="1400" b="0">
              <a:solidFill>
                <a:srgbClr val="4B5563"/>
              </a:solidFill>
              <a:latin typeface="Noto Sans SC" panose="020B0200000000000000" charset="-122"/>
              <a:ea typeface="Noto Sans SC" panose="020B0200000000000000" charset="-122"/>
            </a:endParaRPr>
          </a:p>
          <a:p>
            <a:pPr algn="l">
              <a:lnSpc>
                <a:spcPct val="105000"/>
              </a:lnSpc>
              <a:spcAft>
                <a:spcPts val="18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后分析：时间演进、空间分布、结构换位、政策分界</a:t>
            </a:r>
            <a:endParaRPr sz="1400" b="0">
              <a:solidFill>
                <a:srgbClr val="4B5563"/>
              </a:solidFill>
              <a:latin typeface="Noto Sans SC" panose="020B0200000000000000" charset="-122"/>
              <a:ea typeface="Noto Sans SC" panose="020B0200000000000000" charset="-122"/>
            </a:endParaRPr>
          </a:p>
          <a:p>
            <a:pPr algn="l">
              <a:lnSpc>
                <a:spcPct val="105000"/>
              </a:lnSpc>
              <a:spcAft>
                <a:spcPts val="1800"/>
              </a:spcAft>
              <a:buClrTx/>
              <a:buSzTx/>
              <a:buFontTx/>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关键结果：</a:t>
            </a:r>
            <a:r>
              <a:rPr sz="1400">
                <a:solidFill>
                  <a:srgbClr val="4B5563"/>
                </a:solidFill>
                <a:latin typeface="Noto Sans SC" panose="020B0200000000000000" charset="-122"/>
                <a:ea typeface="Noto Sans SC" panose="020B0200000000000000" charset="-122"/>
                <a:sym typeface="+mn-ea"/>
              </a:rPr>
              <a:t>分布式光伏7001万千瓦、占50.5%，为2021年末的7.2倍</a:t>
            </a:r>
            <a:r>
              <a:rPr lang="zh-CN" sz="1400">
                <a:solidFill>
                  <a:srgbClr val="4B5563"/>
                </a:solidFill>
                <a:latin typeface="Noto Sans SC" panose="020B0200000000000000" charset="-122"/>
                <a:ea typeface="Noto Sans SC" panose="020B0200000000000000" charset="-122"/>
                <a:sym typeface="+mn-ea"/>
              </a:rPr>
              <a:t>；</a:t>
            </a:r>
            <a:r>
              <a:rPr sz="1400">
                <a:solidFill>
                  <a:srgbClr val="4B5563"/>
                </a:solidFill>
                <a:latin typeface="Noto Sans SC" panose="020B0200000000000000" charset="-122"/>
                <a:ea typeface="Noto Sans SC" panose="020B0200000000000000" charset="-122"/>
                <a:sym typeface="+mn-ea"/>
              </a:rPr>
              <a:t>资源与负荷空间分离</a:t>
            </a:r>
            <a:endParaRPr sz="1400">
              <a:solidFill>
                <a:srgbClr val="4B5563"/>
              </a:solidFill>
              <a:latin typeface="Noto Sans SC" panose="020B0200000000000000" charset="-122"/>
              <a:ea typeface="Noto Sans SC" panose="020B0200000000000000" charset="-122"/>
            </a:endParaRPr>
          </a:p>
          <a:p>
            <a:pPr algn="l">
              <a:lnSpc>
                <a:spcPct val="105000"/>
              </a:lnSpc>
              <a:spcAft>
                <a:spcPts val="1800"/>
              </a:spcAft>
            </a:pPr>
            <a:endParaRPr sz="1400" b="1">
              <a:solidFill>
                <a:srgbClr val="1F5A4D"/>
              </a:solidFill>
              <a:latin typeface="Noto Sans SC" panose="020B0200000000000000" charset="-122"/>
              <a:ea typeface="Noto Sans SC" panose="020B0200000000000000" charset="-122"/>
            </a:endParaRPr>
          </a:p>
        </p:txBody>
      </p:sp>
      <p:sp>
        <p:nvSpPr>
          <p:cNvPr id="14" name="Rounded Rectangle 13"/>
          <p:cNvSpPr/>
          <p:nvPr>
            <p:custDataLst>
              <p:tags r:id="rId13"/>
            </p:custDataLst>
          </p:nvPr>
        </p:nvSpPr>
        <p:spPr>
          <a:xfrm>
            <a:off x="612648" y="4114800"/>
            <a:ext cx="5399532" cy="2304288"/>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custDataLst>
              <p:tags r:id="rId14"/>
            </p:custDataLst>
          </p:nvPr>
        </p:nvSpPr>
        <p:spPr>
          <a:xfrm>
            <a:off x="612648" y="4114800"/>
            <a:ext cx="77724" cy="2304288"/>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cales.png"/>
          <p:cNvPicPr>
            <a:picLocks noChangeAspect="1"/>
          </p:cNvPicPr>
          <p:nvPr>
            <p:custDataLst>
              <p:tags r:id="rId15"/>
            </p:custDataLst>
          </p:nvPr>
        </p:nvPicPr>
        <p:blipFill>
          <a:blip r:embed="rId16"/>
          <a:stretch>
            <a:fillRect/>
          </a:stretch>
        </p:blipFill>
        <p:spPr>
          <a:xfrm>
            <a:off x="832104" y="4279392"/>
            <a:ext cx="365760" cy="365760"/>
          </a:xfrm>
          <a:prstGeom prst="rect">
            <a:avLst/>
          </a:prstGeom>
        </p:spPr>
      </p:pic>
      <p:sp>
        <p:nvSpPr>
          <p:cNvPr id="17" name="TextBox 16"/>
          <p:cNvSpPr txBox="1"/>
          <p:nvPr>
            <p:custDataLst>
              <p:tags r:id="rId17"/>
            </p:custDataLst>
          </p:nvPr>
        </p:nvSpPr>
        <p:spPr>
          <a:xfrm>
            <a:off x="1289304" y="4261104"/>
            <a:ext cx="4613148" cy="402336"/>
          </a:xfrm>
          <a:prstGeom prst="rect">
            <a:avLst/>
          </a:prstGeom>
          <a:noFill/>
        </p:spPr>
        <p:txBody>
          <a:bodyPr wrap="square" lIns="0" tIns="0" bIns="36576" anchor="ctr">
            <a:spAutoFit/>
          </a:bodyPr>
          <a:lstStyle/>
          <a:p>
            <a:pPr algn="l">
              <a:spcAft>
                <a:spcPts val="400"/>
              </a:spcAft>
            </a:pPr>
            <a:r>
              <a:rPr sz="1800" b="1">
                <a:solidFill>
                  <a:srgbClr val="2E7D6B"/>
                </a:solidFill>
                <a:latin typeface="Noto Sans SC" panose="020B0200000000000000" charset="-122"/>
                <a:ea typeface="Noto Sans SC" panose="020B0200000000000000" charset="-122"/>
              </a:rPr>
              <a:t>三、典型项目经济效益测算</a:t>
            </a:r>
            <a:endParaRPr sz="1800" b="1">
              <a:solidFill>
                <a:srgbClr val="2E7D6B"/>
              </a:solidFill>
              <a:latin typeface="Noto Sans SC" panose="020B0200000000000000" charset="-122"/>
              <a:ea typeface="Noto Sans SC" panose="020B0200000000000000" charset="-122"/>
            </a:endParaRPr>
          </a:p>
        </p:txBody>
      </p:sp>
      <p:sp>
        <p:nvSpPr>
          <p:cNvPr id="18" name="TextBox 17"/>
          <p:cNvSpPr txBox="1"/>
          <p:nvPr>
            <p:custDataLst>
              <p:tags r:id="rId18"/>
            </p:custDataLst>
          </p:nvPr>
        </p:nvSpPr>
        <p:spPr>
          <a:xfrm>
            <a:off x="868680" y="4773168"/>
            <a:ext cx="4997196" cy="1229995"/>
          </a:xfrm>
          <a:prstGeom prst="rect">
            <a:avLst/>
          </a:prstGeom>
          <a:noFill/>
        </p:spPr>
        <p:txBody>
          <a:bodyPr wrap="square">
            <a:spAutoFit/>
          </a:bodyPr>
          <a:lstStyle/>
          <a:p>
            <a:pPr algn="l">
              <a:lnSpc>
                <a:spcPct val="105000"/>
              </a:lnSpc>
              <a:spcAft>
                <a:spcPts val="1800"/>
              </a:spcAft>
            </a:pPr>
            <a:r>
              <a:rPr sz="1400">
                <a:solidFill>
                  <a:srgbClr val="2E7D6B"/>
                </a:solidFill>
                <a:latin typeface="Noto Sans SC" panose="020B0200000000000000" charset="-122"/>
                <a:ea typeface="Noto Sans SC" panose="020B0200000000000000" charset="-122"/>
              </a:rPr>
              <a:t>▪ </a:t>
            </a:r>
            <a:r>
              <a:rPr sz="1400" b="1">
                <a:solidFill>
                  <a:srgbClr val="1F5A4D"/>
                </a:solidFill>
                <a:latin typeface="Noto Sans SC" panose="020B0200000000000000" charset="-122"/>
                <a:ea typeface="Noto Sans SC" panose="020B0200000000000000" charset="-122"/>
              </a:rPr>
              <a:t>12个深度样本＋11个参照，材料23份</a:t>
            </a:r>
            <a:endParaRPr sz="1400" b="0">
              <a:solidFill>
                <a:srgbClr val="4B5563"/>
              </a:solidFill>
              <a:latin typeface="Noto Sans SC" panose="020B0200000000000000" charset="-122"/>
              <a:ea typeface="Noto Sans SC" panose="020B0200000000000000" charset="-122"/>
            </a:endParaRPr>
          </a:p>
          <a:p>
            <a:pPr algn="l">
              <a:lnSpc>
                <a:spcPct val="105000"/>
              </a:lnSpc>
              <a:spcAft>
                <a:spcPts val="18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机制电价情景下资本金内部收益率由8.53%降至−2.62%</a:t>
            </a:r>
            <a:endParaRPr sz="1400" b="0">
              <a:solidFill>
                <a:srgbClr val="4B5563"/>
              </a:solidFill>
              <a:latin typeface="Noto Sans SC" panose="020B0200000000000000" charset="-122"/>
              <a:ea typeface="Noto Sans SC" panose="020B0200000000000000" charset="-122"/>
            </a:endParaRPr>
          </a:p>
          <a:p>
            <a:pPr algn="l">
              <a:lnSpc>
                <a:spcPct val="105000"/>
              </a:lnSpc>
              <a:spcAft>
                <a:spcPts val="18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转零点约0.281元/千瓦时</a:t>
            </a:r>
            <a:endParaRPr sz="1400" b="0">
              <a:solidFill>
                <a:srgbClr val="4B5563"/>
              </a:solidFill>
              <a:latin typeface="Noto Sans SC" panose="020B0200000000000000" charset="-122"/>
              <a:ea typeface="Noto Sans SC" panose="020B0200000000000000" charset="-122"/>
            </a:endParaRPr>
          </a:p>
        </p:txBody>
      </p:sp>
      <p:sp>
        <p:nvSpPr>
          <p:cNvPr id="19" name="Rounded Rectangle 18"/>
          <p:cNvSpPr/>
          <p:nvPr>
            <p:custDataLst>
              <p:tags r:id="rId19"/>
            </p:custDataLst>
          </p:nvPr>
        </p:nvSpPr>
        <p:spPr>
          <a:xfrm>
            <a:off x="6195060" y="4114800"/>
            <a:ext cx="5399532" cy="2304288"/>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custDataLst>
              <p:tags r:id="rId20"/>
            </p:custDataLst>
          </p:nvPr>
        </p:nvSpPr>
        <p:spPr>
          <a:xfrm>
            <a:off x="6195060" y="4114800"/>
            <a:ext cx="77724" cy="2304288"/>
          </a:xfrm>
          <a:prstGeom prst="roundRect">
            <a:avLst>
              <a:gd name="adj"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hield.png"/>
          <p:cNvPicPr>
            <a:picLocks noChangeAspect="1"/>
          </p:cNvPicPr>
          <p:nvPr>
            <p:custDataLst>
              <p:tags r:id="rId21"/>
            </p:custDataLst>
          </p:nvPr>
        </p:nvPicPr>
        <p:blipFill>
          <a:blip r:embed="rId22"/>
          <a:stretch>
            <a:fillRect/>
          </a:stretch>
        </p:blipFill>
        <p:spPr>
          <a:xfrm>
            <a:off x="6414516" y="4279392"/>
            <a:ext cx="365760" cy="365760"/>
          </a:xfrm>
          <a:prstGeom prst="rect">
            <a:avLst/>
          </a:prstGeom>
        </p:spPr>
      </p:pic>
      <p:sp>
        <p:nvSpPr>
          <p:cNvPr id="22" name="TextBox 21"/>
          <p:cNvSpPr txBox="1"/>
          <p:nvPr>
            <p:custDataLst>
              <p:tags r:id="rId23"/>
            </p:custDataLst>
          </p:nvPr>
        </p:nvSpPr>
        <p:spPr>
          <a:xfrm>
            <a:off x="6871716" y="4261104"/>
            <a:ext cx="4613148" cy="402336"/>
          </a:xfrm>
          <a:prstGeom prst="rect">
            <a:avLst/>
          </a:prstGeom>
          <a:noFill/>
        </p:spPr>
        <p:txBody>
          <a:bodyPr wrap="square" lIns="0" tIns="0" bIns="36576" anchor="ctr">
            <a:spAutoFit/>
          </a:bodyPr>
          <a:lstStyle/>
          <a:p>
            <a:pPr algn="l">
              <a:spcAft>
                <a:spcPts val="400"/>
              </a:spcAft>
            </a:pPr>
            <a:r>
              <a:rPr sz="1800" b="1">
                <a:solidFill>
                  <a:srgbClr val="0070C0"/>
                </a:solidFill>
                <a:latin typeface="Noto Sans SC" panose="020B0200000000000000" charset="-122"/>
                <a:ea typeface="Noto Sans SC" panose="020B0200000000000000" charset="-122"/>
              </a:rPr>
              <a:t>四、综合影响研判</a:t>
            </a:r>
            <a:endParaRPr sz="1800" b="1">
              <a:solidFill>
                <a:srgbClr val="0070C0"/>
              </a:solidFill>
              <a:latin typeface="Noto Sans SC" panose="020B0200000000000000" charset="-122"/>
              <a:ea typeface="Noto Sans SC" panose="020B0200000000000000" charset="-122"/>
            </a:endParaRPr>
          </a:p>
        </p:txBody>
      </p:sp>
      <p:sp>
        <p:nvSpPr>
          <p:cNvPr id="23" name="TextBox 22"/>
          <p:cNvSpPr txBox="1"/>
          <p:nvPr>
            <p:custDataLst>
              <p:tags r:id="rId24"/>
            </p:custDataLst>
          </p:nvPr>
        </p:nvSpPr>
        <p:spPr>
          <a:xfrm>
            <a:off x="6451092" y="4773168"/>
            <a:ext cx="4997196" cy="1455420"/>
          </a:xfrm>
          <a:prstGeom prst="rect">
            <a:avLst/>
          </a:prstGeom>
          <a:noFill/>
        </p:spPr>
        <p:txBody>
          <a:bodyPr wrap="square">
            <a:spAutoFit/>
          </a:bodyPr>
          <a:lstStyle/>
          <a:p>
            <a:pPr algn="l">
              <a:lnSpc>
                <a:spcPct val="105000"/>
              </a:lnSpc>
              <a:spcAft>
                <a:spcPts val="18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供需平衡：矛盾由总量转向</a:t>
            </a:r>
            <a:r>
              <a:rPr sz="1400" b="1">
                <a:solidFill>
                  <a:srgbClr val="1F5A4D"/>
                </a:solidFill>
                <a:latin typeface="Noto Sans SC" panose="020B0200000000000000" charset="-122"/>
                <a:ea typeface="Noto Sans SC" panose="020B0200000000000000" charset="-122"/>
              </a:rPr>
              <a:t>时段</a:t>
            </a:r>
            <a:endParaRPr sz="1400" b="1">
              <a:solidFill>
                <a:srgbClr val="1F5A4D"/>
              </a:solidFill>
              <a:latin typeface="Noto Sans SC" panose="020B0200000000000000" charset="-122"/>
              <a:ea typeface="Noto Sans SC" panose="020B0200000000000000" charset="-122"/>
            </a:endParaRPr>
          </a:p>
          <a:p>
            <a:pPr algn="l">
              <a:lnSpc>
                <a:spcPct val="105000"/>
              </a:lnSpc>
              <a:spcAft>
                <a:spcPts val="18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交易模式：主体</a:t>
            </a:r>
            <a:r>
              <a:rPr sz="1400" b="1">
                <a:solidFill>
                  <a:srgbClr val="1F5A4D"/>
                </a:solidFill>
                <a:latin typeface="Noto Sans SC" panose="020B0200000000000000" charset="-122"/>
                <a:ea typeface="Noto Sans SC" panose="020B0200000000000000" charset="-122"/>
              </a:rPr>
              <a:t>16.0万家</a:t>
            </a:r>
            <a:r>
              <a:rPr sz="1400" b="0">
                <a:solidFill>
                  <a:srgbClr val="4B5563"/>
                </a:solidFill>
                <a:latin typeface="Noto Sans SC" panose="020B0200000000000000" charset="-122"/>
                <a:ea typeface="Noto Sans SC" panose="020B0200000000000000" charset="-122"/>
              </a:rPr>
              <a:t>，双轨结算</a:t>
            </a:r>
            <a:endParaRPr sz="1400" b="0">
              <a:solidFill>
                <a:srgbClr val="4B5563"/>
              </a:solidFill>
              <a:latin typeface="Noto Sans SC" panose="020B0200000000000000" charset="-122"/>
              <a:ea typeface="Noto Sans SC" panose="020B0200000000000000" charset="-122"/>
            </a:endParaRPr>
          </a:p>
          <a:p>
            <a:pPr algn="l">
              <a:lnSpc>
                <a:spcPct val="105000"/>
              </a:lnSpc>
              <a:spcAft>
                <a:spcPts val="18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价格机制：</a:t>
            </a:r>
            <a:r>
              <a:rPr sz="1400" b="1">
                <a:solidFill>
                  <a:srgbClr val="1F5A4D"/>
                </a:solidFill>
                <a:latin typeface="Noto Sans SC" panose="020B0200000000000000" charset="-122"/>
                <a:ea typeface="Noto Sans SC" panose="020B0200000000000000" charset="-122"/>
              </a:rPr>
              <a:t>四项转变</a:t>
            </a:r>
            <a:r>
              <a:rPr lang="en-US" sz="1400" b="1">
                <a:solidFill>
                  <a:srgbClr val="1F5A4D"/>
                </a:solidFill>
                <a:latin typeface="Noto Sans SC" panose="020B0200000000000000" charset="-122"/>
                <a:ea typeface="Noto Sans SC" panose="020B0200000000000000" charset="-122"/>
              </a:rPr>
              <a:t>: </a:t>
            </a:r>
            <a:r>
              <a:rPr sz="1400">
                <a:solidFill>
                  <a:srgbClr val="4B5563"/>
                </a:solidFill>
                <a:latin typeface="Noto Sans SC" panose="020B0200000000000000" charset="-122"/>
                <a:ea typeface="Noto Sans SC" panose="020B0200000000000000" charset="-122"/>
              </a:rPr>
              <a:t>上网电量定价、电能量价格、绿色属性和系统成本</a:t>
            </a:r>
            <a:endParaRPr sz="1400">
              <a:solidFill>
                <a:srgbClr val="4B5563"/>
              </a:solidFill>
              <a:latin typeface="Noto Sans SC" panose="020B0200000000000000" charset="-122"/>
              <a:ea typeface="Noto Sans SC" panose="020B0200000000000000" charset="-122"/>
            </a:endParaRPr>
          </a:p>
        </p:txBody>
      </p:sp>
      <p:sp>
        <p:nvSpPr>
          <p:cNvPr id="24" name="TextBox 23">
            <a:hlinkClick r:id="rId25" action="ppaction://hlinksldjump"/>
          </p:cNvPr>
          <p:cNvSpPr txBox="1"/>
          <p:nvPr/>
        </p:nvSpPr>
        <p:spPr>
          <a:xfrm>
            <a:off x="11238992" y="274320"/>
            <a:ext cx="309880" cy="260350"/>
          </a:xfrm>
          <a:prstGeom prst="rect">
            <a:avLst/>
          </a:prstGeom>
          <a:noFill/>
        </p:spPr>
        <p:txBody>
          <a:bodyPr wrap="none">
            <a:spAutoFit/>
          </a:bodyPr>
          <a:lstStyle/>
          <a:p>
            <a:pPr algn="r"/>
            <a:endParaRPr sz="1100">
              <a:solidFill>
                <a:srgbClr val="2E7D6B"/>
              </a:solidFill>
              <a:latin typeface="Noto Sans SC" panose="020B0200000000000000" charset="-122"/>
              <a:ea typeface="Noto Sans SC" panose="020B0200000000000000" charset="-122"/>
            </a:endParaRPr>
          </a:p>
        </p:txBody>
      </p:sp>
      <p:sp>
        <p:nvSpPr>
          <p:cNvPr id="25" name="Rounded Rectangle 24"/>
          <p:cNvSpPr/>
          <p:nvPr/>
        </p:nvSpPr>
        <p:spPr>
          <a:xfrm>
            <a:off x="786130" y="274320"/>
            <a:ext cx="9164320" cy="347345"/>
          </a:xfrm>
          <a:prstGeom prst="roundRect">
            <a:avLst>
              <a:gd name="adj" fmla="val 35000"/>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l"/>
            <a:endParaRPr sz="2800" b="1">
              <a:solidFill>
                <a:srgbClr val="2B3338"/>
              </a:solidFill>
              <a:latin typeface="微软雅黑" panose="020B0503020204020204" pitchFamily="34" charset="-122"/>
              <a:ea typeface="微软雅黑" panose="020B0503020204020204" pitchFamily="34" charset="-122"/>
              <a:sym typeface="+mn-ea"/>
            </a:endParaRPr>
          </a:p>
          <a:p>
            <a:pPr algn="l"/>
            <a:r>
              <a:rPr lang="zh-CN" sz="2800" b="1">
                <a:solidFill>
                  <a:srgbClr val="1F5A4D"/>
                </a:solidFill>
                <a:latin typeface="微软雅黑" panose="020B0503020204020204" pitchFamily="34" charset="-122"/>
                <a:ea typeface="微软雅黑" panose="020B0503020204020204" pitchFamily="34" charset="-122"/>
                <a:sym typeface="+mn-ea"/>
              </a:rPr>
              <a:t>2 研究框架与主要内容</a:t>
            </a:r>
            <a:endParaRPr sz="2800" b="1">
              <a:solidFill>
                <a:schemeClr val="accent3"/>
              </a:solidFill>
              <a:latin typeface="微软雅黑" panose="020B0503020204020204" pitchFamily="34" charset="-122"/>
              <a:ea typeface="微软雅黑" panose="020B0503020204020204" pitchFamily="34" charset="-122"/>
            </a:endParaRPr>
          </a:p>
          <a:p>
            <a:pPr algn="l"/>
            <a:endParaRPr sz="2800" b="1">
              <a:solidFill>
                <a:schemeClr val="accent3"/>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hlinkClick r:id="rId1" action="ppaction://hlinksldjump"/>
          </p:cNvPr>
          <p:cNvSpPr/>
          <p:nvPr>
            <p:custDataLst>
              <p:tags r:id="rId2"/>
            </p:custDataLst>
          </p:nvPr>
        </p:nvSpPr>
        <p:spPr>
          <a:xfrm>
            <a:off x="1975485" y="2843530"/>
            <a:ext cx="1284605" cy="1171575"/>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4800" b="1" i="0">
                <a:solidFill>
                  <a:srgbClr val="FFFFFF"/>
                </a:solidFill>
                <a:latin typeface="微软雅黑" panose="020B0503020204020204" pitchFamily="34" charset="-122"/>
                <a:ea typeface="微软雅黑" panose="020B0503020204020204" pitchFamily="34" charset="-122"/>
              </a:rPr>
              <a:t>3</a:t>
            </a:r>
            <a:endParaRPr lang="en-US" sz="4800" b="1" i="0">
              <a:solidFill>
                <a:srgbClr val="FFFFFF"/>
              </a:solidFill>
              <a:latin typeface="微软雅黑" panose="020B0503020204020204" pitchFamily="34" charset="-122"/>
              <a:ea typeface="微软雅黑" panose="020B0503020204020204" pitchFamily="34" charset="-122"/>
            </a:endParaRPr>
          </a:p>
        </p:txBody>
      </p:sp>
      <p:sp>
        <p:nvSpPr>
          <p:cNvPr id="5" name="TextBox 4">
            <a:hlinkClick r:id="rId1" action="ppaction://hlinksldjump"/>
          </p:cNvPr>
          <p:cNvSpPr txBox="1"/>
          <p:nvPr>
            <p:custDataLst>
              <p:tags r:id="rId3"/>
            </p:custDataLst>
          </p:nvPr>
        </p:nvSpPr>
        <p:spPr>
          <a:xfrm>
            <a:off x="3613150" y="3059113"/>
            <a:ext cx="7429500" cy="738505"/>
          </a:xfrm>
          <a:prstGeom prst="rect">
            <a:avLst/>
          </a:prstGeom>
          <a:noFill/>
        </p:spPr>
        <p:txBody>
          <a:bodyPr wrap="square" lIns="0" tIns="0" rIns="0" bIns="0" anchor="ctr">
            <a:spAutoFit/>
          </a:bodyPr>
          <a:lstStyle/>
          <a:p>
            <a:pPr algn="l"/>
            <a:r>
              <a:rPr lang="zh-CN" sz="4800" b="1">
                <a:solidFill>
                  <a:srgbClr val="2E7D6B"/>
                </a:solidFill>
                <a:latin typeface="微软雅黑" panose="020B0503020204020204" pitchFamily="34" charset="-122"/>
                <a:ea typeface="微软雅黑" panose="020B0503020204020204" pitchFamily="34" charset="-122"/>
                <a:sym typeface="+mn-ea"/>
              </a:rPr>
              <a:t>政策体系梳理与全链条解析</a:t>
            </a:r>
            <a:endParaRPr lang="zh-CN" sz="4800" b="1">
              <a:solidFill>
                <a:srgbClr val="2E7D6B"/>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noAutofit/>
          </a:bodyPr>
          <a:lstStyle/>
          <a:p>
            <a:pPr algn="l">
              <a:spcAft>
                <a:spcPts val="400"/>
              </a:spcAft>
            </a:pPr>
            <a:r>
              <a:rPr sz="2000" b="0">
                <a:solidFill>
                  <a:srgbClr val="1F5A4D"/>
                </a:solidFill>
                <a:latin typeface="Noto Sans SC" panose="020B0200000000000000" charset="-122"/>
                <a:ea typeface="Noto Sans SC" panose="020B0200000000000000" charset="-122"/>
              </a:rPr>
              <a:t>五类新兴要素的政策约束，沿“全链条六环节”逐级传导</a:t>
            </a:r>
            <a:endParaRPr sz="2000" b="0">
              <a:solidFill>
                <a:srgbClr val="1F5A4D"/>
              </a:solidFill>
              <a:latin typeface="Noto Sans SC" panose="020B0200000000000000" charset="-122"/>
              <a:ea typeface="Noto Sans SC" panose="020B0200000000000000" charset="-122"/>
            </a:endParaRPr>
          </a:p>
        </p:txBody>
      </p:sp>
      <p:sp>
        <p:nvSpPr>
          <p:cNvPr id="4" name="TextBox 3"/>
          <p:cNvSpPr txBox="1"/>
          <p:nvPr/>
        </p:nvSpPr>
        <p:spPr>
          <a:xfrm>
            <a:off x="822960" y="1091502"/>
            <a:ext cx="10607040" cy="212725"/>
          </a:xfrm>
          <a:prstGeom prst="rect">
            <a:avLst/>
          </a:prstGeom>
          <a:noFill/>
        </p:spPr>
        <p:txBody>
          <a:bodyPr wrap="square" tIns="0" rIns="182880" bIns="36576" anchor="ctr">
            <a:spAutoFit/>
          </a:bodyPr>
          <a:lstStyle/>
          <a:p>
            <a:pPr algn="r">
              <a:spcAft>
                <a:spcPts val="400"/>
              </a:spcAft>
            </a:pPr>
            <a:endParaRPr sz="1150" b="0">
              <a:solidFill>
                <a:srgbClr val="4B5563"/>
              </a:solidFill>
              <a:latin typeface="Noto Sans SC" panose="020B0200000000000000" charset="-122"/>
              <a:ea typeface="Noto Sans SC" panose="020B0200000000000000" charset="-122"/>
            </a:endParaRPr>
          </a:p>
        </p:txBody>
      </p:sp>
      <p:sp>
        <p:nvSpPr>
          <p:cNvPr id="5" name="TextBox 4"/>
          <p:cNvSpPr txBox="1"/>
          <p:nvPr/>
        </p:nvSpPr>
        <p:spPr>
          <a:xfrm>
            <a:off x="612648" y="1481328"/>
            <a:ext cx="10058400" cy="274320"/>
          </a:xfrm>
          <a:prstGeom prst="rect">
            <a:avLst/>
          </a:prstGeom>
          <a:noFill/>
        </p:spPr>
        <p:txBody>
          <a:bodyPr wrap="square" lIns="18288" tIns="0" bIns="36576" anchor="ctr">
            <a:noAutofit/>
          </a:bodyPr>
          <a:lstStyle/>
          <a:p>
            <a:pPr algn="l">
              <a:spcAft>
                <a:spcPts val="400"/>
              </a:spcAft>
            </a:pPr>
            <a:r>
              <a:rPr sz="1500" b="0">
                <a:solidFill>
                  <a:srgbClr val="1F5A4D"/>
                </a:solidFill>
                <a:latin typeface="Noto Sans SC" panose="020B0200000000000000" charset="-122"/>
                <a:ea typeface="Noto Sans SC" panose="020B0200000000000000" charset="-122"/>
              </a:rPr>
              <a:t>① 政策对象：五类新兴要素</a:t>
            </a:r>
            <a:endParaRPr sz="1500" b="0">
              <a:solidFill>
                <a:srgbClr val="1F5A4D"/>
              </a:solidFill>
              <a:latin typeface="Noto Sans SC" panose="020B0200000000000000" charset="-122"/>
              <a:ea typeface="Noto Sans SC" panose="020B0200000000000000" charset="-122"/>
            </a:endParaRPr>
          </a:p>
        </p:txBody>
      </p:sp>
      <p:sp>
        <p:nvSpPr>
          <p:cNvPr id="6" name="Rounded Rectangle 5"/>
          <p:cNvSpPr/>
          <p:nvPr/>
        </p:nvSpPr>
        <p:spPr>
          <a:xfrm>
            <a:off x="612000" y="1774800"/>
            <a:ext cx="2088000" cy="2620800"/>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2000" y="1774800"/>
            <a:ext cx="64800" cy="2620800"/>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co_pv.png"/>
          <p:cNvPicPr>
            <a:picLocks noChangeAspect="1"/>
          </p:cNvPicPr>
          <p:nvPr/>
        </p:nvPicPr>
        <p:blipFill>
          <a:blip r:embed="rId1"/>
          <a:stretch>
            <a:fillRect/>
          </a:stretch>
        </p:blipFill>
        <p:spPr>
          <a:xfrm>
            <a:off x="763200" y="1936800"/>
            <a:ext cx="306000" cy="306000"/>
          </a:xfrm>
          <a:prstGeom prst="rect">
            <a:avLst/>
          </a:prstGeom>
        </p:spPr>
      </p:pic>
      <p:sp>
        <p:nvSpPr>
          <p:cNvPr id="9" name="TextBox 8"/>
          <p:cNvSpPr txBox="1"/>
          <p:nvPr/>
        </p:nvSpPr>
        <p:spPr>
          <a:xfrm>
            <a:off x="1108800" y="1929600"/>
            <a:ext cx="1530000" cy="324000"/>
          </a:xfrm>
          <a:prstGeom prst="rect">
            <a:avLst/>
          </a:prstGeom>
          <a:noFill/>
        </p:spPr>
        <p:txBody>
          <a:bodyPr wrap="none" lIns="0" tIns="0" bIns="36576" anchor="ctr">
            <a:noAutofit/>
          </a:bodyPr>
          <a:lstStyle/>
          <a:p>
            <a:pPr algn="l">
              <a:spcAft>
                <a:spcPts val="400"/>
              </a:spcAft>
            </a:pPr>
            <a:r>
              <a:rPr sz="1400" b="1">
                <a:solidFill>
                  <a:srgbClr val="2E7D6B"/>
                </a:solidFill>
                <a:latin typeface="Noto Sans SC" panose="020B0200000000000000" charset="-122"/>
                <a:ea typeface="Noto Sans SC" panose="020B0200000000000000" charset="-122"/>
              </a:rPr>
              <a:t>分布式光伏</a:t>
            </a:r>
            <a:endParaRPr sz="1400" b="1">
              <a:solidFill>
                <a:srgbClr val="2E7D6B"/>
              </a:solidFill>
              <a:latin typeface="Noto Sans SC" panose="020B0200000000000000" charset="-122"/>
              <a:ea typeface="Noto Sans SC" panose="020B0200000000000000" charset="-122"/>
            </a:endParaRPr>
          </a:p>
        </p:txBody>
      </p:sp>
      <p:sp>
        <p:nvSpPr>
          <p:cNvPr id="10" name="TextBox 9"/>
          <p:cNvSpPr txBox="1"/>
          <p:nvPr/>
        </p:nvSpPr>
        <p:spPr>
          <a:xfrm>
            <a:off x="774000" y="2412000"/>
            <a:ext cx="1782000" cy="1944000"/>
          </a:xfrm>
          <a:prstGeom prst="rect">
            <a:avLst/>
          </a:prstGeom>
          <a:noFill/>
        </p:spPr>
        <p:txBody>
          <a:bodyPr wrap="square" lIns="18000" tIns="7200" rIns="7200" bIns="7200" anchor="t">
            <a:noAutofit/>
          </a:bodyPr>
          <a:lstStyle/>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政策定位</a:t>
            </a:r>
            <a:r>
              <a:rPr sz="1100" b="0">
                <a:solidFill>
                  <a:srgbClr val="4B5563"/>
                </a:solidFill>
                <a:latin typeface="Noto Sans SC" panose="020B0200000000000000" charset="-122"/>
                <a:ea typeface="Noto Sans SC" panose="020B0200000000000000" charset="-122"/>
              </a:rPr>
              <a:t>：四类项目×三种模式，2026年全面入市</a:t>
            </a:r>
            <a:endParaRPr sz="1100" b="0">
              <a:solidFill>
                <a:srgbClr val="4B5563"/>
              </a:solidFill>
              <a:latin typeface="Noto Sans SC" panose="020B0200000000000000" charset="-122"/>
              <a:ea typeface="Noto Sans SC" panose="020B0200000000000000" charset="-122"/>
            </a:endParaRPr>
          </a:p>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关键规模</a:t>
            </a:r>
            <a:r>
              <a:rPr sz="1100" b="0">
                <a:solidFill>
                  <a:srgbClr val="4B5563"/>
                </a:solidFill>
                <a:latin typeface="Noto Sans SC" panose="020B0200000000000000" charset="-122"/>
                <a:ea typeface="Noto Sans SC" panose="020B0200000000000000" charset="-122"/>
              </a:rPr>
              <a:t>：2026年8月末装机</a:t>
            </a:r>
            <a:r>
              <a:rPr sz="1100" b="1">
                <a:solidFill>
                  <a:srgbClr val="1F5A4D"/>
                </a:solidFill>
                <a:latin typeface="Noto Sans SC" panose="020B0200000000000000" charset="-122"/>
                <a:ea typeface="Noto Sans SC" panose="020B0200000000000000" charset="-122"/>
              </a:rPr>
              <a:t>7001万千瓦</a:t>
            </a:r>
            <a:r>
              <a:rPr sz="1100" b="0">
                <a:solidFill>
                  <a:srgbClr val="4B5563"/>
                </a:solidFill>
                <a:latin typeface="Noto Sans SC" panose="020B0200000000000000" charset="-122"/>
                <a:ea typeface="Noto Sans SC" panose="020B0200000000000000" charset="-122"/>
              </a:rPr>
              <a:t>、占新能源50.5%</a:t>
            </a:r>
            <a:endParaRPr sz="1100" b="0">
              <a:solidFill>
                <a:srgbClr val="4B5563"/>
              </a:solidFill>
              <a:latin typeface="Noto Sans SC" panose="020B0200000000000000" charset="-122"/>
              <a:ea typeface="Noto Sans SC" panose="020B0200000000000000" charset="-122"/>
            </a:endParaRPr>
          </a:p>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政策要求</a:t>
            </a:r>
            <a:r>
              <a:rPr sz="1100" b="0">
                <a:solidFill>
                  <a:srgbClr val="4B5563"/>
                </a:solidFill>
                <a:latin typeface="Noto Sans SC" panose="020B0200000000000000" charset="-122"/>
                <a:ea typeface="Noto Sans SC" panose="020B0200000000000000" charset="-122"/>
              </a:rPr>
              <a:t>：存量机制电量比例≤90%（户用100%）</a:t>
            </a:r>
            <a:endParaRPr sz="1100" b="0">
              <a:solidFill>
                <a:srgbClr val="4B5563"/>
              </a:solidFill>
              <a:latin typeface="Noto Sans SC" panose="020B0200000000000000" charset="-122"/>
              <a:ea typeface="Noto Sans SC" panose="020B0200000000000000" charset="-122"/>
            </a:endParaRPr>
          </a:p>
        </p:txBody>
      </p:sp>
      <p:sp>
        <p:nvSpPr>
          <p:cNvPr id="11" name="Rounded Rectangle 10"/>
          <p:cNvSpPr/>
          <p:nvPr/>
        </p:nvSpPr>
        <p:spPr>
          <a:xfrm>
            <a:off x="2835000" y="1774800"/>
            <a:ext cx="2088000" cy="2620800"/>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35000" y="1774800"/>
            <a:ext cx="64800" cy="2620800"/>
          </a:xfrm>
          <a:prstGeom prst="roundRect">
            <a:avLst>
              <a:gd name="adj"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o_plant.png"/>
          <p:cNvPicPr>
            <a:picLocks noChangeAspect="1"/>
          </p:cNvPicPr>
          <p:nvPr/>
        </p:nvPicPr>
        <p:blipFill>
          <a:blip r:embed="rId2"/>
          <a:stretch>
            <a:fillRect/>
          </a:stretch>
        </p:blipFill>
        <p:spPr>
          <a:xfrm>
            <a:off x="2986200" y="1936800"/>
            <a:ext cx="306000" cy="306000"/>
          </a:xfrm>
          <a:prstGeom prst="rect">
            <a:avLst/>
          </a:prstGeom>
        </p:spPr>
      </p:pic>
      <p:sp>
        <p:nvSpPr>
          <p:cNvPr id="14" name="TextBox 13"/>
          <p:cNvSpPr txBox="1"/>
          <p:nvPr/>
        </p:nvSpPr>
        <p:spPr>
          <a:xfrm>
            <a:off x="3331799" y="1929600"/>
            <a:ext cx="1530000" cy="324000"/>
          </a:xfrm>
          <a:prstGeom prst="rect">
            <a:avLst/>
          </a:prstGeom>
          <a:noFill/>
        </p:spPr>
        <p:txBody>
          <a:bodyPr wrap="none" lIns="0" tIns="0" bIns="36576" anchor="ctr">
            <a:noAutofit/>
          </a:bodyPr>
          <a:lstStyle/>
          <a:p>
            <a:pPr algn="l">
              <a:spcAft>
                <a:spcPts val="400"/>
              </a:spcAft>
            </a:pPr>
            <a:r>
              <a:rPr sz="1400" b="1">
                <a:solidFill>
                  <a:srgbClr val="0070C0"/>
                </a:solidFill>
                <a:latin typeface="Noto Sans SC" panose="020B0200000000000000" charset="-122"/>
                <a:ea typeface="Noto Sans SC" panose="020B0200000000000000" charset="-122"/>
              </a:rPr>
              <a:t>自备电厂清洁替代</a:t>
            </a:r>
            <a:endParaRPr sz="1400" b="1">
              <a:solidFill>
                <a:srgbClr val="0070C0"/>
              </a:solidFill>
              <a:latin typeface="Noto Sans SC" panose="020B0200000000000000" charset="-122"/>
              <a:ea typeface="Noto Sans SC" panose="020B0200000000000000" charset="-122"/>
            </a:endParaRPr>
          </a:p>
        </p:txBody>
      </p:sp>
      <p:sp>
        <p:nvSpPr>
          <p:cNvPr id="15" name="TextBox 14"/>
          <p:cNvSpPr txBox="1"/>
          <p:nvPr/>
        </p:nvSpPr>
        <p:spPr>
          <a:xfrm>
            <a:off x="2996999" y="2412000"/>
            <a:ext cx="1782000" cy="1944000"/>
          </a:xfrm>
          <a:prstGeom prst="rect">
            <a:avLst/>
          </a:prstGeom>
          <a:noFill/>
        </p:spPr>
        <p:txBody>
          <a:bodyPr wrap="square" lIns="18000" tIns="7200" rIns="7200" bIns="7200" anchor="t">
            <a:noAutofit/>
          </a:bodyPr>
          <a:lstStyle/>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政策定位</a:t>
            </a:r>
            <a:r>
              <a:rPr sz="1100" b="0">
                <a:solidFill>
                  <a:srgbClr val="4B5563"/>
                </a:solidFill>
                <a:latin typeface="Noto Sans SC" panose="020B0200000000000000" charset="-122"/>
                <a:ea typeface="Noto Sans SC" panose="020B0200000000000000" charset="-122"/>
              </a:rPr>
              <a:t>：清洁替代，替代电量经绿电交易或绿电直连获取</a:t>
            </a:r>
            <a:endParaRPr sz="1100" b="0">
              <a:solidFill>
                <a:srgbClr val="4B5563"/>
              </a:solidFill>
              <a:latin typeface="Noto Sans SC" panose="020B0200000000000000" charset="-122"/>
              <a:ea typeface="Noto Sans SC" panose="020B0200000000000000" charset="-122"/>
            </a:endParaRPr>
          </a:p>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关键规模</a:t>
            </a:r>
            <a:r>
              <a:rPr sz="1100" b="0">
                <a:solidFill>
                  <a:srgbClr val="4B5563"/>
                </a:solidFill>
                <a:latin typeface="Noto Sans SC" panose="020B0200000000000000" charset="-122"/>
                <a:ea typeface="Noto Sans SC" panose="020B0200000000000000" charset="-122"/>
              </a:rPr>
              <a:t>：2026年8月末</a:t>
            </a:r>
            <a:r>
              <a:rPr sz="1100" b="1">
                <a:solidFill>
                  <a:srgbClr val="1F5A4D"/>
                </a:solidFill>
                <a:latin typeface="Noto Sans SC" panose="020B0200000000000000" charset="-122"/>
                <a:ea typeface="Noto Sans SC" panose="020B0200000000000000" charset="-122"/>
              </a:rPr>
              <a:t>774.7万千瓦、215台（套）</a:t>
            </a:r>
            <a:endParaRPr sz="1100" b="1">
              <a:solidFill>
                <a:srgbClr val="1F5A4D"/>
              </a:solidFill>
              <a:latin typeface="Noto Sans SC" panose="020B0200000000000000" charset="-122"/>
              <a:ea typeface="Noto Sans SC" panose="020B0200000000000000" charset="-122"/>
            </a:endParaRPr>
          </a:p>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政策要求</a:t>
            </a:r>
            <a:r>
              <a:rPr sz="1100" b="0">
                <a:solidFill>
                  <a:srgbClr val="4B5563"/>
                </a:solidFill>
                <a:latin typeface="Noto Sans SC" panose="020B0200000000000000" charset="-122"/>
                <a:ea typeface="Noto Sans SC" panose="020B0200000000000000" charset="-122"/>
              </a:rPr>
              <a:t>：燃煤机组较2025年末减少</a:t>
            </a:r>
            <a:r>
              <a:rPr sz="1100" b="1">
                <a:solidFill>
                  <a:srgbClr val="1F5A4D"/>
                </a:solidFill>
                <a:latin typeface="Noto Sans SC" panose="020B0200000000000000" charset="-122"/>
                <a:ea typeface="Noto Sans SC" panose="020B0200000000000000" charset="-122"/>
              </a:rPr>
              <a:t>31.5万千瓦</a:t>
            </a:r>
            <a:endParaRPr sz="1100" b="1">
              <a:solidFill>
                <a:srgbClr val="1F5A4D"/>
              </a:solidFill>
              <a:latin typeface="Noto Sans SC" panose="020B0200000000000000" charset="-122"/>
              <a:ea typeface="Noto Sans SC" panose="020B0200000000000000" charset="-122"/>
            </a:endParaRPr>
          </a:p>
        </p:txBody>
      </p:sp>
      <p:sp>
        <p:nvSpPr>
          <p:cNvPr id="16" name="Rounded Rectangle 15"/>
          <p:cNvSpPr/>
          <p:nvPr/>
        </p:nvSpPr>
        <p:spPr>
          <a:xfrm>
            <a:off x="5058000" y="1774800"/>
            <a:ext cx="2088000" cy="2620800"/>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58000" y="1774800"/>
            <a:ext cx="64800" cy="2620800"/>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o_link.png"/>
          <p:cNvPicPr>
            <a:picLocks noChangeAspect="1"/>
          </p:cNvPicPr>
          <p:nvPr/>
        </p:nvPicPr>
        <p:blipFill>
          <a:blip r:embed="rId3"/>
          <a:stretch>
            <a:fillRect/>
          </a:stretch>
        </p:blipFill>
        <p:spPr>
          <a:xfrm>
            <a:off x="5209200" y="1936800"/>
            <a:ext cx="306000" cy="306000"/>
          </a:xfrm>
          <a:prstGeom prst="rect">
            <a:avLst/>
          </a:prstGeom>
        </p:spPr>
      </p:pic>
      <p:sp>
        <p:nvSpPr>
          <p:cNvPr id="19" name="TextBox 18"/>
          <p:cNvSpPr txBox="1"/>
          <p:nvPr/>
        </p:nvSpPr>
        <p:spPr>
          <a:xfrm>
            <a:off x="5554800" y="1929600"/>
            <a:ext cx="1530000" cy="324000"/>
          </a:xfrm>
          <a:prstGeom prst="rect">
            <a:avLst/>
          </a:prstGeom>
          <a:noFill/>
        </p:spPr>
        <p:txBody>
          <a:bodyPr wrap="none" lIns="0" tIns="0" bIns="36576" anchor="ctr">
            <a:noAutofit/>
          </a:bodyPr>
          <a:lstStyle/>
          <a:p>
            <a:pPr algn="l">
              <a:spcAft>
                <a:spcPts val="400"/>
              </a:spcAft>
            </a:pPr>
            <a:r>
              <a:rPr sz="1400" b="1">
                <a:solidFill>
                  <a:srgbClr val="2E7D6B"/>
                </a:solidFill>
                <a:latin typeface="Noto Sans SC" panose="020B0200000000000000" charset="-122"/>
                <a:ea typeface="Noto Sans SC" panose="020B0200000000000000" charset="-122"/>
              </a:rPr>
              <a:t>绿电直连</a:t>
            </a:r>
            <a:endParaRPr sz="1400" b="1">
              <a:solidFill>
                <a:srgbClr val="2E7D6B"/>
              </a:solidFill>
              <a:latin typeface="Noto Sans SC" panose="020B0200000000000000" charset="-122"/>
              <a:ea typeface="Noto Sans SC" panose="020B0200000000000000" charset="-122"/>
            </a:endParaRPr>
          </a:p>
        </p:txBody>
      </p:sp>
      <p:sp>
        <p:nvSpPr>
          <p:cNvPr id="20" name="TextBox 19"/>
          <p:cNvSpPr txBox="1"/>
          <p:nvPr/>
        </p:nvSpPr>
        <p:spPr>
          <a:xfrm>
            <a:off x="5220000" y="2412000"/>
            <a:ext cx="1782000" cy="1944000"/>
          </a:xfrm>
          <a:prstGeom prst="rect">
            <a:avLst/>
          </a:prstGeom>
          <a:noFill/>
        </p:spPr>
        <p:txBody>
          <a:bodyPr wrap="square" lIns="18000" tIns="7200" rIns="7200" bIns="7200" anchor="t">
            <a:noAutofit/>
          </a:bodyPr>
          <a:lstStyle/>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政策定位</a:t>
            </a:r>
            <a:r>
              <a:rPr sz="1100" b="0">
                <a:solidFill>
                  <a:srgbClr val="4B5563"/>
                </a:solidFill>
                <a:latin typeface="Noto Sans SC" panose="020B0200000000000000" charset="-122"/>
                <a:ea typeface="Noto Sans SC" panose="020B0200000000000000" charset="-122"/>
              </a:rPr>
              <a:t>：并网型／离网型，须满足专线、计量、交易与费用条件</a:t>
            </a:r>
            <a:endParaRPr sz="1100" b="0">
              <a:solidFill>
                <a:srgbClr val="4B5563"/>
              </a:solidFill>
              <a:latin typeface="Noto Sans SC" panose="020B0200000000000000" charset="-122"/>
              <a:ea typeface="Noto Sans SC" panose="020B0200000000000000" charset="-122"/>
            </a:endParaRPr>
          </a:p>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关键规模</a:t>
            </a:r>
            <a:r>
              <a:rPr sz="1100" b="0">
                <a:solidFill>
                  <a:srgbClr val="4B5563"/>
                </a:solidFill>
                <a:latin typeface="Noto Sans SC" panose="020B0200000000000000" charset="-122"/>
                <a:ea typeface="Noto Sans SC" panose="020B0200000000000000" charset="-122"/>
              </a:rPr>
              <a:t>：首批试点</a:t>
            </a:r>
            <a:r>
              <a:rPr sz="1100" b="1">
                <a:solidFill>
                  <a:srgbClr val="1F5A4D"/>
                </a:solidFill>
                <a:latin typeface="Noto Sans SC" panose="020B0200000000000000" charset="-122"/>
                <a:ea typeface="Noto Sans SC" panose="020B0200000000000000" charset="-122"/>
              </a:rPr>
              <a:t>5个</a:t>
            </a:r>
            <a:r>
              <a:rPr sz="1100" b="0">
                <a:solidFill>
                  <a:srgbClr val="4B5563"/>
                </a:solidFill>
                <a:latin typeface="Noto Sans SC" panose="020B0200000000000000" charset="-122"/>
                <a:ea typeface="Noto Sans SC" panose="020B0200000000000000" charset="-122"/>
              </a:rPr>
              <a:t>（2025年）</a:t>
            </a:r>
            <a:endParaRPr sz="1100" b="0">
              <a:solidFill>
                <a:srgbClr val="4B5563"/>
              </a:solidFill>
              <a:latin typeface="Noto Sans SC" panose="020B0200000000000000" charset="-122"/>
              <a:ea typeface="Noto Sans SC" panose="020B0200000000000000" charset="-122"/>
            </a:endParaRPr>
          </a:p>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政策要求</a:t>
            </a:r>
            <a:r>
              <a:rPr sz="1100" b="0">
                <a:solidFill>
                  <a:srgbClr val="4B5563"/>
                </a:solidFill>
                <a:latin typeface="Noto Sans SC" panose="020B0200000000000000" charset="-122"/>
                <a:ea typeface="Noto Sans SC" panose="020B0200000000000000" charset="-122"/>
              </a:rPr>
              <a:t>：到户价低于市电方具经济性</a:t>
            </a:r>
            <a:endParaRPr sz="1100" b="0">
              <a:solidFill>
                <a:srgbClr val="4B5563"/>
              </a:solidFill>
              <a:latin typeface="Noto Sans SC" panose="020B0200000000000000" charset="-122"/>
              <a:ea typeface="Noto Sans SC" panose="020B0200000000000000" charset="-122"/>
            </a:endParaRPr>
          </a:p>
        </p:txBody>
      </p:sp>
      <p:sp>
        <p:nvSpPr>
          <p:cNvPr id="21" name="Rounded Rectangle 20"/>
          <p:cNvSpPr/>
          <p:nvPr/>
        </p:nvSpPr>
        <p:spPr>
          <a:xfrm>
            <a:off x="7281000" y="1774800"/>
            <a:ext cx="2088000" cy="2620800"/>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81000" y="1774800"/>
            <a:ext cx="64800" cy="2620800"/>
          </a:xfrm>
          <a:prstGeom prst="roundRect">
            <a:avLst>
              <a:gd name="adj"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_park.png"/>
          <p:cNvPicPr>
            <a:picLocks noChangeAspect="1"/>
          </p:cNvPicPr>
          <p:nvPr/>
        </p:nvPicPr>
        <p:blipFill>
          <a:blip r:embed="rId4"/>
          <a:stretch>
            <a:fillRect/>
          </a:stretch>
        </p:blipFill>
        <p:spPr>
          <a:xfrm>
            <a:off x="7432200" y="1936800"/>
            <a:ext cx="306000" cy="306000"/>
          </a:xfrm>
          <a:prstGeom prst="rect">
            <a:avLst/>
          </a:prstGeom>
        </p:spPr>
      </p:pic>
      <p:sp>
        <p:nvSpPr>
          <p:cNvPr id="24" name="TextBox 23"/>
          <p:cNvSpPr txBox="1"/>
          <p:nvPr/>
        </p:nvSpPr>
        <p:spPr>
          <a:xfrm>
            <a:off x="7777800" y="1929600"/>
            <a:ext cx="1530000" cy="324000"/>
          </a:xfrm>
          <a:prstGeom prst="rect">
            <a:avLst/>
          </a:prstGeom>
          <a:noFill/>
        </p:spPr>
        <p:txBody>
          <a:bodyPr wrap="none" lIns="0" tIns="0" bIns="36576" anchor="ctr">
            <a:noAutofit/>
          </a:bodyPr>
          <a:lstStyle/>
          <a:p>
            <a:pPr algn="l">
              <a:spcAft>
                <a:spcPts val="400"/>
              </a:spcAft>
            </a:pPr>
            <a:r>
              <a:rPr sz="1400" b="1">
                <a:solidFill>
                  <a:srgbClr val="0070C0"/>
                </a:solidFill>
                <a:latin typeface="Noto Sans SC" panose="020B0200000000000000" charset="-122"/>
                <a:ea typeface="Noto Sans SC" panose="020B0200000000000000" charset="-122"/>
              </a:rPr>
              <a:t>零碳园区</a:t>
            </a:r>
            <a:endParaRPr sz="1400" b="1">
              <a:solidFill>
                <a:srgbClr val="0070C0"/>
              </a:solidFill>
              <a:latin typeface="Noto Sans SC" panose="020B0200000000000000" charset="-122"/>
              <a:ea typeface="Noto Sans SC" panose="020B0200000000000000" charset="-122"/>
            </a:endParaRPr>
          </a:p>
        </p:txBody>
      </p:sp>
      <p:sp>
        <p:nvSpPr>
          <p:cNvPr id="25" name="TextBox 24"/>
          <p:cNvSpPr txBox="1"/>
          <p:nvPr/>
        </p:nvSpPr>
        <p:spPr>
          <a:xfrm>
            <a:off x="7443000" y="2412000"/>
            <a:ext cx="1782000" cy="1944000"/>
          </a:xfrm>
          <a:prstGeom prst="rect">
            <a:avLst/>
          </a:prstGeom>
          <a:noFill/>
        </p:spPr>
        <p:txBody>
          <a:bodyPr wrap="square" lIns="18000" tIns="7200" rIns="7200" bIns="7200" anchor="t">
            <a:noAutofit/>
          </a:bodyPr>
          <a:lstStyle/>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政策定位</a:t>
            </a:r>
            <a:r>
              <a:rPr sz="1100" b="0">
                <a:solidFill>
                  <a:srgbClr val="4B5563"/>
                </a:solidFill>
                <a:latin typeface="Noto Sans SC" panose="020B0200000000000000" charset="-122"/>
                <a:ea typeface="Noto Sans SC" panose="020B0200000000000000" charset="-122"/>
              </a:rPr>
              <a:t>：国家级试点，清洁能源消费占比不低于90%</a:t>
            </a:r>
            <a:endParaRPr sz="1100" b="0">
              <a:solidFill>
                <a:srgbClr val="4B5563"/>
              </a:solidFill>
              <a:latin typeface="Noto Sans SC" panose="020B0200000000000000" charset="-122"/>
              <a:ea typeface="Noto Sans SC" panose="020B0200000000000000" charset="-122"/>
            </a:endParaRPr>
          </a:p>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关键规模</a:t>
            </a:r>
            <a:r>
              <a:rPr sz="1100" b="0">
                <a:solidFill>
                  <a:srgbClr val="4B5563"/>
                </a:solidFill>
                <a:latin typeface="Noto Sans SC" panose="020B0200000000000000" charset="-122"/>
                <a:ea typeface="Noto Sans SC" panose="020B0200000000000000" charset="-122"/>
              </a:rPr>
              <a:t>：国家级</a:t>
            </a:r>
            <a:r>
              <a:rPr sz="1100" b="1">
                <a:solidFill>
                  <a:srgbClr val="1F5A4D"/>
                </a:solidFill>
                <a:latin typeface="Noto Sans SC" panose="020B0200000000000000" charset="-122"/>
                <a:ea typeface="Noto Sans SC" panose="020B0200000000000000" charset="-122"/>
              </a:rPr>
              <a:t>2处</a:t>
            </a:r>
            <a:r>
              <a:rPr sz="1100" b="0">
                <a:solidFill>
                  <a:srgbClr val="4B5563"/>
                </a:solidFill>
                <a:latin typeface="Noto Sans SC" panose="020B0200000000000000" charset="-122"/>
                <a:ea typeface="Noto Sans SC" panose="020B0200000000000000" charset="-122"/>
              </a:rPr>
              <a:t>（盐城大丰港、常州溧阳，2025年）</a:t>
            </a:r>
            <a:endParaRPr sz="1100" b="0">
              <a:solidFill>
                <a:srgbClr val="4B5563"/>
              </a:solidFill>
              <a:latin typeface="Noto Sans SC" panose="020B0200000000000000" charset="-122"/>
              <a:ea typeface="Noto Sans SC" panose="020B0200000000000000" charset="-122"/>
            </a:endParaRPr>
          </a:p>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政策要求</a:t>
            </a:r>
            <a:r>
              <a:rPr sz="1100" b="0">
                <a:solidFill>
                  <a:srgbClr val="4B5563"/>
                </a:solidFill>
                <a:latin typeface="Noto Sans SC" panose="020B0200000000000000" charset="-122"/>
                <a:ea typeface="Noto Sans SC" panose="020B0200000000000000" charset="-122"/>
              </a:rPr>
              <a:t>：与绿电直连、整村汇聚形成就近消纳通道</a:t>
            </a:r>
            <a:endParaRPr sz="1100" b="0">
              <a:solidFill>
                <a:srgbClr val="4B5563"/>
              </a:solidFill>
              <a:latin typeface="Noto Sans SC" panose="020B0200000000000000" charset="-122"/>
              <a:ea typeface="Noto Sans SC" panose="020B0200000000000000" charset="-122"/>
            </a:endParaRPr>
          </a:p>
        </p:txBody>
      </p:sp>
      <p:sp>
        <p:nvSpPr>
          <p:cNvPr id="26" name="TextBox 25"/>
          <p:cNvSpPr txBox="1"/>
          <p:nvPr/>
        </p:nvSpPr>
        <p:spPr>
          <a:xfrm>
            <a:off x="574548" y="4523612"/>
            <a:ext cx="10789920" cy="274320"/>
          </a:xfrm>
          <a:prstGeom prst="rect">
            <a:avLst/>
          </a:prstGeom>
          <a:noFill/>
        </p:spPr>
        <p:txBody>
          <a:bodyPr wrap="square" lIns="18288" tIns="0" bIns="36576" anchor="ctr">
            <a:noAutofit/>
          </a:bodyPr>
          <a:lstStyle/>
          <a:p>
            <a:pPr algn="l">
              <a:spcAft>
                <a:spcPts val="400"/>
              </a:spcAft>
            </a:pPr>
            <a:r>
              <a:rPr sz="1500" b="0">
                <a:solidFill>
                  <a:srgbClr val="1F5A4D"/>
                </a:solidFill>
                <a:latin typeface="Noto Sans SC" panose="020B0200000000000000" charset="-122"/>
                <a:ea typeface="Noto Sans SC" panose="020B0200000000000000" charset="-122"/>
              </a:rPr>
              <a:t>② 政策传导：全链条六环节（五类要素的约束沿此逐级落地）</a:t>
            </a:r>
            <a:endParaRPr sz="1500" b="0">
              <a:solidFill>
                <a:srgbClr val="1F5A4D"/>
              </a:solidFill>
              <a:latin typeface="Noto Sans SC" panose="020B0200000000000000" charset="-122"/>
              <a:ea typeface="Noto Sans SC" panose="020B0200000000000000" charset="-122"/>
            </a:endParaRPr>
          </a:p>
        </p:txBody>
      </p:sp>
      <p:sp>
        <p:nvSpPr>
          <p:cNvPr id="27" name="Rounded Rectangle 26"/>
          <p:cNvSpPr/>
          <p:nvPr/>
        </p:nvSpPr>
        <p:spPr>
          <a:xfrm>
            <a:off x="574548" y="4816221"/>
            <a:ext cx="1604772" cy="1609344"/>
          </a:xfrm>
          <a:prstGeom prst="roundRect">
            <a:avLst>
              <a:gd name="adj" fmla="val 7000"/>
            </a:avLst>
          </a:prstGeom>
          <a:solidFill>
            <a:srgbClr val="FFFFFF"/>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400"/>
              </a:spcAft>
            </a:pPr>
            <a:r>
              <a:rPr sz="1200" b="1">
                <a:solidFill>
                  <a:srgbClr val="2B3338"/>
                </a:solidFill>
                <a:latin typeface="Noto Sans SC" panose="020B0200000000000000" charset="-122"/>
                <a:ea typeface="Noto Sans SC" panose="020B0200000000000000" charset="-122"/>
              </a:rPr>
              <a:t>国家制度边界</a:t>
            </a:r>
            <a:endParaRPr sz="1200" b="1">
              <a:solidFill>
                <a:srgbClr val="2B3338"/>
              </a:solidFill>
              <a:latin typeface="Noto Sans SC" panose="020B0200000000000000" charset="-122"/>
              <a:ea typeface="Noto Sans SC" panose="020B0200000000000000" charset="-122"/>
            </a:endParaRPr>
          </a:p>
          <a:p>
            <a:pPr algn="ctr">
              <a:spcAft>
                <a:spcPts val="400"/>
              </a:spcAft>
            </a:pPr>
            <a:r>
              <a:rPr sz="1100" b="0">
                <a:solidFill>
                  <a:srgbClr val="4B5563"/>
                </a:solidFill>
                <a:latin typeface="Noto Sans SC" panose="020B0200000000000000" charset="-122"/>
                <a:ea typeface="Noto Sans SC" panose="020B0200000000000000" charset="-122"/>
              </a:rPr>
              <a:t>项目类型、市场原则、费用与属性规则</a:t>
            </a:r>
            <a:endParaRPr sz="1000" b="0">
              <a:solidFill>
                <a:srgbClr val="4B5563"/>
              </a:solidFill>
              <a:latin typeface="Noto Sans SC" panose="020B0200000000000000" charset="-122"/>
              <a:ea typeface="Noto Sans SC" panose="020B0200000000000000" charset="-122"/>
            </a:endParaRPr>
          </a:p>
        </p:txBody>
      </p:sp>
      <p:sp>
        <p:nvSpPr>
          <p:cNvPr id="28" name="Right Arrow 27"/>
          <p:cNvSpPr/>
          <p:nvPr/>
        </p:nvSpPr>
        <p:spPr>
          <a:xfrm>
            <a:off x="2211324" y="5543169"/>
            <a:ext cx="201168" cy="155448"/>
          </a:xfrm>
          <a:prstGeom prst="rightArrow">
            <a:avLst/>
          </a:prstGeom>
          <a:solidFill>
            <a:srgbClr val="EF8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449068" y="4816221"/>
            <a:ext cx="1604772" cy="1609344"/>
          </a:xfrm>
          <a:prstGeom prst="roundRect">
            <a:avLst>
              <a:gd name="adj" fmla="val 7000"/>
            </a:avLst>
          </a:prstGeom>
          <a:solidFill>
            <a:srgbClr val="FFFFFF"/>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400"/>
              </a:spcAft>
            </a:pPr>
            <a:r>
              <a:rPr sz="1200" b="1">
                <a:solidFill>
                  <a:srgbClr val="2B3338"/>
                </a:solidFill>
                <a:latin typeface="Noto Sans SC" panose="020B0200000000000000" charset="-122"/>
                <a:ea typeface="Noto Sans SC" panose="020B0200000000000000" charset="-122"/>
              </a:rPr>
              <a:t>江苏执行规则</a:t>
            </a:r>
            <a:endParaRPr sz="1200" b="1">
              <a:solidFill>
                <a:srgbClr val="2B3338"/>
              </a:solidFill>
              <a:latin typeface="Noto Sans SC" panose="020B0200000000000000" charset="-122"/>
              <a:ea typeface="Noto Sans SC" panose="020B0200000000000000" charset="-122"/>
            </a:endParaRPr>
          </a:p>
          <a:p>
            <a:pPr algn="ctr">
              <a:spcAft>
                <a:spcPts val="400"/>
              </a:spcAft>
            </a:pPr>
            <a:r>
              <a:rPr sz="1100" b="0">
                <a:solidFill>
                  <a:srgbClr val="4B5563"/>
                </a:solidFill>
                <a:latin typeface="Noto Sans SC" panose="020B0200000000000000" charset="-122"/>
                <a:ea typeface="Noto Sans SC" panose="020B0200000000000000" charset="-122"/>
              </a:rPr>
              <a:t>备案、接网、交易、结算口径</a:t>
            </a:r>
            <a:endParaRPr sz="1000" b="0">
              <a:solidFill>
                <a:srgbClr val="4B5563"/>
              </a:solidFill>
              <a:latin typeface="Noto Sans SC" panose="020B0200000000000000" charset="-122"/>
              <a:ea typeface="Noto Sans SC" panose="020B0200000000000000" charset="-122"/>
            </a:endParaRPr>
          </a:p>
        </p:txBody>
      </p:sp>
      <p:sp>
        <p:nvSpPr>
          <p:cNvPr id="30" name="Right Arrow 29"/>
          <p:cNvSpPr/>
          <p:nvPr/>
        </p:nvSpPr>
        <p:spPr>
          <a:xfrm>
            <a:off x="4085844" y="5543169"/>
            <a:ext cx="201168" cy="155448"/>
          </a:xfrm>
          <a:prstGeom prst="rightArrow">
            <a:avLst/>
          </a:prstGeom>
          <a:solidFill>
            <a:srgbClr val="EF8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323588" y="4816221"/>
            <a:ext cx="1604772" cy="1609344"/>
          </a:xfrm>
          <a:prstGeom prst="roundRect">
            <a:avLst>
              <a:gd name="adj" fmla="val 7000"/>
            </a:avLst>
          </a:prstGeom>
          <a:solidFill>
            <a:srgbClr val="FFFFFF"/>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400"/>
              </a:spcAft>
            </a:pPr>
            <a:r>
              <a:rPr sz="1200" b="1">
                <a:solidFill>
                  <a:srgbClr val="2B3338"/>
                </a:solidFill>
                <a:latin typeface="Noto Sans SC" panose="020B0200000000000000" charset="-122"/>
                <a:ea typeface="Noto Sans SC" panose="020B0200000000000000" charset="-122"/>
              </a:rPr>
              <a:t>项目与场景组织</a:t>
            </a:r>
            <a:endParaRPr sz="1200" b="1">
              <a:solidFill>
                <a:srgbClr val="2B3338"/>
              </a:solidFill>
              <a:latin typeface="Noto Sans SC" panose="020B0200000000000000" charset="-122"/>
              <a:ea typeface="Noto Sans SC" panose="020B0200000000000000" charset="-122"/>
            </a:endParaRPr>
          </a:p>
          <a:p>
            <a:pPr algn="ctr">
              <a:spcAft>
                <a:spcPts val="400"/>
              </a:spcAft>
            </a:pPr>
            <a:r>
              <a:rPr sz="1100" b="0">
                <a:solidFill>
                  <a:srgbClr val="4B5563"/>
                </a:solidFill>
                <a:latin typeface="Noto Sans SC" panose="020B0200000000000000" charset="-122"/>
                <a:ea typeface="Noto Sans SC" panose="020B0200000000000000" charset="-122"/>
              </a:rPr>
              <a:t>产权、负荷、上网模式、主责单位</a:t>
            </a:r>
            <a:endParaRPr sz="1000" b="0">
              <a:solidFill>
                <a:srgbClr val="4B5563"/>
              </a:solidFill>
              <a:latin typeface="Noto Sans SC" panose="020B0200000000000000" charset="-122"/>
              <a:ea typeface="Noto Sans SC" panose="020B0200000000000000" charset="-122"/>
            </a:endParaRPr>
          </a:p>
        </p:txBody>
      </p:sp>
      <p:sp>
        <p:nvSpPr>
          <p:cNvPr id="32" name="Right Arrow 31"/>
          <p:cNvSpPr/>
          <p:nvPr/>
        </p:nvSpPr>
        <p:spPr>
          <a:xfrm>
            <a:off x="5960364" y="5543169"/>
            <a:ext cx="201168" cy="155448"/>
          </a:xfrm>
          <a:prstGeom prst="rightArrow">
            <a:avLst/>
          </a:prstGeom>
          <a:solidFill>
            <a:srgbClr val="EF8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198107" y="4816221"/>
            <a:ext cx="1604772" cy="1609344"/>
          </a:xfrm>
          <a:prstGeom prst="roundRect">
            <a:avLst>
              <a:gd name="adj" fmla="val 7000"/>
            </a:avLst>
          </a:prstGeom>
          <a:solidFill>
            <a:srgbClr val="FFFFFF"/>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400"/>
              </a:spcAft>
            </a:pPr>
            <a:r>
              <a:rPr sz="1200" b="1">
                <a:solidFill>
                  <a:srgbClr val="2B3338"/>
                </a:solidFill>
                <a:latin typeface="Noto Sans SC" panose="020B0200000000000000" charset="-122"/>
                <a:ea typeface="Noto Sans SC" panose="020B0200000000000000" charset="-122"/>
              </a:rPr>
              <a:t>接网与运行</a:t>
            </a:r>
            <a:endParaRPr sz="1200" b="1">
              <a:solidFill>
                <a:srgbClr val="2B3338"/>
              </a:solidFill>
              <a:latin typeface="Noto Sans SC" panose="020B0200000000000000" charset="-122"/>
              <a:ea typeface="Noto Sans SC" panose="020B0200000000000000" charset="-122"/>
            </a:endParaRPr>
          </a:p>
          <a:p>
            <a:pPr algn="ctr">
              <a:spcAft>
                <a:spcPts val="400"/>
              </a:spcAft>
            </a:pPr>
            <a:r>
              <a:rPr sz="1100" b="0">
                <a:solidFill>
                  <a:srgbClr val="4B5563"/>
                </a:solidFill>
                <a:latin typeface="Noto Sans SC" panose="020B0200000000000000" charset="-122"/>
                <a:ea typeface="Noto Sans SC" panose="020B0200000000000000" charset="-122"/>
              </a:rPr>
              <a:t>接网容量、负荷曲线、调控与储能</a:t>
            </a:r>
            <a:endParaRPr sz="1000" b="0">
              <a:solidFill>
                <a:srgbClr val="4B5563"/>
              </a:solidFill>
              <a:latin typeface="Noto Sans SC" panose="020B0200000000000000" charset="-122"/>
              <a:ea typeface="Noto Sans SC" panose="020B0200000000000000" charset="-122"/>
            </a:endParaRPr>
          </a:p>
        </p:txBody>
      </p:sp>
      <p:sp>
        <p:nvSpPr>
          <p:cNvPr id="34" name="Right Arrow 33"/>
          <p:cNvSpPr/>
          <p:nvPr/>
        </p:nvSpPr>
        <p:spPr>
          <a:xfrm>
            <a:off x="7834883" y="5543169"/>
            <a:ext cx="201168" cy="155448"/>
          </a:xfrm>
          <a:prstGeom prst="rightArrow">
            <a:avLst/>
          </a:prstGeom>
          <a:solidFill>
            <a:srgbClr val="EF8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072627" y="4816221"/>
            <a:ext cx="1604772" cy="1609344"/>
          </a:xfrm>
          <a:prstGeom prst="roundRect">
            <a:avLst>
              <a:gd name="adj" fmla="val 7000"/>
            </a:avLst>
          </a:prstGeom>
          <a:solidFill>
            <a:srgbClr val="FFFFFF"/>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400"/>
              </a:spcAft>
            </a:pPr>
            <a:r>
              <a:rPr sz="1200" b="1">
                <a:solidFill>
                  <a:srgbClr val="2B3338"/>
                </a:solidFill>
                <a:latin typeface="Noto Sans SC" panose="020B0200000000000000" charset="-122"/>
                <a:ea typeface="Noto Sans SC" panose="020B0200000000000000" charset="-122"/>
              </a:rPr>
              <a:t>交易与结算</a:t>
            </a:r>
            <a:endParaRPr sz="1200" b="1">
              <a:solidFill>
                <a:srgbClr val="2B3338"/>
              </a:solidFill>
              <a:latin typeface="Noto Sans SC" panose="020B0200000000000000" charset="-122"/>
              <a:ea typeface="Noto Sans SC" panose="020B0200000000000000" charset="-122"/>
            </a:endParaRPr>
          </a:p>
          <a:p>
            <a:pPr algn="ctr">
              <a:spcAft>
                <a:spcPts val="400"/>
              </a:spcAft>
            </a:pPr>
            <a:r>
              <a:rPr sz="1100" b="0">
                <a:solidFill>
                  <a:srgbClr val="4B5563"/>
                </a:solidFill>
                <a:latin typeface="Noto Sans SC" panose="020B0200000000000000" charset="-122"/>
                <a:ea typeface="Noto Sans SC" panose="020B0200000000000000" charset="-122"/>
              </a:rPr>
              <a:t>中长期、现货、机制差价结算</a:t>
            </a:r>
            <a:endParaRPr sz="1000" b="0">
              <a:solidFill>
                <a:srgbClr val="4B5563"/>
              </a:solidFill>
              <a:latin typeface="Noto Sans SC" panose="020B0200000000000000" charset="-122"/>
              <a:ea typeface="Noto Sans SC" panose="020B0200000000000000" charset="-122"/>
            </a:endParaRPr>
          </a:p>
        </p:txBody>
      </p:sp>
      <p:sp>
        <p:nvSpPr>
          <p:cNvPr id="36" name="Right Arrow 35"/>
          <p:cNvSpPr/>
          <p:nvPr/>
        </p:nvSpPr>
        <p:spPr>
          <a:xfrm>
            <a:off x="9709404" y="5543169"/>
            <a:ext cx="201168" cy="155448"/>
          </a:xfrm>
          <a:prstGeom prst="rightArrow">
            <a:avLst/>
          </a:prstGeom>
          <a:solidFill>
            <a:srgbClr val="EF8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947148" y="4816221"/>
            <a:ext cx="1604772" cy="1609344"/>
          </a:xfrm>
          <a:prstGeom prst="roundRect">
            <a:avLst>
              <a:gd name="adj" fmla="val 7000"/>
            </a:avLst>
          </a:prstGeom>
          <a:solidFill>
            <a:srgbClr val="FFFFFF"/>
          </a:solidFill>
          <a:ln w="12700">
            <a:solidFill>
              <a:srgbClr val="2E7D6B"/>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400"/>
              </a:spcAft>
            </a:pPr>
            <a:r>
              <a:rPr sz="1200" b="1">
                <a:solidFill>
                  <a:srgbClr val="2B3338"/>
                </a:solidFill>
                <a:latin typeface="Noto Sans SC" panose="020B0200000000000000" charset="-122"/>
                <a:ea typeface="Noto Sans SC" panose="020B0200000000000000" charset="-122"/>
              </a:rPr>
              <a:t>绿色属性与数据反馈</a:t>
            </a:r>
            <a:endParaRPr sz="1200" b="1">
              <a:solidFill>
                <a:srgbClr val="2B3338"/>
              </a:solidFill>
              <a:latin typeface="Noto Sans SC" panose="020B0200000000000000" charset="-122"/>
              <a:ea typeface="Noto Sans SC" panose="020B0200000000000000" charset="-122"/>
            </a:endParaRPr>
          </a:p>
          <a:p>
            <a:pPr algn="ctr">
              <a:spcAft>
                <a:spcPts val="400"/>
              </a:spcAft>
            </a:pPr>
            <a:r>
              <a:rPr sz="1100" b="0">
                <a:solidFill>
                  <a:srgbClr val="4B5563"/>
                </a:solidFill>
                <a:latin typeface="Noto Sans SC" panose="020B0200000000000000" charset="-122"/>
                <a:ea typeface="Noto Sans SC" panose="020B0200000000000000" charset="-122"/>
              </a:rPr>
              <a:t>绿证确权、划转与数据回流</a:t>
            </a:r>
            <a:endParaRPr sz="1000" b="0">
              <a:solidFill>
                <a:srgbClr val="4B5563"/>
              </a:solidFill>
              <a:latin typeface="Noto Sans SC" panose="020B0200000000000000" charset="-122"/>
              <a:ea typeface="Noto Sans SC" panose="020B0200000000000000" charset="-122"/>
            </a:endParaRPr>
          </a:p>
        </p:txBody>
      </p:sp>
      <p:sp>
        <p:nvSpPr>
          <p:cNvPr id="38" name="TextBox 37">
            <a:hlinkClick r:id="rId5" action="ppaction://hlinksldjump"/>
          </p:cNvPr>
          <p:cNvSpPr txBox="1"/>
          <p:nvPr/>
        </p:nvSpPr>
        <p:spPr>
          <a:xfrm>
            <a:off x="11238992" y="274320"/>
            <a:ext cx="309880" cy="260350"/>
          </a:xfrm>
          <a:prstGeom prst="rect">
            <a:avLst/>
          </a:prstGeom>
          <a:noFill/>
        </p:spPr>
        <p:txBody>
          <a:bodyPr wrap="none">
            <a:spAutoFit/>
          </a:bodyPr>
          <a:lstStyle/>
          <a:p>
            <a:pPr algn="r"/>
            <a:endParaRPr sz="1100">
              <a:solidFill>
                <a:srgbClr val="2E7D6B"/>
              </a:solidFill>
              <a:latin typeface="Noto Sans SC" panose="020B0200000000000000" charset="-122"/>
              <a:ea typeface="Noto Sans SC" panose="020B0200000000000000" charset="-122"/>
            </a:endParaRPr>
          </a:p>
        </p:txBody>
      </p:sp>
      <p:sp>
        <p:nvSpPr>
          <p:cNvPr id="42" name="文本框 41"/>
          <p:cNvSpPr txBox="1"/>
          <p:nvPr/>
        </p:nvSpPr>
        <p:spPr>
          <a:xfrm>
            <a:off x="822960" y="170815"/>
            <a:ext cx="9952355" cy="860425"/>
          </a:xfrm>
          <a:prstGeom prst="rect">
            <a:avLst/>
          </a:prstGeom>
          <a:noFill/>
        </p:spPr>
        <p:txBody>
          <a:bodyPr wrap="square" rtlCol="0">
            <a:spAutoFit/>
          </a:bodyPr>
          <a:lstStyle/>
          <a:p>
            <a:r>
              <a:rPr lang="zh-CN" sz="2800" b="1">
                <a:solidFill>
                  <a:srgbClr val="1F5A4D"/>
                </a:solidFill>
                <a:latin typeface="微软雅黑" panose="020B0503020204020204" pitchFamily="34" charset="-122"/>
                <a:ea typeface="微软雅黑" panose="020B0503020204020204" pitchFamily="34" charset="-122"/>
                <a:sym typeface="+mn-ea"/>
              </a:rPr>
              <a:t>3 政策体系梳理与全链条解析</a:t>
            </a:r>
            <a:r>
              <a:rPr lang="en-US" altLang="zh-CN" sz="2800" b="1">
                <a:solidFill>
                  <a:srgbClr val="1F5A4D"/>
                </a:solidFill>
                <a:latin typeface="微软雅黑" panose="020B0503020204020204" pitchFamily="34" charset="-122"/>
                <a:ea typeface="微软雅黑" panose="020B0503020204020204" pitchFamily="34" charset="-122"/>
                <a:sym typeface="+mn-ea"/>
              </a:rPr>
              <a:t>   </a:t>
            </a:r>
            <a:r>
              <a:rPr lang="en-US" sz="2200" b="1">
                <a:solidFill>
                  <a:srgbClr val="029694"/>
                </a:solidFill>
                <a:latin typeface="Noto Sans SC" panose="020B0200000000000000" charset="-122"/>
                <a:ea typeface="Noto Sans SC" panose="020B0200000000000000" charset="-122"/>
                <a:cs typeface="Noto Sans SC" panose="020B0200000000000000" charset="-122"/>
                <a:sym typeface="+mn-ea"/>
              </a:rPr>
              <a:t>政策</a:t>
            </a:r>
            <a:r>
              <a:rPr lang="zh-CN" altLang="en-US" sz="2200" b="1">
                <a:solidFill>
                  <a:srgbClr val="029694"/>
                </a:solidFill>
                <a:latin typeface="Noto Sans SC" panose="020B0200000000000000" charset="-122"/>
                <a:ea typeface="Noto Sans SC" panose="020B0200000000000000" charset="-122"/>
                <a:cs typeface="Noto Sans SC" panose="020B0200000000000000" charset="-122"/>
                <a:sym typeface="+mn-ea"/>
              </a:rPr>
              <a:t>对象与传导链条</a:t>
            </a:r>
            <a:endParaRPr lang="en-US" sz="2200" b="1">
              <a:solidFill>
                <a:srgbClr val="029694"/>
              </a:solidFill>
              <a:latin typeface="Noto Sans SC" panose="020B0200000000000000" charset="-122"/>
              <a:ea typeface="Noto Sans SC" panose="020B0200000000000000" charset="-122"/>
              <a:cs typeface="Noto Sans SC" panose="020B0200000000000000" charset="-122"/>
              <a:sym typeface="+mn-ea"/>
            </a:endParaRPr>
          </a:p>
          <a:p>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p:txBody>
      </p:sp>
      <p:sp>
        <p:nvSpPr>
          <p:cNvPr id="43" name="Rounded Rectangle 50"/>
          <p:cNvSpPr/>
          <p:nvPr/>
        </p:nvSpPr>
        <p:spPr>
          <a:xfrm>
            <a:off x="9504000" y="1774800"/>
            <a:ext cx="2088000" cy="2620800"/>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51"/>
          <p:cNvSpPr/>
          <p:nvPr/>
        </p:nvSpPr>
        <p:spPr>
          <a:xfrm>
            <a:off x="9504000" y="1774800"/>
            <a:ext cx="64800" cy="2620800"/>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52"/>
          <p:cNvSpPr txBox="1"/>
          <p:nvPr/>
        </p:nvSpPr>
        <p:spPr>
          <a:xfrm>
            <a:off x="10000800" y="1929600"/>
            <a:ext cx="1530000" cy="324000"/>
          </a:xfrm>
          <a:prstGeom prst="rect">
            <a:avLst/>
          </a:prstGeom>
          <a:noFill/>
        </p:spPr>
        <p:txBody>
          <a:bodyPr wrap="none" lIns="0" tIns="0" bIns="36576" anchor="ctr">
            <a:noAutofit/>
          </a:bodyPr>
          <a:lstStyle/>
          <a:p>
            <a:pPr algn="l">
              <a:spcAft>
                <a:spcPts val="400"/>
              </a:spcAft>
            </a:pPr>
            <a:r>
              <a:rPr sz="1400" b="1">
                <a:solidFill>
                  <a:srgbClr val="2E7D6B"/>
                </a:solidFill>
                <a:latin typeface="Noto Sans SC" panose="020B0200000000000000" charset="-122"/>
                <a:ea typeface="Noto Sans SC" panose="020B0200000000000000" charset="-122"/>
              </a:rPr>
              <a:t>新型储能</a:t>
            </a:r>
            <a:endParaRPr sz="1400" b="1">
              <a:solidFill>
                <a:srgbClr val="2E7D6B"/>
              </a:solidFill>
              <a:latin typeface="Noto Sans SC" panose="020B0200000000000000" charset="-122"/>
              <a:ea typeface="Noto Sans SC" panose="020B0200000000000000" charset="-122"/>
            </a:endParaRPr>
          </a:p>
        </p:txBody>
      </p:sp>
      <p:sp>
        <p:nvSpPr>
          <p:cNvPr id="46" name="TextBox 53"/>
          <p:cNvSpPr txBox="1"/>
          <p:nvPr/>
        </p:nvSpPr>
        <p:spPr>
          <a:xfrm>
            <a:off x="9666000" y="2412000"/>
            <a:ext cx="1782000" cy="1944000"/>
          </a:xfrm>
          <a:prstGeom prst="rect">
            <a:avLst/>
          </a:prstGeom>
          <a:noFill/>
        </p:spPr>
        <p:txBody>
          <a:bodyPr wrap="square" lIns="18000" tIns="7200" rIns="7200" bIns="7200" anchor="t">
            <a:noAutofit/>
          </a:bodyPr>
          <a:lstStyle/>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政策定位</a:t>
            </a:r>
            <a:r>
              <a:rPr sz="1100" b="0">
                <a:solidFill>
                  <a:srgbClr val="4B5563"/>
                </a:solidFill>
                <a:latin typeface="Noto Sans SC" panose="020B0200000000000000" charset="-122"/>
                <a:ea typeface="Noto Sans SC" panose="020B0200000000000000" charset="-122"/>
              </a:rPr>
              <a:t>：电网侧独立储能，容量电价＋现货＋辅助服务</a:t>
            </a:r>
            <a:endParaRPr sz="1100" b="0">
              <a:solidFill>
                <a:srgbClr val="4B5563"/>
              </a:solidFill>
              <a:latin typeface="Noto Sans SC" panose="020B0200000000000000" charset="-122"/>
              <a:ea typeface="Noto Sans SC" panose="020B0200000000000000" charset="-122"/>
            </a:endParaRPr>
          </a:p>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关键规模</a:t>
            </a:r>
            <a:r>
              <a:rPr sz="1100" b="0">
                <a:solidFill>
                  <a:srgbClr val="4B5563"/>
                </a:solidFill>
                <a:latin typeface="Noto Sans SC" panose="020B0200000000000000" charset="-122"/>
                <a:ea typeface="Noto Sans SC" panose="020B0200000000000000" charset="-122"/>
              </a:rPr>
              <a:t>：2026年8月末</a:t>
            </a:r>
            <a:r>
              <a:rPr sz="1100" b="1">
                <a:solidFill>
                  <a:srgbClr val="1F5A4D"/>
                </a:solidFill>
                <a:latin typeface="Noto Sans SC" panose="020B0200000000000000" charset="-122"/>
                <a:ea typeface="Noto Sans SC" panose="020B0200000000000000" charset="-122"/>
              </a:rPr>
              <a:t>888.6万千瓦、125座</a:t>
            </a:r>
            <a:endParaRPr sz="1100" b="1">
              <a:solidFill>
                <a:srgbClr val="1F5A4D"/>
              </a:solidFill>
              <a:latin typeface="Noto Sans SC" panose="020B0200000000000000" charset="-122"/>
              <a:ea typeface="Noto Sans SC" panose="020B0200000000000000" charset="-122"/>
            </a:endParaRPr>
          </a:p>
          <a:p>
            <a:pPr algn="l">
              <a:lnSpc>
                <a:spcPct val="103000"/>
              </a:lnSpc>
              <a:spcAft>
                <a:spcPts val="600"/>
              </a:spcAft>
            </a:pPr>
            <a:r>
              <a:rPr sz="1100" b="0">
                <a:solidFill>
                  <a:srgbClr val="2E7D6B"/>
                </a:solidFill>
                <a:latin typeface="Noto Sans SC" panose="020B0200000000000000" charset="-122"/>
                <a:ea typeface="Noto Sans SC" panose="020B0200000000000000" charset="-122"/>
              </a:rPr>
              <a:t>▪ </a:t>
            </a:r>
            <a:r>
              <a:rPr sz="1100" b="1">
                <a:solidFill>
                  <a:srgbClr val="1F5A4D"/>
                </a:solidFill>
                <a:latin typeface="Noto Sans SC" panose="020B0200000000000000" charset="-122"/>
                <a:ea typeface="Noto Sans SC" panose="020B0200000000000000" charset="-122"/>
              </a:rPr>
              <a:t>政策要求</a:t>
            </a:r>
            <a:r>
              <a:rPr sz="1100" b="0">
                <a:solidFill>
                  <a:srgbClr val="4B5563"/>
                </a:solidFill>
                <a:latin typeface="Noto Sans SC" panose="020B0200000000000000" charset="-122"/>
                <a:ea typeface="Noto Sans SC" panose="020B0200000000000000" charset="-122"/>
              </a:rPr>
              <a:t>：清单制管理，容量与调用分别计价</a:t>
            </a:r>
            <a:endParaRPr sz="1100" b="0">
              <a:solidFill>
                <a:srgbClr val="4B5563"/>
              </a:solidFill>
              <a:latin typeface="Noto Sans SC" panose="020B0200000000000000" charset="-122"/>
              <a:ea typeface="Noto Sans SC" panose="020B0200000000000000" charset="-122"/>
            </a:endParaRPr>
          </a:p>
        </p:txBody>
      </p:sp>
      <p:pic>
        <p:nvPicPr>
          <p:cNvPr id="47" name="Picture 46" descr="4fb842edc0.png"/>
          <p:cNvPicPr>
            <a:picLocks noChangeAspect="1"/>
          </p:cNvPicPr>
          <p:nvPr/>
        </p:nvPicPr>
        <p:blipFill>
          <a:blip r:embed="rId6"/>
          <a:stretch>
            <a:fillRect/>
          </a:stretch>
        </p:blipFill>
        <p:spPr>
          <a:xfrm>
            <a:off x="9655200" y="1936800"/>
            <a:ext cx="306000" cy="306000"/>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pic>
        <p:nvPicPr>
          <p:cNvPr id="45" name="Picture 41" descr="p11_timeline.png"/>
          <p:cNvPicPr>
            <a:picLocks noChangeAspect="1"/>
          </p:cNvPicPr>
          <p:nvPr/>
        </p:nvPicPr>
        <p:blipFill>
          <a:blip r:embed="rId1"/>
          <a:srcRect l="12906" r="11264"/>
          <a:stretch>
            <a:fillRect/>
          </a:stretch>
        </p:blipFill>
        <p:spPr>
          <a:xfrm>
            <a:off x="613410" y="1524635"/>
            <a:ext cx="10862310" cy="2212340"/>
          </a:xfrm>
          <a:prstGeom prst="rect">
            <a:avLst/>
          </a:prstGeom>
        </p:spPr>
      </p:pic>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lang="zh-CN" sz="2100" b="0">
                <a:solidFill>
                  <a:srgbClr val="1F5A4D"/>
                </a:solidFill>
                <a:latin typeface="微软雅黑" panose="020B0503020204020204" pitchFamily="34" charset="-122"/>
                <a:ea typeface="微软雅黑" panose="020B0503020204020204" pitchFamily="34" charset="-122"/>
              </a:rPr>
              <a:t>梳理结果：关键政策节点38个（国家22、江苏16），五类要素全覆盖</a:t>
            </a:r>
            <a:endParaRPr lang="zh-CN" altLang="en-US" sz="2100" b="0">
              <a:solidFill>
                <a:srgbClr val="1F5A4D"/>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822960" y="170815"/>
            <a:ext cx="10938510" cy="521970"/>
          </a:xfrm>
          <a:prstGeom prst="rect">
            <a:avLst/>
          </a:prstGeom>
          <a:noFill/>
        </p:spPr>
        <p:txBody>
          <a:bodyPr wrap="square" rtlCol="0">
            <a:spAutoFit/>
          </a:bodyPr>
          <a:lstStyle/>
          <a:p>
            <a:r>
              <a:rPr lang="zh-CN" sz="2800" b="1">
                <a:solidFill>
                  <a:srgbClr val="1F5A4D"/>
                </a:solidFill>
                <a:latin typeface="微软雅黑" panose="020B0503020204020204" pitchFamily="34" charset="-122"/>
                <a:ea typeface="微软雅黑" panose="020B0503020204020204" pitchFamily="34" charset="-122"/>
                <a:sym typeface="+mn-ea"/>
              </a:rPr>
              <a:t>3 政策体系梳理与全链条解析 </a:t>
            </a:r>
            <a:r>
              <a:rPr lang="en-US" sz="2800" b="1">
                <a:solidFill>
                  <a:srgbClr val="2B3338"/>
                </a:solidFill>
                <a:latin typeface="微软雅黑" panose="020B0503020204020204" pitchFamily="34" charset="-122"/>
                <a:ea typeface="微软雅黑" panose="020B0503020204020204" pitchFamily="34" charset="-122"/>
                <a:sym typeface="+mn-ea"/>
              </a:rPr>
              <a:t>   </a:t>
            </a:r>
            <a:r>
              <a:rPr lang="en-US" sz="2400" b="1">
                <a:solidFill>
                  <a:srgbClr val="2B3338"/>
                </a:solidFill>
                <a:latin typeface="微软雅黑" panose="020B0503020204020204" pitchFamily="34" charset="-122"/>
                <a:ea typeface="微软雅黑" panose="020B0503020204020204" pitchFamily="34" charset="-122"/>
                <a:sym typeface="+mn-ea"/>
              </a:rPr>
              <a:t>  </a:t>
            </a:r>
            <a:r>
              <a:rPr lang="en-US" sz="2200" b="1">
                <a:solidFill>
                  <a:srgbClr val="029694"/>
                </a:solidFill>
                <a:latin typeface="Noto Sans SC" panose="020B0200000000000000" charset="-122"/>
                <a:ea typeface="Noto Sans SC" panose="020B0200000000000000" charset="-122"/>
                <a:cs typeface="Noto Sans SC" panose="020B0200000000000000" charset="-122"/>
                <a:sym typeface="+mn-ea"/>
              </a:rPr>
              <a:t>政策演进脉络（2021—2026年）</a:t>
            </a:r>
            <a:endParaRPr lang="zh-CN" altLang="en-US" sz="2200" b="1">
              <a:solidFill>
                <a:srgbClr val="029694"/>
              </a:solidFill>
              <a:latin typeface="Noto Sans SC" panose="020B0200000000000000" charset="-122"/>
              <a:ea typeface="Noto Sans SC" panose="020B0200000000000000" charset="-122"/>
              <a:cs typeface="Noto Sans SC" panose="020B0200000000000000" charset="-122"/>
              <a:sym typeface="+mn-ea"/>
            </a:endParaRPr>
          </a:p>
        </p:txBody>
      </p:sp>
      <p:sp>
        <p:nvSpPr>
          <p:cNvPr id="2" name="Rounded Rectangle 5"/>
          <p:cNvSpPr/>
          <p:nvPr/>
        </p:nvSpPr>
        <p:spPr>
          <a:xfrm>
            <a:off x="612648" y="3584448"/>
            <a:ext cx="141732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400" b="1">
                <a:solidFill>
                  <a:srgbClr val="FFFFFF"/>
                </a:solidFill>
                <a:latin typeface="Noto Sans SC" panose="020B0200000000000000" charset="-122"/>
                <a:ea typeface="Noto Sans SC" panose="020B0200000000000000" charset="-122"/>
              </a:rPr>
              <a:t>阶段</a:t>
            </a:r>
            <a:endParaRPr sz="1400" b="1">
              <a:solidFill>
                <a:srgbClr val="FFFFFF"/>
              </a:solidFill>
              <a:latin typeface="Noto Sans SC" panose="020B0200000000000000" charset="-122"/>
              <a:ea typeface="Noto Sans SC" panose="020B0200000000000000" charset="-122"/>
            </a:endParaRPr>
          </a:p>
        </p:txBody>
      </p:sp>
      <p:sp>
        <p:nvSpPr>
          <p:cNvPr id="4" name="Rounded Rectangle 6"/>
          <p:cNvSpPr/>
          <p:nvPr/>
        </p:nvSpPr>
        <p:spPr>
          <a:xfrm>
            <a:off x="2029968" y="3584448"/>
            <a:ext cx="233172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400" b="1">
                <a:solidFill>
                  <a:srgbClr val="FFFFFF"/>
                </a:solidFill>
                <a:latin typeface="Noto Sans SC" panose="020B0200000000000000" charset="-122"/>
                <a:ea typeface="Noto Sans SC" panose="020B0200000000000000" charset="-122"/>
              </a:rPr>
              <a:t>政策重点</a:t>
            </a:r>
            <a:endParaRPr sz="1400" b="1">
              <a:solidFill>
                <a:srgbClr val="FFFFFF"/>
              </a:solidFill>
              <a:latin typeface="Noto Sans SC" panose="020B0200000000000000" charset="-122"/>
              <a:ea typeface="Noto Sans SC" panose="020B0200000000000000" charset="-122"/>
            </a:endParaRPr>
          </a:p>
        </p:txBody>
      </p:sp>
      <p:sp>
        <p:nvSpPr>
          <p:cNvPr id="8" name="Rounded Rectangle 8"/>
          <p:cNvSpPr/>
          <p:nvPr/>
        </p:nvSpPr>
        <p:spPr>
          <a:xfrm>
            <a:off x="9308592" y="3584448"/>
            <a:ext cx="228600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400" b="1">
                <a:solidFill>
                  <a:srgbClr val="FFFFFF"/>
                </a:solidFill>
                <a:latin typeface="Noto Sans SC" panose="020B0200000000000000" charset="-122"/>
                <a:ea typeface="Noto Sans SC" panose="020B0200000000000000" charset="-122"/>
              </a:rPr>
              <a:t>观察变量</a:t>
            </a:r>
            <a:endParaRPr sz="1400" b="1">
              <a:solidFill>
                <a:srgbClr val="FFFFFF"/>
              </a:solidFill>
              <a:latin typeface="Noto Sans SC" panose="020B0200000000000000" charset="-122"/>
              <a:ea typeface="Noto Sans SC" panose="020B0200000000000000" charset="-122"/>
            </a:endParaRPr>
          </a:p>
        </p:txBody>
      </p:sp>
      <p:sp>
        <p:nvSpPr>
          <p:cNvPr id="26" name="Rounded Rectangle 9"/>
          <p:cNvSpPr/>
          <p:nvPr/>
        </p:nvSpPr>
        <p:spPr>
          <a:xfrm>
            <a:off x="612648" y="3968496"/>
            <a:ext cx="1417320" cy="621792"/>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0">
                <a:solidFill>
                  <a:srgbClr val="2B3338"/>
                </a:solidFill>
                <a:latin typeface="Noto Sans SC" panose="020B0200000000000000" charset="-122"/>
                <a:ea typeface="Noto Sans SC" panose="020B0200000000000000" charset="-122"/>
              </a:rPr>
              <a:t>2021年</a:t>
            </a:r>
            <a:endParaRPr sz="1300" b="0">
              <a:solidFill>
                <a:srgbClr val="2B3338"/>
              </a:solidFill>
              <a:latin typeface="Noto Sans SC" panose="020B0200000000000000" charset="-122"/>
              <a:ea typeface="Noto Sans SC" panose="020B0200000000000000" charset="-122"/>
            </a:endParaRPr>
          </a:p>
        </p:txBody>
      </p:sp>
      <p:sp>
        <p:nvSpPr>
          <p:cNvPr id="28" name="Rounded Rectangle 10"/>
          <p:cNvSpPr/>
          <p:nvPr/>
        </p:nvSpPr>
        <p:spPr>
          <a:xfrm>
            <a:off x="2029968" y="3968496"/>
            <a:ext cx="2331720" cy="621792"/>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资源组织方式与价格信号</a:t>
            </a:r>
            <a:endParaRPr sz="1300" b="1">
              <a:solidFill>
                <a:srgbClr val="1F5A4D"/>
              </a:solidFill>
              <a:latin typeface="Noto Sans SC" panose="020B0200000000000000" charset="-122"/>
              <a:ea typeface="Noto Sans SC" panose="020B0200000000000000" charset="-122"/>
            </a:endParaRPr>
          </a:p>
        </p:txBody>
      </p:sp>
      <p:sp>
        <p:nvSpPr>
          <p:cNvPr id="29" name="Rounded Rectangle 11"/>
          <p:cNvSpPr/>
          <p:nvPr/>
        </p:nvSpPr>
        <p:spPr>
          <a:xfrm>
            <a:off x="4361688" y="3968496"/>
            <a:ext cx="4946904" cy="621792"/>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整县屋顶试点（国能综通新能〔2021〕84号）；电价市场化（发改价格〔2021〕1439号）</a:t>
            </a:r>
            <a:endParaRPr sz="1300" b="1">
              <a:solidFill>
                <a:srgbClr val="1F5A4D"/>
              </a:solidFill>
              <a:latin typeface="Noto Sans SC" panose="020B0200000000000000" charset="-122"/>
              <a:ea typeface="Noto Sans SC" panose="020B0200000000000000" charset="-122"/>
            </a:endParaRPr>
          </a:p>
        </p:txBody>
      </p:sp>
      <p:sp>
        <p:nvSpPr>
          <p:cNvPr id="30" name="Rounded Rectangle 12"/>
          <p:cNvSpPr/>
          <p:nvPr/>
        </p:nvSpPr>
        <p:spPr>
          <a:xfrm>
            <a:off x="9308592" y="3968496"/>
            <a:ext cx="2286000" cy="621792"/>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装机规模、上网模式</a:t>
            </a:r>
            <a:endParaRPr sz="1300" b="1">
              <a:solidFill>
                <a:srgbClr val="1F5A4D"/>
              </a:solidFill>
              <a:latin typeface="Noto Sans SC" panose="020B0200000000000000" charset="-122"/>
              <a:ea typeface="Noto Sans SC" panose="020B0200000000000000" charset="-122"/>
            </a:endParaRPr>
          </a:p>
        </p:txBody>
      </p:sp>
      <p:sp>
        <p:nvSpPr>
          <p:cNvPr id="31" name="Rounded Rectangle 13"/>
          <p:cNvSpPr/>
          <p:nvPr/>
        </p:nvSpPr>
        <p:spPr>
          <a:xfrm>
            <a:off x="612648" y="4590288"/>
            <a:ext cx="1417320" cy="621792"/>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0">
                <a:solidFill>
                  <a:srgbClr val="2B3338"/>
                </a:solidFill>
                <a:latin typeface="Noto Sans SC" panose="020B0200000000000000" charset="-122"/>
                <a:ea typeface="Noto Sans SC" panose="020B0200000000000000" charset="-122"/>
              </a:rPr>
              <a:t>2022年</a:t>
            </a:r>
            <a:endParaRPr sz="1300" b="0">
              <a:solidFill>
                <a:srgbClr val="2B3338"/>
              </a:solidFill>
              <a:latin typeface="Noto Sans SC" panose="020B0200000000000000" charset="-122"/>
              <a:ea typeface="Noto Sans SC" panose="020B0200000000000000" charset="-122"/>
            </a:endParaRPr>
          </a:p>
        </p:txBody>
      </p:sp>
      <p:sp>
        <p:nvSpPr>
          <p:cNvPr id="32" name="Rounded Rectangle 14"/>
          <p:cNvSpPr/>
          <p:nvPr/>
        </p:nvSpPr>
        <p:spPr>
          <a:xfrm>
            <a:off x="2029968" y="4590288"/>
            <a:ext cx="2331720" cy="621792"/>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五类要素共同政策</a:t>
            </a:r>
            <a:r>
              <a:rPr lang="zh-CN" sz="1300" b="1">
                <a:solidFill>
                  <a:srgbClr val="1F5A4D"/>
                </a:solidFill>
                <a:latin typeface="Noto Sans SC" panose="020B0200000000000000" charset="-122"/>
                <a:ea typeface="Noto Sans SC" panose="020B0200000000000000" charset="-122"/>
              </a:rPr>
              <a:t>依据</a:t>
            </a:r>
            <a:endParaRPr lang="zh-CN" sz="1300" b="1">
              <a:solidFill>
                <a:srgbClr val="1F5A4D"/>
              </a:solidFill>
              <a:latin typeface="Noto Sans SC" panose="020B0200000000000000" charset="-122"/>
              <a:ea typeface="Noto Sans SC" panose="020B0200000000000000" charset="-122"/>
            </a:endParaRPr>
          </a:p>
        </p:txBody>
      </p:sp>
      <p:sp>
        <p:nvSpPr>
          <p:cNvPr id="33" name="Rounded Rectangle 15"/>
          <p:cNvSpPr/>
          <p:nvPr/>
        </p:nvSpPr>
        <p:spPr>
          <a:xfrm>
            <a:off x="4361688" y="4590288"/>
            <a:ext cx="4946904" cy="621792"/>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发改能源〔2022〕206号</a:t>
            </a:r>
            <a:endParaRPr sz="1300" b="1">
              <a:solidFill>
                <a:srgbClr val="1F5A4D"/>
              </a:solidFill>
              <a:latin typeface="Noto Sans SC" panose="020B0200000000000000" charset="-122"/>
              <a:ea typeface="Noto Sans SC" panose="020B0200000000000000" charset="-122"/>
            </a:endParaRPr>
          </a:p>
        </p:txBody>
      </p:sp>
      <p:sp>
        <p:nvSpPr>
          <p:cNvPr id="34" name="Rounded Rectangle 16"/>
          <p:cNvSpPr/>
          <p:nvPr/>
        </p:nvSpPr>
        <p:spPr>
          <a:xfrm>
            <a:off x="9308592" y="4590288"/>
            <a:ext cx="2286000" cy="621792"/>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项目类型、市场身份</a:t>
            </a:r>
            <a:endParaRPr sz="1300" b="1">
              <a:solidFill>
                <a:srgbClr val="1F5A4D"/>
              </a:solidFill>
              <a:latin typeface="Noto Sans SC" panose="020B0200000000000000" charset="-122"/>
              <a:ea typeface="Noto Sans SC" panose="020B0200000000000000" charset="-122"/>
            </a:endParaRPr>
          </a:p>
        </p:txBody>
      </p:sp>
      <p:sp>
        <p:nvSpPr>
          <p:cNvPr id="35" name="Rounded Rectangle 17"/>
          <p:cNvSpPr/>
          <p:nvPr/>
        </p:nvSpPr>
        <p:spPr>
          <a:xfrm>
            <a:off x="612648" y="5212079"/>
            <a:ext cx="1417320" cy="621792"/>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0">
                <a:solidFill>
                  <a:srgbClr val="2B3338"/>
                </a:solidFill>
                <a:latin typeface="Noto Sans SC" panose="020B0200000000000000" charset="-122"/>
                <a:ea typeface="Noto Sans SC" panose="020B0200000000000000" charset="-122"/>
              </a:rPr>
              <a:t>2023—2024年</a:t>
            </a:r>
            <a:endParaRPr sz="1300" b="0">
              <a:solidFill>
                <a:srgbClr val="2B3338"/>
              </a:solidFill>
              <a:latin typeface="Noto Sans SC" panose="020B0200000000000000" charset="-122"/>
              <a:ea typeface="Noto Sans SC" panose="020B0200000000000000" charset="-122"/>
            </a:endParaRPr>
          </a:p>
        </p:txBody>
      </p:sp>
      <p:sp>
        <p:nvSpPr>
          <p:cNvPr id="36" name="Rounded Rectangle 18"/>
          <p:cNvSpPr/>
          <p:nvPr/>
        </p:nvSpPr>
        <p:spPr>
          <a:xfrm>
            <a:off x="2029968" y="5212079"/>
            <a:ext cx="2331720" cy="621792"/>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绿色价值确权、接网承载约束</a:t>
            </a:r>
            <a:endParaRPr sz="1300" b="1">
              <a:solidFill>
                <a:srgbClr val="1F5A4D"/>
              </a:solidFill>
              <a:latin typeface="Noto Sans SC" panose="020B0200000000000000" charset="-122"/>
              <a:ea typeface="Noto Sans SC" panose="020B0200000000000000" charset="-122"/>
            </a:endParaRPr>
          </a:p>
        </p:txBody>
      </p:sp>
      <p:sp>
        <p:nvSpPr>
          <p:cNvPr id="37" name="Rounded Rectangle 19"/>
          <p:cNvSpPr/>
          <p:nvPr/>
        </p:nvSpPr>
        <p:spPr>
          <a:xfrm>
            <a:off x="4361688" y="5212079"/>
            <a:ext cx="4946904" cy="621792"/>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绿证核发全覆盖（发改能源〔2023〕1044号）；配网承载（发改能源〔2024〕187号）</a:t>
            </a:r>
            <a:endParaRPr sz="1300" b="1">
              <a:solidFill>
                <a:srgbClr val="1F5A4D"/>
              </a:solidFill>
              <a:latin typeface="Noto Sans SC" panose="020B0200000000000000" charset="-122"/>
              <a:ea typeface="Noto Sans SC" panose="020B0200000000000000" charset="-122"/>
            </a:endParaRPr>
          </a:p>
        </p:txBody>
      </p:sp>
      <p:sp>
        <p:nvSpPr>
          <p:cNvPr id="38" name="Rounded Rectangle 20"/>
          <p:cNvSpPr/>
          <p:nvPr/>
        </p:nvSpPr>
        <p:spPr>
          <a:xfrm>
            <a:off x="9308592" y="5212079"/>
            <a:ext cx="2286000" cy="621792"/>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绿证价格、可开放容量</a:t>
            </a:r>
            <a:endParaRPr sz="1300" b="1">
              <a:solidFill>
                <a:srgbClr val="1F5A4D"/>
              </a:solidFill>
              <a:latin typeface="Noto Sans SC" panose="020B0200000000000000" charset="-122"/>
              <a:ea typeface="Noto Sans SC" panose="020B0200000000000000" charset="-122"/>
            </a:endParaRPr>
          </a:p>
        </p:txBody>
      </p:sp>
      <p:sp>
        <p:nvSpPr>
          <p:cNvPr id="39" name="Rounded Rectangle 21"/>
          <p:cNvSpPr/>
          <p:nvPr/>
        </p:nvSpPr>
        <p:spPr>
          <a:xfrm>
            <a:off x="612648" y="5833871"/>
            <a:ext cx="1417320" cy="621792"/>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0">
                <a:solidFill>
                  <a:srgbClr val="2B3338"/>
                </a:solidFill>
                <a:latin typeface="Noto Sans SC" panose="020B0200000000000000" charset="-122"/>
                <a:ea typeface="Noto Sans SC" panose="020B0200000000000000" charset="-122"/>
              </a:rPr>
              <a:t>2025—2026年</a:t>
            </a:r>
            <a:endParaRPr sz="1300" b="0">
              <a:solidFill>
                <a:srgbClr val="2B3338"/>
              </a:solidFill>
              <a:latin typeface="Noto Sans SC" panose="020B0200000000000000" charset="-122"/>
              <a:ea typeface="Noto Sans SC" panose="020B0200000000000000" charset="-122"/>
            </a:endParaRPr>
          </a:p>
        </p:txBody>
      </p:sp>
      <p:sp>
        <p:nvSpPr>
          <p:cNvPr id="40" name="Rounded Rectangle 22"/>
          <p:cNvSpPr/>
          <p:nvPr/>
        </p:nvSpPr>
        <p:spPr>
          <a:xfrm>
            <a:off x="2029968" y="5833871"/>
            <a:ext cx="2331720" cy="621792"/>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全面入市、费用与容量责任</a:t>
            </a:r>
            <a:endParaRPr sz="1300" b="1">
              <a:solidFill>
                <a:srgbClr val="1F5A4D"/>
              </a:solidFill>
              <a:latin typeface="Noto Sans SC" panose="020B0200000000000000" charset="-122"/>
              <a:ea typeface="Noto Sans SC" panose="020B0200000000000000" charset="-122"/>
            </a:endParaRPr>
          </a:p>
        </p:txBody>
      </p:sp>
      <p:sp>
        <p:nvSpPr>
          <p:cNvPr id="42" name="Rounded Rectangle 23"/>
          <p:cNvSpPr/>
          <p:nvPr/>
        </p:nvSpPr>
        <p:spPr>
          <a:xfrm>
            <a:off x="4361688" y="5833871"/>
            <a:ext cx="4946904" cy="621792"/>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新能源全面入市（发改价格〔2025〕136号）；容量电价（发改价格〔2026〕114号）</a:t>
            </a:r>
            <a:endParaRPr sz="1300" b="1">
              <a:solidFill>
                <a:srgbClr val="1F5A4D"/>
              </a:solidFill>
              <a:latin typeface="Noto Sans SC" panose="020B0200000000000000" charset="-122"/>
              <a:ea typeface="Noto Sans SC" panose="020B0200000000000000" charset="-122"/>
            </a:endParaRPr>
          </a:p>
        </p:txBody>
      </p:sp>
      <p:sp>
        <p:nvSpPr>
          <p:cNvPr id="43" name="Rounded Rectangle 24"/>
          <p:cNvSpPr/>
          <p:nvPr/>
        </p:nvSpPr>
        <p:spPr>
          <a:xfrm>
            <a:off x="9308592" y="5833871"/>
            <a:ext cx="2286000" cy="621792"/>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机制电价、系统运行费用</a:t>
            </a:r>
            <a:endParaRPr sz="1300" b="1">
              <a:solidFill>
                <a:srgbClr val="1F5A4D"/>
              </a:solidFill>
              <a:latin typeface="Noto Sans SC" panose="020B0200000000000000" charset="-122"/>
              <a:ea typeface="Noto Sans SC" panose="020B0200000000000000" charset="-122"/>
            </a:endParaRPr>
          </a:p>
        </p:txBody>
      </p:sp>
      <p:sp>
        <p:nvSpPr>
          <p:cNvPr id="44" name="Rounded Rectangle 7"/>
          <p:cNvSpPr/>
          <p:nvPr/>
        </p:nvSpPr>
        <p:spPr>
          <a:xfrm>
            <a:off x="4361688" y="3584448"/>
            <a:ext cx="4946904"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400" b="1">
                <a:solidFill>
                  <a:srgbClr val="FFFFFF"/>
                </a:solidFill>
                <a:latin typeface="Noto Sans SC" panose="020B0200000000000000" charset="-122"/>
                <a:ea typeface="Noto Sans SC" panose="020B0200000000000000" charset="-122"/>
              </a:rPr>
              <a:t>关键政策节点</a:t>
            </a:r>
            <a:endParaRPr sz="1400" b="1">
              <a:solidFill>
                <a:srgbClr val="FFFFFF"/>
              </a:solidFill>
              <a:latin typeface="Noto Sans SC" panose="020B0200000000000000" charset="-122"/>
              <a:ea typeface="Noto Sans SC" panose="020B0200000000000000"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sz="2100" b="0">
                <a:solidFill>
                  <a:srgbClr val="1F5A4D"/>
                </a:solidFill>
                <a:latin typeface="微软雅黑" panose="020B0503020204020204" pitchFamily="34" charset="-122"/>
                <a:ea typeface="微软雅黑" panose="020B0503020204020204" pitchFamily="34" charset="-122"/>
              </a:rPr>
              <a:t>三个视角：三条主线、两次身份转变、三种国家—江苏关系</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Rounded Rectangle 3"/>
          <p:cNvSpPr/>
          <p:nvPr/>
        </p:nvSpPr>
        <p:spPr>
          <a:xfrm>
            <a:off x="612648" y="1627632"/>
            <a:ext cx="3526536" cy="4828031"/>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2648" y="1627632"/>
            <a:ext cx="77724" cy="4828031"/>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_teal.png"/>
          <p:cNvPicPr>
            <a:picLocks noChangeAspect="1"/>
          </p:cNvPicPr>
          <p:nvPr/>
        </p:nvPicPr>
        <p:blipFill>
          <a:blip r:embed="rId1"/>
          <a:stretch>
            <a:fillRect/>
          </a:stretch>
        </p:blipFill>
        <p:spPr>
          <a:xfrm>
            <a:off x="832104" y="1792224"/>
            <a:ext cx="365760" cy="365760"/>
          </a:xfrm>
          <a:prstGeom prst="rect">
            <a:avLst/>
          </a:prstGeom>
        </p:spPr>
      </p:pic>
      <p:sp>
        <p:nvSpPr>
          <p:cNvPr id="7" name="TextBox 6"/>
          <p:cNvSpPr txBox="1"/>
          <p:nvPr/>
        </p:nvSpPr>
        <p:spPr>
          <a:xfrm>
            <a:off x="1289304" y="1773936"/>
            <a:ext cx="2740152" cy="402336"/>
          </a:xfrm>
          <a:prstGeom prst="rect">
            <a:avLst/>
          </a:prstGeom>
          <a:noFill/>
        </p:spPr>
        <p:txBody>
          <a:bodyPr wrap="square" lIns="0" tIns="0" bIns="36576" anchor="ctr">
            <a:spAutoFit/>
          </a:bodyPr>
          <a:lstStyle/>
          <a:p>
            <a:pPr algn="l">
              <a:spcAft>
                <a:spcPts val="400"/>
              </a:spcAft>
            </a:pPr>
            <a:r>
              <a:rPr sz="2000" b="1">
                <a:solidFill>
                  <a:srgbClr val="2E7D6B"/>
                </a:solidFill>
                <a:latin typeface="Noto Sans SC" panose="020B0200000000000000" charset="-122"/>
                <a:ea typeface="Noto Sans SC" panose="020B0200000000000000" charset="-122"/>
              </a:rPr>
              <a:t>三条政策主线（交替成为重点）</a:t>
            </a:r>
            <a:endParaRPr sz="2000" b="1">
              <a:solidFill>
                <a:srgbClr val="2E7D6B"/>
              </a:solidFill>
              <a:latin typeface="Noto Sans SC" panose="020B0200000000000000" charset="-122"/>
              <a:ea typeface="Noto Sans SC" panose="020B0200000000000000" charset="-122"/>
            </a:endParaRPr>
          </a:p>
        </p:txBody>
      </p:sp>
      <p:sp>
        <p:nvSpPr>
          <p:cNvPr id="8" name="TextBox 7"/>
          <p:cNvSpPr txBox="1"/>
          <p:nvPr/>
        </p:nvSpPr>
        <p:spPr>
          <a:xfrm>
            <a:off x="868045" y="2635885"/>
            <a:ext cx="3124200" cy="4059935"/>
          </a:xfrm>
          <a:prstGeom prst="rect">
            <a:avLst/>
          </a:prstGeom>
          <a:noFill/>
        </p:spPr>
        <p:txBody>
          <a:bodyPr wrap="square">
            <a:spAutoFit/>
          </a:bodyPr>
          <a:lstStyle/>
          <a:p>
            <a:pPr algn="l">
              <a:lnSpc>
                <a:spcPct val="105000"/>
              </a:lnSpc>
              <a:spcAft>
                <a:spcPts val="14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①</a:t>
            </a:r>
            <a:r>
              <a:rPr sz="1400" b="1">
                <a:solidFill>
                  <a:srgbClr val="1F5A4D"/>
                </a:solidFill>
                <a:latin typeface="Noto Sans SC" panose="020B0200000000000000" charset="-122"/>
                <a:ea typeface="Noto Sans SC" panose="020B0200000000000000" charset="-122"/>
              </a:rPr>
              <a:t>供给能力的组织方式</a:t>
            </a:r>
            <a:r>
              <a:rPr sz="1400" b="0">
                <a:solidFill>
                  <a:srgbClr val="4B5563"/>
                </a:solidFill>
                <a:latin typeface="Noto Sans SC" panose="020B0200000000000000" charset="-122"/>
                <a:ea typeface="Noto Sans SC" panose="020B0200000000000000" charset="-122"/>
              </a:rPr>
              <a:t>：整县开发 → 配网承载 → 分类管理</a:t>
            </a:r>
            <a:endParaRPr sz="1400" b="0">
              <a:solidFill>
                <a:srgbClr val="4B5563"/>
              </a:solidFill>
              <a:latin typeface="Noto Sans SC" panose="020B0200000000000000" charset="-122"/>
              <a:ea typeface="Noto Sans SC" panose="020B0200000000000000" charset="-122"/>
            </a:endParaRPr>
          </a:p>
          <a:p>
            <a:pPr algn="l">
              <a:lnSpc>
                <a:spcPct val="105000"/>
              </a:lnSpc>
              <a:spcAft>
                <a:spcPts val="14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②</a:t>
            </a:r>
            <a:r>
              <a:rPr sz="1400" b="1">
                <a:solidFill>
                  <a:srgbClr val="1F5A4D"/>
                </a:solidFill>
                <a:latin typeface="Noto Sans SC" panose="020B0200000000000000" charset="-122"/>
                <a:ea typeface="Noto Sans SC" panose="020B0200000000000000" charset="-122"/>
              </a:rPr>
              <a:t>价值的实现方式</a:t>
            </a:r>
            <a:r>
              <a:rPr sz="1400" b="0">
                <a:solidFill>
                  <a:srgbClr val="4B5563"/>
                </a:solidFill>
                <a:latin typeface="Noto Sans SC" panose="020B0200000000000000" charset="-122"/>
                <a:ea typeface="Noto Sans SC" panose="020B0200000000000000" charset="-122"/>
              </a:rPr>
              <a:t>：电价市场化 → 绿证确权 → 全面入市</a:t>
            </a:r>
            <a:endParaRPr sz="1400" b="0">
              <a:solidFill>
                <a:srgbClr val="4B5563"/>
              </a:solidFill>
              <a:latin typeface="Noto Sans SC" panose="020B0200000000000000" charset="-122"/>
              <a:ea typeface="Noto Sans SC" panose="020B0200000000000000" charset="-122"/>
            </a:endParaRPr>
          </a:p>
          <a:p>
            <a:pPr algn="l">
              <a:lnSpc>
                <a:spcPct val="105000"/>
              </a:lnSpc>
              <a:spcAft>
                <a:spcPts val="14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③</a:t>
            </a:r>
            <a:r>
              <a:rPr sz="1400" b="1">
                <a:solidFill>
                  <a:srgbClr val="1F5A4D"/>
                </a:solidFill>
                <a:latin typeface="Noto Sans SC" panose="020B0200000000000000" charset="-122"/>
                <a:ea typeface="Noto Sans SC" panose="020B0200000000000000" charset="-122"/>
              </a:rPr>
              <a:t>责任的划分方式</a:t>
            </a:r>
            <a:r>
              <a:rPr sz="1400" b="0">
                <a:solidFill>
                  <a:srgbClr val="4B5563"/>
                </a:solidFill>
                <a:latin typeface="Noto Sans SC" panose="020B0200000000000000" charset="-122"/>
                <a:ea typeface="Noto Sans SC" panose="020B0200000000000000" charset="-122"/>
              </a:rPr>
              <a:t>：费用边界 → 容量价值</a:t>
            </a:r>
            <a:endParaRPr sz="1400" b="0">
              <a:solidFill>
                <a:srgbClr val="4B5563"/>
              </a:solidFill>
              <a:latin typeface="Noto Sans SC" panose="020B0200000000000000" charset="-122"/>
              <a:ea typeface="Noto Sans SC" panose="020B0200000000000000" charset="-122"/>
            </a:endParaRPr>
          </a:p>
          <a:p>
            <a:pPr algn="l">
              <a:lnSpc>
                <a:spcPct val="105000"/>
              </a:lnSpc>
              <a:spcAft>
                <a:spcPts val="14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2021年以供给组织为主；</a:t>
            </a:r>
            <a:r>
              <a:rPr sz="1400" b="1">
                <a:solidFill>
                  <a:srgbClr val="1F5A4D"/>
                </a:solidFill>
                <a:latin typeface="Noto Sans SC" panose="020B0200000000000000" charset="-122"/>
                <a:ea typeface="Noto Sans SC" panose="020B0200000000000000" charset="-122"/>
              </a:rPr>
              <a:t>2025—2026年聚焦责任划分与价值兑现</a:t>
            </a:r>
            <a:endParaRPr sz="1400" b="1">
              <a:solidFill>
                <a:srgbClr val="1F5A4D"/>
              </a:solidFill>
              <a:latin typeface="Noto Sans SC" panose="020B0200000000000000" charset="-122"/>
              <a:ea typeface="Noto Sans SC" panose="020B0200000000000000" charset="-122"/>
            </a:endParaRPr>
          </a:p>
        </p:txBody>
      </p:sp>
      <p:sp>
        <p:nvSpPr>
          <p:cNvPr id="9" name="Rounded Rectangle 8"/>
          <p:cNvSpPr/>
          <p:nvPr/>
        </p:nvSpPr>
        <p:spPr>
          <a:xfrm>
            <a:off x="4340352" y="1627632"/>
            <a:ext cx="3526536" cy="4828031"/>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40352" y="1627632"/>
            <a:ext cx="77724" cy="4828031"/>
          </a:xfrm>
          <a:prstGeom prst="roundRect">
            <a:avLst>
              <a:gd name="adj"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ier.png"/>
          <p:cNvPicPr>
            <a:picLocks noChangeAspect="1"/>
          </p:cNvPicPr>
          <p:nvPr/>
        </p:nvPicPr>
        <p:blipFill>
          <a:blip r:embed="rId2"/>
          <a:stretch>
            <a:fillRect/>
          </a:stretch>
        </p:blipFill>
        <p:spPr>
          <a:xfrm>
            <a:off x="4559808" y="1792224"/>
            <a:ext cx="365760" cy="365760"/>
          </a:xfrm>
          <a:prstGeom prst="rect">
            <a:avLst/>
          </a:prstGeom>
        </p:spPr>
      </p:pic>
      <p:sp>
        <p:nvSpPr>
          <p:cNvPr id="12" name="TextBox 11"/>
          <p:cNvSpPr txBox="1"/>
          <p:nvPr/>
        </p:nvSpPr>
        <p:spPr>
          <a:xfrm>
            <a:off x="5017008" y="1773936"/>
            <a:ext cx="2740152" cy="402336"/>
          </a:xfrm>
          <a:prstGeom prst="rect">
            <a:avLst/>
          </a:prstGeom>
          <a:noFill/>
        </p:spPr>
        <p:txBody>
          <a:bodyPr wrap="square" lIns="0" tIns="0" bIns="36576" anchor="ctr">
            <a:spAutoFit/>
          </a:bodyPr>
          <a:lstStyle/>
          <a:p>
            <a:pPr algn="l">
              <a:spcAft>
                <a:spcPts val="400"/>
              </a:spcAft>
            </a:pPr>
            <a:r>
              <a:rPr sz="2000" b="1">
                <a:solidFill>
                  <a:srgbClr val="0070C0"/>
                </a:solidFill>
                <a:latin typeface="Noto Sans SC" panose="020B0200000000000000" charset="-122"/>
                <a:ea typeface="Noto Sans SC" panose="020B0200000000000000" charset="-122"/>
              </a:rPr>
              <a:t>两次身份转变</a:t>
            </a:r>
            <a:endParaRPr sz="2000" b="1">
              <a:solidFill>
                <a:srgbClr val="0070C0"/>
              </a:solidFill>
              <a:latin typeface="Noto Sans SC" panose="020B0200000000000000" charset="-122"/>
              <a:ea typeface="Noto Sans SC" panose="020B0200000000000000" charset="-122"/>
            </a:endParaRPr>
          </a:p>
        </p:txBody>
      </p:sp>
      <p:sp>
        <p:nvSpPr>
          <p:cNvPr id="13" name="TextBox 12"/>
          <p:cNvSpPr txBox="1"/>
          <p:nvPr/>
        </p:nvSpPr>
        <p:spPr>
          <a:xfrm>
            <a:off x="4596384" y="2505710"/>
            <a:ext cx="3124200" cy="4059935"/>
          </a:xfrm>
          <a:prstGeom prst="rect">
            <a:avLst/>
          </a:prstGeom>
          <a:noFill/>
        </p:spPr>
        <p:txBody>
          <a:bodyPr wrap="square">
            <a:spAutoFit/>
          </a:bodyPr>
          <a:lstStyle/>
          <a:p>
            <a:pPr algn="l">
              <a:lnSpc>
                <a:spcPct val="105000"/>
              </a:lnSpc>
              <a:spcAft>
                <a:spcPts val="1400"/>
              </a:spcAft>
            </a:pPr>
            <a:r>
              <a:rPr sz="1400">
                <a:solidFill>
                  <a:srgbClr val="2E7D6B"/>
                </a:solidFill>
                <a:latin typeface="Noto Sans SC" panose="020B0200000000000000" charset="-122"/>
                <a:ea typeface="Noto Sans SC" panose="020B0200000000000000" charset="-122"/>
              </a:rPr>
              <a:t>▪ </a:t>
            </a:r>
            <a:r>
              <a:rPr sz="1400" b="1">
                <a:solidFill>
                  <a:srgbClr val="1F5A4D"/>
                </a:solidFill>
                <a:latin typeface="Noto Sans SC" panose="020B0200000000000000" charset="-122"/>
                <a:ea typeface="Noto Sans SC" panose="020B0200000000000000" charset="-122"/>
              </a:rPr>
              <a:t>第一次（2022—2024年）</a:t>
            </a:r>
            <a:r>
              <a:rPr sz="1400" b="0">
                <a:solidFill>
                  <a:srgbClr val="4B5563"/>
                </a:solidFill>
                <a:latin typeface="Noto Sans SC" panose="020B0200000000000000" charset="-122"/>
                <a:ea typeface="Noto Sans SC" panose="020B0200000000000000" charset="-122"/>
              </a:rPr>
              <a:t>：由"需被鼓励的增量供给"转为"需在空间、时间、价值上被系统同时吸收的电源"</a:t>
            </a:r>
            <a:endParaRPr sz="1400" b="0">
              <a:solidFill>
                <a:srgbClr val="4B5563"/>
              </a:solidFill>
              <a:latin typeface="Noto Sans SC" panose="020B0200000000000000" charset="-122"/>
              <a:ea typeface="Noto Sans SC" panose="020B0200000000000000" charset="-122"/>
            </a:endParaRPr>
          </a:p>
          <a:p>
            <a:pPr algn="l">
              <a:lnSpc>
                <a:spcPct val="105000"/>
              </a:lnSpc>
              <a:spcAft>
                <a:spcPts val="1400"/>
              </a:spcAft>
            </a:pPr>
            <a:r>
              <a:rPr sz="1400">
                <a:solidFill>
                  <a:srgbClr val="2E7D6B"/>
                </a:solidFill>
                <a:latin typeface="Noto Sans SC" panose="020B0200000000000000" charset="-122"/>
                <a:ea typeface="Noto Sans SC" panose="020B0200000000000000" charset="-122"/>
              </a:rPr>
              <a:t>▪ </a:t>
            </a:r>
            <a:r>
              <a:rPr sz="1400" b="1">
                <a:solidFill>
                  <a:srgbClr val="1F5A4D"/>
                </a:solidFill>
                <a:latin typeface="Noto Sans SC" panose="020B0200000000000000" charset="-122"/>
                <a:ea typeface="Noto Sans SC" panose="020B0200000000000000" charset="-122"/>
              </a:rPr>
              <a:t>第二次（2025—2026年）</a:t>
            </a:r>
            <a:r>
              <a:rPr sz="1400" b="0">
                <a:solidFill>
                  <a:srgbClr val="4B5563"/>
                </a:solidFill>
                <a:latin typeface="Noto Sans SC" panose="020B0200000000000000" charset="-122"/>
                <a:ea typeface="Noto Sans SC" panose="020B0200000000000000" charset="-122"/>
              </a:rPr>
              <a:t>：由"被系统吸收的电源"转为"承担系统责任并提供绿色属性的市场主体"</a:t>
            </a:r>
            <a:endParaRPr sz="1400" b="0">
              <a:solidFill>
                <a:srgbClr val="4B5563"/>
              </a:solidFill>
              <a:latin typeface="Noto Sans SC" panose="020B0200000000000000" charset="-122"/>
              <a:ea typeface="Noto Sans SC" panose="020B0200000000000000" charset="-122"/>
            </a:endParaRPr>
          </a:p>
          <a:p>
            <a:pPr algn="l">
              <a:lnSpc>
                <a:spcPct val="105000"/>
              </a:lnSpc>
              <a:spcAft>
                <a:spcPts val="14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转变一：规模扩张动力由政策激励转向资源经济性</a:t>
            </a:r>
            <a:endParaRPr sz="1400" b="0">
              <a:solidFill>
                <a:srgbClr val="4B5563"/>
              </a:solidFill>
              <a:latin typeface="Noto Sans SC" panose="020B0200000000000000" charset="-122"/>
              <a:ea typeface="Noto Sans SC" panose="020B0200000000000000" charset="-122"/>
            </a:endParaRPr>
          </a:p>
          <a:p>
            <a:pPr algn="l">
              <a:lnSpc>
                <a:spcPct val="105000"/>
              </a:lnSpc>
              <a:spcAft>
                <a:spcPts val="14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转变二：系统价值由隐性转为可计量、可结算</a:t>
            </a:r>
            <a:endParaRPr sz="1400" b="0">
              <a:solidFill>
                <a:srgbClr val="4B5563"/>
              </a:solidFill>
              <a:latin typeface="Noto Sans SC" panose="020B0200000000000000" charset="-122"/>
              <a:ea typeface="Noto Sans SC" panose="020B0200000000000000" charset="-122"/>
            </a:endParaRPr>
          </a:p>
        </p:txBody>
      </p:sp>
      <p:sp>
        <p:nvSpPr>
          <p:cNvPr id="14" name="Rounded Rectangle 13"/>
          <p:cNvSpPr/>
          <p:nvPr/>
        </p:nvSpPr>
        <p:spPr>
          <a:xfrm>
            <a:off x="8068056" y="1627632"/>
            <a:ext cx="3526536" cy="4828031"/>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68056" y="1627632"/>
            <a:ext cx="77724" cy="4828031"/>
          </a:xfrm>
          <a:prstGeom prst="roundRect">
            <a:avLst>
              <a:gd name="adj" fmla="val 0"/>
            </a:avLst>
          </a:prstGeom>
          <a:solidFill>
            <a:srgbClr val="EF8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org.png"/>
          <p:cNvPicPr>
            <a:picLocks noChangeAspect="1"/>
          </p:cNvPicPr>
          <p:nvPr/>
        </p:nvPicPr>
        <p:blipFill>
          <a:blip r:embed="rId3"/>
          <a:stretch>
            <a:fillRect/>
          </a:stretch>
        </p:blipFill>
        <p:spPr>
          <a:xfrm>
            <a:off x="8287512" y="1792224"/>
            <a:ext cx="365760" cy="365760"/>
          </a:xfrm>
          <a:prstGeom prst="rect">
            <a:avLst/>
          </a:prstGeom>
        </p:spPr>
      </p:pic>
      <p:sp>
        <p:nvSpPr>
          <p:cNvPr id="17" name="TextBox 16"/>
          <p:cNvSpPr txBox="1"/>
          <p:nvPr/>
        </p:nvSpPr>
        <p:spPr>
          <a:xfrm>
            <a:off x="8744712" y="1773936"/>
            <a:ext cx="2740152" cy="402336"/>
          </a:xfrm>
          <a:prstGeom prst="rect">
            <a:avLst/>
          </a:prstGeom>
          <a:noFill/>
        </p:spPr>
        <p:txBody>
          <a:bodyPr wrap="square" lIns="0" tIns="0" bIns="36576" anchor="ctr">
            <a:spAutoFit/>
          </a:bodyPr>
          <a:lstStyle/>
          <a:p>
            <a:pPr algn="l">
              <a:spcAft>
                <a:spcPts val="400"/>
              </a:spcAft>
            </a:pPr>
            <a:r>
              <a:rPr sz="2000" b="1">
                <a:solidFill>
                  <a:srgbClr val="EF8403"/>
                </a:solidFill>
                <a:latin typeface="Noto Sans SC" panose="020B0200000000000000" charset="-122"/>
                <a:ea typeface="Noto Sans SC" panose="020B0200000000000000" charset="-122"/>
              </a:rPr>
              <a:t>国家—江苏：三种关系形态</a:t>
            </a:r>
            <a:endParaRPr sz="2000" b="1">
              <a:solidFill>
                <a:srgbClr val="EF8403"/>
              </a:solidFill>
              <a:latin typeface="Noto Sans SC" panose="020B0200000000000000" charset="-122"/>
              <a:ea typeface="Noto Sans SC" panose="020B0200000000000000" charset="-122"/>
            </a:endParaRPr>
          </a:p>
        </p:txBody>
      </p:sp>
      <p:sp>
        <p:nvSpPr>
          <p:cNvPr id="18" name="TextBox 17"/>
          <p:cNvSpPr txBox="1"/>
          <p:nvPr/>
        </p:nvSpPr>
        <p:spPr>
          <a:xfrm>
            <a:off x="8324088" y="2635885"/>
            <a:ext cx="3124200" cy="4059935"/>
          </a:xfrm>
          <a:prstGeom prst="rect">
            <a:avLst/>
          </a:prstGeom>
          <a:noFill/>
        </p:spPr>
        <p:txBody>
          <a:bodyPr wrap="square">
            <a:spAutoFit/>
          </a:bodyPr>
          <a:lstStyle/>
          <a:p>
            <a:pPr algn="l">
              <a:lnSpc>
                <a:spcPct val="105000"/>
              </a:lnSpc>
              <a:spcAft>
                <a:spcPts val="1400"/>
              </a:spcAft>
            </a:pPr>
            <a:r>
              <a:rPr sz="1400">
                <a:solidFill>
                  <a:srgbClr val="2E7D6B"/>
                </a:solidFill>
                <a:latin typeface="Noto Sans SC" panose="020B0200000000000000" charset="-122"/>
                <a:ea typeface="Noto Sans SC" panose="020B0200000000000000" charset="-122"/>
              </a:rPr>
              <a:t>▪ </a:t>
            </a:r>
            <a:r>
              <a:rPr sz="1400" b="1">
                <a:solidFill>
                  <a:srgbClr val="1F5A4D"/>
                </a:solidFill>
                <a:latin typeface="Noto Sans SC" panose="020B0200000000000000" charset="-122"/>
                <a:ea typeface="Noto Sans SC" panose="020B0200000000000000" charset="-122"/>
              </a:rPr>
              <a:t>正向承接</a:t>
            </a:r>
            <a:r>
              <a:rPr sz="1400" b="0">
                <a:solidFill>
                  <a:srgbClr val="4B5563"/>
                </a:solidFill>
                <a:latin typeface="Noto Sans SC" panose="020B0200000000000000" charset="-122"/>
                <a:ea typeface="Noto Sans SC" panose="020B0200000000000000" charset="-122"/>
              </a:rPr>
              <a:t>：国家定规则，江苏出台执行口径（如发改价格〔2025〕136号→苏发改规发〔2025〕5号）</a:t>
            </a:r>
            <a:endParaRPr sz="1400" b="0">
              <a:solidFill>
                <a:srgbClr val="4B5563"/>
              </a:solidFill>
              <a:latin typeface="Noto Sans SC" panose="020B0200000000000000" charset="-122"/>
              <a:ea typeface="Noto Sans SC" panose="020B0200000000000000" charset="-122"/>
            </a:endParaRPr>
          </a:p>
          <a:p>
            <a:pPr algn="l">
              <a:lnSpc>
                <a:spcPct val="105000"/>
              </a:lnSpc>
              <a:spcAft>
                <a:spcPts val="1400"/>
              </a:spcAft>
            </a:pPr>
            <a:r>
              <a:rPr sz="1400">
                <a:solidFill>
                  <a:srgbClr val="2E7D6B"/>
                </a:solidFill>
                <a:latin typeface="Noto Sans SC" panose="020B0200000000000000" charset="-122"/>
                <a:ea typeface="Noto Sans SC" panose="020B0200000000000000" charset="-122"/>
              </a:rPr>
              <a:t>▪ </a:t>
            </a:r>
            <a:r>
              <a:rPr sz="1400" b="1">
                <a:solidFill>
                  <a:srgbClr val="1F5A4D"/>
                </a:solidFill>
                <a:latin typeface="Noto Sans SC" panose="020B0200000000000000" charset="-122"/>
                <a:ea typeface="Noto Sans SC" panose="020B0200000000000000" charset="-122"/>
              </a:rPr>
              <a:t>先行探索</a:t>
            </a:r>
            <a:r>
              <a:rPr sz="1400" b="0">
                <a:solidFill>
                  <a:srgbClr val="4B5563"/>
                </a:solidFill>
                <a:latin typeface="Noto Sans SC" panose="020B0200000000000000" charset="-122"/>
                <a:ea typeface="Noto Sans SC" panose="020B0200000000000000" charset="-122"/>
              </a:rPr>
              <a:t>：近零碳园区、绿电直连试点早于国家</a:t>
            </a:r>
            <a:endParaRPr sz="1400" b="0">
              <a:solidFill>
                <a:srgbClr val="4B5563"/>
              </a:solidFill>
              <a:latin typeface="Noto Sans SC" panose="020B0200000000000000" charset="-122"/>
              <a:ea typeface="Noto Sans SC" panose="020B0200000000000000" charset="-122"/>
            </a:endParaRPr>
          </a:p>
          <a:p>
            <a:pPr algn="l">
              <a:lnSpc>
                <a:spcPct val="105000"/>
              </a:lnSpc>
              <a:spcAft>
                <a:spcPts val="1400"/>
              </a:spcAft>
            </a:pPr>
            <a:r>
              <a:rPr sz="1400">
                <a:solidFill>
                  <a:srgbClr val="2E7D6B"/>
                </a:solidFill>
                <a:latin typeface="Noto Sans SC" panose="020B0200000000000000" charset="-122"/>
                <a:ea typeface="Noto Sans SC" panose="020B0200000000000000" charset="-122"/>
              </a:rPr>
              <a:t>▪ </a:t>
            </a:r>
            <a:r>
              <a:rPr sz="1400" b="1">
                <a:solidFill>
                  <a:srgbClr val="1F5A4D"/>
                </a:solidFill>
                <a:latin typeface="Noto Sans SC" panose="020B0200000000000000" charset="-122"/>
                <a:ea typeface="Noto Sans SC" panose="020B0200000000000000" charset="-122"/>
              </a:rPr>
              <a:t>同步细化</a:t>
            </a:r>
            <a:r>
              <a:rPr sz="1400" b="0">
                <a:solidFill>
                  <a:srgbClr val="4B5563"/>
                </a:solidFill>
                <a:latin typeface="Noto Sans SC" panose="020B0200000000000000" charset="-122"/>
                <a:ea typeface="Noto Sans SC" panose="020B0200000000000000" charset="-122"/>
              </a:rPr>
              <a:t>：省与国家同步推进实施细则</a:t>
            </a:r>
            <a:endParaRPr sz="1400" b="0">
              <a:solidFill>
                <a:srgbClr val="4B5563"/>
              </a:solidFill>
              <a:latin typeface="Noto Sans SC" panose="020B0200000000000000" charset="-122"/>
              <a:ea typeface="Noto Sans SC" panose="020B0200000000000000" charset="-122"/>
            </a:endParaRPr>
          </a:p>
          <a:p>
            <a:pPr algn="l">
              <a:lnSpc>
                <a:spcPct val="105000"/>
              </a:lnSpc>
              <a:spcAft>
                <a:spcPts val="14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江苏兼具</a:t>
            </a:r>
            <a:r>
              <a:rPr sz="1400" b="1">
                <a:solidFill>
                  <a:srgbClr val="1F5A4D"/>
                </a:solidFill>
                <a:latin typeface="Noto Sans SC" panose="020B0200000000000000" charset="-122"/>
                <a:ea typeface="Noto Sans SC" panose="020B0200000000000000" charset="-122"/>
              </a:rPr>
              <a:t>承接者与探索者</a:t>
            </a:r>
            <a:r>
              <a:rPr sz="1400" b="0">
                <a:solidFill>
                  <a:srgbClr val="4B5563"/>
                </a:solidFill>
                <a:latin typeface="Noto Sans SC" panose="020B0200000000000000" charset="-122"/>
                <a:ea typeface="Noto Sans SC" panose="020B0200000000000000" charset="-122"/>
              </a:rPr>
              <a:t>双重角色；核心约束是</a:t>
            </a:r>
            <a:r>
              <a:rPr sz="1400" b="1">
                <a:solidFill>
                  <a:srgbClr val="1F5A4D"/>
                </a:solidFill>
                <a:latin typeface="Noto Sans SC" panose="020B0200000000000000" charset="-122"/>
                <a:ea typeface="Noto Sans SC" panose="020B0200000000000000" charset="-122"/>
              </a:rPr>
              <a:t>源荷空间错配</a:t>
            </a:r>
            <a:endParaRPr sz="1400" b="1">
              <a:solidFill>
                <a:srgbClr val="1F5A4D"/>
              </a:solidFill>
              <a:latin typeface="Noto Sans SC" panose="020B0200000000000000" charset="-122"/>
              <a:ea typeface="Noto Sans SC" panose="020B0200000000000000" charset="-122"/>
            </a:endParaRPr>
          </a:p>
        </p:txBody>
      </p:sp>
      <p:sp>
        <p:nvSpPr>
          <p:cNvPr id="41" name="文本框 40"/>
          <p:cNvSpPr txBox="1"/>
          <p:nvPr/>
        </p:nvSpPr>
        <p:spPr>
          <a:xfrm>
            <a:off x="822960" y="170815"/>
            <a:ext cx="11137900" cy="521970"/>
          </a:xfrm>
          <a:prstGeom prst="rect">
            <a:avLst/>
          </a:prstGeom>
          <a:noFill/>
        </p:spPr>
        <p:txBody>
          <a:bodyPr wrap="square" rtlCol="0">
            <a:spAutoFit/>
          </a:bodyPr>
          <a:lstStyle/>
          <a:p>
            <a:pPr algn="l">
              <a:buClrTx/>
              <a:buSzTx/>
              <a:buFontTx/>
            </a:pPr>
            <a:r>
              <a:rPr lang="zh-CN" sz="2800" b="1">
                <a:solidFill>
                  <a:srgbClr val="1F5A4D"/>
                </a:solidFill>
                <a:latin typeface="微软雅黑" panose="020B0503020204020204" pitchFamily="34" charset="-122"/>
                <a:ea typeface="微软雅黑" panose="020B0503020204020204" pitchFamily="34" charset="-122"/>
                <a:sym typeface="+mn-ea"/>
              </a:rPr>
              <a:t>3 政策体系梳理与全链条解析</a:t>
            </a:r>
            <a:r>
              <a:rPr lang="en-US" altLang="zh-CN" sz="2800" b="1">
                <a:solidFill>
                  <a:srgbClr val="1F5A4D"/>
                </a:solidFill>
                <a:latin typeface="微软雅黑" panose="020B0503020204020204" pitchFamily="34" charset="-122"/>
                <a:ea typeface="微软雅黑" panose="020B0503020204020204" pitchFamily="34" charset="-122"/>
                <a:sym typeface="+mn-ea"/>
              </a:rPr>
              <a:t>    </a:t>
            </a:r>
            <a:r>
              <a:rPr lang="en-US" sz="2200" b="1">
                <a:solidFill>
                  <a:srgbClr val="029694"/>
                </a:solidFill>
                <a:latin typeface="Noto Sans SC" panose="020B0200000000000000" charset="-122"/>
                <a:ea typeface="Noto Sans SC" panose="020B0200000000000000" charset="-122"/>
                <a:cs typeface="Noto Sans SC" panose="020B0200000000000000" charset="-122"/>
                <a:sym typeface="+mn-ea"/>
              </a:rPr>
              <a:t>政策体系：三条主线、两次转变与层级关系</a:t>
            </a:r>
            <a:endParaRPr lang="en-US" sz="2200" b="1">
              <a:solidFill>
                <a:srgbClr val="029694"/>
              </a:solidFill>
              <a:latin typeface="Noto Sans SC" panose="020B0200000000000000" charset="-122"/>
              <a:ea typeface="Noto Sans SC" panose="020B0200000000000000" charset="-122"/>
              <a:cs typeface="Noto Sans SC" panose="020B0200000000000000" charset="-122"/>
              <a:sym typeface="+mn-ea"/>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sz="2100" b="0">
                <a:solidFill>
                  <a:srgbClr val="1F5A4D"/>
                </a:solidFill>
                <a:latin typeface="微软雅黑" panose="020B0503020204020204" pitchFamily="34" charset="-122"/>
                <a:ea typeface="微软雅黑" panose="020B0503020204020204" pitchFamily="34" charset="-122"/>
              </a:rPr>
              <a:t>四次边界变化，重划项目与系统的关系</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Rounded Rectangle 3"/>
          <p:cNvSpPr/>
          <p:nvPr/>
        </p:nvSpPr>
        <p:spPr>
          <a:xfrm>
            <a:off x="612648" y="1627632"/>
            <a:ext cx="2594610" cy="2816352"/>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2648" y="1627632"/>
            <a:ext cx="77724" cy="2816352"/>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node.png"/>
          <p:cNvPicPr>
            <a:picLocks noChangeAspect="1"/>
          </p:cNvPicPr>
          <p:nvPr/>
        </p:nvPicPr>
        <p:blipFill>
          <a:blip r:embed="rId1"/>
          <a:stretch>
            <a:fillRect/>
          </a:stretch>
        </p:blipFill>
        <p:spPr>
          <a:xfrm>
            <a:off x="832104" y="1792224"/>
            <a:ext cx="365760" cy="365760"/>
          </a:xfrm>
          <a:prstGeom prst="rect">
            <a:avLst/>
          </a:prstGeom>
        </p:spPr>
      </p:pic>
      <p:sp>
        <p:nvSpPr>
          <p:cNvPr id="7" name="TextBox 6"/>
          <p:cNvSpPr txBox="1"/>
          <p:nvPr/>
        </p:nvSpPr>
        <p:spPr>
          <a:xfrm>
            <a:off x="1289304" y="1773936"/>
            <a:ext cx="1808225" cy="402336"/>
          </a:xfrm>
          <a:prstGeom prst="rect">
            <a:avLst/>
          </a:prstGeom>
          <a:noFill/>
        </p:spPr>
        <p:txBody>
          <a:bodyPr wrap="square" lIns="0" tIns="0" bIns="36576" anchor="ctr">
            <a:spAutoFit/>
          </a:bodyPr>
          <a:lstStyle/>
          <a:p>
            <a:pPr algn="l">
              <a:spcAft>
                <a:spcPts val="400"/>
              </a:spcAft>
            </a:pPr>
            <a:r>
              <a:rPr sz="1600" b="1">
                <a:solidFill>
                  <a:srgbClr val="2E7D6B"/>
                </a:solidFill>
                <a:latin typeface="Noto Sans SC" panose="020B0200000000000000" charset="-122"/>
                <a:ea typeface="Noto Sans SC" panose="020B0200000000000000" charset="-122"/>
              </a:rPr>
              <a:t>① 2021 资源组织边界</a:t>
            </a:r>
            <a:endParaRPr sz="1600" b="1">
              <a:solidFill>
                <a:srgbClr val="2E7D6B"/>
              </a:solidFill>
              <a:latin typeface="Noto Sans SC" panose="020B0200000000000000" charset="-122"/>
              <a:ea typeface="Noto Sans SC" panose="020B0200000000000000" charset="-122"/>
            </a:endParaRPr>
          </a:p>
        </p:txBody>
      </p:sp>
      <p:sp>
        <p:nvSpPr>
          <p:cNvPr id="8" name="TextBox 7"/>
          <p:cNvSpPr txBox="1"/>
          <p:nvPr/>
        </p:nvSpPr>
        <p:spPr>
          <a:xfrm>
            <a:off x="868680" y="2286000"/>
            <a:ext cx="2192274" cy="2048255"/>
          </a:xfrm>
          <a:prstGeom prst="rect">
            <a:avLst/>
          </a:prstGeom>
          <a:noFill/>
        </p:spPr>
        <p:txBody>
          <a:bodyPr wrap="square">
            <a:spAutoFit/>
          </a:bodyPr>
          <a:lstStyle/>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单点开发 → </a:t>
            </a:r>
            <a:r>
              <a:rPr sz="1300" b="1">
                <a:solidFill>
                  <a:srgbClr val="1F5A4D"/>
                </a:solidFill>
                <a:latin typeface="Noto Sans SC" panose="020B0200000000000000" charset="-122"/>
                <a:ea typeface="Noto Sans SC" panose="020B0200000000000000" charset="-122"/>
              </a:rPr>
              <a:t>县域统筹</a:t>
            </a:r>
            <a:endParaRPr sz="1300" b="1">
              <a:solidFill>
                <a:srgbClr val="1F5A4D"/>
              </a:solidFill>
              <a:latin typeface="Noto Sans SC" panose="020B0200000000000000" charset="-122"/>
              <a:ea typeface="Noto Sans SC" panose="020B0200000000000000" charset="-122"/>
            </a:endParaRPr>
          </a:p>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整县屋顶分布式光伏开发试点</a:t>
            </a:r>
            <a:endParaRPr sz="1300" b="0">
              <a:solidFill>
                <a:srgbClr val="4B5563"/>
              </a:solidFill>
              <a:latin typeface="Noto Sans SC" panose="020B0200000000000000" charset="-122"/>
              <a:ea typeface="Noto Sans SC" panose="020B0200000000000000" charset="-122"/>
            </a:endParaRPr>
          </a:p>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资源由单点开发转向县域统一组织</a:t>
            </a:r>
            <a:endParaRPr sz="1300" b="0">
              <a:solidFill>
                <a:srgbClr val="4B5563"/>
              </a:solidFill>
              <a:latin typeface="Noto Sans SC" panose="020B0200000000000000" charset="-122"/>
              <a:ea typeface="Noto Sans SC" panose="020B0200000000000000" charset="-122"/>
            </a:endParaRPr>
          </a:p>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开发组织方式决定后续接网条件</a:t>
            </a:r>
            <a:endParaRPr sz="1300" b="0">
              <a:solidFill>
                <a:srgbClr val="4B5563"/>
              </a:solidFill>
              <a:latin typeface="Noto Sans SC" panose="020B0200000000000000" charset="-122"/>
              <a:ea typeface="Noto Sans SC" panose="020B0200000000000000" charset="-122"/>
            </a:endParaRPr>
          </a:p>
        </p:txBody>
      </p:sp>
      <p:sp>
        <p:nvSpPr>
          <p:cNvPr id="9" name="Rounded Rectangle 8"/>
          <p:cNvSpPr/>
          <p:nvPr/>
        </p:nvSpPr>
        <p:spPr>
          <a:xfrm>
            <a:off x="3408426" y="1627632"/>
            <a:ext cx="2594610" cy="2816352"/>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08426" y="1627632"/>
            <a:ext cx="77724" cy="2816352"/>
          </a:xfrm>
          <a:prstGeom prst="roundRect">
            <a:avLst>
              <a:gd name="adj"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grid.png"/>
          <p:cNvPicPr>
            <a:picLocks noChangeAspect="1"/>
          </p:cNvPicPr>
          <p:nvPr/>
        </p:nvPicPr>
        <p:blipFill>
          <a:blip r:embed="rId2"/>
          <a:stretch>
            <a:fillRect/>
          </a:stretch>
        </p:blipFill>
        <p:spPr>
          <a:xfrm>
            <a:off x="3627882" y="1792224"/>
            <a:ext cx="365760" cy="365760"/>
          </a:xfrm>
          <a:prstGeom prst="rect">
            <a:avLst/>
          </a:prstGeom>
        </p:spPr>
      </p:pic>
      <p:sp>
        <p:nvSpPr>
          <p:cNvPr id="12" name="TextBox 11"/>
          <p:cNvSpPr txBox="1"/>
          <p:nvPr/>
        </p:nvSpPr>
        <p:spPr>
          <a:xfrm>
            <a:off x="4085082" y="1773936"/>
            <a:ext cx="1808225" cy="402336"/>
          </a:xfrm>
          <a:prstGeom prst="rect">
            <a:avLst/>
          </a:prstGeom>
          <a:noFill/>
        </p:spPr>
        <p:txBody>
          <a:bodyPr wrap="square" lIns="0" tIns="0" bIns="36576" anchor="ctr">
            <a:spAutoFit/>
          </a:bodyPr>
          <a:lstStyle/>
          <a:p>
            <a:pPr algn="l">
              <a:spcAft>
                <a:spcPts val="400"/>
              </a:spcAft>
            </a:pPr>
            <a:r>
              <a:rPr sz="1600" b="1">
                <a:solidFill>
                  <a:srgbClr val="0070C0"/>
                </a:solidFill>
                <a:latin typeface="Noto Sans SC" panose="020B0200000000000000" charset="-122"/>
                <a:ea typeface="Noto Sans SC" panose="020B0200000000000000" charset="-122"/>
              </a:rPr>
              <a:t>② 2024 接网承载边界</a:t>
            </a:r>
            <a:endParaRPr sz="1600" b="1">
              <a:solidFill>
                <a:srgbClr val="0070C0"/>
              </a:solidFill>
              <a:latin typeface="Noto Sans SC" panose="020B0200000000000000" charset="-122"/>
              <a:ea typeface="Noto Sans SC" panose="020B0200000000000000" charset="-122"/>
            </a:endParaRPr>
          </a:p>
        </p:txBody>
      </p:sp>
      <p:sp>
        <p:nvSpPr>
          <p:cNvPr id="13" name="TextBox 12"/>
          <p:cNvSpPr txBox="1"/>
          <p:nvPr/>
        </p:nvSpPr>
        <p:spPr>
          <a:xfrm>
            <a:off x="3664458" y="2286000"/>
            <a:ext cx="2192274" cy="2048255"/>
          </a:xfrm>
          <a:prstGeom prst="rect">
            <a:avLst/>
          </a:prstGeom>
          <a:noFill/>
        </p:spPr>
        <p:txBody>
          <a:bodyPr wrap="square">
            <a:spAutoFit/>
          </a:bodyPr>
          <a:lstStyle/>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资源可开发 → </a:t>
            </a:r>
            <a:r>
              <a:rPr sz="1300" b="1">
                <a:solidFill>
                  <a:srgbClr val="1F5A4D"/>
                </a:solidFill>
                <a:latin typeface="Noto Sans SC" panose="020B0200000000000000" charset="-122"/>
                <a:ea typeface="Noto Sans SC" panose="020B0200000000000000" charset="-122"/>
              </a:rPr>
              <a:t>配网可接入</a:t>
            </a:r>
            <a:endParaRPr sz="1300" b="1">
              <a:solidFill>
                <a:srgbClr val="1F5A4D"/>
              </a:solidFill>
              <a:latin typeface="Noto Sans SC" panose="020B0200000000000000" charset="-122"/>
              <a:ea typeface="Noto Sans SC" panose="020B0200000000000000" charset="-122"/>
            </a:endParaRPr>
          </a:p>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配网承载与可开放容量成为前置条件</a:t>
            </a:r>
            <a:endParaRPr sz="1300" b="0">
              <a:solidFill>
                <a:srgbClr val="4B5563"/>
              </a:solidFill>
              <a:latin typeface="Noto Sans SC" panose="020B0200000000000000" charset="-122"/>
              <a:ea typeface="Noto Sans SC" panose="020B0200000000000000" charset="-122"/>
            </a:endParaRPr>
          </a:p>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可开放容量按季度评估发布</a:t>
            </a:r>
            <a:endParaRPr sz="1300" b="0">
              <a:solidFill>
                <a:srgbClr val="4B5563"/>
              </a:solidFill>
              <a:latin typeface="Noto Sans SC" panose="020B0200000000000000" charset="-122"/>
              <a:ea typeface="Noto Sans SC" panose="020B0200000000000000" charset="-122"/>
            </a:endParaRPr>
          </a:p>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开发约束转向网架承载力</a:t>
            </a:r>
            <a:endParaRPr sz="1300" b="0">
              <a:solidFill>
                <a:srgbClr val="4B5563"/>
              </a:solidFill>
              <a:latin typeface="Noto Sans SC" panose="020B0200000000000000" charset="-122"/>
              <a:ea typeface="Noto Sans SC" panose="020B0200000000000000" charset="-122"/>
            </a:endParaRPr>
          </a:p>
        </p:txBody>
      </p:sp>
      <p:sp>
        <p:nvSpPr>
          <p:cNvPr id="14" name="Rounded Rectangle 13"/>
          <p:cNvSpPr/>
          <p:nvPr/>
        </p:nvSpPr>
        <p:spPr>
          <a:xfrm>
            <a:off x="6204204" y="1627632"/>
            <a:ext cx="2594610" cy="2816352"/>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04204" y="1627632"/>
            <a:ext cx="77724" cy="2816352"/>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org.png"/>
          <p:cNvPicPr>
            <a:picLocks noChangeAspect="1"/>
          </p:cNvPicPr>
          <p:nvPr/>
        </p:nvPicPr>
        <p:blipFill>
          <a:blip r:embed="rId3"/>
          <a:stretch>
            <a:fillRect/>
          </a:stretch>
        </p:blipFill>
        <p:spPr>
          <a:xfrm>
            <a:off x="6423660" y="1792224"/>
            <a:ext cx="365760" cy="365760"/>
          </a:xfrm>
          <a:prstGeom prst="rect">
            <a:avLst/>
          </a:prstGeom>
        </p:spPr>
      </p:pic>
      <p:sp>
        <p:nvSpPr>
          <p:cNvPr id="17" name="TextBox 16"/>
          <p:cNvSpPr txBox="1"/>
          <p:nvPr/>
        </p:nvSpPr>
        <p:spPr>
          <a:xfrm>
            <a:off x="6880860" y="1773936"/>
            <a:ext cx="1808225" cy="402336"/>
          </a:xfrm>
          <a:prstGeom prst="rect">
            <a:avLst/>
          </a:prstGeom>
          <a:noFill/>
        </p:spPr>
        <p:txBody>
          <a:bodyPr wrap="square" lIns="0" tIns="0" bIns="36576" anchor="ctr">
            <a:spAutoFit/>
          </a:bodyPr>
          <a:lstStyle/>
          <a:p>
            <a:pPr algn="l">
              <a:spcAft>
                <a:spcPts val="400"/>
              </a:spcAft>
            </a:pPr>
            <a:r>
              <a:rPr sz="1600" b="1">
                <a:solidFill>
                  <a:srgbClr val="2E7D6B"/>
                </a:solidFill>
                <a:latin typeface="Noto Sans SC" panose="020B0200000000000000" charset="-122"/>
                <a:ea typeface="Noto Sans SC" panose="020B0200000000000000" charset="-122"/>
              </a:rPr>
              <a:t>③ 2025 项目治理边界</a:t>
            </a:r>
            <a:endParaRPr sz="1600" b="1">
              <a:solidFill>
                <a:srgbClr val="2E7D6B"/>
              </a:solidFill>
              <a:latin typeface="Noto Sans SC" panose="020B0200000000000000" charset="-122"/>
              <a:ea typeface="Noto Sans SC" panose="020B0200000000000000" charset="-122"/>
            </a:endParaRPr>
          </a:p>
        </p:txBody>
      </p:sp>
      <p:sp>
        <p:nvSpPr>
          <p:cNvPr id="18" name="TextBox 17"/>
          <p:cNvSpPr txBox="1"/>
          <p:nvPr/>
        </p:nvSpPr>
        <p:spPr>
          <a:xfrm>
            <a:off x="6460236" y="2286000"/>
            <a:ext cx="2192274" cy="2048255"/>
          </a:xfrm>
          <a:prstGeom prst="rect">
            <a:avLst/>
          </a:prstGeom>
          <a:noFill/>
        </p:spPr>
        <p:txBody>
          <a:bodyPr wrap="square">
            <a:spAutoFit/>
          </a:bodyPr>
          <a:lstStyle/>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规则模糊 → </a:t>
            </a:r>
            <a:r>
              <a:rPr sz="1300" b="1">
                <a:solidFill>
                  <a:srgbClr val="1F5A4D"/>
                </a:solidFill>
                <a:latin typeface="Noto Sans SC" panose="020B0200000000000000" charset="-122"/>
                <a:ea typeface="Noto Sans SC" panose="020B0200000000000000" charset="-122"/>
              </a:rPr>
              <a:t>分类管理</a:t>
            </a:r>
            <a:endParaRPr sz="1300" b="1">
              <a:solidFill>
                <a:srgbClr val="1F5A4D"/>
              </a:solidFill>
              <a:latin typeface="Noto Sans SC" panose="020B0200000000000000" charset="-122"/>
              <a:ea typeface="Noto Sans SC" panose="020B0200000000000000" charset="-122"/>
            </a:endParaRPr>
          </a:p>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四类项目、三种上网模式</a:t>
            </a:r>
            <a:endParaRPr sz="1300" b="0">
              <a:solidFill>
                <a:srgbClr val="4B5563"/>
              </a:solidFill>
              <a:latin typeface="Noto Sans SC" panose="020B0200000000000000" charset="-122"/>
              <a:ea typeface="Noto Sans SC" panose="020B0200000000000000" charset="-122"/>
            </a:endParaRPr>
          </a:p>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管理"四可"：可观、可测、可调、可控</a:t>
            </a:r>
            <a:endParaRPr sz="1300" b="0">
              <a:solidFill>
                <a:srgbClr val="4B5563"/>
              </a:solidFill>
              <a:latin typeface="Noto Sans SC" panose="020B0200000000000000" charset="-122"/>
              <a:ea typeface="Noto Sans SC" panose="020B0200000000000000" charset="-122"/>
            </a:endParaRPr>
          </a:p>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存量与增量按2025年6月1日分界</a:t>
            </a:r>
            <a:endParaRPr sz="1300" b="0">
              <a:solidFill>
                <a:srgbClr val="4B5563"/>
              </a:solidFill>
              <a:latin typeface="Noto Sans SC" panose="020B0200000000000000" charset="-122"/>
              <a:ea typeface="Noto Sans SC" panose="020B0200000000000000" charset="-122"/>
            </a:endParaRPr>
          </a:p>
        </p:txBody>
      </p:sp>
      <p:sp>
        <p:nvSpPr>
          <p:cNvPr id="19" name="Rounded Rectangle 18"/>
          <p:cNvSpPr/>
          <p:nvPr/>
        </p:nvSpPr>
        <p:spPr>
          <a:xfrm>
            <a:off x="8999982" y="1627632"/>
            <a:ext cx="2594610" cy="2816352"/>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999982" y="1627632"/>
            <a:ext cx="77724" cy="2816352"/>
          </a:xfrm>
          <a:prstGeom prst="roundRect">
            <a:avLst>
              <a:gd name="adj" fmla="val 0"/>
            </a:avLst>
          </a:prstGeom>
          <a:solidFill>
            <a:srgbClr val="EF8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ap.png"/>
          <p:cNvPicPr>
            <a:picLocks noChangeAspect="1"/>
          </p:cNvPicPr>
          <p:nvPr/>
        </p:nvPicPr>
        <p:blipFill>
          <a:blip r:embed="rId4"/>
          <a:stretch>
            <a:fillRect/>
          </a:stretch>
        </p:blipFill>
        <p:spPr>
          <a:xfrm>
            <a:off x="9219438" y="1792224"/>
            <a:ext cx="365760" cy="365760"/>
          </a:xfrm>
          <a:prstGeom prst="rect">
            <a:avLst/>
          </a:prstGeom>
        </p:spPr>
      </p:pic>
      <p:sp>
        <p:nvSpPr>
          <p:cNvPr id="22" name="TextBox 21"/>
          <p:cNvSpPr txBox="1"/>
          <p:nvPr/>
        </p:nvSpPr>
        <p:spPr>
          <a:xfrm>
            <a:off x="9676638" y="1773936"/>
            <a:ext cx="1808225" cy="402336"/>
          </a:xfrm>
          <a:prstGeom prst="rect">
            <a:avLst/>
          </a:prstGeom>
          <a:noFill/>
        </p:spPr>
        <p:txBody>
          <a:bodyPr wrap="square" lIns="0" tIns="0" bIns="36576" anchor="ctr">
            <a:spAutoFit/>
          </a:bodyPr>
          <a:lstStyle/>
          <a:p>
            <a:pPr algn="l">
              <a:spcAft>
                <a:spcPts val="400"/>
              </a:spcAft>
            </a:pPr>
            <a:r>
              <a:rPr sz="1600" b="1">
                <a:solidFill>
                  <a:srgbClr val="EF8403"/>
                </a:solidFill>
                <a:latin typeface="Noto Sans SC" panose="020B0200000000000000" charset="-122"/>
                <a:ea typeface="Noto Sans SC" panose="020B0200000000000000" charset="-122"/>
              </a:rPr>
              <a:t>④ 市场与绿色价值边界</a:t>
            </a:r>
            <a:endParaRPr sz="1600" b="1">
              <a:solidFill>
                <a:srgbClr val="EF8403"/>
              </a:solidFill>
              <a:latin typeface="Noto Sans SC" panose="020B0200000000000000" charset="-122"/>
              <a:ea typeface="Noto Sans SC" panose="020B0200000000000000" charset="-122"/>
            </a:endParaRPr>
          </a:p>
        </p:txBody>
      </p:sp>
      <p:sp>
        <p:nvSpPr>
          <p:cNvPr id="23" name="TextBox 22"/>
          <p:cNvSpPr txBox="1"/>
          <p:nvPr/>
        </p:nvSpPr>
        <p:spPr>
          <a:xfrm>
            <a:off x="9256013" y="2286000"/>
            <a:ext cx="2192274" cy="2048255"/>
          </a:xfrm>
          <a:prstGeom prst="rect">
            <a:avLst/>
          </a:prstGeom>
          <a:noFill/>
        </p:spPr>
        <p:txBody>
          <a:bodyPr wrap="square">
            <a:spAutoFit/>
          </a:bodyPr>
          <a:lstStyle/>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固定电价 → </a:t>
            </a:r>
            <a:r>
              <a:rPr sz="1300" b="1">
                <a:solidFill>
                  <a:srgbClr val="1F5A4D"/>
                </a:solidFill>
                <a:latin typeface="Noto Sans SC" panose="020B0200000000000000" charset="-122"/>
                <a:ea typeface="Noto Sans SC" panose="020B0200000000000000" charset="-122"/>
              </a:rPr>
              <a:t>市场结算与属性确权</a:t>
            </a:r>
            <a:endParaRPr sz="1300" b="1">
              <a:solidFill>
                <a:srgbClr val="1F5A4D"/>
              </a:solidFill>
              <a:latin typeface="Noto Sans SC" panose="020B0200000000000000" charset="-122"/>
              <a:ea typeface="Noto Sans SC" panose="020B0200000000000000" charset="-122"/>
            </a:endParaRPr>
          </a:p>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电量入市、机制结算、绿证确权</a:t>
            </a:r>
            <a:endParaRPr sz="1300" b="0">
              <a:solidFill>
                <a:srgbClr val="4B5563"/>
              </a:solidFill>
              <a:latin typeface="Noto Sans SC" panose="020B0200000000000000" charset="-122"/>
              <a:ea typeface="Noto Sans SC" panose="020B0200000000000000" charset="-122"/>
            </a:endParaRPr>
          </a:p>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项目收益由单一电价转为多项合成</a:t>
            </a:r>
            <a:endParaRPr sz="1300" b="0">
              <a:solidFill>
                <a:srgbClr val="4B5563"/>
              </a:solidFill>
              <a:latin typeface="Noto Sans SC" panose="020B0200000000000000" charset="-122"/>
              <a:ea typeface="Noto Sans SC" panose="020B0200000000000000" charset="-122"/>
            </a:endParaRPr>
          </a:p>
          <a:p>
            <a:pPr algn="l">
              <a:lnSpc>
                <a:spcPct val="105000"/>
              </a:lnSpc>
              <a:spcAft>
                <a:spcPts val="1100"/>
              </a:spcAft>
            </a:pPr>
            <a:r>
              <a:rPr sz="1300">
                <a:solidFill>
                  <a:srgbClr val="2E7D6B"/>
                </a:solidFill>
                <a:latin typeface="Noto Sans SC" panose="020B0200000000000000" charset="-122"/>
                <a:ea typeface="Noto Sans SC" panose="020B0200000000000000" charset="-122"/>
              </a:rPr>
              <a:t>▪ </a:t>
            </a:r>
            <a:r>
              <a:rPr sz="1300" b="0">
                <a:solidFill>
                  <a:srgbClr val="4B5563"/>
                </a:solidFill>
                <a:latin typeface="Noto Sans SC" panose="020B0200000000000000" charset="-122"/>
                <a:ea typeface="Noto Sans SC" panose="020B0200000000000000" charset="-122"/>
              </a:rPr>
              <a:t>纳入机制电量不重复获绿证收益</a:t>
            </a:r>
            <a:endParaRPr sz="1300" b="0">
              <a:solidFill>
                <a:srgbClr val="4B5563"/>
              </a:solidFill>
              <a:latin typeface="Noto Sans SC" panose="020B0200000000000000" charset="-122"/>
              <a:ea typeface="Noto Sans SC" panose="020B0200000000000000" charset="-122"/>
            </a:endParaRPr>
          </a:p>
        </p:txBody>
      </p:sp>
      <p:sp>
        <p:nvSpPr>
          <p:cNvPr id="24" name="Rounded Rectangle 23"/>
          <p:cNvSpPr/>
          <p:nvPr/>
        </p:nvSpPr>
        <p:spPr>
          <a:xfrm>
            <a:off x="612648" y="4553712"/>
            <a:ext cx="10981944" cy="859536"/>
          </a:xfrm>
          <a:prstGeom prst="roundRect">
            <a:avLst>
              <a:gd name="adj" fmla="val 7000"/>
            </a:avLst>
          </a:prstGeom>
          <a:solidFill>
            <a:srgbClr val="FDF1E1"/>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bIns="36576" rtlCol="0" anchor="ctr"/>
          <a:lstStyle/>
          <a:p>
            <a:pPr algn="l">
              <a:spcAft>
                <a:spcPts val="400"/>
              </a:spcAft>
            </a:pPr>
            <a:r>
              <a:rPr sz="1300" b="1">
                <a:solidFill>
                  <a:srgbClr val="1F5A4D"/>
                </a:solidFill>
                <a:latin typeface="Noto Sans SC" panose="020B0200000000000000" charset="-122"/>
                <a:ea typeface="Noto Sans SC" panose="020B0200000000000000" charset="-122"/>
              </a:rPr>
              <a:t>四次边界变化的落地结果（应用场景 8 类）</a:t>
            </a:r>
            <a:r>
              <a:rPr sz="1300" b="0">
                <a:solidFill>
                  <a:srgbClr val="4B5563"/>
                </a:solidFill>
                <a:latin typeface="Noto Sans SC" panose="020B0200000000000000" charset="-122"/>
                <a:ea typeface="Noto Sans SC" panose="020B0200000000000000" charset="-122"/>
              </a:rPr>
              <a:t>：自然人户用、非自然人户用、一般工商业、大型工商业、整村连片、园区集中汇流、绿电直连衔接、公共建筑与交通设施</a:t>
            </a:r>
            <a:endParaRPr sz="1300" b="0">
              <a:solidFill>
                <a:srgbClr val="4B5563"/>
              </a:solidFill>
              <a:latin typeface="Noto Sans SC" panose="020B0200000000000000" charset="-122"/>
              <a:ea typeface="Noto Sans SC" panose="020B0200000000000000" charset="-122"/>
            </a:endParaRPr>
          </a:p>
        </p:txBody>
      </p:sp>
      <p:sp>
        <p:nvSpPr>
          <p:cNvPr id="25" name="Rounded Rectangle 24"/>
          <p:cNvSpPr/>
          <p:nvPr/>
        </p:nvSpPr>
        <p:spPr>
          <a:xfrm>
            <a:off x="612648" y="5522976"/>
            <a:ext cx="10981944" cy="877824"/>
          </a:xfrm>
          <a:prstGeom prst="roundRect">
            <a:avLst>
              <a:gd name="adj" fmla="val 7000"/>
            </a:avLst>
          </a:prstGeom>
          <a:solidFill>
            <a:srgbClr val="F1F4F5"/>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bIns="36576" rtlCol="0" anchor="ctr"/>
          <a:lstStyle/>
          <a:p>
            <a:pPr algn="l">
              <a:spcAft>
                <a:spcPts val="400"/>
              </a:spcAft>
            </a:pPr>
            <a:r>
              <a:rPr sz="1300" b="1">
                <a:solidFill>
                  <a:srgbClr val="1F5A4D"/>
                </a:solidFill>
                <a:latin typeface="Noto Sans SC" panose="020B0200000000000000" charset="-122"/>
                <a:ea typeface="Noto Sans SC" panose="020B0200000000000000" charset="-122"/>
              </a:rPr>
              <a:t>对应管理要求：四类项目 × 三种上网模式（全额上网／全部自发自用／自发自用余电上网）；"四可"：可观、可测、可调、可控。下一章看政策在数据上的结果。</a:t>
            </a:r>
            <a:endParaRPr sz="1300" b="1">
              <a:solidFill>
                <a:srgbClr val="1F5A4D"/>
              </a:solidFill>
              <a:latin typeface="Noto Sans SC" panose="020B0200000000000000" charset="-122"/>
              <a:ea typeface="Noto Sans SC" panose="020B0200000000000000" charset="-122"/>
            </a:endParaRPr>
          </a:p>
        </p:txBody>
      </p:sp>
      <p:sp>
        <p:nvSpPr>
          <p:cNvPr id="26" name="TextBox 25">
            <a:hlinkClick r:id="rId5" action="ppaction://hlinksldjump"/>
          </p:cNvPr>
          <p:cNvSpPr txBox="1"/>
          <p:nvPr/>
        </p:nvSpPr>
        <p:spPr>
          <a:xfrm>
            <a:off x="11238992" y="274320"/>
            <a:ext cx="309880" cy="260350"/>
          </a:xfrm>
          <a:prstGeom prst="rect">
            <a:avLst/>
          </a:prstGeom>
          <a:noFill/>
        </p:spPr>
        <p:txBody>
          <a:bodyPr wrap="none">
            <a:spAutoFit/>
          </a:bodyPr>
          <a:lstStyle/>
          <a:p>
            <a:pPr algn="r"/>
            <a:endParaRPr sz="1100">
              <a:solidFill>
                <a:srgbClr val="2E7D6B"/>
              </a:solidFill>
              <a:latin typeface="Noto Sans SC" panose="020B0200000000000000" charset="-122"/>
              <a:ea typeface="Noto Sans SC" panose="020B0200000000000000" charset="-122"/>
            </a:endParaRPr>
          </a:p>
        </p:txBody>
      </p:sp>
      <p:sp>
        <p:nvSpPr>
          <p:cNvPr id="41" name="文本框 40"/>
          <p:cNvSpPr txBox="1"/>
          <p:nvPr/>
        </p:nvSpPr>
        <p:spPr>
          <a:xfrm>
            <a:off x="822960" y="170815"/>
            <a:ext cx="11137900" cy="860425"/>
          </a:xfrm>
          <a:prstGeom prst="rect">
            <a:avLst/>
          </a:prstGeom>
          <a:noFill/>
        </p:spPr>
        <p:txBody>
          <a:bodyPr wrap="square" rtlCol="0">
            <a:spAutoFit/>
          </a:bodyPr>
          <a:lstStyle/>
          <a:p>
            <a:pPr algn="l">
              <a:buClrTx/>
              <a:buSzTx/>
              <a:buFontTx/>
            </a:pPr>
            <a:r>
              <a:rPr lang="zh-CN" sz="2800" b="1">
                <a:solidFill>
                  <a:srgbClr val="1F5A4D"/>
                </a:solidFill>
                <a:latin typeface="微软雅黑" panose="020B0503020204020204" pitchFamily="34" charset="-122"/>
                <a:ea typeface="微软雅黑" panose="020B0503020204020204" pitchFamily="34" charset="-122"/>
                <a:sym typeface="+mn-ea"/>
              </a:rPr>
              <a:t>3 政策体系梳理与全链条解析</a:t>
            </a:r>
            <a:r>
              <a:rPr lang="en-US" altLang="zh-CN" sz="2800" b="1">
                <a:solidFill>
                  <a:srgbClr val="1F5A4D"/>
                </a:solidFill>
                <a:latin typeface="微软雅黑" panose="020B0503020204020204" pitchFamily="34" charset="-122"/>
                <a:ea typeface="微软雅黑" panose="020B0503020204020204" pitchFamily="34" charset="-122"/>
                <a:sym typeface="+mn-ea"/>
              </a:rPr>
              <a:t>    </a:t>
            </a:r>
            <a:r>
              <a:rPr lang="en-US" sz="2200" b="1">
                <a:solidFill>
                  <a:srgbClr val="029694"/>
                </a:solidFill>
                <a:latin typeface="Noto Sans SC" panose="020B0200000000000000" charset="-122"/>
                <a:ea typeface="Noto Sans SC" panose="020B0200000000000000" charset="-122"/>
                <a:cs typeface="Noto Sans SC" panose="020B0200000000000000" charset="-122"/>
                <a:sym typeface="+mn-ea"/>
              </a:rPr>
              <a:t>分布式光伏：四次边界变化与应用场景</a:t>
            </a:r>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a:p>
            <a:pPr algn="l">
              <a:buClrTx/>
              <a:buSzTx/>
              <a:buFontTx/>
            </a:pPr>
            <a:endParaRPr lang="en-US" sz="2200" b="1">
              <a:solidFill>
                <a:srgbClr val="029694"/>
              </a:solidFill>
              <a:latin typeface="Noto Sans SC" panose="020B0200000000000000" charset="-122"/>
              <a:ea typeface="Noto Sans SC" panose="020B0200000000000000" charset="-122"/>
              <a:cs typeface="Noto Sans SC" panose="020B0200000000000000" charset="-122"/>
              <a:sym typeface="+mn-ea"/>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hlinkClick r:id="rId1" action="ppaction://hlinksldjump"/>
          </p:cNvPr>
          <p:cNvSpPr/>
          <p:nvPr>
            <p:custDataLst>
              <p:tags r:id="rId2"/>
            </p:custDataLst>
          </p:nvPr>
        </p:nvSpPr>
        <p:spPr>
          <a:xfrm>
            <a:off x="1975485" y="2843530"/>
            <a:ext cx="1284605" cy="1171575"/>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4800" b="1" i="0">
                <a:solidFill>
                  <a:srgbClr val="FFFFFF"/>
                </a:solidFill>
                <a:latin typeface="微软雅黑" panose="020B0503020204020204" pitchFamily="34" charset="-122"/>
                <a:ea typeface="微软雅黑" panose="020B0503020204020204" pitchFamily="34" charset="-122"/>
              </a:rPr>
              <a:t>4</a:t>
            </a:r>
            <a:endParaRPr lang="en-US" sz="4800" b="1" i="0">
              <a:solidFill>
                <a:srgbClr val="FFFFFF"/>
              </a:solidFill>
              <a:latin typeface="微软雅黑" panose="020B0503020204020204" pitchFamily="34" charset="-122"/>
              <a:ea typeface="微软雅黑" panose="020B0503020204020204" pitchFamily="34" charset="-122"/>
            </a:endParaRPr>
          </a:p>
        </p:txBody>
      </p:sp>
      <p:sp>
        <p:nvSpPr>
          <p:cNvPr id="7" name="TextBox 4">
            <a:hlinkClick r:id="rId1" action="ppaction://hlinksldjump"/>
          </p:cNvPr>
          <p:cNvSpPr txBox="1"/>
          <p:nvPr>
            <p:custDataLst>
              <p:tags r:id="rId3"/>
            </p:custDataLst>
          </p:nvPr>
        </p:nvSpPr>
        <p:spPr>
          <a:xfrm>
            <a:off x="3613150" y="2689861"/>
            <a:ext cx="7429500" cy="1477010"/>
          </a:xfrm>
          <a:prstGeom prst="rect">
            <a:avLst/>
          </a:prstGeom>
          <a:noFill/>
        </p:spPr>
        <p:txBody>
          <a:bodyPr wrap="square" lIns="0" tIns="0" rIns="0" bIns="0" anchor="ctr">
            <a:spAutoFit/>
          </a:bodyPr>
          <a:lstStyle/>
          <a:p>
            <a:pPr algn="ctr"/>
            <a:r>
              <a:rPr lang="zh-CN" altLang="en-US" sz="4800" b="1">
                <a:solidFill>
                  <a:srgbClr val="2E7D6B"/>
                </a:solidFill>
                <a:latin typeface="微软雅黑" panose="020B0503020204020204" pitchFamily="34" charset="-122"/>
                <a:ea typeface="微软雅黑" panose="020B0503020204020204" pitchFamily="34" charset="-122"/>
                <a:sym typeface="+mn-ea"/>
              </a:rPr>
              <a:t>新兴要素发展及其对电力市</a:t>
            </a:r>
            <a:r>
              <a:rPr lang="en-US" altLang="zh-CN" sz="4800" b="1">
                <a:solidFill>
                  <a:srgbClr val="2E7D6B"/>
                </a:solidFill>
                <a:latin typeface="微软雅黑" panose="020B0503020204020204" pitchFamily="34" charset="-122"/>
                <a:ea typeface="微软雅黑" panose="020B0503020204020204" pitchFamily="34" charset="-122"/>
                <a:sym typeface="+mn-ea"/>
              </a:rPr>
              <a:t>        </a:t>
            </a:r>
            <a:r>
              <a:rPr lang="zh-CN" altLang="en-US" sz="4800" b="1">
                <a:solidFill>
                  <a:srgbClr val="2E7D6B"/>
                </a:solidFill>
                <a:latin typeface="微软雅黑" panose="020B0503020204020204" pitchFamily="34" charset="-122"/>
                <a:ea typeface="微软雅黑" panose="020B0503020204020204" pitchFamily="34" charset="-122"/>
                <a:sym typeface="+mn-ea"/>
              </a:rPr>
              <a:t>场影响的多维度统计分析</a:t>
            </a:r>
            <a:endParaRPr lang="zh-CN" altLang="en-US" sz="4800" b="1">
              <a:solidFill>
                <a:srgbClr val="2E7D6B"/>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sz="2100" b="0">
                <a:solidFill>
                  <a:srgbClr val="1F5A4D"/>
                </a:solidFill>
                <a:latin typeface="微软雅黑" panose="020B0503020204020204" pitchFamily="34" charset="-122"/>
                <a:ea typeface="微软雅黑" panose="020B0503020204020204" pitchFamily="34" charset="-122"/>
              </a:rPr>
              <a:t>分布式光伏取代风电成为最大单品种，装机为2021年末的7.2倍</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TextBox 3"/>
          <p:cNvSpPr txBox="1"/>
          <p:nvPr/>
        </p:nvSpPr>
        <p:spPr>
          <a:xfrm>
            <a:off x="822960" y="1091502"/>
            <a:ext cx="10607040" cy="212725"/>
          </a:xfrm>
          <a:prstGeom prst="rect">
            <a:avLst/>
          </a:prstGeom>
          <a:noFill/>
        </p:spPr>
        <p:txBody>
          <a:bodyPr wrap="square" tIns="0" rIns="182880" bIns="36576" anchor="ctr">
            <a:spAutoFit/>
          </a:bodyPr>
          <a:lstStyle/>
          <a:p>
            <a:pPr algn="r">
              <a:spcAft>
                <a:spcPts val="400"/>
              </a:spcAft>
            </a:pPr>
            <a:endParaRPr sz="1150" b="0">
              <a:solidFill>
                <a:srgbClr val="4B5563"/>
              </a:solidFill>
              <a:latin typeface="Noto Sans SC" panose="020B0200000000000000" charset="-122"/>
              <a:ea typeface="Noto Sans SC" panose="020B0200000000000000" charset="-122"/>
            </a:endParaRPr>
          </a:p>
        </p:txBody>
      </p:sp>
      <p:pic>
        <p:nvPicPr>
          <p:cNvPr id="5" name="Picture 4" descr="p_structure.png"/>
          <p:cNvPicPr>
            <a:picLocks noChangeAspect="1"/>
          </p:cNvPicPr>
          <p:nvPr/>
        </p:nvPicPr>
        <p:blipFill>
          <a:blip r:embed="rId1"/>
          <a:stretch>
            <a:fillRect/>
          </a:stretch>
        </p:blipFill>
        <p:spPr>
          <a:xfrm>
            <a:off x="612648" y="1713513"/>
            <a:ext cx="6492240" cy="2169101"/>
          </a:xfrm>
          <a:prstGeom prst="rect">
            <a:avLst/>
          </a:prstGeom>
        </p:spPr>
      </p:pic>
      <p:sp>
        <p:nvSpPr>
          <p:cNvPr id="24" name="Rounded Rectangle 23"/>
          <p:cNvSpPr/>
          <p:nvPr/>
        </p:nvSpPr>
        <p:spPr>
          <a:xfrm>
            <a:off x="7306055" y="1517904"/>
            <a:ext cx="4288536" cy="4937759"/>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06055" y="1517904"/>
            <a:ext cx="77724" cy="4937759"/>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hart.png"/>
          <p:cNvPicPr>
            <a:picLocks noChangeAspect="1"/>
          </p:cNvPicPr>
          <p:nvPr/>
        </p:nvPicPr>
        <p:blipFill>
          <a:blip r:embed="rId2"/>
          <a:stretch>
            <a:fillRect/>
          </a:stretch>
        </p:blipFill>
        <p:spPr>
          <a:xfrm>
            <a:off x="7525511" y="1682495"/>
            <a:ext cx="365760" cy="365760"/>
          </a:xfrm>
          <a:prstGeom prst="rect">
            <a:avLst/>
          </a:prstGeom>
        </p:spPr>
      </p:pic>
      <p:sp>
        <p:nvSpPr>
          <p:cNvPr id="27" name="TextBox 26"/>
          <p:cNvSpPr txBox="1"/>
          <p:nvPr/>
        </p:nvSpPr>
        <p:spPr>
          <a:xfrm>
            <a:off x="7982711" y="1664207"/>
            <a:ext cx="3502152" cy="402336"/>
          </a:xfrm>
          <a:prstGeom prst="rect">
            <a:avLst/>
          </a:prstGeom>
          <a:noFill/>
        </p:spPr>
        <p:txBody>
          <a:bodyPr wrap="square" lIns="0" tIns="0" bIns="36576" anchor="ctr">
            <a:spAutoFit/>
          </a:bodyPr>
          <a:lstStyle/>
          <a:p>
            <a:pPr algn="l">
              <a:spcAft>
                <a:spcPts val="400"/>
              </a:spcAft>
            </a:pPr>
            <a:r>
              <a:rPr sz="1900" b="1">
                <a:solidFill>
                  <a:srgbClr val="2E7D6B"/>
                </a:solidFill>
                <a:latin typeface="Noto Sans SC" panose="020B0200000000000000" charset="-122"/>
                <a:ea typeface="Noto Sans SC" panose="020B0200000000000000" charset="-122"/>
              </a:rPr>
              <a:t>分析</a:t>
            </a:r>
            <a:endParaRPr sz="1900" b="1">
              <a:solidFill>
                <a:srgbClr val="2E7D6B"/>
              </a:solidFill>
              <a:latin typeface="Noto Sans SC" panose="020B0200000000000000" charset="-122"/>
              <a:ea typeface="Noto Sans SC" panose="020B0200000000000000" charset="-122"/>
            </a:endParaRPr>
          </a:p>
        </p:txBody>
      </p:sp>
      <p:sp>
        <p:nvSpPr>
          <p:cNvPr id="28" name="TextBox 27"/>
          <p:cNvSpPr txBox="1"/>
          <p:nvPr/>
        </p:nvSpPr>
        <p:spPr>
          <a:xfrm>
            <a:off x="7562088" y="2176272"/>
            <a:ext cx="3886200" cy="4003040"/>
          </a:xfrm>
          <a:prstGeom prst="rect">
            <a:avLst/>
          </a:prstGeom>
          <a:noFill/>
        </p:spPr>
        <p:txBody>
          <a:bodyPr wrap="square">
            <a:spAutoFit/>
          </a:bodyPr>
          <a:lstStyle/>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2026年8月末江苏新能源装机</a:t>
            </a:r>
            <a:r>
              <a:rPr sz="1500" b="1">
                <a:solidFill>
                  <a:srgbClr val="1F5A4D"/>
                </a:solidFill>
                <a:latin typeface="Noto Sans SC" panose="020B0200000000000000" charset="-122"/>
                <a:ea typeface="Noto Sans SC" panose="020B0200000000000000" charset="-122"/>
              </a:rPr>
              <a:t>13869万千瓦</a:t>
            </a:r>
            <a:r>
              <a:rPr sz="1500" b="0">
                <a:solidFill>
                  <a:srgbClr val="4B5563"/>
                </a:solidFill>
                <a:latin typeface="Noto Sans SC" panose="020B0200000000000000" charset="-122"/>
                <a:ea typeface="Noto Sans SC" panose="020B0200000000000000" charset="-122"/>
              </a:rPr>
              <a:t>；分布式光伏</a:t>
            </a:r>
            <a:r>
              <a:rPr sz="1500" b="1">
                <a:solidFill>
                  <a:srgbClr val="1F5A4D"/>
                </a:solidFill>
                <a:latin typeface="Noto Sans SC" panose="020B0200000000000000" charset="-122"/>
                <a:ea typeface="Noto Sans SC" panose="020B0200000000000000" charset="-122"/>
              </a:rPr>
              <a:t>7001万千瓦</a:t>
            </a:r>
            <a:r>
              <a:rPr sz="1500" b="0">
                <a:solidFill>
                  <a:srgbClr val="4B5563"/>
                </a:solidFill>
                <a:latin typeface="Noto Sans SC" panose="020B0200000000000000" charset="-122"/>
                <a:ea typeface="Noto Sans SC" panose="020B0200000000000000" charset="-122"/>
              </a:rPr>
              <a:t>、占</a:t>
            </a:r>
            <a:r>
              <a:rPr sz="1500" b="1">
                <a:solidFill>
                  <a:srgbClr val="1F5A4D"/>
                </a:solidFill>
                <a:latin typeface="Noto Sans SC" panose="020B0200000000000000" charset="-122"/>
                <a:ea typeface="Noto Sans SC" panose="020B0200000000000000" charset="-122"/>
              </a:rPr>
              <a:t>50.5%</a:t>
            </a:r>
            <a:r>
              <a:rPr sz="1500" b="0">
                <a:solidFill>
                  <a:srgbClr val="4B5563"/>
                </a:solidFill>
                <a:latin typeface="Noto Sans SC" panose="020B0200000000000000" charset="-122"/>
                <a:ea typeface="Noto Sans SC" panose="020B0200000000000000" charset="-122"/>
              </a:rPr>
              <a:t>，为2021年末的</a:t>
            </a:r>
            <a:r>
              <a:rPr sz="1500" b="1">
                <a:solidFill>
                  <a:srgbClr val="1F5A4D"/>
                </a:solidFill>
                <a:latin typeface="Noto Sans SC" panose="020B0200000000000000" charset="-122"/>
                <a:ea typeface="Noto Sans SC" panose="020B0200000000000000" charset="-122"/>
              </a:rPr>
              <a:t>7.2倍</a:t>
            </a:r>
            <a:endParaRPr sz="15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首位品种换位：分布式光伏占比由</a:t>
            </a:r>
            <a:r>
              <a:rPr sz="1500" b="1">
                <a:solidFill>
                  <a:srgbClr val="1F5A4D"/>
                </a:solidFill>
                <a:latin typeface="Noto Sans SC" panose="020B0200000000000000" charset="-122"/>
                <a:ea typeface="Noto Sans SC" panose="020B0200000000000000" charset="-122"/>
              </a:rPr>
              <a:t>21.9%升至50.5%</a:t>
            </a:r>
            <a:r>
              <a:rPr sz="1500" b="0">
                <a:solidFill>
                  <a:srgbClr val="4B5563"/>
                </a:solidFill>
                <a:latin typeface="Noto Sans SC" panose="020B0200000000000000" charset="-122"/>
                <a:ea typeface="Noto Sans SC" panose="020B0200000000000000" charset="-122"/>
              </a:rPr>
              <a:t>，风电由</a:t>
            </a:r>
            <a:r>
              <a:rPr sz="1500" b="1">
                <a:solidFill>
                  <a:srgbClr val="1F5A4D"/>
                </a:solidFill>
                <a:latin typeface="Noto Sans SC" panose="020B0200000000000000" charset="-122"/>
                <a:ea typeface="Noto Sans SC" panose="020B0200000000000000" charset="-122"/>
              </a:rPr>
              <a:t>50.1%降至18.1%</a:t>
            </a:r>
            <a:endParaRPr sz="15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分布式光伏内部：工商业</a:t>
            </a:r>
            <a:r>
              <a:rPr sz="1500" b="1">
                <a:solidFill>
                  <a:srgbClr val="1F5A4D"/>
                </a:solidFill>
                <a:latin typeface="Noto Sans SC" panose="020B0200000000000000" charset="-122"/>
                <a:ea typeface="Noto Sans SC" panose="020B0200000000000000" charset="-122"/>
              </a:rPr>
              <a:t>4933.6万千瓦（占分布式70.5%）</a:t>
            </a:r>
            <a:r>
              <a:rPr sz="1500" b="0">
                <a:solidFill>
                  <a:srgbClr val="4B5563"/>
                </a:solidFill>
                <a:latin typeface="Noto Sans SC" panose="020B0200000000000000" charset="-122"/>
                <a:ea typeface="Noto Sans SC" panose="020B0200000000000000" charset="-122"/>
              </a:rPr>
              <a:t>、户用</a:t>
            </a:r>
            <a:r>
              <a:rPr sz="1500" b="1">
                <a:solidFill>
                  <a:srgbClr val="1F5A4D"/>
                </a:solidFill>
                <a:latin typeface="Noto Sans SC" panose="020B0200000000000000" charset="-122"/>
                <a:ea typeface="Noto Sans SC" panose="020B0200000000000000" charset="-122"/>
              </a:rPr>
              <a:t>1944.5万千瓦（27.8%）</a:t>
            </a:r>
            <a:endParaRPr sz="15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风电2504万千瓦（海上1349、陆上1155）；集中式光伏3129万千瓦、生物质335万千瓦</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2021年以来风电仅增</a:t>
            </a:r>
            <a:r>
              <a:rPr sz="1500" b="1">
                <a:solidFill>
                  <a:srgbClr val="1F5A4D"/>
                </a:solidFill>
                <a:latin typeface="Noto Sans SC" panose="020B0200000000000000" charset="-122"/>
                <a:ea typeface="Noto Sans SC" panose="020B0200000000000000" charset="-122"/>
              </a:rPr>
              <a:t>270万千瓦</a:t>
            </a:r>
            <a:r>
              <a:rPr sz="1500" b="0">
                <a:solidFill>
                  <a:srgbClr val="4B5563"/>
                </a:solidFill>
                <a:latin typeface="Noto Sans SC" panose="020B0200000000000000" charset="-122"/>
                <a:ea typeface="Noto Sans SC" panose="020B0200000000000000" charset="-122"/>
              </a:rPr>
              <a:t>，太阳能同期新增</a:t>
            </a:r>
            <a:r>
              <a:rPr sz="1500" b="1">
                <a:solidFill>
                  <a:srgbClr val="1F5A4D"/>
                </a:solidFill>
                <a:latin typeface="Noto Sans SC" panose="020B0200000000000000" charset="-122"/>
                <a:ea typeface="Noto Sans SC" panose="020B0200000000000000" charset="-122"/>
              </a:rPr>
              <a:t>6026万千瓦</a:t>
            </a:r>
            <a:endParaRPr sz="1500" b="1">
              <a:solidFill>
                <a:srgbClr val="1F5A4D"/>
              </a:solidFill>
              <a:latin typeface="Noto Sans SC" panose="020B0200000000000000" charset="-122"/>
              <a:ea typeface="Noto Sans SC" panose="020B0200000000000000" charset="-122"/>
            </a:endParaRPr>
          </a:p>
        </p:txBody>
      </p:sp>
      <p:sp>
        <p:nvSpPr>
          <p:cNvPr id="29" name="Rounded Rectangle 4"/>
          <p:cNvSpPr/>
          <p:nvPr/>
        </p:nvSpPr>
        <p:spPr>
          <a:xfrm>
            <a:off x="612648" y="4279392"/>
            <a:ext cx="216408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类别</a:t>
            </a:r>
            <a:endParaRPr sz="1300" b="1">
              <a:solidFill>
                <a:srgbClr val="FFFFFF"/>
              </a:solidFill>
              <a:latin typeface="Noto Sans SC" panose="020B0200000000000000" charset="-122"/>
              <a:ea typeface="Noto Sans SC" panose="020B0200000000000000" charset="-122"/>
            </a:endParaRPr>
          </a:p>
        </p:txBody>
      </p:sp>
      <p:sp>
        <p:nvSpPr>
          <p:cNvPr id="30" name="Rounded Rectangle 5"/>
          <p:cNvSpPr/>
          <p:nvPr/>
        </p:nvSpPr>
        <p:spPr>
          <a:xfrm>
            <a:off x="2776728" y="4279392"/>
            <a:ext cx="216408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装机（万千瓦）</a:t>
            </a:r>
            <a:endParaRPr sz="1300" b="1">
              <a:solidFill>
                <a:srgbClr val="FFFFFF"/>
              </a:solidFill>
              <a:latin typeface="Noto Sans SC" panose="020B0200000000000000" charset="-122"/>
              <a:ea typeface="Noto Sans SC" panose="020B0200000000000000" charset="-122"/>
            </a:endParaRPr>
          </a:p>
        </p:txBody>
      </p:sp>
      <p:sp>
        <p:nvSpPr>
          <p:cNvPr id="31" name="Rounded Rectangle 6"/>
          <p:cNvSpPr/>
          <p:nvPr/>
        </p:nvSpPr>
        <p:spPr>
          <a:xfrm>
            <a:off x="4940808" y="4279392"/>
            <a:ext cx="216408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占比</a:t>
            </a:r>
            <a:endParaRPr sz="1300" b="1">
              <a:solidFill>
                <a:srgbClr val="FFFFFF"/>
              </a:solidFill>
              <a:latin typeface="Noto Sans SC" panose="020B0200000000000000" charset="-122"/>
              <a:ea typeface="Noto Sans SC" panose="020B0200000000000000" charset="-122"/>
            </a:endParaRPr>
          </a:p>
        </p:txBody>
      </p:sp>
      <p:sp>
        <p:nvSpPr>
          <p:cNvPr id="32" name="Rounded Rectangle 7"/>
          <p:cNvSpPr/>
          <p:nvPr/>
        </p:nvSpPr>
        <p:spPr>
          <a:xfrm>
            <a:off x="612648" y="4663440"/>
            <a:ext cx="2164080" cy="448056"/>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分布式光伏·工商业</a:t>
            </a:r>
            <a:endParaRPr sz="1250" b="0">
              <a:solidFill>
                <a:srgbClr val="2B3338"/>
              </a:solidFill>
              <a:latin typeface="Noto Sans SC" panose="020B0200000000000000" charset="-122"/>
              <a:ea typeface="Noto Sans SC" panose="020B0200000000000000" charset="-122"/>
            </a:endParaRPr>
          </a:p>
        </p:txBody>
      </p:sp>
      <p:sp>
        <p:nvSpPr>
          <p:cNvPr id="33" name="Rounded Rectangle 8"/>
          <p:cNvSpPr/>
          <p:nvPr/>
        </p:nvSpPr>
        <p:spPr>
          <a:xfrm>
            <a:off x="2776728" y="4663440"/>
            <a:ext cx="2164080" cy="448056"/>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4933.6</a:t>
            </a:r>
            <a:endParaRPr sz="1250" b="1">
              <a:solidFill>
                <a:srgbClr val="1F5A4D"/>
              </a:solidFill>
              <a:latin typeface="Noto Sans SC" panose="020B0200000000000000" charset="-122"/>
              <a:ea typeface="Noto Sans SC" panose="020B0200000000000000" charset="-122"/>
            </a:endParaRPr>
          </a:p>
        </p:txBody>
      </p:sp>
      <p:sp>
        <p:nvSpPr>
          <p:cNvPr id="34" name="Rounded Rectangle 9"/>
          <p:cNvSpPr/>
          <p:nvPr/>
        </p:nvSpPr>
        <p:spPr>
          <a:xfrm>
            <a:off x="4940808" y="4663440"/>
            <a:ext cx="2164080" cy="448056"/>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70.5%</a:t>
            </a:r>
            <a:endParaRPr sz="1250" b="1">
              <a:solidFill>
                <a:srgbClr val="1F5A4D"/>
              </a:solidFill>
              <a:latin typeface="Noto Sans SC" panose="020B0200000000000000" charset="-122"/>
              <a:ea typeface="Noto Sans SC" panose="020B0200000000000000" charset="-122"/>
            </a:endParaRPr>
          </a:p>
        </p:txBody>
      </p:sp>
      <p:sp>
        <p:nvSpPr>
          <p:cNvPr id="35" name="Rounded Rectangle 10"/>
          <p:cNvSpPr/>
          <p:nvPr/>
        </p:nvSpPr>
        <p:spPr>
          <a:xfrm>
            <a:off x="612648" y="5111496"/>
            <a:ext cx="2164080" cy="448056"/>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分布式光伏·户用</a:t>
            </a:r>
            <a:endParaRPr sz="1250" b="0">
              <a:solidFill>
                <a:srgbClr val="2B3338"/>
              </a:solidFill>
              <a:latin typeface="Noto Sans SC" panose="020B0200000000000000" charset="-122"/>
              <a:ea typeface="Noto Sans SC" panose="020B0200000000000000" charset="-122"/>
            </a:endParaRPr>
          </a:p>
        </p:txBody>
      </p:sp>
      <p:sp>
        <p:nvSpPr>
          <p:cNvPr id="36" name="Rounded Rectangle 11"/>
          <p:cNvSpPr/>
          <p:nvPr/>
        </p:nvSpPr>
        <p:spPr>
          <a:xfrm>
            <a:off x="2776728" y="5111496"/>
            <a:ext cx="2164080" cy="448056"/>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1944.5</a:t>
            </a:r>
            <a:endParaRPr sz="1250" b="1">
              <a:solidFill>
                <a:srgbClr val="1F5A4D"/>
              </a:solidFill>
              <a:latin typeface="Noto Sans SC" panose="020B0200000000000000" charset="-122"/>
              <a:ea typeface="Noto Sans SC" panose="020B0200000000000000" charset="-122"/>
            </a:endParaRPr>
          </a:p>
        </p:txBody>
      </p:sp>
      <p:sp>
        <p:nvSpPr>
          <p:cNvPr id="37" name="Rounded Rectangle 12"/>
          <p:cNvSpPr/>
          <p:nvPr/>
        </p:nvSpPr>
        <p:spPr>
          <a:xfrm>
            <a:off x="4940808" y="5111496"/>
            <a:ext cx="2164080" cy="448056"/>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27.8%</a:t>
            </a:r>
            <a:endParaRPr sz="1250" b="1">
              <a:solidFill>
                <a:srgbClr val="1F5A4D"/>
              </a:solidFill>
              <a:latin typeface="Noto Sans SC" panose="020B0200000000000000" charset="-122"/>
              <a:ea typeface="Noto Sans SC" panose="020B0200000000000000" charset="-122"/>
            </a:endParaRPr>
          </a:p>
        </p:txBody>
      </p:sp>
      <p:sp>
        <p:nvSpPr>
          <p:cNvPr id="38" name="Rounded Rectangle 13"/>
          <p:cNvSpPr/>
          <p:nvPr/>
        </p:nvSpPr>
        <p:spPr>
          <a:xfrm>
            <a:off x="612648" y="5559552"/>
            <a:ext cx="2164080" cy="448056"/>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风电·海上</a:t>
            </a:r>
            <a:endParaRPr sz="1250" b="0">
              <a:solidFill>
                <a:srgbClr val="2B3338"/>
              </a:solidFill>
              <a:latin typeface="Noto Sans SC" panose="020B0200000000000000" charset="-122"/>
              <a:ea typeface="Noto Sans SC" panose="020B0200000000000000" charset="-122"/>
            </a:endParaRPr>
          </a:p>
        </p:txBody>
      </p:sp>
      <p:sp>
        <p:nvSpPr>
          <p:cNvPr id="39" name="Rounded Rectangle 14"/>
          <p:cNvSpPr/>
          <p:nvPr/>
        </p:nvSpPr>
        <p:spPr>
          <a:xfrm>
            <a:off x="2776728" y="5559552"/>
            <a:ext cx="2164080" cy="448056"/>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1349</a:t>
            </a:r>
            <a:endParaRPr sz="1250" b="1">
              <a:solidFill>
                <a:srgbClr val="1F5A4D"/>
              </a:solidFill>
              <a:latin typeface="Noto Sans SC" panose="020B0200000000000000" charset="-122"/>
              <a:ea typeface="Noto Sans SC" panose="020B0200000000000000" charset="-122"/>
            </a:endParaRPr>
          </a:p>
        </p:txBody>
      </p:sp>
      <p:sp>
        <p:nvSpPr>
          <p:cNvPr id="40" name="Rounded Rectangle 15"/>
          <p:cNvSpPr/>
          <p:nvPr/>
        </p:nvSpPr>
        <p:spPr>
          <a:xfrm>
            <a:off x="4940808" y="5559552"/>
            <a:ext cx="2164080" cy="448056"/>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53.9%</a:t>
            </a:r>
            <a:endParaRPr sz="1250" b="1">
              <a:solidFill>
                <a:srgbClr val="1F5A4D"/>
              </a:solidFill>
              <a:latin typeface="Noto Sans SC" panose="020B0200000000000000" charset="-122"/>
              <a:ea typeface="Noto Sans SC" panose="020B0200000000000000" charset="-122"/>
            </a:endParaRPr>
          </a:p>
        </p:txBody>
      </p:sp>
      <p:sp>
        <p:nvSpPr>
          <p:cNvPr id="41" name="Rounded Rectangle 16"/>
          <p:cNvSpPr/>
          <p:nvPr/>
        </p:nvSpPr>
        <p:spPr>
          <a:xfrm>
            <a:off x="612648" y="6007608"/>
            <a:ext cx="2164080" cy="448056"/>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风电·陆上</a:t>
            </a:r>
            <a:endParaRPr sz="1250" b="0">
              <a:solidFill>
                <a:srgbClr val="2B3338"/>
              </a:solidFill>
              <a:latin typeface="Noto Sans SC" panose="020B0200000000000000" charset="-122"/>
              <a:ea typeface="Noto Sans SC" panose="020B0200000000000000" charset="-122"/>
            </a:endParaRPr>
          </a:p>
        </p:txBody>
      </p:sp>
      <p:sp>
        <p:nvSpPr>
          <p:cNvPr id="42" name="Rounded Rectangle 17"/>
          <p:cNvSpPr/>
          <p:nvPr/>
        </p:nvSpPr>
        <p:spPr>
          <a:xfrm>
            <a:off x="2776728" y="6007608"/>
            <a:ext cx="2164080" cy="448056"/>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1155</a:t>
            </a:r>
            <a:endParaRPr sz="1250" b="1">
              <a:solidFill>
                <a:srgbClr val="1F5A4D"/>
              </a:solidFill>
              <a:latin typeface="Noto Sans SC" panose="020B0200000000000000" charset="-122"/>
              <a:ea typeface="Noto Sans SC" panose="020B0200000000000000" charset="-122"/>
            </a:endParaRPr>
          </a:p>
        </p:txBody>
      </p:sp>
      <p:sp>
        <p:nvSpPr>
          <p:cNvPr id="43" name="Rounded Rectangle 18"/>
          <p:cNvSpPr/>
          <p:nvPr/>
        </p:nvSpPr>
        <p:spPr>
          <a:xfrm>
            <a:off x="4940808" y="6007608"/>
            <a:ext cx="2164080" cy="448056"/>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46.1%</a:t>
            </a:r>
            <a:endParaRPr sz="1250" b="1">
              <a:solidFill>
                <a:srgbClr val="1F5A4D"/>
              </a:solidFill>
              <a:latin typeface="Noto Sans SC" panose="020B0200000000000000" charset="-122"/>
              <a:ea typeface="Noto Sans SC" panose="020B0200000000000000" charset="-122"/>
            </a:endParaRPr>
          </a:p>
        </p:txBody>
      </p:sp>
      <p:sp>
        <p:nvSpPr>
          <p:cNvPr id="44" name="TextBox 43">
            <a:hlinkClick r:id="rId3" action="ppaction://hlinksldjump"/>
          </p:cNvPr>
          <p:cNvSpPr txBox="1"/>
          <p:nvPr/>
        </p:nvSpPr>
        <p:spPr>
          <a:xfrm>
            <a:off x="11238992" y="274320"/>
            <a:ext cx="309880" cy="260350"/>
          </a:xfrm>
          <a:prstGeom prst="rect">
            <a:avLst/>
          </a:prstGeom>
          <a:noFill/>
        </p:spPr>
        <p:txBody>
          <a:bodyPr wrap="none">
            <a:spAutoFit/>
          </a:bodyPr>
          <a:lstStyle/>
          <a:p>
            <a:pPr algn="r"/>
            <a:endParaRPr sz="1100">
              <a:solidFill>
                <a:srgbClr val="2E7D6B"/>
              </a:solidFill>
              <a:latin typeface="Noto Sans SC" panose="020B0200000000000000" charset="-122"/>
              <a:ea typeface="Noto Sans SC" panose="020B0200000000000000" charset="-122"/>
            </a:endParaRPr>
          </a:p>
        </p:txBody>
      </p:sp>
      <p:sp>
        <p:nvSpPr>
          <p:cNvPr id="6" name="文本框 5"/>
          <p:cNvSpPr txBox="1"/>
          <p:nvPr/>
        </p:nvSpPr>
        <p:spPr>
          <a:xfrm>
            <a:off x="822960" y="170815"/>
            <a:ext cx="11137900" cy="613410"/>
          </a:xfrm>
          <a:prstGeom prst="rect">
            <a:avLst/>
          </a:prstGeom>
          <a:noFill/>
        </p:spPr>
        <p:txBody>
          <a:bodyPr wrap="square" rtlCol="0">
            <a:noAutofit/>
          </a:bodyPr>
          <a:lstStyle/>
          <a:p>
            <a:pPr algn="l">
              <a:buClrTx/>
              <a:buSzTx/>
              <a:buFontTx/>
              <a:buNone/>
            </a:pPr>
            <a:r>
              <a:rPr lang="zh-CN" sz="2400" b="1">
                <a:solidFill>
                  <a:srgbClr val="1F5A4D"/>
                </a:solidFill>
                <a:latin typeface="微软雅黑" panose="020B0503020204020204" pitchFamily="34" charset="-122"/>
                <a:ea typeface="微软雅黑" panose="020B0503020204020204" pitchFamily="34" charset="-122"/>
                <a:sym typeface="+mn-ea"/>
              </a:rPr>
              <a:t>4 新兴要素发展及其对电力市场影响的多维度统计分析</a:t>
            </a:r>
            <a:r>
              <a:rPr lang="en-US" altLang="zh-CN" sz="2800" b="1">
                <a:solidFill>
                  <a:srgbClr val="1F5A4D"/>
                </a:solidFill>
                <a:latin typeface="微软雅黑" panose="020B0503020204020204" pitchFamily="34" charset="-122"/>
                <a:ea typeface="微软雅黑" panose="020B0503020204020204" pitchFamily="34" charset="-122"/>
                <a:sym typeface="+mn-ea"/>
              </a:rPr>
              <a:t>    </a:t>
            </a:r>
            <a:r>
              <a:rPr lang="zh-CN" altLang="en-US" sz="2200" b="1">
                <a:solidFill>
                  <a:srgbClr val="029694"/>
                </a:solidFill>
                <a:latin typeface="Noto Sans SC" panose="020B0200000000000000" charset="-122"/>
                <a:ea typeface="Noto Sans SC" panose="020B0200000000000000" charset="-122"/>
                <a:cs typeface="Noto Sans SC" panose="020B0200000000000000" charset="-122"/>
                <a:sym typeface="+mn-ea"/>
              </a:rPr>
              <a:t>时间维度</a:t>
            </a:r>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a:p>
            <a:pPr algn="l">
              <a:buClrTx/>
              <a:buSzTx/>
              <a:buFontTx/>
            </a:pPr>
            <a:endParaRPr lang="en-US" sz="2200" b="1">
              <a:solidFill>
                <a:schemeClr val="accent3"/>
              </a:solidFill>
              <a:latin typeface="Noto Sans SC" panose="020B0200000000000000" charset="-122"/>
              <a:ea typeface="Noto Sans SC" panose="020B0200000000000000" charset="-122"/>
              <a:cs typeface="Noto Sans SC" panose="020B0200000000000000" charset="-122"/>
              <a:sym typeface="+mn-ea"/>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lang="zh-CN" sz="2100" b="0">
                <a:solidFill>
                  <a:srgbClr val="1F5A4D"/>
                </a:solidFill>
                <a:latin typeface="微软雅黑" panose="020B0503020204020204" pitchFamily="34" charset="-122"/>
                <a:ea typeface="微软雅黑" panose="020B0503020204020204" pitchFamily="34" charset="-122"/>
              </a:rPr>
              <a:t>分布式光伏</a:t>
            </a:r>
            <a:r>
              <a:rPr sz="2100" b="0">
                <a:solidFill>
                  <a:srgbClr val="1F5A4D"/>
                </a:solidFill>
                <a:latin typeface="微软雅黑" panose="020B0503020204020204" pitchFamily="34" charset="-122"/>
                <a:ea typeface="微软雅黑" panose="020B0503020204020204" pitchFamily="34" charset="-122"/>
              </a:rPr>
              <a:t>上网电量占发电量比重升至52.5%，市场电价影响增强</a:t>
            </a:r>
            <a:endParaRPr sz="2100" b="0">
              <a:solidFill>
                <a:srgbClr val="1F5A4D"/>
              </a:solidFill>
              <a:latin typeface="微软雅黑" panose="020B0503020204020204" pitchFamily="34" charset="-122"/>
              <a:ea typeface="微软雅黑" panose="020B0503020204020204" pitchFamily="34" charset="-122"/>
            </a:endParaRPr>
          </a:p>
        </p:txBody>
      </p:sp>
      <p:sp>
        <p:nvSpPr>
          <p:cNvPr id="6" name="Rounded Rectangle 5"/>
          <p:cNvSpPr/>
          <p:nvPr/>
        </p:nvSpPr>
        <p:spPr>
          <a:xfrm>
            <a:off x="612648" y="4224528"/>
            <a:ext cx="216408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年份</a:t>
            </a:r>
            <a:endParaRPr sz="1300" b="1">
              <a:solidFill>
                <a:srgbClr val="FFFFFF"/>
              </a:solidFill>
              <a:latin typeface="Noto Sans SC" panose="020B0200000000000000" charset="-122"/>
              <a:ea typeface="Noto Sans SC" panose="020B0200000000000000" charset="-122"/>
            </a:endParaRPr>
          </a:p>
        </p:txBody>
      </p:sp>
      <p:sp>
        <p:nvSpPr>
          <p:cNvPr id="7" name="Rounded Rectangle 6"/>
          <p:cNvSpPr/>
          <p:nvPr/>
        </p:nvSpPr>
        <p:spPr>
          <a:xfrm>
            <a:off x="2776728" y="4224528"/>
            <a:ext cx="216408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发电量增速</a:t>
            </a:r>
            <a:endParaRPr sz="1300" b="1">
              <a:solidFill>
                <a:srgbClr val="FFFFFF"/>
              </a:solidFill>
              <a:latin typeface="Noto Sans SC" panose="020B0200000000000000" charset="-122"/>
              <a:ea typeface="Noto Sans SC" panose="020B0200000000000000" charset="-122"/>
            </a:endParaRPr>
          </a:p>
        </p:txBody>
      </p:sp>
      <p:sp>
        <p:nvSpPr>
          <p:cNvPr id="8" name="Rounded Rectangle 7"/>
          <p:cNvSpPr/>
          <p:nvPr/>
        </p:nvSpPr>
        <p:spPr>
          <a:xfrm>
            <a:off x="4940808" y="4224528"/>
            <a:ext cx="216408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上网电量增速</a:t>
            </a:r>
            <a:endParaRPr sz="1300" b="1">
              <a:solidFill>
                <a:srgbClr val="FFFFFF"/>
              </a:solidFill>
              <a:latin typeface="Noto Sans SC" panose="020B0200000000000000" charset="-122"/>
              <a:ea typeface="Noto Sans SC" panose="020B0200000000000000" charset="-122"/>
            </a:endParaRPr>
          </a:p>
        </p:txBody>
      </p:sp>
      <p:sp>
        <p:nvSpPr>
          <p:cNvPr id="9" name="Rounded Rectangle 8"/>
          <p:cNvSpPr/>
          <p:nvPr/>
        </p:nvSpPr>
        <p:spPr>
          <a:xfrm>
            <a:off x="612648" y="4608576"/>
            <a:ext cx="2164080" cy="461771"/>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2022</a:t>
            </a:r>
            <a:endParaRPr sz="1250" b="0">
              <a:solidFill>
                <a:srgbClr val="2B3338"/>
              </a:solidFill>
              <a:latin typeface="Noto Sans SC" panose="020B0200000000000000" charset="-122"/>
              <a:ea typeface="Noto Sans SC" panose="020B0200000000000000" charset="-122"/>
            </a:endParaRPr>
          </a:p>
        </p:txBody>
      </p:sp>
      <p:sp>
        <p:nvSpPr>
          <p:cNvPr id="10" name="Rounded Rectangle 9"/>
          <p:cNvSpPr/>
          <p:nvPr/>
        </p:nvSpPr>
        <p:spPr>
          <a:xfrm>
            <a:off x="2776728" y="4608576"/>
            <a:ext cx="2164080" cy="461771"/>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+69.2%</a:t>
            </a:r>
            <a:endParaRPr sz="1250" b="1">
              <a:solidFill>
                <a:srgbClr val="1F5A4D"/>
              </a:solidFill>
              <a:latin typeface="Noto Sans SC" panose="020B0200000000000000" charset="-122"/>
              <a:ea typeface="Noto Sans SC" panose="020B0200000000000000" charset="-122"/>
            </a:endParaRPr>
          </a:p>
        </p:txBody>
      </p:sp>
      <p:sp>
        <p:nvSpPr>
          <p:cNvPr id="11" name="Rounded Rectangle 10"/>
          <p:cNvSpPr/>
          <p:nvPr/>
        </p:nvSpPr>
        <p:spPr>
          <a:xfrm>
            <a:off x="4940808" y="4608576"/>
            <a:ext cx="2164080" cy="461771"/>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+60.4%</a:t>
            </a:r>
            <a:endParaRPr sz="1250" b="1">
              <a:solidFill>
                <a:srgbClr val="1F5A4D"/>
              </a:solidFill>
              <a:latin typeface="Noto Sans SC" panose="020B0200000000000000" charset="-122"/>
              <a:ea typeface="Noto Sans SC" panose="020B0200000000000000" charset="-122"/>
            </a:endParaRPr>
          </a:p>
        </p:txBody>
      </p:sp>
      <p:sp>
        <p:nvSpPr>
          <p:cNvPr id="12" name="Rounded Rectangle 11"/>
          <p:cNvSpPr/>
          <p:nvPr/>
        </p:nvSpPr>
        <p:spPr>
          <a:xfrm>
            <a:off x="612648" y="5070348"/>
            <a:ext cx="2164080" cy="461771"/>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2023</a:t>
            </a:r>
            <a:endParaRPr sz="1250" b="0">
              <a:solidFill>
                <a:srgbClr val="2B3338"/>
              </a:solidFill>
              <a:latin typeface="Noto Sans SC" panose="020B0200000000000000" charset="-122"/>
              <a:ea typeface="Noto Sans SC" panose="020B0200000000000000" charset="-122"/>
            </a:endParaRPr>
          </a:p>
        </p:txBody>
      </p:sp>
      <p:sp>
        <p:nvSpPr>
          <p:cNvPr id="13" name="Rounded Rectangle 12"/>
          <p:cNvSpPr/>
          <p:nvPr/>
        </p:nvSpPr>
        <p:spPr>
          <a:xfrm>
            <a:off x="2776728" y="5070348"/>
            <a:ext cx="2164080" cy="461771"/>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+75.8%</a:t>
            </a:r>
            <a:endParaRPr sz="1250" b="1">
              <a:solidFill>
                <a:srgbClr val="1F5A4D"/>
              </a:solidFill>
              <a:latin typeface="Noto Sans SC" panose="020B0200000000000000" charset="-122"/>
              <a:ea typeface="Noto Sans SC" panose="020B0200000000000000" charset="-122"/>
            </a:endParaRPr>
          </a:p>
        </p:txBody>
      </p:sp>
      <p:sp>
        <p:nvSpPr>
          <p:cNvPr id="14" name="Rounded Rectangle 13"/>
          <p:cNvSpPr/>
          <p:nvPr/>
        </p:nvSpPr>
        <p:spPr>
          <a:xfrm>
            <a:off x="4940808" y="5070348"/>
            <a:ext cx="2164080" cy="461771"/>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+112.6%</a:t>
            </a:r>
            <a:endParaRPr sz="1250" b="1">
              <a:solidFill>
                <a:srgbClr val="1F5A4D"/>
              </a:solidFill>
              <a:latin typeface="Noto Sans SC" panose="020B0200000000000000" charset="-122"/>
              <a:ea typeface="Noto Sans SC" panose="020B0200000000000000" charset="-122"/>
            </a:endParaRPr>
          </a:p>
        </p:txBody>
      </p:sp>
      <p:sp>
        <p:nvSpPr>
          <p:cNvPr id="15" name="Rounded Rectangle 14"/>
          <p:cNvSpPr/>
          <p:nvPr/>
        </p:nvSpPr>
        <p:spPr>
          <a:xfrm>
            <a:off x="612648" y="5532120"/>
            <a:ext cx="2164080" cy="461771"/>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2024</a:t>
            </a:r>
            <a:endParaRPr sz="1250" b="0">
              <a:solidFill>
                <a:srgbClr val="2B3338"/>
              </a:solidFill>
              <a:latin typeface="Noto Sans SC" panose="020B0200000000000000" charset="-122"/>
              <a:ea typeface="Noto Sans SC" panose="020B0200000000000000" charset="-122"/>
            </a:endParaRPr>
          </a:p>
        </p:txBody>
      </p:sp>
      <p:sp>
        <p:nvSpPr>
          <p:cNvPr id="16" name="Rounded Rectangle 15"/>
          <p:cNvSpPr/>
          <p:nvPr/>
        </p:nvSpPr>
        <p:spPr>
          <a:xfrm>
            <a:off x="2776728" y="5532120"/>
            <a:ext cx="2164080" cy="461771"/>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+80.5%</a:t>
            </a:r>
            <a:endParaRPr sz="1250" b="1">
              <a:solidFill>
                <a:srgbClr val="1F5A4D"/>
              </a:solidFill>
              <a:latin typeface="Noto Sans SC" panose="020B0200000000000000" charset="-122"/>
              <a:ea typeface="Noto Sans SC" panose="020B0200000000000000" charset="-122"/>
            </a:endParaRPr>
          </a:p>
        </p:txBody>
      </p:sp>
      <p:sp>
        <p:nvSpPr>
          <p:cNvPr id="17" name="Rounded Rectangle 16"/>
          <p:cNvSpPr/>
          <p:nvPr/>
        </p:nvSpPr>
        <p:spPr>
          <a:xfrm>
            <a:off x="4940808" y="5532120"/>
            <a:ext cx="2164080" cy="461771"/>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+125.9%</a:t>
            </a:r>
            <a:endParaRPr sz="1250" b="1">
              <a:solidFill>
                <a:srgbClr val="1F5A4D"/>
              </a:solidFill>
              <a:latin typeface="Noto Sans SC" panose="020B0200000000000000" charset="-122"/>
              <a:ea typeface="Noto Sans SC" panose="020B0200000000000000" charset="-122"/>
            </a:endParaRPr>
          </a:p>
        </p:txBody>
      </p:sp>
      <p:sp>
        <p:nvSpPr>
          <p:cNvPr id="18" name="Rounded Rectangle 17"/>
          <p:cNvSpPr/>
          <p:nvPr/>
        </p:nvSpPr>
        <p:spPr>
          <a:xfrm>
            <a:off x="612648" y="5993892"/>
            <a:ext cx="2164080" cy="461771"/>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2025</a:t>
            </a:r>
            <a:endParaRPr sz="1250" b="0">
              <a:solidFill>
                <a:srgbClr val="2B3338"/>
              </a:solidFill>
              <a:latin typeface="Noto Sans SC" panose="020B0200000000000000" charset="-122"/>
              <a:ea typeface="Noto Sans SC" panose="020B0200000000000000" charset="-122"/>
            </a:endParaRPr>
          </a:p>
        </p:txBody>
      </p:sp>
      <p:sp>
        <p:nvSpPr>
          <p:cNvPr id="19" name="Rounded Rectangle 18"/>
          <p:cNvSpPr/>
          <p:nvPr/>
        </p:nvSpPr>
        <p:spPr>
          <a:xfrm>
            <a:off x="2776728" y="5993892"/>
            <a:ext cx="2164080" cy="461771"/>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+59.3%</a:t>
            </a:r>
            <a:endParaRPr sz="1250" b="1">
              <a:solidFill>
                <a:srgbClr val="1F5A4D"/>
              </a:solidFill>
              <a:latin typeface="Noto Sans SC" panose="020B0200000000000000" charset="-122"/>
              <a:ea typeface="Noto Sans SC" panose="020B0200000000000000" charset="-122"/>
            </a:endParaRPr>
          </a:p>
        </p:txBody>
      </p:sp>
      <p:sp>
        <p:nvSpPr>
          <p:cNvPr id="20" name="Rounded Rectangle 19"/>
          <p:cNvSpPr/>
          <p:nvPr/>
        </p:nvSpPr>
        <p:spPr>
          <a:xfrm>
            <a:off x="4940808" y="5993892"/>
            <a:ext cx="2164080" cy="461771"/>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+65.2%</a:t>
            </a:r>
            <a:endParaRPr sz="1250" b="1">
              <a:solidFill>
                <a:srgbClr val="1F5A4D"/>
              </a:solidFill>
              <a:latin typeface="Noto Sans SC" panose="020B0200000000000000" charset="-122"/>
              <a:ea typeface="Noto Sans SC" panose="020B0200000000000000" charset="-122"/>
            </a:endParaRPr>
          </a:p>
        </p:txBody>
      </p:sp>
      <p:sp>
        <p:nvSpPr>
          <p:cNvPr id="21" name="Rounded Rectangle 20"/>
          <p:cNvSpPr/>
          <p:nvPr/>
        </p:nvSpPr>
        <p:spPr>
          <a:xfrm>
            <a:off x="7306055" y="1517904"/>
            <a:ext cx="4288536" cy="4937759"/>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06055" y="1517904"/>
            <a:ext cx="77724" cy="4937759"/>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hart.png"/>
          <p:cNvPicPr>
            <a:picLocks noChangeAspect="1"/>
          </p:cNvPicPr>
          <p:nvPr/>
        </p:nvPicPr>
        <p:blipFill>
          <a:blip r:embed="rId1"/>
          <a:stretch>
            <a:fillRect/>
          </a:stretch>
        </p:blipFill>
        <p:spPr>
          <a:xfrm>
            <a:off x="7525511" y="1682495"/>
            <a:ext cx="365760" cy="365760"/>
          </a:xfrm>
          <a:prstGeom prst="rect">
            <a:avLst/>
          </a:prstGeom>
        </p:spPr>
      </p:pic>
      <p:sp>
        <p:nvSpPr>
          <p:cNvPr id="24" name="TextBox 23"/>
          <p:cNvSpPr txBox="1"/>
          <p:nvPr/>
        </p:nvSpPr>
        <p:spPr>
          <a:xfrm>
            <a:off x="7982711" y="1664207"/>
            <a:ext cx="3502152" cy="402336"/>
          </a:xfrm>
          <a:prstGeom prst="rect">
            <a:avLst/>
          </a:prstGeom>
          <a:noFill/>
        </p:spPr>
        <p:txBody>
          <a:bodyPr wrap="square" lIns="0" tIns="0" bIns="36576" anchor="ctr">
            <a:spAutoFit/>
          </a:bodyPr>
          <a:lstStyle/>
          <a:p>
            <a:pPr algn="l">
              <a:spcAft>
                <a:spcPts val="400"/>
              </a:spcAft>
            </a:pPr>
            <a:r>
              <a:rPr sz="1900" b="1">
                <a:solidFill>
                  <a:srgbClr val="2E7D6B"/>
                </a:solidFill>
                <a:latin typeface="Noto Sans SC" panose="020B0200000000000000" charset="-122"/>
                <a:ea typeface="Noto Sans SC" panose="020B0200000000000000" charset="-122"/>
              </a:rPr>
              <a:t>分析</a:t>
            </a:r>
            <a:endParaRPr sz="1900" b="1">
              <a:solidFill>
                <a:srgbClr val="2E7D6B"/>
              </a:solidFill>
              <a:latin typeface="Noto Sans SC" panose="020B0200000000000000" charset="-122"/>
              <a:ea typeface="Noto Sans SC" panose="020B0200000000000000" charset="-122"/>
            </a:endParaRPr>
          </a:p>
        </p:txBody>
      </p:sp>
      <p:sp>
        <p:nvSpPr>
          <p:cNvPr id="25" name="TextBox 24"/>
          <p:cNvSpPr txBox="1"/>
          <p:nvPr/>
        </p:nvSpPr>
        <p:spPr>
          <a:xfrm>
            <a:off x="7599553" y="2001647"/>
            <a:ext cx="3886200" cy="4486910"/>
          </a:xfrm>
          <a:prstGeom prst="rect">
            <a:avLst/>
          </a:prstGeom>
          <a:noFill/>
        </p:spPr>
        <p:txBody>
          <a:bodyPr wrap="square">
            <a:spAutoFit/>
          </a:bodyPr>
          <a:lstStyle/>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分布式光伏上网电量占其发电量比重由</a:t>
            </a:r>
            <a:r>
              <a:rPr sz="1500" b="1">
                <a:solidFill>
                  <a:srgbClr val="1F5A4D"/>
                </a:solidFill>
                <a:latin typeface="Noto Sans SC" panose="020B0200000000000000" charset="-122"/>
                <a:ea typeface="Noto Sans SC" panose="020B0200000000000000" charset="-122"/>
              </a:rPr>
              <a:t>35.3%（2021）升至52.5%（2025）</a:t>
            </a:r>
            <a:r>
              <a:rPr sz="1500" b="0">
                <a:solidFill>
                  <a:srgbClr val="4B5563"/>
                </a:solidFill>
                <a:latin typeface="Noto Sans SC" panose="020B0200000000000000" charset="-122"/>
                <a:ea typeface="Noto Sans SC" panose="020B0200000000000000" charset="-122"/>
              </a:rPr>
              <a:t>，四年提高</a:t>
            </a:r>
            <a:r>
              <a:rPr sz="1500" b="1">
                <a:solidFill>
                  <a:srgbClr val="1F5A4D"/>
                </a:solidFill>
                <a:latin typeface="Noto Sans SC" panose="020B0200000000000000" charset="-122"/>
                <a:ea typeface="Noto Sans SC" panose="020B0200000000000000" charset="-122"/>
              </a:rPr>
              <a:t>17.2个百分点；2026年8月月度值为52.0%</a:t>
            </a:r>
            <a:endParaRPr sz="15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占比跃升集中于</a:t>
            </a:r>
            <a:r>
              <a:rPr sz="1500" b="1">
                <a:solidFill>
                  <a:srgbClr val="1F5A4D"/>
                </a:solidFill>
                <a:latin typeface="Noto Sans SC" panose="020B0200000000000000" charset="-122"/>
                <a:ea typeface="Noto Sans SC" panose="020B0200000000000000" charset="-122"/>
              </a:rPr>
              <a:t>2023—2024年</a:t>
            </a:r>
            <a:r>
              <a:rPr sz="1500" b="0">
                <a:solidFill>
                  <a:srgbClr val="4B5563"/>
                </a:solidFill>
                <a:latin typeface="Noto Sans SC" panose="020B0200000000000000" charset="-122"/>
                <a:ea typeface="Noto Sans SC" panose="020B0200000000000000" charset="-122"/>
              </a:rPr>
              <a:t>，与绿证全覆盖、绿电交易纳入中长期市场</a:t>
            </a:r>
            <a:r>
              <a:rPr sz="1500" b="1">
                <a:solidFill>
                  <a:srgbClr val="1F5A4D"/>
                </a:solidFill>
                <a:latin typeface="Noto Sans SC" panose="020B0200000000000000" charset="-122"/>
                <a:ea typeface="Noto Sans SC" panose="020B0200000000000000" charset="-122"/>
              </a:rPr>
              <a:t>相伴随</a:t>
            </a:r>
            <a:endParaRPr sz="15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上网电量增速自2023年起高于发电量增速，2024年两者相差</a:t>
            </a:r>
            <a:r>
              <a:rPr sz="1500" b="1">
                <a:solidFill>
                  <a:srgbClr val="1F5A4D"/>
                </a:solidFill>
                <a:latin typeface="Noto Sans SC" panose="020B0200000000000000" charset="-122"/>
                <a:ea typeface="Noto Sans SC" panose="020B0200000000000000" charset="-122"/>
              </a:rPr>
              <a:t>45个百分点</a:t>
            </a:r>
            <a:r>
              <a:rPr sz="1500" b="0">
                <a:solidFill>
                  <a:srgbClr val="4B5563"/>
                </a:solidFill>
                <a:latin typeface="Noto Sans SC" panose="020B0200000000000000" charset="-122"/>
                <a:ea typeface="Noto Sans SC" panose="020B0200000000000000" charset="-122"/>
              </a:rPr>
              <a:t>（上网+125.9%、发电+80.5%）</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2025年上网电量</a:t>
            </a:r>
            <a:r>
              <a:rPr sz="1500" b="1">
                <a:solidFill>
                  <a:srgbClr val="1F5A4D"/>
                </a:solidFill>
                <a:latin typeface="Noto Sans SC" panose="020B0200000000000000" charset="-122"/>
                <a:ea typeface="Noto Sans SC" panose="020B0200000000000000" charset="-122"/>
              </a:rPr>
              <a:t>347.5亿千瓦时</a:t>
            </a:r>
            <a:r>
              <a:rPr sz="1500" b="0">
                <a:solidFill>
                  <a:srgbClr val="4B5563"/>
                </a:solidFill>
                <a:latin typeface="Noto Sans SC" panose="020B0200000000000000" charset="-122"/>
                <a:ea typeface="Noto Sans SC" panose="020B0200000000000000" charset="-122"/>
              </a:rPr>
              <a:t>、占发电量52.5%；2026年1—8月上网283.4亿千瓦时、同比+11.2%</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全省上网电量占比提高，市场电价影响增强；项目收益结构取决于</a:t>
            </a:r>
            <a:r>
              <a:rPr sz="1500" b="1">
                <a:solidFill>
                  <a:srgbClr val="1F5A4D"/>
                </a:solidFill>
                <a:latin typeface="Noto Sans SC" panose="020B0200000000000000" charset="-122"/>
                <a:ea typeface="Noto Sans SC" panose="020B0200000000000000" charset="-122"/>
              </a:rPr>
              <a:t>自用与上网比例及结算规则</a:t>
            </a:r>
            <a:endParaRPr sz="1500" b="0">
              <a:solidFill>
                <a:srgbClr val="4B5563"/>
              </a:solidFill>
              <a:latin typeface="Noto Sans SC" panose="020B0200000000000000" charset="-122"/>
              <a:ea typeface="Noto Sans SC" panose="020B0200000000000000" charset="-122"/>
            </a:endParaRPr>
          </a:p>
        </p:txBody>
      </p:sp>
      <p:sp>
        <p:nvSpPr>
          <p:cNvPr id="26" name="TextBox 25">
            <a:hlinkClick r:id="rId2" action="ppaction://hlinksldjump"/>
          </p:cNvPr>
          <p:cNvSpPr txBox="1"/>
          <p:nvPr/>
        </p:nvSpPr>
        <p:spPr>
          <a:xfrm>
            <a:off x="11238992" y="274320"/>
            <a:ext cx="309880" cy="260350"/>
          </a:xfrm>
          <a:prstGeom prst="rect">
            <a:avLst/>
          </a:prstGeom>
          <a:noFill/>
        </p:spPr>
        <p:txBody>
          <a:bodyPr wrap="none">
            <a:spAutoFit/>
          </a:bodyPr>
          <a:lstStyle/>
          <a:p>
            <a:pPr algn="r"/>
            <a:endParaRPr sz="1100">
              <a:solidFill>
                <a:srgbClr val="2E7D6B"/>
              </a:solidFill>
              <a:latin typeface="Noto Sans SC" panose="020B0200000000000000" charset="-122"/>
              <a:ea typeface="Noto Sans SC" panose="020B0200000000000000" charset="-122"/>
            </a:endParaRPr>
          </a:p>
        </p:txBody>
      </p:sp>
      <p:sp>
        <p:nvSpPr>
          <p:cNvPr id="28" name="文本框 27"/>
          <p:cNvSpPr txBox="1"/>
          <p:nvPr/>
        </p:nvSpPr>
        <p:spPr>
          <a:xfrm>
            <a:off x="822960" y="170815"/>
            <a:ext cx="11137900" cy="613410"/>
          </a:xfrm>
          <a:prstGeom prst="rect">
            <a:avLst/>
          </a:prstGeom>
          <a:noFill/>
        </p:spPr>
        <p:txBody>
          <a:bodyPr wrap="square" rtlCol="0">
            <a:noAutofit/>
          </a:bodyPr>
          <a:lstStyle/>
          <a:p>
            <a:pPr algn="l">
              <a:buClrTx/>
              <a:buSzTx/>
              <a:buFontTx/>
              <a:buNone/>
            </a:pPr>
            <a:r>
              <a:rPr lang="zh-CN" sz="2400" b="1">
                <a:solidFill>
                  <a:srgbClr val="1F5A4D"/>
                </a:solidFill>
                <a:latin typeface="微软雅黑" panose="020B0503020204020204" pitchFamily="34" charset="-122"/>
                <a:ea typeface="微软雅黑" panose="020B0503020204020204" pitchFamily="34" charset="-122"/>
                <a:sym typeface="+mn-ea"/>
              </a:rPr>
              <a:t>4 新兴要素发展及其对电力市场影响的多维度统计分析</a:t>
            </a:r>
            <a:r>
              <a:rPr lang="en-US" altLang="zh-CN" sz="2800" b="1">
                <a:solidFill>
                  <a:srgbClr val="1F5A4D"/>
                </a:solidFill>
                <a:latin typeface="微软雅黑" panose="020B0503020204020204" pitchFamily="34" charset="-122"/>
                <a:ea typeface="微软雅黑" panose="020B0503020204020204" pitchFamily="34" charset="-122"/>
                <a:sym typeface="+mn-ea"/>
              </a:rPr>
              <a:t>    </a:t>
            </a:r>
            <a:r>
              <a:rPr lang="zh-CN" altLang="en-US" sz="2200" b="1">
                <a:solidFill>
                  <a:srgbClr val="029694"/>
                </a:solidFill>
                <a:latin typeface="Noto Sans SC" panose="020B0200000000000000" charset="-122"/>
                <a:ea typeface="Noto Sans SC" panose="020B0200000000000000" charset="-122"/>
                <a:cs typeface="Noto Sans SC" panose="020B0200000000000000" charset="-122"/>
                <a:sym typeface="+mn-ea"/>
              </a:rPr>
              <a:t>时间维度</a:t>
            </a:r>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a:p>
            <a:pPr algn="l">
              <a:buClrTx/>
              <a:buSzTx/>
              <a:buFontTx/>
            </a:pPr>
            <a:endParaRPr lang="en-US" sz="2200" b="1">
              <a:solidFill>
                <a:schemeClr val="accent3"/>
              </a:solidFill>
              <a:latin typeface="Noto Sans SC" panose="020B0200000000000000" charset="-122"/>
              <a:ea typeface="Noto Sans SC" panose="020B0200000000000000" charset="-122"/>
              <a:cs typeface="Noto Sans SC" panose="020B0200000000000000" charset="-122"/>
              <a:sym typeface="+mn-ea"/>
            </a:endParaRPr>
          </a:p>
        </p:txBody>
      </p:sp>
      <p:pic>
        <p:nvPicPr>
          <p:cNvPr id="29" name="Picture 28" descr="p16_online_share.png"/>
          <p:cNvPicPr>
            <a:picLocks noChangeAspect="1"/>
          </p:cNvPicPr>
          <p:nvPr/>
        </p:nvPicPr>
        <p:blipFill>
          <a:blip r:embed="rId3"/>
          <a:stretch>
            <a:fillRect/>
          </a:stretch>
        </p:blipFill>
        <p:spPr>
          <a:xfrm>
            <a:off x="612775" y="1558290"/>
            <a:ext cx="6254750" cy="2479040"/>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lang="zh-CN" sz="2100" b="0">
                <a:solidFill>
                  <a:srgbClr val="1F5A4D"/>
                </a:solidFill>
                <a:latin typeface="微软雅黑" panose="020B0503020204020204" pitchFamily="34" charset="-122"/>
                <a:ea typeface="微软雅黑" panose="020B0503020204020204" pitchFamily="34" charset="-122"/>
              </a:rPr>
              <a:t>分布式光伏</a:t>
            </a:r>
            <a:r>
              <a:rPr sz="2100" b="0">
                <a:solidFill>
                  <a:srgbClr val="1F5A4D"/>
                </a:solidFill>
                <a:latin typeface="微软雅黑" panose="020B0503020204020204" pitchFamily="34" charset="-122"/>
                <a:ea typeface="微软雅黑" panose="020B0503020204020204" pitchFamily="34" charset="-122"/>
              </a:rPr>
              <a:t>装机放量期间利用小时数未下降；2025年6月存量增量分界后新增骤降</a:t>
            </a:r>
            <a:endParaRPr sz="2100" b="0">
              <a:solidFill>
                <a:srgbClr val="1F5A4D"/>
              </a:solidFill>
              <a:latin typeface="微软雅黑" panose="020B0503020204020204" pitchFamily="34" charset="-122"/>
              <a:ea typeface="微软雅黑" panose="020B0503020204020204" pitchFamily="34" charset="-122"/>
            </a:endParaRPr>
          </a:p>
        </p:txBody>
      </p:sp>
      <p:sp>
        <p:nvSpPr>
          <p:cNvPr id="6" name="Rounded Rectangle 5"/>
          <p:cNvSpPr/>
          <p:nvPr/>
        </p:nvSpPr>
        <p:spPr>
          <a:xfrm>
            <a:off x="612648" y="4224528"/>
            <a:ext cx="216408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年份</a:t>
            </a:r>
            <a:endParaRPr sz="1300" b="1">
              <a:solidFill>
                <a:srgbClr val="FFFFFF"/>
              </a:solidFill>
              <a:latin typeface="Noto Sans SC" panose="020B0200000000000000" charset="-122"/>
              <a:ea typeface="Noto Sans SC" panose="020B0200000000000000" charset="-122"/>
            </a:endParaRPr>
          </a:p>
        </p:txBody>
      </p:sp>
      <p:sp>
        <p:nvSpPr>
          <p:cNvPr id="7" name="Rounded Rectangle 6"/>
          <p:cNvSpPr/>
          <p:nvPr/>
        </p:nvSpPr>
        <p:spPr>
          <a:xfrm>
            <a:off x="2776728" y="4224528"/>
            <a:ext cx="216408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利用小时数</a:t>
            </a:r>
            <a:endParaRPr sz="1300" b="1">
              <a:solidFill>
                <a:srgbClr val="FFFFFF"/>
              </a:solidFill>
              <a:latin typeface="Noto Sans SC" panose="020B0200000000000000" charset="-122"/>
              <a:ea typeface="Noto Sans SC" panose="020B0200000000000000" charset="-122"/>
            </a:endParaRPr>
          </a:p>
        </p:txBody>
      </p:sp>
      <p:sp>
        <p:nvSpPr>
          <p:cNvPr id="8" name="Rounded Rectangle 7"/>
          <p:cNvSpPr/>
          <p:nvPr/>
        </p:nvSpPr>
        <p:spPr>
          <a:xfrm>
            <a:off x="4940808" y="4224528"/>
            <a:ext cx="216408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发电量（亿kWh）</a:t>
            </a:r>
            <a:endParaRPr sz="1300" b="1">
              <a:solidFill>
                <a:srgbClr val="FFFFFF"/>
              </a:solidFill>
              <a:latin typeface="Noto Sans SC" panose="020B0200000000000000" charset="-122"/>
              <a:ea typeface="Noto Sans SC" panose="020B0200000000000000" charset="-122"/>
            </a:endParaRPr>
          </a:p>
        </p:txBody>
      </p:sp>
      <p:sp>
        <p:nvSpPr>
          <p:cNvPr id="9" name="Rounded Rectangle 8"/>
          <p:cNvSpPr/>
          <p:nvPr/>
        </p:nvSpPr>
        <p:spPr>
          <a:xfrm>
            <a:off x="612648" y="4608576"/>
            <a:ext cx="2164080" cy="30784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2021</a:t>
            </a:r>
            <a:endParaRPr sz="1250" b="0">
              <a:solidFill>
                <a:srgbClr val="2B3338"/>
              </a:solidFill>
              <a:latin typeface="Noto Sans SC" panose="020B0200000000000000" charset="-122"/>
              <a:ea typeface="Noto Sans SC" panose="020B0200000000000000" charset="-122"/>
            </a:endParaRPr>
          </a:p>
        </p:txBody>
      </p:sp>
      <p:sp>
        <p:nvSpPr>
          <p:cNvPr id="10" name="Rounded Rectangle 9"/>
          <p:cNvSpPr/>
          <p:nvPr/>
        </p:nvSpPr>
        <p:spPr>
          <a:xfrm>
            <a:off x="2776728" y="4608576"/>
            <a:ext cx="2164080" cy="30784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892</a:t>
            </a:r>
            <a:endParaRPr sz="1250" b="1">
              <a:solidFill>
                <a:srgbClr val="1F5A4D"/>
              </a:solidFill>
              <a:latin typeface="Noto Sans SC" panose="020B0200000000000000" charset="-122"/>
              <a:ea typeface="Noto Sans SC" panose="020B0200000000000000" charset="-122"/>
            </a:endParaRPr>
          </a:p>
        </p:txBody>
      </p:sp>
      <p:sp>
        <p:nvSpPr>
          <p:cNvPr id="11" name="Rounded Rectangle 10"/>
          <p:cNvSpPr/>
          <p:nvPr/>
        </p:nvSpPr>
        <p:spPr>
          <a:xfrm>
            <a:off x="4940808" y="4608576"/>
            <a:ext cx="2164080" cy="30784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77.3</a:t>
            </a:r>
            <a:endParaRPr sz="1250" b="1">
              <a:solidFill>
                <a:srgbClr val="1F5A4D"/>
              </a:solidFill>
              <a:latin typeface="Noto Sans SC" panose="020B0200000000000000" charset="-122"/>
              <a:ea typeface="Noto Sans SC" panose="020B0200000000000000" charset="-122"/>
            </a:endParaRPr>
          </a:p>
        </p:txBody>
      </p:sp>
      <p:sp>
        <p:nvSpPr>
          <p:cNvPr id="12" name="Rounded Rectangle 11"/>
          <p:cNvSpPr/>
          <p:nvPr/>
        </p:nvSpPr>
        <p:spPr>
          <a:xfrm>
            <a:off x="612648" y="4916424"/>
            <a:ext cx="2164080" cy="307847"/>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2022</a:t>
            </a:r>
            <a:endParaRPr sz="1250" b="0">
              <a:solidFill>
                <a:srgbClr val="2B3338"/>
              </a:solidFill>
              <a:latin typeface="Noto Sans SC" panose="020B0200000000000000" charset="-122"/>
              <a:ea typeface="Noto Sans SC" panose="020B0200000000000000" charset="-122"/>
            </a:endParaRPr>
          </a:p>
        </p:txBody>
      </p:sp>
      <p:sp>
        <p:nvSpPr>
          <p:cNvPr id="13" name="Rounded Rectangle 12"/>
          <p:cNvSpPr/>
          <p:nvPr/>
        </p:nvSpPr>
        <p:spPr>
          <a:xfrm>
            <a:off x="2776728" y="4916424"/>
            <a:ext cx="2164080" cy="307847"/>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1060</a:t>
            </a:r>
            <a:endParaRPr sz="1250" b="1">
              <a:solidFill>
                <a:srgbClr val="1F5A4D"/>
              </a:solidFill>
              <a:latin typeface="Noto Sans SC" panose="020B0200000000000000" charset="-122"/>
              <a:ea typeface="Noto Sans SC" panose="020B0200000000000000" charset="-122"/>
            </a:endParaRPr>
          </a:p>
        </p:txBody>
      </p:sp>
      <p:sp>
        <p:nvSpPr>
          <p:cNvPr id="14" name="Rounded Rectangle 13"/>
          <p:cNvSpPr/>
          <p:nvPr/>
        </p:nvSpPr>
        <p:spPr>
          <a:xfrm>
            <a:off x="4940808" y="4916424"/>
            <a:ext cx="2164080" cy="307847"/>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130.8</a:t>
            </a:r>
            <a:endParaRPr sz="1250" b="1">
              <a:solidFill>
                <a:srgbClr val="1F5A4D"/>
              </a:solidFill>
              <a:latin typeface="Noto Sans SC" panose="020B0200000000000000" charset="-122"/>
              <a:ea typeface="Noto Sans SC" panose="020B0200000000000000" charset="-122"/>
            </a:endParaRPr>
          </a:p>
        </p:txBody>
      </p:sp>
      <p:sp>
        <p:nvSpPr>
          <p:cNvPr id="15" name="Rounded Rectangle 14"/>
          <p:cNvSpPr/>
          <p:nvPr/>
        </p:nvSpPr>
        <p:spPr>
          <a:xfrm>
            <a:off x="612648" y="5224272"/>
            <a:ext cx="2164080" cy="30784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2023</a:t>
            </a:r>
            <a:endParaRPr sz="1250" b="0">
              <a:solidFill>
                <a:srgbClr val="2B3338"/>
              </a:solidFill>
              <a:latin typeface="Noto Sans SC" panose="020B0200000000000000" charset="-122"/>
              <a:ea typeface="Noto Sans SC" panose="020B0200000000000000" charset="-122"/>
            </a:endParaRPr>
          </a:p>
        </p:txBody>
      </p:sp>
      <p:sp>
        <p:nvSpPr>
          <p:cNvPr id="16" name="Rounded Rectangle 15"/>
          <p:cNvSpPr/>
          <p:nvPr/>
        </p:nvSpPr>
        <p:spPr>
          <a:xfrm>
            <a:off x="2776728" y="5224272"/>
            <a:ext cx="2164080" cy="30784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1071</a:t>
            </a:r>
            <a:endParaRPr sz="1250" b="1">
              <a:solidFill>
                <a:srgbClr val="1F5A4D"/>
              </a:solidFill>
              <a:latin typeface="Noto Sans SC" panose="020B0200000000000000" charset="-122"/>
              <a:ea typeface="Noto Sans SC" panose="020B0200000000000000" charset="-122"/>
            </a:endParaRPr>
          </a:p>
        </p:txBody>
      </p:sp>
      <p:sp>
        <p:nvSpPr>
          <p:cNvPr id="17" name="Rounded Rectangle 16"/>
          <p:cNvSpPr/>
          <p:nvPr/>
        </p:nvSpPr>
        <p:spPr>
          <a:xfrm>
            <a:off x="4940808" y="5224272"/>
            <a:ext cx="2164080" cy="30784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230.0</a:t>
            </a:r>
            <a:endParaRPr sz="1250" b="1">
              <a:solidFill>
                <a:srgbClr val="1F5A4D"/>
              </a:solidFill>
              <a:latin typeface="Noto Sans SC" panose="020B0200000000000000" charset="-122"/>
              <a:ea typeface="Noto Sans SC" panose="020B0200000000000000" charset="-122"/>
            </a:endParaRPr>
          </a:p>
        </p:txBody>
      </p:sp>
      <p:sp>
        <p:nvSpPr>
          <p:cNvPr id="18" name="Rounded Rectangle 17"/>
          <p:cNvSpPr/>
          <p:nvPr/>
        </p:nvSpPr>
        <p:spPr>
          <a:xfrm>
            <a:off x="612648" y="5532120"/>
            <a:ext cx="2164080" cy="307847"/>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2024</a:t>
            </a:r>
            <a:endParaRPr sz="1250" b="0">
              <a:solidFill>
                <a:srgbClr val="2B3338"/>
              </a:solidFill>
              <a:latin typeface="Noto Sans SC" panose="020B0200000000000000" charset="-122"/>
              <a:ea typeface="Noto Sans SC" panose="020B0200000000000000" charset="-122"/>
            </a:endParaRPr>
          </a:p>
        </p:txBody>
      </p:sp>
      <p:sp>
        <p:nvSpPr>
          <p:cNvPr id="19" name="Rounded Rectangle 18"/>
          <p:cNvSpPr/>
          <p:nvPr/>
        </p:nvSpPr>
        <p:spPr>
          <a:xfrm>
            <a:off x="2776728" y="5532120"/>
            <a:ext cx="2164080" cy="307847"/>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1109</a:t>
            </a:r>
            <a:endParaRPr sz="1250" b="1">
              <a:solidFill>
                <a:srgbClr val="1F5A4D"/>
              </a:solidFill>
              <a:latin typeface="Noto Sans SC" panose="020B0200000000000000" charset="-122"/>
              <a:ea typeface="Noto Sans SC" panose="020B0200000000000000" charset="-122"/>
            </a:endParaRPr>
          </a:p>
        </p:txBody>
      </p:sp>
      <p:sp>
        <p:nvSpPr>
          <p:cNvPr id="20" name="Rounded Rectangle 19"/>
          <p:cNvSpPr/>
          <p:nvPr/>
        </p:nvSpPr>
        <p:spPr>
          <a:xfrm>
            <a:off x="4940808" y="5532120"/>
            <a:ext cx="2164080" cy="307847"/>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415.2</a:t>
            </a:r>
            <a:endParaRPr sz="1250" b="1">
              <a:solidFill>
                <a:srgbClr val="1F5A4D"/>
              </a:solidFill>
              <a:latin typeface="Noto Sans SC" panose="020B0200000000000000" charset="-122"/>
              <a:ea typeface="Noto Sans SC" panose="020B0200000000000000" charset="-122"/>
            </a:endParaRPr>
          </a:p>
        </p:txBody>
      </p:sp>
      <p:sp>
        <p:nvSpPr>
          <p:cNvPr id="21" name="Rounded Rectangle 20"/>
          <p:cNvSpPr/>
          <p:nvPr/>
        </p:nvSpPr>
        <p:spPr>
          <a:xfrm>
            <a:off x="612648" y="5839968"/>
            <a:ext cx="2164080" cy="30784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2025</a:t>
            </a:r>
            <a:endParaRPr sz="1250" b="0">
              <a:solidFill>
                <a:srgbClr val="2B3338"/>
              </a:solidFill>
              <a:latin typeface="Noto Sans SC" panose="020B0200000000000000" charset="-122"/>
              <a:ea typeface="Noto Sans SC" panose="020B0200000000000000" charset="-122"/>
            </a:endParaRPr>
          </a:p>
        </p:txBody>
      </p:sp>
      <p:sp>
        <p:nvSpPr>
          <p:cNvPr id="22" name="Rounded Rectangle 21"/>
          <p:cNvSpPr/>
          <p:nvPr/>
        </p:nvSpPr>
        <p:spPr>
          <a:xfrm>
            <a:off x="2776728" y="5839968"/>
            <a:ext cx="2164080" cy="30784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1150</a:t>
            </a:r>
            <a:endParaRPr sz="1250" b="1">
              <a:solidFill>
                <a:srgbClr val="1F5A4D"/>
              </a:solidFill>
              <a:latin typeface="Noto Sans SC" panose="020B0200000000000000" charset="-122"/>
              <a:ea typeface="Noto Sans SC" panose="020B0200000000000000" charset="-122"/>
            </a:endParaRPr>
          </a:p>
        </p:txBody>
      </p:sp>
      <p:sp>
        <p:nvSpPr>
          <p:cNvPr id="23" name="Rounded Rectangle 22"/>
          <p:cNvSpPr/>
          <p:nvPr/>
        </p:nvSpPr>
        <p:spPr>
          <a:xfrm>
            <a:off x="4940808" y="5839968"/>
            <a:ext cx="2164080" cy="30784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661.3</a:t>
            </a:r>
            <a:endParaRPr sz="1250" b="1">
              <a:solidFill>
                <a:srgbClr val="1F5A4D"/>
              </a:solidFill>
              <a:latin typeface="Noto Sans SC" panose="020B0200000000000000" charset="-122"/>
              <a:ea typeface="Noto Sans SC" panose="020B0200000000000000" charset="-122"/>
            </a:endParaRPr>
          </a:p>
        </p:txBody>
      </p:sp>
      <p:sp>
        <p:nvSpPr>
          <p:cNvPr id="24" name="Rounded Rectangle 23"/>
          <p:cNvSpPr/>
          <p:nvPr/>
        </p:nvSpPr>
        <p:spPr>
          <a:xfrm>
            <a:off x="612648" y="6147816"/>
            <a:ext cx="2164080" cy="307847"/>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2026年1—8月</a:t>
            </a:r>
            <a:endParaRPr sz="1250" b="0">
              <a:solidFill>
                <a:srgbClr val="2B3338"/>
              </a:solidFill>
              <a:latin typeface="Noto Sans SC" panose="020B0200000000000000" charset="-122"/>
              <a:ea typeface="Noto Sans SC" panose="020B0200000000000000" charset="-122"/>
            </a:endParaRPr>
          </a:p>
        </p:txBody>
      </p:sp>
      <p:sp>
        <p:nvSpPr>
          <p:cNvPr id="25" name="Rounded Rectangle 24"/>
          <p:cNvSpPr/>
          <p:nvPr/>
        </p:nvSpPr>
        <p:spPr>
          <a:xfrm>
            <a:off x="2776728" y="6147816"/>
            <a:ext cx="2164080" cy="307847"/>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773</a:t>
            </a:r>
            <a:endParaRPr sz="1250" b="1">
              <a:solidFill>
                <a:srgbClr val="1F5A4D"/>
              </a:solidFill>
              <a:latin typeface="Noto Sans SC" panose="020B0200000000000000" charset="-122"/>
              <a:ea typeface="Noto Sans SC" panose="020B0200000000000000" charset="-122"/>
            </a:endParaRPr>
          </a:p>
        </p:txBody>
      </p:sp>
      <p:sp>
        <p:nvSpPr>
          <p:cNvPr id="26" name="Rounded Rectangle 25"/>
          <p:cNvSpPr/>
          <p:nvPr/>
        </p:nvSpPr>
        <p:spPr>
          <a:xfrm>
            <a:off x="4940808" y="6147816"/>
            <a:ext cx="2164080" cy="307847"/>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a:t>
            </a:r>
            <a:endParaRPr sz="1250" b="1">
              <a:solidFill>
                <a:srgbClr val="1F5A4D"/>
              </a:solidFill>
              <a:latin typeface="Noto Sans SC" panose="020B0200000000000000" charset="-122"/>
              <a:ea typeface="Noto Sans SC" panose="020B0200000000000000" charset="-122"/>
            </a:endParaRPr>
          </a:p>
        </p:txBody>
      </p:sp>
      <p:sp>
        <p:nvSpPr>
          <p:cNvPr id="27" name="Rounded Rectangle 26"/>
          <p:cNvSpPr/>
          <p:nvPr/>
        </p:nvSpPr>
        <p:spPr>
          <a:xfrm>
            <a:off x="7306055" y="1517904"/>
            <a:ext cx="4288536" cy="4937759"/>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06055" y="1517904"/>
            <a:ext cx="77724" cy="4937759"/>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chart.png"/>
          <p:cNvPicPr>
            <a:picLocks noChangeAspect="1"/>
          </p:cNvPicPr>
          <p:nvPr/>
        </p:nvPicPr>
        <p:blipFill>
          <a:blip r:embed="rId1"/>
          <a:stretch>
            <a:fillRect/>
          </a:stretch>
        </p:blipFill>
        <p:spPr>
          <a:xfrm>
            <a:off x="7525511" y="1682495"/>
            <a:ext cx="365760" cy="365760"/>
          </a:xfrm>
          <a:prstGeom prst="rect">
            <a:avLst/>
          </a:prstGeom>
        </p:spPr>
      </p:pic>
      <p:sp>
        <p:nvSpPr>
          <p:cNvPr id="30" name="TextBox 29"/>
          <p:cNvSpPr txBox="1"/>
          <p:nvPr/>
        </p:nvSpPr>
        <p:spPr>
          <a:xfrm>
            <a:off x="7982711" y="1664207"/>
            <a:ext cx="3502152" cy="402336"/>
          </a:xfrm>
          <a:prstGeom prst="rect">
            <a:avLst/>
          </a:prstGeom>
          <a:noFill/>
        </p:spPr>
        <p:txBody>
          <a:bodyPr wrap="square" lIns="0" tIns="0" bIns="36576" anchor="ctr">
            <a:spAutoFit/>
          </a:bodyPr>
          <a:lstStyle/>
          <a:p>
            <a:pPr algn="l">
              <a:spcAft>
                <a:spcPts val="400"/>
              </a:spcAft>
            </a:pPr>
            <a:r>
              <a:rPr sz="1900" b="1">
                <a:solidFill>
                  <a:srgbClr val="2E7D6B"/>
                </a:solidFill>
                <a:latin typeface="Noto Sans SC" panose="020B0200000000000000" charset="-122"/>
                <a:ea typeface="Noto Sans SC" panose="020B0200000000000000" charset="-122"/>
              </a:rPr>
              <a:t>分析</a:t>
            </a:r>
            <a:endParaRPr sz="1900" b="1">
              <a:solidFill>
                <a:srgbClr val="2E7D6B"/>
              </a:solidFill>
              <a:latin typeface="Noto Sans SC" panose="020B0200000000000000" charset="-122"/>
              <a:ea typeface="Noto Sans SC" panose="020B0200000000000000" charset="-122"/>
            </a:endParaRPr>
          </a:p>
        </p:txBody>
      </p:sp>
      <p:sp>
        <p:nvSpPr>
          <p:cNvPr id="31" name="TextBox 30"/>
          <p:cNvSpPr txBox="1"/>
          <p:nvPr/>
        </p:nvSpPr>
        <p:spPr>
          <a:xfrm>
            <a:off x="7562088" y="2176272"/>
            <a:ext cx="3886200" cy="4003040"/>
          </a:xfrm>
          <a:prstGeom prst="rect">
            <a:avLst/>
          </a:prstGeom>
          <a:noFill/>
        </p:spPr>
        <p:txBody>
          <a:bodyPr wrap="square">
            <a:spAutoFit/>
          </a:bodyPr>
          <a:lstStyle/>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利用小时数：2021—2025年由</a:t>
            </a:r>
            <a:r>
              <a:rPr sz="1500" b="1">
                <a:solidFill>
                  <a:srgbClr val="1F5A4D"/>
                </a:solidFill>
                <a:latin typeface="Noto Sans SC" panose="020B0200000000000000" charset="-122"/>
                <a:ea typeface="Noto Sans SC" panose="020B0200000000000000" charset="-122"/>
              </a:rPr>
              <a:t>892小时升至1150小时</a:t>
            </a:r>
            <a:r>
              <a:rPr sz="1500" b="0">
                <a:solidFill>
                  <a:srgbClr val="4B5563"/>
                </a:solidFill>
                <a:latin typeface="Noto Sans SC" panose="020B0200000000000000" charset="-122"/>
                <a:ea typeface="Noto Sans SC" panose="020B0200000000000000" charset="-122"/>
              </a:rPr>
              <a:t>，装机放量期间</a:t>
            </a:r>
            <a:r>
              <a:rPr sz="1500" b="1">
                <a:solidFill>
                  <a:srgbClr val="1F5A4D"/>
                </a:solidFill>
                <a:latin typeface="Noto Sans SC" panose="020B0200000000000000" charset="-122"/>
                <a:ea typeface="Noto Sans SC" panose="020B0200000000000000" charset="-122"/>
              </a:rPr>
              <a:t>未下降</a:t>
            </a:r>
            <a:endParaRPr sz="15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2025年1—5月新增</a:t>
            </a:r>
            <a:r>
              <a:rPr sz="1500" b="1">
                <a:solidFill>
                  <a:srgbClr val="1F5A4D"/>
                </a:solidFill>
                <a:latin typeface="Noto Sans SC" panose="020B0200000000000000" charset="-122"/>
                <a:ea typeface="Noto Sans SC" panose="020B0200000000000000" charset="-122"/>
              </a:rPr>
              <a:t>1230万千瓦</a:t>
            </a:r>
            <a:r>
              <a:rPr sz="1500" b="0">
                <a:solidFill>
                  <a:srgbClr val="4B5563"/>
                </a:solidFill>
                <a:latin typeface="Noto Sans SC" panose="020B0200000000000000" charset="-122"/>
                <a:ea typeface="Noto Sans SC" panose="020B0200000000000000" charset="-122"/>
              </a:rPr>
              <a:t>、占全年</a:t>
            </a:r>
            <a:r>
              <a:rPr sz="1500" b="1">
                <a:solidFill>
                  <a:srgbClr val="1F5A4D"/>
                </a:solidFill>
                <a:latin typeface="Noto Sans SC" panose="020B0200000000000000" charset="-122"/>
                <a:ea typeface="Noto Sans SC" panose="020B0200000000000000" charset="-122"/>
              </a:rPr>
              <a:t>67.2%</a:t>
            </a:r>
            <a:r>
              <a:rPr sz="1500" b="0">
                <a:solidFill>
                  <a:srgbClr val="4B5563"/>
                </a:solidFill>
                <a:latin typeface="Noto Sans SC" panose="020B0200000000000000" charset="-122"/>
                <a:ea typeface="Noto Sans SC" panose="020B0200000000000000" charset="-122"/>
              </a:rPr>
              <a:t>；5月单月463.9万千瓦为2021年以来最高</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sym typeface="+mn-ea"/>
              </a:rPr>
              <a:t>▪ </a:t>
            </a:r>
            <a:r>
              <a:rPr sz="1500" b="1">
                <a:solidFill>
                  <a:srgbClr val="1F5A4D"/>
                </a:solidFill>
                <a:latin typeface="Noto Sans SC" panose="020B0200000000000000" charset="-122"/>
                <a:ea typeface="Noto Sans SC" panose="020B0200000000000000" charset="-122"/>
                <a:sym typeface="+mn-ea"/>
              </a:rPr>
              <a:t>2025年</a:t>
            </a:r>
            <a:r>
              <a:rPr lang="zh-CN" sz="1500" b="1">
                <a:solidFill>
                  <a:srgbClr val="1F5A4D"/>
                </a:solidFill>
                <a:latin typeface="Noto Sans SC" panose="020B0200000000000000" charset="-122"/>
                <a:ea typeface="Noto Sans SC" panose="020B0200000000000000" charset="-122"/>
                <a:sym typeface="+mn-ea"/>
              </a:rPr>
              <a:t>发改价格</a:t>
            </a:r>
            <a:r>
              <a:rPr lang="en-US" altLang="zh-CN" sz="1500" b="1">
                <a:solidFill>
                  <a:srgbClr val="1F5A4D"/>
                </a:solidFill>
                <a:latin typeface="Noto Sans SC" panose="020B0200000000000000" charset="-122"/>
                <a:ea typeface="Noto Sans SC" panose="020B0200000000000000" charset="-122"/>
                <a:sym typeface="+mn-ea"/>
              </a:rPr>
              <a:t>[2025] 136</a:t>
            </a:r>
            <a:r>
              <a:rPr lang="zh-CN" altLang="en-US" sz="1500" b="1">
                <a:solidFill>
                  <a:srgbClr val="1F5A4D"/>
                </a:solidFill>
                <a:latin typeface="Noto Sans SC" panose="020B0200000000000000" charset="-122"/>
                <a:ea typeface="Noto Sans SC" panose="020B0200000000000000" charset="-122"/>
                <a:sym typeface="+mn-ea"/>
              </a:rPr>
              <a:t>号文颁布，导致</a:t>
            </a:r>
            <a:r>
              <a:rPr sz="1500" b="1">
                <a:solidFill>
                  <a:srgbClr val="1F5A4D"/>
                </a:solidFill>
                <a:latin typeface="Noto Sans SC" panose="020B0200000000000000" charset="-122"/>
                <a:ea typeface="Noto Sans SC" panose="020B0200000000000000" charset="-122"/>
                <a:sym typeface="+mn-ea"/>
              </a:rPr>
              <a:t>6月</a:t>
            </a:r>
            <a:r>
              <a:rPr sz="1500">
                <a:solidFill>
                  <a:srgbClr val="4B5563"/>
                </a:solidFill>
                <a:latin typeface="Noto Sans SC" panose="020B0200000000000000" charset="-122"/>
                <a:ea typeface="Noto Sans SC" panose="020B0200000000000000" charset="-122"/>
                <a:sym typeface="+mn-ea"/>
              </a:rPr>
              <a:t>存量与增量分界后，7月新增降至</a:t>
            </a:r>
            <a:r>
              <a:rPr sz="1500" b="1">
                <a:solidFill>
                  <a:srgbClr val="1F5A4D"/>
                </a:solidFill>
                <a:latin typeface="Noto Sans SC" panose="020B0200000000000000" charset="-122"/>
                <a:ea typeface="Noto Sans SC" panose="020B0200000000000000" charset="-122"/>
                <a:sym typeface="+mn-ea"/>
              </a:rPr>
              <a:t>41.0万千瓦</a:t>
            </a:r>
            <a:endParaRPr sz="15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2026年1—8月新增600.1万千瓦、同比</a:t>
            </a:r>
            <a:r>
              <a:rPr lang="en-US" sz="1500" b="1">
                <a:solidFill>
                  <a:srgbClr val="1F5A4D"/>
                </a:solidFill>
                <a:latin typeface="Noto Sans SC" panose="020B0200000000000000" charset="-122"/>
                <a:ea typeface="Noto Sans SC" panose="020B0200000000000000" charset="-122"/>
              </a:rPr>
              <a:t>2025</a:t>
            </a:r>
            <a:r>
              <a:rPr lang="zh-CN" altLang="en-US" sz="1500" b="1">
                <a:solidFill>
                  <a:srgbClr val="1F5A4D"/>
                </a:solidFill>
                <a:latin typeface="Noto Sans SC" panose="020B0200000000000000" charset="-122"/>
                <a:ea typeface="Noto Sans SC" panose="020B0200000000000000" charset="-122"/>
              </a:rPr>
              <a:t>年</a:t>
            </a:r>
            <a:r>
              <a:rPr lang="en-US" altLang="zh-CN" sz="1500" b="1">
                <a:solidFill>
                  <a:srgbClr val="1F5A4D"/>
                </a:solidFill>
                <a:latin typeface="Noto Sans SC" panose="020B0200000000000000" charset="-122"/>
                <a:ea typeface="Noto Sans SC" panose="020B0200000000000000" charset="-122"/>
              </a:rPr>
              <a:t>1-8</a:t>
            </a:r>
            <a:r>
              <a:rPr lang="zh-CN" altLang="en-US" sz="1500" b="1">
                <a:solidFill>
                  <a:srgbClr val="1F5A4D"/>
                </a:solidFill>
                <a:latin typeface="Noto Sans SC" panose="020B0200000000000000" charset="-122"/>
                <a:ea typeface="Noto Sans SC" panose="020B0200000000000000" charset="-122"/>
              </a:rPr>
              <a:t>月减少</a:t>
            </a:r>
            <a:r>
              <a:rPr sz="1500" b="1">
                <a:solidFill>
                  <a:srgbClr val="1F5A4D"/>
                </a:solidFill>
                <a:latin typeface="Noto Sans SC" panose="020B0200000000000000" charset="-122"/>
                <a:ea typeface="Noto Sans SC" panose="020B0200000000000000" charset="-122"/>
              </a:rPr>
              <a:t>59.4%</a:t>
            </a:r>
            <a:r>
              <a:rPr sz="1500" b="0">
                <a:solidFill>
                  <a:srgbClr val="4B5563"/>
                </a:solidFill>
                <a:latin typeface="Noto Sans SC" panose="020B0200000000000000" charset="-122"/>
                <a:ea typeface="Noto Sans SC" panose="020B0200000000000000" charset="-122"/>
              </a:rPr>
              <a:t>；利用小时数</a:t>
            </a:r>
            <a:r>
              <a:rPr sz="1500" b="1">
                <a:solidFill>
                  <a:srgbClr val="1F5A4D"/>
                </a:solidFill>
                <a:latin typeface="Noto Sans SC" panose="020B0200000000000000" charset="-122"/>
                <a:ea typeface="Noto Sans SC" panose="020B0200000000000000" charset="-122"/>
              </a:rPr>
              <a:t>773小时、同比</a:t>
            </a:r>
            <a:r>
              <a:rPr lang="zh-CN" sz="1500" b="1">
                <a:solidFill>
                  <a:srgbClr val="1F5A4D"/>
                </a:solidFill>
                <a:latin typeface="Noto Sans SC" panose="020B0200000000000000" charset="-122"/>
                <a:ea typeface="Noto Sans SC" panose="020B0200000000000000" charset="-122"/>
              </a:rPr>
              <a:t>减少</a:t>
            </a:r>
            <a:r>
              <a:rPr sz="1500" b="1">
                <a:solidFill>
                  <a:srgbClr val="1F5A4D"/>
                </a:solidFill>
                <a:latin typeface="Noto Sans SC" panose="020B0200000000000000" charset="-122"/>
                <a:ea typeface="Noto Sans SC" panose="020B0200000000000000" charset="-122"/>
              </a:rPr>
              <a:t>11.2%</a:t>
            </a:r>
            <a:endParaRPr sz="15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装机变化与政策节点相伴随；规模扩张还受资源经济性与绿电需求影响</a:t>
            </a:r>
            <a:endParaRPr sz="1500" b="0">
              <a:solidFill>
                <a:srgbClr val="4B5563"/>
              </a:solidFill>
              <a:latin typeface="Noto Sans SC" panose="020B0200000000000000" charset="-122"/>
              <a:ea typeface="Noto Sans SC" panose="020B0200000000000000" charset="-122"/>
            </a:endParaRPr>
          </a:p>
        </p:txBody>
      </p:sp>
      <p:sp>
        <p:nvSpPr>
          <p:cNvPr id="34" name="文本框 33"/>
          <p:cNvSpPr txBox="1"/>
          <p:nvPr/>
        </p:nvSpPr>
        <p:spPr>
          <a:xfrm>
            <a:off x="822960" y="170815"/>
            <a:ext cx="11137900" cy="613410"/>
          </a:xfrm>
          <a:prstGeom prst="rect">
            <a:avLst/>
          </a:prstGeom>
          <a:noFill/>
        </p:spPr>
        <p:txBody>
          <a:bodyPr wrap="square" rtlCol="0">
            <a:noAutofit/>
          </a:bodyPr>
          <a:lstStyle/>
          <a:p>
            <a:pPr algn="l">
              <a:buClrTx/>
              <a:buSzTx/>
              <a:buFontTx/>
              <a:buNone/>
            </a:pPr>
            <a:r>
              <a:rPr lang="zh-CN" sz="2400" b="1">
                <a:solidFill>
                  <a:srgbClr val="1F5A4D"/>
                </a:solidFill>
                <a:latin typeface="微软雅黑" panose="020B0503020204020204" pitchFamily="34" charset="-122"/>
                <a:ea typeface="微软雅黑" panose="020B0503020204020204" pitchFamily="34" charset="-122"/>
                <a:sym typeface="+mn-ea"/>
              </a:rPr>
              <a:t>4 新兴要素发展及其对电力市场影响的多维度统计分析</a:t>
            </a:r>
            <a:r>
              <a:rPr lang="en-US" altLang="zh-CN" sz="2800" b="1">
                <a:solidFill>
                  <a:srgbClr val="1F5A4D"/>
                </a:solidFill>
                <a:latin typeface="微软雅黑" panose="020B0503020204020204" pitchFamily="34" charset="-122"/>
                <a:ea typeface="微软雅黑" panose="020B0503020204020204" pitchFamily="34" charset="-122"/>
                <a:sym typeface="+mn-ea"/>
              </a:rPr>
              <a:t>    </a:t>
            </a:r>
            <a:r>
              <a:rPr lang="zh-CN" altLang="en-US" sz="2200" b="1">
                <a:solidFill>
                  <a:srgbClr val="029694"/>
                </a:solidFill>
                <a:latin typeface="Noto Sans SC" panose="020B0200000000000000" charset="-122"/>
                <a:ea typeface="Noto Sans SC" panose="020B0200000000000000" charset="-122"/>
                <a:cs typeface="Noto Sans SC" panose="020B0200000000000000" charset="-122"/>
                <a:sym typeface="+mn-ea"/>
              </a:rPr>
              <a:t>时间维度</a:t>
            </a:r>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a:p>
            <a:pPr algn="l">
              <a:buClrTx/>
              <a:buSzTx/>
              <a:buFontTx/>
            </a:pPr>
            <a:endParaRPr lang="en-US" sz="2200" b="1">
              <a:solidFill>
                <a:schemeClr val="accent3"/>
              </a:solidFill>
              <a:latin typeface="Noto Sans SC" panose="020B0200000000000000" charset="-122"/>
              <a:ea typeface="Noto Sans SC" panose="020B0200000000000000" charset="-122"/>
              <a:cs typeface="Noto Sans SC" panose="020B0200000000000000" charset="-122"/>
              <a:sym typeface="+mn-ea"/>
            </a:endParaRPr>
          </a:p>
        </p:txBody>
      </p:sp>
      <p:pic>
        <p:nvPicPr>
          <p:cNvPr id="2" name="Picture 34" descr="p17_monthly_new.png"/>
          <p:cNvPicPr>
            <a:picLocks noChangeAspect="1"/>
          </p:cNvPicPr>
          <p:nvPr/>
        </p:nvPicPr>
        <p:blipFill>
          <a:blip r:embed="rId2"/>
          <a:stretch>
            <a:fillRect/>
          </a:stretch>
        </p:blipFill>
        <p:spPr>
          <a:xfrm>
            <a:off x="612140" y="1518285"/>
            <a:ext cx="6480175" cy="2460625"/>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lang="zh-CN" sz="2100" b="0">
                <a:solidFill>
                  <a:srgbClr val="1F5A4D"/>
                </a:solidFill>
                <a:latin typeface="微软雅黑" panose="020B0503020204020204" pitchFamily="34" charset="-122"/>
                <a:ea typeface="微软雅黑" panose="020B0503020204020204" pitchFamily="34" charset="-122"/>
              </a:rPr>
              <a:t>储能调用：2024年迎峰度夏跃升，2025年维持高位</a:t>
            </a:r>
            <a:endParaRPr lang="zh-CN" sz="2100" b="0">
              <a:solidFill>
                <a:srgbClr val="1F5A4D"/>
              </a:solidFill>
              <a:latin typeface="微软雅黑" panose="020B0503020204020204" pitchFamily="34" charset="-122"/>
              <a:ea typeface="微软雅黑" panose="020B0503020204020204" pitchFamily="34" charset="-122"/>
            </a:endParaRPr>
          </a:p>
        </p:txBody>
      </p:sp>
      <p:sp>
        <p:nvSpPr>
          <p:cNvPr id="27" name="Rounded Rectangle 26"/>
          <p:cNvSpPr/>
          <p:nvPr/>
        </p:nvSpPr>
        <p:spPr>
          <a:xfrm>
            <a:off x="7306055" y="1517904"/>
            <a:ext cx="4288536" cy="4937759"/>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06055" y="1517904"/>
            <a:ext cx="77724" cy="4937759"/>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chart.png"/>
          <p:cNvPicPr>
            <a:picLocks noChangeAspect="1"/>
          </p:cNvPicPr>
          <p:nvPr/>
        </p:nvPicPr>
        <p:blipFill>
          <a:blip r:embed="rId1"/>
          <a:stretch>
            <a:fillRect/>
          </a:stretch>
        </p:blipFill>
        <p:spPr>
          <a:xfrm>
            <a:off x="7525511" y="1682495"/>
            <a:ext cx="365760" cy="365760"/>
          </a:xfrm>
          <a:prstGeom prst="rect">
            <a:avLst/>
          </a:prstGeom>
        </p:spPr>
      </p:pic>
      <p:sp>
        <p:nvSpPr>
          <p:cNvPr id="30" name="TextBox 29"/>
          <p:cNvSpPr txBox="1"/>
          <p:nvPr/>
        </p:nvSpPr>
        <p:spPr>
          <a:xfrm>
            <a:off x="7982711" y="1664207"/>
            <a:ext cx="3502152" cy="402336"/>
          </a:xfrm>
          <a:prstGeom prst="rect">
            <a:avLst/>
          </a:prstGeom>
          <a:noFill/>
        </p:spPr>
        <p:txBody>
          <a:bodyPr wrap="square" lIns="0" tIns="0" bIns="36576" anchor="ctr">
            <a:spAutoFit/>
          </a:bodyPr>
          <a:lstStyle/>
          <a:p>
            <a:pPr algn="l">
              <a:spcAft>
                <a:spcPts val="400"/>
              </a:spcAft>
            </a:pPr>
            <a:r>
              <a:rPr sz="1900" b="1">
                <a:solidFill>
                  <a:srgbClr val="2E7D6B"/>
                </a:solidFill>
                <a:latin typeface="Noto Sans SC" panose="020B0200000000000000" charset="-122"/>
                <a:ea typeface="Noto Sans SC" panose="020B0200000000000000" charset="-122"/>
              </a:rPr>
              <a:t>分析</a:t>
            </a:r>
            <a:endParaRPr sz="1900" b="1">
              <a:solidFill>
                <a:srgbClr val="2E7D6B"/>
              </a:solidFill>
              <a:latin typeface="Noto Sans SC" panose="020B0200000000000000" charset="-122"/>
              <a:ea typeface="Noto Sans SC" panose="020B0200000000000000" charset="-122"/>
            </a:endParaRPr>
          </a:p>
        </p:txBody>
      </p:sp>
      <p:sp>
        <p:nvSpPr>
          <p:cNvPr id="31" name="TextBox 30"/>
          <p:cNvSpPr txBox="1"/>
          <p:nvPr/>
        </p:nvSpPr>
        <p:spPr>
          <a:xfrm>
            <a:off x="7562088" y="2176272"/>
            <a:ext cx="3886200" cy="3277870"/>
          </a:xfrm>
          <a:prstGeom prst="rect">
            <a:avLst/>
          </a:prstGeom>
          <a:noFill/>
        </p:spPr>
        <p:txBody>
          <a:bodyPr wrap="square">
            <a:spAutoFit/>
          </a:bodyPr>
          <a:lstStyle/>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月度充电量由2023年低位升至2024年7月4.67亿千瓦时</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2025年7—8月维持6.7—6.9亿千瓦时，调用强度持续抬升</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充电次数由2221次（2023）增至34443次（2025）</a:t>
            </a:r>
            <a:endParaRPr sz="15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单站年充电量由1331万增至5435万千瓦时；循环效率0.796→0.900</a:t>
            </a:r>
            <a:endParaRPr sz="15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2024年跃升源于迎峰度夏集中并网（</a:t>
            </a:r>
            <a:r>
              <a:rPr lang="zh-CN" sz="1500" b="0">
                <a:solidFill>
                  <a:srgbClr val="4B5563"/>
                </a:solidFill>
                <a:latin typeface="Noto Sans SC" panose="020B0200000000000000" charset="-122"/>
                <a:ea typeface="Noto Sans SC" panose="020B0200000000000000" charset="-122"/>
              </a:rPr>
              <a:t>苏</a:t>
            </a:r>
            <a:r>
              <a:rPr lang="en-US" altLang="zh-CN" sz="1500" b="0">
                <a:solidFill>
                  <a:srgbClr val="4B5563"/>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226号：41个项目7月15日前并网）</a:t>
            </a:r>
            <a:endParaRPr sz="1500" b="0">
              <a:solidFill>
                <a:srgbClr val="4B5563"/>
              </a:solidFill>
              <a:latin typeface="Noto Sans SC" panose="020B0200000000000000" charset="-122"/>
              <a:ea typeface="Noto Sans SC" panose="020B0200000000000000" charset="-122"/>
            </a:endParaRPr>
          </a:p>
        </p:txBody>
      </p:sp>
      <p:sp>
        <p:nvSpPr>
          <p:cNvPr id="34" name="文本框 33"/>
          <p:cNvSpPr txBox="1"/>
          <p:nvPr/>
        </p:nvSpPr>
        <p:spPr>
          <a:xfrm>
            <a:off x="822960" y="170815"/>
            <a:ext cx="11137900" cy="613410"/>
          </a:xfrm>
          <a:prstGeom prst="rect">
            <a:avLst/>
          </a:prstGeom>
          <a:noFill/>
        </p:spPr>
        <p:txBody>
          <a:bodyPr wrap="square" rtlCol="0">
            <a:noAutofit/>
          </a:bodyPr>
          <a:lstStyle/>
          <a:p>
            <a:pPr algn="l">
              <a:buClrTx/>
              <a:buSzTx/>
              <a:buFontTx/>
              <a:buNone/>
            </a:pPr>
            <a:r>
              <a:rPr lang="zh-CN" sz="2400" b="1">
                <a:solidFill>
                  <a:srgbClr val="1F5A4D"/>
                </a:solidFill>
                <a:latin typeface="微软雅黑" panose="020B0503020204020204" pitchFamily="34" charset="-122"/>
                <a:ea typeface="微软雅黑" panose="020B0503020204020204" pitchFamily="34" charset="-122"/>
                <a:sym typeface="+mn-ea"/>
              </a:rPr>
              <a:t>4 新兴要素发展及其对电力市场影响的多维度统计分析    时间维度</a:t>
            </a:r>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a:p>
            <a:pPr algn="l">
              <a:buClrTx/>
              <a:buSzTx/>
              <a:buFontTx/>
            </a:pPr>
            <a:endParaRPr lang="en-US" sz="2200" b="1">
              <a:solidFill>
                <a:schemeClr val="accent3"/>
              </a:solidFill>
              <a:latin typeface="Noto Sans SC" panose="020B0200000000000000" charset="-122"/>
              <a:ea typeface="Noto Sans SC" panose="020B0200000000000000" charset="-122"/>
              <a:cs typeface="Noto Sans SC" panose="020B0200000000000000" charset="-122"/>
              <a:sym typeface="+mn-ea"/>
            </a:endParaRPr>
          </a:p>
        </p:txBody>
      </p:sp>
      <p:graphicFrame>
        <p:nvGraphicFramePr>
          <p:cNvPr id="36" name="Table 35"/>
          <p:cNvGraphicFramePr>
            <a:graphicFrameLocks noGrp="1"/>
          </p:cNvGraphicFramePr>
          <p:nvPr/>
        </p:nvGraphicFramePr>
        <p:xfrm>
          <a:off x="612000" y="4542395"/>
          <a:ext cx="6479999" cy="2232000"/>
        </p:xfrm>
        <a:graphic>
          <a:graphicData uri="http://schemas.openxmlformats.org/drawingml/2006/table">
            <a:tbl>
              <a:tblPr firstRow="1" bandRow="1">
                <a:tableStyleId>{5C22544A-7EE6-4342-B048-85BDC9FD1C3A}</a:tableStyleId>
              </a:tblPr>
              <a:tblGrid>
                <a:gridCol w="1872000"/>
                <a:gridCol w="1044000"/>
                <a:gridCol w="1044000"/>
                <a:gridCol w="1044000"/>
                <a:gridCol w="1475999"/>
              </a:tblGrid>
              <a:tr h="318857">
                <a:tc>
                  <a:txBody>
                    <a:bodyPr/>
                    <a:lstStyle/>
                    <a:p>
                      <a:pPr algn="ctr"/>
                      <a:r>
                        <a:rPr sz="920" b="1">
                          <a:solidFill>
                            <a:srgbClr val="FFFFFF"/>
                          </a:solidFill>
                          <a:latin typeface="微软雅黑" panose="020B0503020204020204" pitchFamily="34" charset="-122"/>
                          <a:ea typeface="微软雅黑" panose="020B0503020204020204" pitchFamily="34" charset="-122"/>
                        </a:rPr>
                        <a:t>指标</a:t>
                      </a:r>
                      <a:endParaRPr sz="920" b="1">
                        <a:solidFill>
                          <a:srgbClr val="FFFFFF"/>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2E7D6B"/>
                    </a:solidFill>
                  </a:tcPr>
                </a:tc>
                <a:tc>
                  <a:txBody>
                    <a:bodyPr/>
                    <a:lstStyle/>
                    <a:p>
                      <a:pPr algn="ctr"/>
                      <a:r>
                        <a:rPr sz="920" b="1">
                          <a:solidFill>
                            <a:srgbClr val="FFFFFF"/>
                          </a:solidFill>
                          <a:latin typeface="微软雅黑" panose="020B0503020204020204" pitchFamily="34" charset="-122"/>
                          <a:ea typeface="微软雅黑" panose="020B0503020204020204" pitchFamily="34" charset="-122"/>
                        </a:rPr>
                        <a:t>2023年</a:t>
                      </a:r>
                      <a:endParaRPr sz="920" b="1">
                        <a:solidFill>
                          <a:srgbClr val="FFFFFF"/>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2E7D6B"/>
                    </a:solidFill>
                  </a:tcPr>
                </a:tc>
                <a:tc>
                  <a:txBody>
                    <a:bodyPr/>
                    <a:lstStyle/>
                    <a:p>
                      <a:pPr algn="ctr"/>
                      <a:r>
                        <a:rPr sz="920" b="1">
                          <a:solidFill>
                            <a:srgbClr val="FFFFFF"/>
                          </a:solidFill>
                          <a:latin typeface="微软雅黑" panose="020B0503020204020204" pitchFamily="34" charset="-122"/>
                          <a:ea typeface="微软雅黑" panose="020B0503020204020204" pitchFamily="34" charset="-122"/>
                        </a:rPr>
                        <a:t>2024年</a:t>
                      </a:r>
                      <a:endParaRPr sz="920" b="1">
                        <a:solidFill>
                          <a:srgbClr val="FFFFFF"/>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2E7D6B"/>
                    </a:solidFill>
                  </a:tcPr>
                </a:tc>
                <a:tc>
                  <a:txBody>
                    <a:bodyPr/>
                    <a:lstStyle/>
                    <a:p>
                      <a:pPr algn="ctr"/>
                      <a:r>
                        <a:rPr sz="920" b="1">
                          <a:solidFill>
                            <a:srgbClr val="FFFFFF"/>
                          </a:solidFill>
                          <a:latin typeface="微软雅黑" panose="020B0503020204020204" pitchFamily="34" charset="-122"/>
                          <a:ea typeface="微软雅黑" panose="020B0503020204020204" pitchFamily="34" charset="-122"/>
                        </a:rPr>
                        <a:t>2025年</a:t>
                      </a:r>
                      <a:endParaRPr sz="920" b="1">
                        <a:solidFill>
                          <a:srgbClr val="FFFFFF"/>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2E7D6B"/>
                    </a:solidFill>
                  </a:tcPr>
                </a:tc>
                <a:tc>
                  <a:txBody>
                    <a:bodyPr/>
                    <a:lstStyle/>
                    <a:p>
                      <a:pPr algn="ctr"/>
                      <a:r>
                        <a:rPr sz="920" b="1">
                          <a:solidFill>
                            <a:srgbClr val="FFFFFF"/>
                          </a:solidFill>
                          <a:latin typeface="微软雅黑" panose="020B0503020204020204" pitchFamily="34" charset="-122"/>
                          <a:ea typeface="微软雅黑" panose="020B0503020204020204" pitchFamily="34" charset="-122"/>
                        </a:rPr>
                        <a:t>2026年1—8月</a:t>
                      </a:r>
                      <a:endParaRPr sz="920" b="1">
                        <a:solidFill>
                          <a:srgbClr val="FFFFFF"/>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2E7D6B"/>
                    </a:solidFill>
                  </a:tcPr>
                </a:tc>
              </a:tr>
              <a:tr h="318857">
                <a:tc>
                  <a:txBody>
                    <a:bodyPr/>
                    <a:lstStyle/>
                    <a:p>
                      <a:pPr algn="ctr"/>
                      <a:r>
                        <a:rPr sz="920" b="1">
                          <a:solidFill>
                            <a:srgbClr val="222222"/>
                          </a:solidFill>
                          <a:latin typeface="微软雅黑" panose="020B0503020204020204" pitchFamily="34" charset="-122"/>
                          <a:ea typeface="微软雅黑" panose="020B0503020204020204" pitchFamily="34" charset="-122"/>
                        </a:rPr>
                        <a:t>充电量（亿kWh）</a:t>
                      </a:r>
                      <a:endParaRPr sz="920" b="1">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2.79</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30.14</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64.67</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54.99</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r>
              <a:tr h="318857">
                <a:tc>
                  <a:txBody>
                    <a:bodyPr/>
                    <a:lstStyle/>
                    <a:p>
                      <a:pPr algn="ctr"/>
                      <a:r>
                        <a:rPr sz="920" b="1">
                          <a:solidFill>
                            <a:srgbClr val="222222"/>
                          </a:solidFill>
                          <a:latin typeface="微软雅黑" panose="020B0503020204020204" pitchFamily="34" charset="-122"/>
                          <a:ea typeface="微软雅黑" panose="020B0503020204020204" pitchFamily="34" charset="-122"/>
                        </a:rPr>
                        <a:t>放电量（亿kWh）</a:t>
                      </a:r>
                      <a:endParaRPr sz="920" b="1">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2.23</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26.81</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58.18</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49.11</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r>
              <a:tr h="318857">
                <a:tc>
                  <a:txBody>
                    <a:bodyPr/>
                    <a:lstStyle/>
                    <a:p>
                      <a:pPr algn="ctr"/>
                      <a:r>
                        <a:rPr sz="920" b="1">
                          <a:solidFill>
                            <a:srgbClr val="222222"/>
                          </a:solidFill>
                          <a:latin typeface="微软雅黑" panose="020B0503020204020204" pitchFamily="34" charset="-122"/>
                          <a:ea typeface="微软雅黑" panose="020B0503020204020204" pitchFamily="34" charset="-122"/>
                        </a:rPr>
                        <a:t>上网电量（亿kWh）</a:t>
                      </a:r>
                      <a:endParaRPr sz="920" b="1">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2.03</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25.99</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56.43</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46.96</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r>
              <a:tr h="318857">
                <a:tc>
                  <a:txBody>
                    <a:bodyPr/>
                    <a:lstStyle/>
                    <a:p>
                      <a:pPr algn="ctr"/>
                      <a:r>
                        <a:rPr sz="920" b="1">
                          <a:solidFill>
                            <a:srgbClr val="222222"/>
                          </a:solidFill>
                          <a:latin typeface="微软雅黑" panose="020B0503020204020204" pitchFamily="34" charset="-122"/>
                          <a:ea typeface="微软雅黑" panose="020B0503020204020204" pitchFamily="34" charset="-122"/>
                        </a:rPr>
                        <a:t>下网电量（亿kWh）</a:t>
                      </a:r>
                      <a:endParaRPr sz="920" b="1">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2.81</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31.82</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67.95</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57.29</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r>
              <a:tr h="318857">
                <a:tc>
                  <a:txBody>
                    <a:bodyPr/>
                    <a:lstStyle/>
                    <a:p>
                      <a:pPr algn="ctr"/>
                      <a:r>
                        <a:rPr sz="920" b="1">
                          <a:solidFill>
                            <a:srgbClr val="222222"/>
                          </a:solidFill>
                          <a:latin typeface="微软雅黑" panose="020B0503020204020204" pitchFamily="34" charset="-122"/>
                          <a:ea typeface="微软雅黑" panose="020B0503020204020204" pitchFamily="34" charset="-122"/>
                        </a:rPr>
                        <a:t>充放电循环效率</a:t>
                      </a:r>
                      <a:endParaRPr sz="920" b="1">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0.796</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0.889</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0.900</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920" b="0">
                          <a:solidFill>
                            <a:srgbClr val="222222"/>
                          </a:solidFill>
                          <a:latin typeface="微软雅黑" panose="020B0503020204020204" pitchFamily="34" charset="-122"/>
                          <a:ea typeface="微软雅黑" panose="020B0503020204020204" pitchFamily="34" charset="-122"/>
                        </a:rPr>
                        <a:t>0.893</a:t>
                      </a:r>
                      <a:endParaRPr sz="92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r>
            </a:tbl>
          </a:graphicData>
        </a:graphic>
      </p:graphicFrame>
      <p:pic>
        <p:nvPicPr>
          <p:cNvPr id="2" name="Picture 36" descr="p18_storage_time.png"/>
          <p:cNvPicPr>
            <a:picLocks noChangeAspect="1"/>
          </p:cNvPicPr>
          <p:nvPr/>
        </p:nvPicPr>
        <p:blipFill>
          <a:blip r:embed="rId2"/>
          <a:stretch>
            <a:fillRect/>
          </a:stretch>
        </p:blipFill>
        <p:spPr>
          <a:xfrm>
            <a:off x="612000" y="1512254"/>
            <a:ext cx="6480000" cy="2555492"/>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sz="2100" b="0">
                <a:solidFill>
                  <a:srgbClr val="1F5A4D"/>
                </a:solidFill>
                <a:latin typeface="微软雅黑" panose="020B0503020204020204" pitchFamily="34" charset="-122"/>
                <a:ea typeface="微软雅黑" panose="020B0503020204020204" pitchFamily="34" charset="-122"/>
              </a:rPr>
              <a:t>资源在苏北、负荷在苏南，空间错配显著</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TextBox 3"/>
          <p:cNvSpPr txBox="1"/>
          <p:nvPr/>
        </p:nvSpPr>
        <p:spPr>
          <a:xfrm>
            <a:off x="822960" y="1091502"/>
            <a:ext cx="10607040" cy="212725"/>
          </a:xfrm>
          <a:prstGeom prst="rect">
            <a:avLst/>
          </a:prstGeom>
          <a:noFill/>
        </p:spPr>
        <p:txBody>
          <a:bodyPr wrap="square" tIns="0" rIns="182880" bIns="36576" anchor="ctr">
            <a:spAutoFit/>
          </a:bodyPr>
          <a:lstStyle/>
          <a:p>
            <a:pPr algn="r">
              <a:spcAft>
                <a:spcPts val="400"/>
              </a:spcAft>
            </a:pPr>
            <a:endParaRPr sz="1150" b="0">
              <a:solidFill>
                <a:srgbClr val="4B5563"/>
              </a:solidFill>
              <a:latin typeface="Noto Sans SC" panose="020B0200000000000000" charset="-122"/>
              <a:ea typeface="Noto Sans SC" panose="020B0200000000000000" charset="-122"/>
            </a:endParaRPr>
          </a:p>
        </p:txBody>
      </p:sp>
      <p:pic>
        <p:nvPicPr>
          <p:cNvPr id="5" name="Picture 4" descr="p_region.png"/>
          <p:cNvPicPr>
            <a:picLocks noChangeAspect="1"/>
          </p:cNvPicPr>
          <p:nvPr/>
        </p:nvPicPr>
        <p:blipFill>
          <a:blip r:embed="rId1"/>
          <a:stretch>
            <a:fillRect/>
          </a:stretch>
        </p:blipFill>
        <p:spPr>
          <a:xfrm>
            <a:off x="612775" y="1517650"/>
            <a:ext cx="6491605" cy="2560320"/>
          </a:xfrm>
          <a:prstGeom prst="rect">
            <a:avLst/>
          </a:prstGeom>
        </p:spPr>
      </p:pic>
      <p:sp>
        <p:nvSpPr>
          <p:cNvPr id="6" name="Rounded Rectangle 5"/>
          <p:cNvSpPr/>
          <p:nvPr/>
        </p:nvSpPr>
        <p:spPr>
          <a:xfrm>
            <a:off x="612648" y="4224528"/>
            <a:ext cx="162306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区域</a:t>
            </a:r>
            <a:endParaRPr sz="1300" b="1">
              <a:solidFill>
                <a:srgbClr val="FFFFFF"/>
              </a:solidFill>
              <a:latin typeface="Noto Sans SC" panose="020B0200000000000000" charset="-122"/>
              <a:ea typeface="Noto Sans SC" panose="020B0200000000000000" charset="-122"/>
            </a:endParaRPr>
          </a:p>
        </p:txBody>
      </p:sp>
      <p:sp>
        <p:nvSpPr>
          <p:cNvPr id="7" name="Rounded Rectangle 6"/>
          <p:cNvSpPr/>
          <p:nvPr/>
        </p:nvSpPr>
        <p:spPr>
          <a:xfrm>
            <a:off x="2235708" y="4224528"/>
            <a:ext cx="162306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风电装机占比</a:t>
            </a:r>
            <a:endParaRPr sz="1300" b="1">
              <a:solidFill>
                <a:srgbClr val="FFFFFF"/>
              </a:solidFill>
              <a:latin typeface="Noto Sans SC" panose="020B0200000000000000" charset="-122"/>
              <a:ea typeface="Noto Sans SC" panose="020B0200000000000000" charset="-122"/>
            </a:endParaRPr>
          </a:p>
        </p:txBody>
      </p:sp>
      <p:sp>
        <p:nvSpPr>
          <p:cNvPr id="8" name="Rounded Rectangle 7"/>
          <p:cNvSpPr/>
          <p:nvPr/>
        </p:nvSpPr>
        <p:spPr>
          <a:xfrm>
            <a:off x="3858768" y="4224528"/>
            <a:ext cx="162306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户用占本区分布式光伏比重</a:t>
            </a:r>
            <a:endParaRPr sz="1300" b="1">
              <a:solidFill>
                <a:srgbClr val="FFFFFF"/>
              </a:solidFill>
              <a:latin typeface="Noto Sans SC" panose="020B0200000000000000" charset="-122"/>
              <a:ea typeface="Noto Sans SC" panose="020B0200000000000000" charset="-122"/>
            </a:endParaRPr>
          </a:p>
        </p:txBody>
      </p:sp>
      <p:sp>
        <p:nvSpPr>
          <p:cNvPr id="9" name="Rounded Rectangle 8"/>
          <p:cNvSpPr/>
          <p:nvPr/>
        </p:nvSpPr>
        <p:spPr>
          <a:xfrm>
            <a:off x="5481827" y="4224528"/>
            <a:ext cx="162306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储能装机（万千瓦）</a:t>
            </a:r>
            <a:endParaRPr sz="1300" b="1">
              <a:solidFill>
                <a:srgbClr val="FFFFFF"/>
              </a:solidFill>
              <a:latin typeface="Noto Sans SC" panose="020B0200000000000000" charset="-122"/>
              <a:ea typeface="Noto Sans SC" panose="020B0200000000000000" charset="-122"/>
            </a:endParaRPr>
          </a:p>
        </p:txBody>
      </p:sp>
      <p:sp>
        <p:nvSpPr>
          <p:cNvPr id="10" name="Rounded Rectangle 9"/>
          <p:cNvSpPr/>
          <p:nvPr/>
        </p:nvSpPr>
        <p:spPr>
          <a:xfrm>
            <a:off x="612648" y="4608576"/>
            <a:ext cx="1623060" cy="615695"/>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0">
                <a:solidFill>
                  <a:srgbClr val="2B3338"/>
                </a:solidFill>
                <a:latin typeface="Noto Sans SC" panose="020B0200000000000000" charset="-122"/>
                <a:ea typeface="Noto Sans SC" panose="020B0200000000000000" charset="-122"/>
              </a:rPr>
              <a:t>苏南</a:t>
            </a:r>
            <a:endParaRPr sz="1250" b="0">
              <a:solidFill>
                <a:srgbClr val="2B3338"/>
              </a:solidFill>
              <a:latin typeface="Noto Sans SC" panose="020B0200000000000000" charset="-122"/>
              <a:ea typeface="Noto Sans SC" panose="020B0200000000000000" charset="-122"/>
            </a:endParaRPr>
          </a:p>
        </p:txBody>
      </p:sp>
      <p:sp>
        <p:nvSpPr>
          <p:cNvPr id="11" name="Rounded Rectangle 10"/>
          <p:cNvSpPr/>
          <p:nvPr/>
        </p:nvSpPr>
        <p:spPr>
          <a:xfrm>
            <a:off x="2235708" y="4608576"/>
            <a:ext cx="1623060" cy="615695"/>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1.1%</a:t>
            </a:r>
            <a:endParaRPr sz="1250" b="1">
              <a:solidFill>
                <a:srgbClr val="1F5A4D"/>
              </a:solidFill>
              <a:latin typeface="Noto Sans SC" panose="020B0200000000000000" charset="-122"/>
              <a:ea typeface="Noto Sans SC" panose="020B0200000000000000" charset="-122"/>
            </a:endParaRPr>
          </a:p>
        </p:txBody>
      </p:sp>
      <p:sp>
        <p:nvSpPr>
          <p:cNvPr id="12" name="Rounded Rectangle 11"/>
          <p:cNvSpPr/>
          <p:nvPr/>
        </p:nvSpPr>
        <p:spPr>
          <a:xfrm>
            <a:off x="3858768" y="4608576"/>
            <a:ext cx="1623060" cy="615695"/>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9.0%</a:t>
            </a:r>
            <a:endParaRPr sz="1250" b="1">
              <a:solidFill>
                <a:srgbClr val="1F5A4D"/>
              </a:solidFill>
              <a:latin typeface="Noto Sans SC" panose="020B0200000000000000" charset="-122"/>
              <a:ea typeface="Noto Sans SC" panose="020B0200000000000000" charset="-122"/>
            </a:endParaRPr>
          </a:p>
        </p:txBody>
      </p:sp>
      <p:sp>
        <p:nvSpPr>
          <p:cNvPr id="13" name="Rounded Rectangle 12"/>
          <p:cNvSpPr/>
          <p:nvPr/>
        </p:nvSpPr>
        <p:spPr>
          <a:xfrm>
            <a:off x="5481827" y="4608576"/>
            <a:ext cx="1623060" cy="615695"/>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169.8</a:t>
            </a:r>
            <a:endParaRPr sz="1250" b="1">
              <a:solidFill>
                <a:srgbClr val="1F5A4D"/>
              </a:solidFill>
              <a:latin typeface="Noto Sans SC" panose="020B0200000000000000" charset="-122"/>
              <a:ea typeface="Noto Sans SC" panose="020B0200000000000000" charset="-122"/>
            </a:endParaRPr>
          </a:p>
        </p:txBody>
      </p:sp>
      <p:sp>
        <p:nvSpPr>
          <p:cNvPr id="14" name="Rounded Rectangle 13"/>
          <p:cNvSpPr/>
          <p:nvPr/>
        </p:nvSpPr>
        <p:spPr>
          <a:xfrm>
            <a:off x="612648" y="5224272"/>
            <a:ext cx="1623060" cy="615695"/>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0">
                <a:solidFill>
                  <a:srgbClr val="2B3338"/>
                </a:solidFill>
                <a:latin typeface="Noto Sans SC" panose="020B0200000000000000" charset="-122"/>
                <a:ea typeface="Noto Sans SC" panose="020B0200000000000000" charset="-122"/>
              </a:rPr>
              <a:t>苏中</a:t>
            </a:r>
            <a:endParaRPr sz="1250" b="0">
              <a:solidFill>
                <a:srgbClr val="2B3338"/>
              </a:solidFill>
              <a:latin typeface="Noto Sans SC" panose="020B0200000000000000" charset="-122"/>
              <a:ea typeface="Noto Sans SC" panose="020B0200000000000000" charset="-122"/>
            </a:endParaRPr>
          </a:p>
        </p:txBody>
      </p:sp>
      <p:sp>
        <p:nvSpPr>
          <p:cNvPr id="15" name="Rounded Rectangle 14"/>
          <p:cNvSpPr/>
          <p:nvPr/>
        </p:nvSpPr>
        <p:spPr>
          <a:xfrm>
            <a:off x="2235708" y="5224272"/>
            <a:ext cx="1623060" cy="615695"/>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34.3%</a:t>
            </a:r>
            <a:endParaRPr sz="1250" b="1">
              <a:solidFill>
                <a:srgbClr val="1F5A4D"/>
              </a:solidFill>
              <a:latin typeface="Noto Sans SC" panose="020B0200000000000000" charset="-122"/>
              <a:ea typeface="Noto Sans SC" panose="020B0200000000000000" charset="-122"/>
            </a:endParaRPr>
          </a:p>
        </p:txBody>
      </p:sp>
      <p:sp>
        <p:nvSpPr>
          <p:cNvPr id="16" name="Rounded Rectangle 15"/>
          <p:cNvSpPr/>
          <p:nvPr/>
        </p:nvSpPr>
        <p:spPr>
          <a:xfrm>
            <a:off x="3858768" y="5224272"/>
            <a:ext cx="1623060" cy="615695"/>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21.0%</a:t>
            </a:r>
            <a:endParaRPr sz="1250" b="1">
              <a:solidFill>
                <a:srgbClr val="1F5A4D"/>
              </a:solidFill>
              <a:latin typeface="Noto Sans SC" panose="020B0200000000000000" charset="-122"/>
              <a:ea typeface="Noto Sans SC" panose="020B0200000000000000" charset="-122"/>
            </a:endParaRPr>
          </a:p>
        </p:txBody>
      </p:sp>
      <p:sp>
        <p:nvSpPr>
          <p:cNvPr id="17" name="Rounded Rectangle 16"/>
          <p:cNvSpPr/>
          <p:nvPr/>
        </p:nvSpPr>
        <p:spPr>
          <a:xfrm>
            <a:off x="5481827" y="5224272"/>
            <a:ext cx="1623060" cy="615695"/>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226.9</a:t>
            </a:r>
            <a:endParaRPr sz="1250" b="1">
              <a:solidFill>
                <a:srgbClr val="1F5A4D"/>
              </a:solidFill>
              <a:latin typeface="Noto Sans SC" panose="020B0200000000000000" charset="-122"/>
              <a:ea typeface="Noto Sans SC" panose="020B0200000000000000" charset="-122"/>
            </a:endParaRPr>
          </a:p>
        </p:txBody>
      </p:sp>
      <p:sp>
        <p:nvSpPr>
          <p:cNvPr id="18" name="Rounded Rectangle 17"/>
          <p:cNvSpPr/>
          <p:nvPr/>
        </p:nvSpPr>
        <p:spPr>
          <a:xfrm>
            <a:off x="612648" y="5839967"/>
            <a:ext cx="1623060" cy="615695"/>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0">
                <a:solidFill>
                  <a:srgbClr val="2B3338"/>
                </a:solidFill>
                <a:latin typeface="Noto Sans SC" panose="020B0200000000000000" charset="-122"/>
                <a:ea typeface="Noto Sans SC" panose="020B0200000000000000" charset="-122"/>
              </a:rPr>
              <a:t>苏北</a:t>
            </a:r>
            <a:endParaRPr sz="1250" b="0">
              <a:solidFill>
                <a:srgbClr val="2B3338"/>
              </a:solidFill>
              <a:latin typeface="Noto Sans SC" panose="020B0200000000000000" charset="-122"/>
              <a:ea typeface="Noto Sans SC" panose="020B0200000000000000" charset="-122"/>
            </a:endParaRPr>
          </a:p>
        </p:txBody>
      </p:sp>
      <p:sp>
        <p:nvSpPr>
          <p:cNvPr id="19" name="Rounded Rectangle 18"/>
          <p:cNvSpPr/>
          <p:nvPr/>
        </p:nvSpPr>
        <p:spPr>
          <a:xfrm>
            <a:off x="2235708" y="5839967"/>
            <a:ext cx="1623060" cy="615695"/>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64.6%</a:t>
            </a:r>
            <a:endParaRPr sz="1250" b="1">
              <a:solidFill>
                <a:srgbClr val="1F5A4D"/>
              </a:solidFill>
              <a:latin typeface="Noto Sans SC" panose="020B0200000000000000" charset="-122"/>
              <a:ea typeface="Noto Sans SC" panose="020B0200000000000000" charset="-122"/>
            </a:endParaRPr>
          </a:p>
        </p:txBody>
      </p:sp>
      <p:sp>
        <p:nvSpPr>
          <p:cNvPr id="20" name="Rounded Rectangle 19"/>
          <p:cNvSpPr/>
          <p:nvPr/>
        </p:nvSpPr>
        <p:spPr>
          <a:xfrm>
            <a:off x="3858768" y="5839967"/>
            <a:ext cx="1623060" cy="615695"/>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49.4%</a:t>
            </a:r>
            <a:endParaRPr sz="1250" b="1">
              <a:solidFill>
                <a:srgbClr val="1F5A4D"/>
              </a:solidFill>
              <a:latin typeface="Noto Sans SC" panose="020B0200000000000000" charset="-122"/>
              <a:ea typeface="Noto Sans SC" panose="020B0200000000000000" charset="-122"/>
            </a:endParaRPr>
          </a:p>
        </p:txBody>
      </p:sp>
      <p:sp>
        <p:nvSpPr>
          <p:cNvPr id="21" name="Rounded Rectangle 20"/>
          <p:cNvSpPr/>
          <p:nvPr/>
        </p:nvSpPr>
        <p:spPr>
          <a:xfrm>
            <a:off x="5481827" y="5839967"/>
            <a:ext cx="1623060" cy="615695"/>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300" b="1">
                <a:solidFill>
                  <a:srgbClr val="1F5A4D"/>
                </a:solidFill>
                <a:latin typeface="Noto Sans SC" panose="020B0200000000000000" charset="-122"/>
                <a:ea typeface="Noto Sans SC" panose="020B0200000000000000" charset="-122"/>
              </a:rPr>
              <a:t>491.9</a:t>
            </a:r>
            <a:endParaRPr sz="1250" b="1">
              <a:solidFill>
                <a:srgbClr val="1F5A4D"/>
              </a:solidFill>
              <a:latin typeface="Noto Sans SC" panose="020B0200000000000000" charset="-122"/>
              <a:ea typeface="Noto Sans SC" panose="020B0200000000000000" charset="-122"/>
            </a:endParaRPr>
          </a:p>
        </p:txBody>
      </p:sp>
      <p:sp>
        <p:nvSpPr>
          <p:cNvPr id="22" name="Rounded Rectangle 21"/>
          <p:cNvSpPr/>
          <p:nvPr/>
        </p:nvSpPr>
        <p:spPr>
          <a:xfrm>
            <a:off x="7306055" y="1517904"/>
            <a:ext cx="4288536" cy="4937759"/>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06055" y="1517904"/>
            <a:ext cx="77724" cy="4937759"/>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map.png"/>
          <p:cNvPicPr>
            <a:picLocks noChangeAspect="1"/>
          </p:cNvPicPr>
          <p:nvPr/>
        </p:nvPicPr>
        <p:blipFill>
          <a:blip r:embed="rId2"/>
          <a:stretch>
            <a:fillRect/>
          </a:stretch>
        </p:blipFill>
        <p:spPr>
          <a:xfrm>
            <a:off x="7525511" y="1682495"/>
            <a:ext cx="365760" cy="365760"/>
          </a:xfrm>
          <a:prstGeom prst="rect">
            <a:avLst/>
          </a:prstGeom>
        </p:spPr>
      </p:pic>
      <p:sp>
        <p:nvSpPr>
          <p:cNvPr id="25" name="TextBox 24"/>
          <p:cNvSpPr txBox="1"/>
          <p:nvPr/>
        </p:nvSpPr>
        <p:spPr>
          <a:xfrm>
            <a:off x="7982711" y="1664207"/>
            <a:ext cx="3502152" cy="402336"/>
          </a:xfrm>
          <a:prstGeom prst="rect">
            <a:avLst/>
          </a:prstGeom>
          <a:noFill/>
        </p:spPr>
        <p:txBody>
          <a:bodyPr wrap="square" lIns="0" tIns="0" bIns="36576" anchor="ctr">
            <a:spAutoFit/>
          </a:bodyPr>
          <a:lstStyle/>
          <a:p>
            <a:pPr algn="l">
              <a:spcAft>
                <a:spcPts val="400"/>
              </a:spcAft>
            </a:pPr>
            <a:r>
              <a:rPr sz="1900" b="1">
                <a:solidFill>
                  <a:srgbClr val="2E7D6B"/>
                </a:solidFill>
                <a:latin typeface="Noto Sans SC" panose="020B0200000000000000" charset="-122"/>
                <a:ea typeface="Noto Sans SC" panose="020B0200000000000000" charset="-122"/>
              </a:rPr>
              <a:t>分析</a:t>
            </a:r>
            <a:endParaRPr sz="1900" b="1">
              <a:solidFill>
                <a:srgbClr val="2E7D6B"/>
              </a:solidFill>
              <a:latin typeface="Noto Sans SC" panose="020B0200000000000000" charset="-122"/>
              <a:ea typeface="Noto Sans SC" panose="020B0200000000000000" charset="-122"/>
            </a:endParaRPr>
          </a:p>
        </p:txBody>
      </p:sp>
      <p:sp>
        <p:nvSpPr>
          <p:cNvPr id="26" name="TextBox 25"/>
          <p:cNvSpPr txBox="1"/>
          <p:nvPr/>
        </p:nvSpPr>
        <p:spPr>
          <a:xfrm>
            <a:off x="7584948" y="2496312"/>
            <a:ext cx="3886200" cy="3085465"/>
          </a:xfrm>
          <a:prstGeom prst="rect">
            <a:avLst/>
          </a:prstGeom>
          <a:noFill/>
        </p:spPr>
        <p:txBody>
          <a:bodyPr wrap="square">
            <a:spAutoFit/>
          </a:bodyPr>
          <a:lstStyle/>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a:solidFill>
                  <a:srgbClr val="4B5563"/>
                </a:solidFill>
                <a:latin typeface="Noto Sans SC" panose="020B0200000000000000" charset="-122"/>
                <a:ea typeface="Noto Sans SC" panose="020B0200000000000000" charset="-122"/>
              </a:rPr>
              <a:t>通过新能源</a:t>
            </a:r>
            <a:r>
              <a:rPr sz="1500" b="0">
                <a:solidFill>
                  <a:srgbClr val="4B5563"/>
                </a:solidFill>
                <a:latin typeface="Noto Sans SC" panose="020B0200000000000000" charset="-122"/>
                <a:ea typeface="Noto Sans SC" panose="020B0200000000000000" charset="-122"/>
              </a:rPr>
              <a:t>装机占比和用电量占比：</a:t>
            </a:r>
            <a:r>
              <a:rPr sz="1500">
                <a:solidFill>
                  <a:srgbClr val="4B5563"/>
                </a:solidFill>
                <a:latin typeface="Noto Sans SC" panose="020B0200000000000000" charset="-122"/>
                <a:ea typeface="Noto Sans SC" panose="020B0200000000000000" charset="-122"/>
                <a:sym typeface="+mn-ea"/>
              </a:rPr>
              <a:t>苏南新能源装机占</a:t>
            </a:r>
            <a:r>
              <a:rPr sz="1500" b="1">
                <a:solidFill>
                  <a:srgbClr val="1F5A4D"/>
                </a:solidFill>
                <a:latin typeface="Noto Sans SC" panose="020B0200000000000000" charset="-122"/>
                <a:ea typeface="Noto Sans SC" panose="020B0200000000000000" charset="-122"/>
                <a:sym typeface="+mn-ea"/>
              </a:rPr>
              <a:t>24.4%</a:t>
            </a:r>
            <a:r>
              <a:rPr sz="1500">
                <a:solidFill>
                  <a:srgbClr val="4B5563"/>
                </a:solidFill>
                <a:latin typeface="Noto Sans SC" panose="020B0200000000000000" charset="-122"/>
                <a:ea typeface="Noto Sans SC" panose="020B0200000000000000" charset="-122"/>
                <a:sym typeface="+mn-ea"/>
              </a:rPr>
              <a:t>、用电占</a:t>
            </a:r>
            <a:r>
              <a:rPr sz="1500" b="1">
                <a:solidFill>
                  <a:srgbClr val="1F5A4D"/>
                </a:solidFill>
                <a:latin typeface="Noto Sans SC" panose="020B0200000000000000" charset="-122"/>
                <a:ea typeface="Noto Sans SC" panose="020B0200000000000000" charset="-122"/>
                <a:sym typeface="+mn-ea"/>
              </a:rPr>
              <a:t>56.1%</a:t>
            </a:r>
            <a:r>
              <a:rPr sz="1500">
                <a:solidFill>
                  <a:srgbClr val="4B5563"/>
                </a:solidFill>
                <a:latin typeface="Noto Sans SC" panose="020B0200000000000000" charset="-122"/>
                <a:ea typeface="Noto Sans SC" panose="020B0200000000000000" charset="-122"/>
                <a:sym typeface="+mn-ea"/>
              </a:rPr>
              <a:t>；苏北装机占</a:t>
            </a:r>
            <a:r>
              <a:rPr sz="1500" b="1">
                <a:solidFill>
                  <a:srgbClr val="1F5A4D"/>
                </a:solidFill>
                <a:latin typeface="Noto Sans SC" panose="020B0200000000000000" charset="-122"/>
                <a:ea typeface="Noto Sans SC" panose="020B0200000000000000" charset="-122"/>
                <a:sym typeface="+mn-ea"/>
              </a:rPr>
              <a:t>47.0%</a:t>
            </a:r>
            <a:r>
              <a:rPr sz="1500">
                <a:solidFill>
                  <a:srgbClr val="4B5563"/>
                </a:solidFill>
                <a:latin typeface="Noto Sans SC" panose="020B0200000000000000" charset="-122"/>
                <a:ea typeface="Noto Sans SC" panose="020B0200000000000000" charset="-122"/>
                <a:sym typeface="+mn-ea"/>
              </a:rPr>
              <a:t>、用电仅</a:t>
            </a:r>
            <a:r>
              <a:rPr sz="1500" b="1">
                <a:solidFill>
                  <a:srgbClr val="1F5A4D"/>
                </a:solidFill>
                <a:latin typeface="Noto Sans SC" panose="020B0200000000000000" charset="-122"/>
                <a:ea typeface="Noto Sans SC" panose="020B0200000000000000" charset="-122"/>
                <a:sym typeface="+mn-ea"/>
              </a:rPr>
              <a:t>25.1%</a:t>
            </a:r>
            <a:r>
              <a:rPr lang="zh-CN" sz="1500" b="1">
                <a:solidFill>
                  <a:srgbClr val="1F5A4D"/>
                </a:solidFill>
                <a:latin typeface="Noto Sans SC" panose="020B0200000000000000" charset="-122"/>
                <a:ea typeface="Noto Sans SC" panose="020B0200000000000000" charset="-122"/>
                <a:sym typeface="+mn-ea"/>
              </a:rPr>
              <a:t>，</a:t>
            </a:r>
            <a:r>
              <a:rPr sz="1500" b="0">
                <a:solidFill>
                  <a:srgbClr val="4B5563"/>
                </a:solidFill>
                <a:latin typeface="Noto Sans SC" panose="020B0200000000000000" charset="-122"/>
                <a:ea typeface="Noto Sans SC" panose="020B0200000000000000" charset="-122"/>
              </a:rPr>
              <a:t>资源与负荷空间分离</a:t>
            </a:r>
            <a:r>
              <a:rPr lang="zh-CN" sz="1500" b="0">
                <a:solidFill>
                  <a:srgbClr val="4B5563"/>
                </a:solidFill>
                <a:latin typeface="Noto Sans SC" panose="020B0200000000000000" charset="-122"/>
                <a:ea typeface="Noto Sans SC" panose="020B0200000000000000" charset="-122"/>
              </a:rPr>
              <a:t>。</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户用装机占本区分布式光伏比重：苏南</a:t>
            </a:r>
            <a:r>
              <a:rPr sz="1500" b="1">
                <a:solidFill>
                  <a:srgbClr val="1F5A4D"/>
                </a:solidFill>
                <a:latin typeface="Noto Sans SC" panose="020B0200000000000000" charset="-122"/>
                <a:ea typeface="Noto Sans SC" panose="020B0200000000000000" charset="-122"/>
              </a:rPr>
              <a:t>9.0%</a:t>
            </a:r>
            <a:r>
              <a:rPr sz="1500" b="0">
                <a:solidFill>
                  <a:srgbClr val="4B5563"/>
                </a:solidFill>
                <a:latin typeface="Noto Sans SC" panose="020B0200000000000000" charset="-122"/>
                <a:ea typeface="Noto Sans SC" panose="020B0200000000000000" charset="-122"/>
              </a:rPr>
              <a:t>、苏中</a:t>
            </a:r>
            <a:r>
              <a:rPr sz="1500" b="1">
                <a:solidFill>
                  <a:srgbClr val="1F5A4D"/>
                </a:solidFill>
                <a:latin typeface="Noto Sans SC" panose="020B0200000000000000" charset="-122"/>
                <a:ea typeface="Noto Sans SC" panose="020B0200000000000000" charset="-122"/>
              </a:rPr>
              <a:t>21.0%</a:t>
            </a:r>
            <a:r>
              <a:rPr sz="1500" b="0">
                <a:solidFill>
                  <a:srgbClr val="4B5563"/>
                </a:solidFill>
                <a:latin typeface="Noto Sans SC" panose="020B0200000000000000" charset="-122"/>
                <a:ea typeface="Noto Sans SC" panose="020B0200000000000000" charset="-122"/>
              </a:rPr>
              <a:t>、苏北</a:t>
            </a:r>
            <a:r>
              <a:rPr sz="1500" b="1">
                <a:solidFill>
                  <a:srgbClr val="1F5A4D"/>
                </a:solidFill>
                <a:latin typeface="Noto Sans SC" panose="020B0200000000000000" charset="-122"/>
                <a:ea typeface="Noto Sans SC" panose="020B0200000000000000" charset="-122"/>
              </a:rPr>
              <a:t>49.4%</a:t>
            </a:r>
            <a:r>
              <a:rPr sz="1500" b="0">
                <a:solidFill>
                  <a:srgbClr val="4B5563"/>
                </a:solidFill>
                <a:latin typeface="Noto Sans SC" panose="020B0200000000000000" charset="-122"/>
                <a:ea typeface="Noto Sans SC" panose="020B0200000000000000" charset="-122"/>
              </a:rPr>
              <a:t>；分市连云港</a:t>
            </a:r>
            <a:r>
              <a:rPr sz="1500" b="1">
                <a:solidFill>
                  <a:srgbClr val="1F5A4D"/>
                </a:solidFill>
                <a:latin typeface="Noto Sans SC" panose="020B0200000000000000" charset="-122"/>
                <a:ea typeface="Noto Sans SC" panose="020B0200000000000000" charset="-122"/>
              </a:rPr>
              <a:t>75.7%</a:t>
            </a:r>
            <a:r>
              <a:rPr sz="1500" b="0">
                <a:solidFill>
                  <a:srgbClr val="4B5563"/>
                </a:solidFill>
                <a:latin typeface="Noto Sans SC" panose="020B0200000000000000" charset="-122"/>
                <a:ea typeface="Noto Sans SC" panose="020B0200000000000000" charset="-122"/>
              </a:rPr>
              <a:t> vs 苏州</a:t>
            </a:r>
            <a:r>
              <a:rPr sz="1500" b="1">
                <a:solidFill>
                  <a:srgbClr val="1F5A4D"/>
                </a:solidFill>
                <a:latin typeface="Noto Sans SC" panose="020B0200000000000000" charset="-122"/>
                <a:ea typeface="Noto Sans SC" panose="020B0200000000000000" charset="-122"/>
              </a:rPr>
              <a:t>2.6%</a:t>
            </a:r>
            <a:endParaRPr sz="15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风电分布失衡远大于光伏：苏北占风电</a:t>
            </a:r>
            <a:r>
              <a:rPr sz="1500" b="1">
                <a:solidFill>
                  <a:srgbClr val="1F5A4D"/>
                </a:solidFill>
                <a:latin typeface="Noto Sans SC" panose="020B0200000000000000" charset="-122"/>
                <a:ea typeface="Noto Sans SC" panose="020B0200000000000000" charset="-122"/>
              </a:rPr>
              <a:t>64.6%</a:t>
            </a:r>
            <a:r>
              <a:rPr sz="1500" b="0">
                <a:solidFill>
                  <a:srgbClr val="4B5563"/>
                </a:solidFill>
                <a:latin typeface="Noto Sans SC" panose="020B0200000000000000" charset="-122"/>
                <a:ea typeface="Noto Sans SC" panose="020B0200000000000000" charset="-122"/>
              </a:rPr>
              <a:t>、苏南仅</a:t>
            </a:r>
            <a:r>
              <a:rPr sz="1500" b="1">
                <a:solidFill>
                  <a:srgbClr val="1F5A4D"/>
                </a:solidFill>
                <a:latin typeface="Noto Sans SC" panose="020B0200000000000000" charset="-122"/>
                <a:ea typeface="Noto Sans SC" panose="020B0200000000000000" charset="-122"/>
              </a:rPr>
              <a:t>1.1%</a:t>
            </a:r>
            <a:endParaRPr sz="15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sym typeface="+mn-ea"/>
              </a:rPr>
              <a:t>▪ </a:t>
            </a:r>
            <a:r>
              <a:rPr sz="1500">
                <a:solidFill>
                  <a:srgbClr val="4B5563"/>
                </a:solidFill>
                <a:latin typeface="Noto Sans SC" panose="020B0200000000000000" charset="-122"/>
                <a:ea typeface="Noto Sans SC" panose="020B0200000000000000" charset="-122"/>
                <a:sym typeface="+mn-ea"/>
              </a:rPr>
              <a:t>储能装机</a:t>
            </a:r>
            <a:r>
              <a:rPr lang="zh-CN" sz="1500">
                <a:solidFill>
                  <a:srgbClr val="4B5563"/>
                </a:solidFill>
                <a:latin typeface="Noto Sans SC" panose="020B0200000000000000" charset="-122"/>
                <a:ea typeface="Noto Sans SC" panose="020B0200000000000000" charset="-122"/>
                <a:sym typeface="+mn-ea"/>
              </a:rPr>
              <a:t>也</a:t>
            </a:r>
            <a:r>
              <a:rPr sz="1500">
                <a:solidFill>
                  <a:srgbClr val="4B5563"/>
                </a:solidFill>
                <a:latin typeface="Noto Sans SC" panose="020B0200000000000000" charset="-122"/>
                <a:ea typeface="Noto Sans SC" panose="020B0200000000000000" charset="-122"/>
                <a:sym typeface="+mn-ea"/>
              </a:rPr>
              <a:t>是苏北最多，苏南最少</a:t>
            </a:r>
            <a:endParaRPr sz="1500">
              <a:solidFill>
                <a:srgbClr val="4B5563"/>
              </a:solidFill>
              <a:latin typeface="Noto Sans SC" panose="020B0200000000000000" charset="-122"/>
              <a:ea typeface="Noto Sans SC" panose="020B0200000000000000" charset="-122"/>
              <a:sym typeface="+mn-ea"/>
            </a:endParaRPr>
          </a:p>
        </p:txBody>
      </p:sp>
      <p:sp>
        <p:nvSpPr>
          <p:cNvPr id="29" name="文本框 28"/>
          <p:cNvSpPr txBox="1"/>
          <p:nvPr/>
        </p:nvSpPr>
        <p:spPr>
          <a:xfrm>
            <a:off x="822960" y="170815"/>
            <a:ext cx="10772140" cy="613410"/>
          </a:xfrm>
          <a:prstGeom prst="rect">
            <a:avLst/>
          </a:prstGeom>
          <a:noFill/>
        </p:spPr>
        <p:txBody>
          <a:bodyPr wrap="square" rtlCol="0">
            <a:noAutofit/>
          </a:bodyPr>
          <a:lstStyle/>
          <a:p>
            <a:pPr algn="l">
              <a:buClrTx/>
              <a:buSzTx/>
              <a:buFontTx/>
              <a:buNone/>
            </a:pPr>
            <a:r>
              <a:rPr lang="zh-CN" sz="2400" b="1">
                <a:solidFill>
                  <a:srgbClr val="1F5A4D"/>
                </a:solidFill>
                <a:latin typeface="微软雅黑" panose="020B0503020204020204" pitchFamily="34" charset="-122"/>
                <a:ea typeface="微软雅黑" panose="020B0503020204020204" pitchFamily="34" charset="-122"/>
                <a:sym typeface="+mn-ea"/>
              </a:rPr>
              <a:t>4 新兴要素发展及其对电力市场影响的多维度统计分析</a:t>
            </a:r>
            <a:r>
              <a:rPr lang="en-US" altLang="zh-CN" sz="2800" b="1">
                <a:solidFill>
                  <a:srgbClr val="1F5A4D"/>
                </a:solidFill>
                <a:latin typeface="微软雅黑" panose="020B0503020204020204" pitchFamily="34" charset="-122"/>
                <a:ea typeface="微软雅黑" panose="020B0503020204020204" pitchFamily="34" charset="-122"/>
                <a:sym typeface="+mn-ea"/>
              </a:rPr>
              <a:t>    </a:t>
            </a:r>
            <a:r>
              <a:rPr lang="zh-CN" altLang="en-US" sz="2200" b="1">
                <a:solidFill>
                  <a:srgbClr val="029694"/>
                </a:solidFill>
                <a:latin typeface="Noto Sans SC" panose="020B0200000000000000" charset="-122"/>
                <a:ea typeface="Noto Sans SC" panose="020B0200000000000000" charset="-122"/>
                <a:cs typeface="Noto Sans SC" panose="020B0200000000000000" charset="-122"/>
                <a:sym typeface="+mn-ea"/>
              </a:rPr>
              <a:t>空间维度</a:t>
            </a:r>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a:p>
            <a:pPr algn="l">
              <a:buClrTx/>
              <a:buSzTx/>
              <a:buFontTx/>
            </a:pPr>
            <a:endParaRPr lang="en-US" sz="2200" b="1">
              <a:solidFill>
                <a:schemeClr val="accent3"/>
              </a:solidFill>
              <a:latin typeface="Noto Sans SC" panose="020B0200000000000000" charset="-122"/>
              <a:ea typeface="Noto Sans SC" panose="020B0200000000000000" charset="-122"/>
              <a:cs typeface="Noto Sans SC" panose="020B0200000000000000" charset="-122"/>
              <a:sym typeface="+mn-ea"/>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sz="2100" b="0">
                <a:solidFill>
                  <a:srgbClr val="1F5A4D"/>
                </a:solidFill>
                <a:latin typeface="微软雅黑" panose="020B0503020204020204" pitchFamily="34" charset="-122"/>
                <a:ea typeface="微软雅黑" panose="020B0503020204020204" pitchFamily="34" charset="-122"/>
              </a:rPr>
              <a:t>新能源发电量占比：苏北高、苏南低，空间错配在电量层面延续</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TextBox 3"/>
          <p:cNvSpPr txBox="1"/>
          <p:nvPr/>
        </p:nvSpPr>
        <p:spPr>
          <a:xfrm>
            <a:off x="822960" y="1091502"/>
            <a:ext cx="10607040" cy="212725"/>
          </a:xfrm>
          <a:prstGeom prst="rect">
            <a:avLst/>
          </a:prstGeom>
          <a:noFill/>
        </p:spPr>
        <p:txBody>
          <a:bodyPr wrap="square" tIns="0" rIns="182880" bIns="36576" anchor="ctr">
            <a:spAutoFit/>
          </a:bodyPr>
          <a:lstStyle/>
          <a:p>
            <a:pPr algn="r">
              <a:spcAft>
                <a:spcPts val="400"/>
              </a:spcAft>
            </a:pPr>
            <a:endParaRPr sz="1150" b="0">
              <a:solidFill>
                <a:srgbClr val="4B5563"/>
              </a:solidFill>
              <a:latin typeface="Noto Sans SC" panose="020B0200000000000000" charset="-122"/>
              <a:ea typeface="Noto Sans SC" panose="020B0200000000000000" charset="-122"/>
            </a:endParaRPr>
          </a:p>
        </p:txBody>
      </p:sp>
      <p:sp>
        <p:nvSpPr>
          <p:cNvPr id="22" name="Rounded Rectangle 21"/>
          <p:cNvSpPr/>
          <p:nvPr/>
        </p:nvSpPr>
        <p:spPr>
          <a:xfrm>
            <a:off x="7306055" y="1517904"/>
            <a:ext cx="4288536" cy="4937759"/>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06055" y="1517904"/>
            <a:ext cx="77724" cy="4937759"/>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map.png"/>
          <p:cNvPicPr>
            <a:picLocks noChangeAspect="1"/>
          </p:cNvPicPr>
          <p:nvPr/>
        </p:nvPicPr>
        <p:blipFill>
          <a:blip r:embed="rId1"/>
          <a:stretch>
            <a:fillRect/>
          </a:stretch>
        </p:blipFill>
        <p:spPr>
          <a:xfrm>
            <a:off x="7525511" y="1682495"/>
            <a:ext cx="365760" cy="365760"/>
          </a:xfrm>
          <a:prstGeom prst="rect">
            <a:avLst/>
          </a:prstGeom>
        </p:spPr>
      </p:pic>
      <p:sp>
        <p:nvSpPr>
          <p:cNvPr id="25" name="TextBox 24"/>
          <p:cNvSpPr txBox="1"/>
          <p:nvPr/>
        </p:nvSpPr>
        <p:spPr>
          <a:xfrm>
            <a:off x="7982711" y="1664207"/>
            <a:ext cx="3502152" cy="402336"/>
          </a:xfrm>
          <a:prstGeom prst="rect">
            <a:avLst/>
          </a:prstGeom>
          <a:noFill/>
        </p:spPr>
        <p:txBody>
          <a:bodyPr wrap="square" lIns="0" tIns="0" bIns="36576" anchor="ctr">
            <a:spAutoFit/>
          </a:bodyPr>
          <a:lstStyle/>
          <a:p>
            <a:pPr algn="l">
              <a:spcAft>
                <a:spcPts val="400"/>
              </a:spcAft>
            </a:pPr>
            <a:r>
              <a:rPr sz="1900" b="1">
                <a:solidFill>
                  <a:srgbClr val="2E7D6B"/>
                </a:solidFill>
                <a:latin typeface="Noto Sans SC" panose="020B0200000000000000" charset="-122"/>
                <a:ea typeface="Noto Sans SC" panose="020B0200000000000000" charset="-122"/>
              </a:rPr>
              <a:t>分析</a:t>
            </a:r>
            <a:endParaRPr sz="1900" b="1">
              <a:solidFill>
                <a:srgbClr val="2E7D6B"/>
              </a:solidFill>
              <a:latin typeface="Noto Sans SC" panose="020B0200000000000000" charset="-122"/>
              <a:ea typeface="Noto Sans SC" panose="020B0200000000000000" charset="-122"/>
            </a:endParaRPr>
          </a:p>
        </p:txBody>
      </p:sp>
      <p:sp>
        <p:nvSpPr>
          <p:cNvPr id="26" name="TextBox 25"/>
          <p:cNvSpPr txBox="1"/>
          <p:nvPr/>
        </p:nvSpPr>
        <p:spPr>
          <a:xfrm>
            <a:off x="7562088" y="2176272"/>
            <a:ext cx="3886200" cy="4169663"/>
          </a:xfrm>
          <a:prstGeom prst="rect">
            <a:avLst/>
          </a:prstGeom>
          <a:noFill/>
        </p:spPr>
        <p:txBody>
          <a:bodyPr wrap="square">
            <a:spAutoFit/>
          </a:bodyPr>
          <a:lstStyle/>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宿迁52.8%、淮安49.3%、南通45.8%、扬州45.0%居前</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苏州7.4%、南京9.4%最低，均低于全省23.0%</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苏北与沿海高、苏南负荷中心低，与装机布局一致</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苏州新能源装机921.4万千瓦，但发电量占比仅7.4%</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含义：空间错配在电量层面同样成立，苏北送出、苏南受入</a:t>
            </a:r>
            <a:endParaRPr sz="1500" b="0">
              <a:solidFill>
                <a:srgbClr val="4B5563"/>
              </a:solidFill>
              <a:latin typeface="Noto Sans SC" panose="020B0200000000000000" charset="-122"/>
              <a:ea typeface="Noto Sans SC" panose="020B0200000000000000" charset="-122"/>
            </a:endParaRPr>
          </a:p>
        </p:txBody>
      </p:sp>
      <p:sp>
        <p:nvSpPr>
          <p:cNvPr id="29" name="文本框 28"/>
          <p:cNvSpPr txBox="1"/>
          <p:nvPr/>
        </p:nvSpPr>
        <p:spPr>
          <a:xfrm>
            <a:off x="822960" y="170815"/>
            <a:ext cx="10772140" cy="613410"/>
          </a:xfrm>
          <a:prstGeom prst="rect">
            <a:avLst/>
          </a:prstGeom>
          <a:noFill/>
        </p:spPr>
        <p:txBody>
          <a:bodyPr wrap="square" rtlCol="0">
            <a:noAutofit/>
          </a:bodyPr>
          <a:lstStyle/>
          <a:p>
            <a:pPr algn="l">
              <a:buClrTx/>
              <a:buSzTx/>
              <a:buFontTx/>
              <a:buNone/>
            </a:pPr>
            <a:r>
              <a:rPr lang="zh-CN" sz="2400" b="1">
                <a:solidFill>
                  <a:srgbClr val="1F5A4D"/>
                </a:solidFill>
                <a:latin typeface="微软雅黑" panose="020B0503020204020204" pitchFamily="34" charset="-122"/>
                <a:ea typeface="微软雅黑" panose="020B0503020204020204" pitchFamily="34" charset="-122"/>
                <a:sym typeface="+mn-ea"/>
              </a:rPr>
              <a:t>4 新兴要素发展及其对电力市场影响的多维度统计分析    空间维度</a:t>
            </a:r>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a:p>
            <a:pPr algn="l">
              <a:buClrTx/>
              <a:buSzTx/>
              <a:buFontTx/>
            </a:pPr>
            <a:endParaRPr lang="en-US" sz="2200" b="1">
              <a:solidFill>
                <a:schemeClr val="accent3"/>
              </a:solidFill>
              <a:latin typeface="Noto Sans SC" panose="020B0200000000000000" charset="-122"/>
              <a:ea typeface="Noto Sans SC" panose="020B0200000000000000" charset="-122"/>
              <a:cs typeface="Noto Sans SC" panose="020B0200000000000000" charset="-122"/>
              <a:sym typeface="+mn-ea"/>
            </a:endParaRPr>
          </a:p>
        </p:txBody>
      </p:sp>
      <p:pic>
        <p:nvPicPr>
          <p:cNvPr id="2" name="Picture 29" descr="p20_city_share.png"/>
          <p:cNvPicPr>
            <a:picLocks noChangeAspect="1"/>
          </p:cNvPicPr>
          <p:nvPr/>
        </p:nvPicPr>
        <p:blipFill>
          <a:blip r:embed="rId2"/>
          <a:stretch>
            <a:fillRect/>
          </a:stretch>
        </p:blipFill>
        <p:spPr>
          <a:xfrm>
            <a:off x="612000" y="1518592"/>
            <a:ext cx="6480000" cy="4882816"/>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sz="2100" b="0">
                <a:solidFill>
                  <a:srgbClr val="1F5A4D"/>
                </a:solidFill>
                <a:latin typeface="微软雅黑" panose="020B0503020204020204" pitchFamily="34" charset="-122"/>
                <a:ea typeface="微软雅黑" panose="020B0503020204020204" pitchFamily="34" charset="-122"/>
              </a:rPr>
              <a:t>储能的空间落点：与新能源装机一致，苏北与沿海占55.4%</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TextBox 3"/>
          <p:cNvSpPr txBox="1"/>
          <p:nvPr/>
        </p:nvSpPr>
        <p:spPr>
          <a:xfrm>
            <a:off x="822960" y="1091502"/>
            <a:ext cx="10607040" cy="212725"/>
          </a:xfrm>
          <a:prstGeom prst="rect">
            <a:avLst/>
          </a:prstGeom>
          <a:noFill/>
        </p:spPr>
        <p:txBody>
          <a:bodyPr wrap="square" tIns="0" rIns="182880" bIns="36576" anchor="ctr">
            <a:spAutoFit/>
          </a:bodyPr>
          <a:lstStyle/>
          <a:p>
            <a:pPr algn="r">
              <a:spcAft>
                <a:spcPts val="400"/>
              </a:spcAft>
            </a:pPr>
            <a:endParaRPr sz="1150" b="0">
              <a:solidFill>
                <a:srgbClr val="4B5563"/>
              </a:solidFill>
              <a:latin typeface="Noto Sans SC" panose="020B0200000000000000" charset="-122"/>
              <a:ea typeface="Noto Sans SC" panose="020B0200000000000000" charset="-122"/>
            </a:endParaRPr>
          </a:p>
        </p:txBody>
      </p:sp>
      <p:pic>
        <p:nvPicPr>
          <p:cNvPr id="5" name="Picture 4" descr="p_storage_city.png"/>
          <p:cNvPicPr>
            <a:picLocks noChangeAspect="1"/>
          </p:cNvPicPr>
          <p:nvPr/>
        </p:nvPicPr>
        <p:blipFill>
          <a:blip r:embed="rId1"/>
          <a:stretch>
            <a:fillRect/>
          </a:stretch>
        </p:blipFill>
        <p:spPr>
          <a:xfrm>
            <a:off x="961681" y="1517904"/>
            <a:ext cx="5794173" cy="2560320"/>
          </a:xfrm>
          <a:prstGeom prst="rect">
            <a:avLst/>
          </a:prstGeom>
        </p:spPr>
      </p:pic>
      <p:sp>
        <p:nvSpPr>
          <p:cNvPr id="41" name="Rounded Rectangle 40"/>
          <p:cNvSpPr/>
          <p:nvPr/>
        </p:nvSpPr>
        <p:spPr>
          <a:xfrm>
            <a:off x="7306055" y="1517904"/>
            <a:ext cx="4288536" cy="4937759"/>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306055" y="1517904"/>
            <a:ext cx="77724" cy="4937759"/>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grid.png"/>
          <p:cNvPicPr>
            <a:picLocks noChangeAspect="1"/>
          </p:cNvPicPr>
          <p:nvPr/>
        </p:nvPicPr>
        <p:blipFill>
          <a:blip r:embed="rId2"/>
          <a:stretch>
            <a:fillRect/>
          </a:stretch>
        </p:blipFill>
        <p:spPr>
          <a:xfrm>
            <a:off x="7525511" y="1682495"/>
            <a:ext cx="365760" cy="365760"/>
          </a:xfrm>
          <a:prstGeom prst="rect">
            <a:avLst/>
          </a:prstGeom>
        </p:spPr>
      </p:pic>
      <p:sp>
        <p:nvSpPr>
          <p:cNvPr id="44" name="TextBox 43"/>
          <p:cNvSpPr txBox="1"/>
          <p:nvPr/>
        </p:nvSpPr>
        <p:spPr>
          <a:xfrm>
            <a:off x="7982711" y="1664207"/>
            <a:ext cx="3502152" cy="402336"/>
          </a:xfrm>
          <a:prstGeom prst="rect">
            <a:avLst/>
          </a:prstGeom>
          <a:noFill/>
        </p:spPr>
        <p:txBody>
          <a:bodyPr wrap="square" lIns="0" tIns="0" bIns="36576" anchor="ctr">
            <a:spAutoFit/>
          </a:bodyPr>
          <a:lstStyle/>
          <a:p>
            <a:pPr algn="l">
              <a:spcAft>
                <a:spcPts val="400"/>
              </a:spcAft>
            </a:pPr>
            <a:r>
              <a:rPr sz="1900" b="1">
                <a:solidFill>
                  <a:srgbClr val="2E7D6B"/>
                </a:solidFill>
                <a:latin typeface="Noto Sans SC" panose="020B0200000000000000" charset="-122"/>
                <a:ea typeface="Noto Sans SC" panose="020B0200000000000000" charset="-122"/>
              </a:rPr>
              <a:t>分析</a:t>
            </a:r>
            <a:endParaRPr sz="1900" b="1">
              <a:solidFill>
                <a:srgbClr val="2E7D6B"/>
              </a:solidFill>
              <a:latin typeface="Noto Sans SC" panose="020B0200000000000000" charset="-122"/>
              <a:ea typeface="Noto Sans SC" panose="020B0200000000000000" charset="-122"/>
            </a:endParaRPr>
          </a:p>
        </p:txBody>
      </p:sp>
      <p:sp>
        <p:nvSpPr>
          <p:cNvPr id="45" name="TextBox 44"/>
          <p:cNvSpPr txBox="1"/>
          <p:nvPr/>
        </p:nvSpPr>
        <p:spPr>
          <a:xfrm>
            <a:off x="7562088" y="2176272"/>
            <a:ext cx="3886200" cy="4169663"/>
          </a:xfrm>
          <a:prstGeom prst="rect">
            <a:avLst/>
          </a:prstGeom>
          <a:noFill/>
        </p:spPr>
        <p:txBody>
          <a:bodyPr wrap="square">
            <a:spAutoFit/>
          </a:bodyPr>
          <a:lstStyle/>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电站由2023年1月10座增至2026年8月125座、装机888.6万千瓦</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分市装机：盐城208.6、南通119.6、连云港95.1万千瓦居前</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苏北与沿海五市占55.4%（2025年末为53.8%），而其用电量仅占25.1%</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单站规模：盐城、南通平均超13万千瓦；负荷区站点多而单体小</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空间含义：储能落点与新能源装机一致、与负荷相反</a:t>
            </a:r>
            <a:endParaRPr sz="1500" b="0">
              <a:solidFill>
                <a:srgbClr val="4B5563"/>
              </a:solidFill>
              <a:latin typeface="Noto Sans SC" panose="020B0200000000000000" charset="-122"/>
              <a:ea typeface="Noto Sans SC" panose="020B0200000000000000" charset="-122"/>
            </a:endParaRPr>
          </a:p>
        </p:txBody>
      </p:sp>
      <p:sp>
        <p:nvSpPr>
          <p:cNvPr id="48" name="文本框 47"/>
          <p:cNvSpPr txBox="1"/>
          <p:nvPr/>
        </p:nvSpPr>
        <p:spPr>
          <a:xfrm>
            <a:off x="822960" y="170815"/>
            <a:ext cx="10304780" cy="613410"/>
          </a:xfrm>
          <a:prstGeom prst="rect">
            <a:avLst/>
          </a:prstGeom>
          <a:noFill/>
        </p:spPr>
        <p:txBody>
          <a:bodyPr wrap="square" rtlCol="0">
            <a:noAutofit/>
          </a:bodyPr>
          <a:lstStyle/>
          <a:p>
            <a:pPr algn="l">
              <a:buClrTx/>
              <a:buSzTx/>
              <a:buFontTx/>
              <a:buNone/>
            </a:pPr>
            <a:r>
              <a:rPr lang="zh-CN" sz="2400" b="1">
                <a:solidFill>
                  <a:srgbClr val="1F5A4D"/>
                </a:solidFill>
                <a:latin typeface="微软雅黑" panose="020B0503020204020204" pitchFamily="34" charset="-122"/>
                <a:ea typeface="微软雅黑" panose="020B0503020204020204" pitchFamily="34" charset="-122"/>
                <a:sym typeface="+mn-ea"/>
              </a:rPr>
              <a:t>4 新兴要素发展及其对电力市场影响的多维度统计分析    空间维度</a:t>
            </a:r>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a:p>
            <a:pPr algn="l">
              <a:buClrTx/>
              <a:buSzTx/>
              <a:buFontTx/>
            </a:pPr>
            <a:endParaRPr lang="en-US" sz="2200" b="1">
              <a:solidFill>
                <a:schemeClr val="accent3"/>
              </a:solidFill>
              <a:latin typeface="Noto Sans SC" panose="020B0200000000000000" charset="-122"/>
              <a:ea typeface="Noto Sans SC" panose="020B0200000000000000" charset="-122"/>
              <a:cs typeface="Noto Sans SC" panose="020B0200000000000000" charset="-122"/>
              <a:sym typeface="+mn-ea"/>
            </a:endParaRPr>
          </a:p>
        </p:txBody>
      </p:sp>
      <p:graphicFrame>
        <p:nvGraphicFramePr>
          <p:cNvPr id="49" name="Table 48"/>
          <p:cNvGraphicFramePr>
            <a:graphicFrameLocks noGrp="1"/>
          </p:cNvGraphicFramePr>
          <p:nvPr/>
        </p:nvGraphicFramePr>
        <p:xfrm>
          <a:off x="972000" y="4248000"/>
          <a:ext cx="5832000" cy="1655999"/>
        </p:xfrm>
        <a:graphic>
          <a:graphicData uri="http://schemas.openxmlformats.org/drawingml/2006/table">
            <a:tbl>
              <a:tblPr firstRow="1" bandRow="1">
                <a:tableStyleId>{5C22544A-7EE6-4342-B048-85BDC9FD1C3A}</a:tableStyleId>
              </a:tblPr>
              <a:tblGrid>
                <a:gridCol w="1512000"/>
                <a:gridCol w="1944000"/>
                <a:gridCol w="1080000"/>
                <a:gridCol w="1296000"/>
              </a:tblGrid>
              <a:tr h="413999">
                <a:tc>
                  <a:txBody>
                    <a:bodyPr/>
                    <a:lstStyle/>
                    <a:p>
                      <a:pPr algn="ctr"/>
                      <a:r>
                        <a:rPr sz="1400" b="1">
                          <a:solidFill>
                            <a:srgbClr val="FFFFFF"/>
                          </a:solidFill>
                          <a:latin typeface="微软雅黑" panose="020B0503020204020204" pitchFamily="34" charset="-122"/>
                          <a:ea typeface="微软雅黑" panose="020B0503020204020204" pitchFamily="34" charset="-122"/>
                        </a:rPr>
                        <a:t>区域</a:t>
                      </a:r>
                      <a:endParaRPr sz="1400" b="1">
                        <a:solidFill>
                          <a:srgbClr val="FFFFFF"/>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2E7D6B"/>
                    </a:solidFill>
                  </a:tcPr>
                </a:tc>
                <a:tc>
                  <a:txBody>
                    <a:bodyPr/>
                    <a:lstStyle/>
                    <a:p>
                      <a:pPr algn="ctr"/>
                      <a:r>
                        <a:rPr sz="1400" b="1">
                          <a:solidFill>
                            <a:srgbClr val="FFFFFF"/>
                          </a:solidFill>
                          <a:latin typeface="微软雅黑" panose="020B0503020204020204" pitchFamily="34" charset="-122"/>
                          <a:ea typeface="微软雅黑" panose="020B0503020204020204" pitchFamily="34" charset="-122"/>
                        </a:rPr>
                        <a:t>储能装机（万千瓦）</a:t>
                      </a:r>
                      <a:endParaRPr sz="1400" b="1">
                        <a:solidFill>
                          <a:srgbClr val="FFFFFF"/>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2E7D6B"/>
                    </a:solidFill>
                  </a:tcPr>
                </a:tc>
                <a:tc>
                  <a:txBody>
                    <a:bodyPr/>
                    <a:lstStyle/>
                    <a:p>
                      <a:pPr algn="ctr"/>
                      <a:r>
                        <a:rPr sz="1400" b="1">
                          <a:solidFill>
                            <a:srgbClr val="FFFFFF"/>
                          </a:solidFill>
                          <a:latin typeface="微软雅黑" panose="020B0503020204020204" pitchFamily="34" charset="-122"/>
                          <a:ea typeface="微软雅黑" panose="020B0503020204020204" pitchFamily="34" charset="-122"/>
                        </a:rPr>
                        <a:t>占全省</a:t>
                      </a:r>
                      <a:endParaRPr sz="1400" b="1">
                        <a:solidFill>
                          <a:srgbClr val="FFFFFF"/>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2E7D6B"/>
                    </a:solidFill>
                  </a:tcPr>
                </a:tc>
                <a:tc>
                  <a:txBody>
                    <a:bodyPr/>
                    <a:lstStyle/>
                    <a:p>
                      <a:pPr algn="ctr"/>
                      <a:r>
                        <a:rPr sz="1400" b="1">
                          <a:solidFill>
                            <a:srgbClr val="FFFFFF"/>
                          </a:solidFill>
                          <a:latin typeface="微软雅黑" panose="020B0503020204020204" pitchFamily="34" charset="-122"/>
                          <a:ea typeface="微软雅黑" panose="020B0503020204020204" pitchFamily="34" charset="-122"/>
                        </a:rPr>
                        <a:t>用电量占比</a:t>
                      </a:r>
                      <a:endParaRPr sz="1400" b="1">
                        <a:solidFill>
                          <a:srgbClr val="FFFFFF"/>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2E7D6B"/>
                    </a:solidFill>
                  </a:tcPr>
                </a:tc>
              </a:tr>
              <a:tr h="413999">
                <a:tc>
                  <a:txBody>
                    <a:bodyPr/>
                    <a:lstStyle/>
                    <a:p>
                      <a:pPr algn="ctr"/>
                      <a:r>
                        <a:rPr sz="1400" b="1">
                          <a:solidFill>
                            <a:srgbClr val="222222"/>
                          </a:solidFill>
                          <a:latin typeface="微软雅黑" panose="020B0503020204020204" pitchFamily="34" charset="-122"/>
                          <a:ea typeface="微软雅黑" panose="020B0503020204020204" pitchFamily="34" charset="-122"/>
                        </a:rPr>
                        <a:t>苏南</a:t>
                      </a:r>
                      <a:endParaRPr sz="1400" b="1">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1400" b="0">
                          <a:solidFill>
                            <a:srgbClr val="222222"/>
                          </a:solidFill>
                          <a:latin typeface="微软雅黑" panose="020B0503020204020204" pitchFamily="34" charset="-122"/>
                          <a:ea typeface="微软雅黑" panose="020B0503020204020204" pitchFamily="34" charset="-122"/>
                        </a:rPr>
                        <a:t>169.8</a:t>
                      </a:r>
                      <a:endParaRPr sz="140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1400" b="0">
                          <a:solidFill>
                            <a:srgbClr val="222222"/>
                          </a:solidFill>
                          <a:latin typeface="微软雅黑" panose="020B0503020204020204" pitchFamily="34" charset="-122"/>
                          <a:ea typeface="微软雅黑" panose="020B0503020204020204" pitchFamily="34" charset="-122"/>
                        </a:rPr>
                        <a:t>19.1%</a:t>
                      </a:r>
                      <a:endParaRPr sz="140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1400" b="0">
                          <a:solidFill>
                            <a:srgbClr val="222222"/>
                          </a:solidFill>
                          <a:latin typeface="微软雅黑" panose="020B0503020204020204" pitchFamily="34" charset="-122"/>
                          <a:ea typeface="微软雅黑" panose="020B0503020204020204" pitchFamily="34" charset="-122"/>
                        </a:rPr>
                        <a:t>56.1%</a:t>
                      </a:r>
                      <a:endParaRPr sz="140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r>
              <a:tr h="413999">
                <a:tc>
                  <a:txBody>
                    <a:bodyPr/>
                    <a:lstStyle/>
                    <a:p>
                      <a:pPr algn="ctr"/>
                      <a:r>
                        <a:rPr sz="1400" b="1">
                          <a:solidFill>
                            <a:srgbClr val="222222"/>
                          </a:solidFill>
                          <a:latin typeface="微软雅黑" panose="020B0503020204020204" pitchFamily="34" charset="-122"/>
                          <a:ea typeface="微软雅黑" panose="020B0503020204020204" pitchFamily="34" charset="-122"/>
                        </a:rPr>
                        <a:t>苏中</a:t>
                      </a:r>
                      <a:endParaRPr sz="1400" b="1">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c>
                  <a:txBody>
                    <a:bodyPr/>
                    <a:lstStyle/>
                    <a:p>
                      <a:pPr algn="ctr"/>
                      <a:r>
                        <a:rPr sz="1400" b="0">
                          <a:solidFill>
                            <a:srgbClr val="222222"/>
                          </a:solidFill>
                          <a:latin typeface="微软雅黑" panose="020B0503020204020204" pitchFamily="34" charset="-122"/>
                          <a:ea typeface="微软雅黑" panose="020B0503020204020204" pitchFamily="34" charset="-122"/>
                        </a:rPr>
                        <a:t>226.9</a:t>
                      </a:r>
                      <a:endParaRPr sz="140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c>
                  <a:txBody>
                    <a:bodyPr/>
                    <a:lstStyle/>
                    <a:p>
                      <a:pPr algn="ctr"/>
                      <a:r>
                        <a:rPr sz="1400" b="0">
                          <a:solidFill>
                            <a:srgbClr val="222222"/>
                          </a:solidFill>
                          <a:latin typeface="微软雅黑" panose="020B0503020204020204" pitchFamily="34" charset="-122"/>
                          <a:ea typeface="微软雅黑" panose="020B0503020204020204" pitchFamily="34" charset="-122"/>
                        </a:rPr>
                        <a:t>25.5%</a:t>
                      </a:r>
                      <a:endParaRPr sz="140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c>
                  <a:txBody>
                    <a:bodyPr/>
                    <a:lstStyle/>
                    <a:p>
                      <a:pPr algn="ctr"/>
                      <a:r>
                        <a:rPr sz="1400" b="0">
                          <a:solidFill>
                            <a:srgbClr val="222222"/>
                          </a:solidFill>
                          <a:latin typeface="微软雅黑" panose="020B0503020204020204" pitchFamily="34" charset="-122"/>
                          <a:ea typeface="微软雅黑" panose="020B0503020204020204" pitchFamily="34" charset="-122"/>
                        </a:rPr>
                        <a:t>18.8%</a:t>
                      </a:r>
                      <a:endParaRPr sz="140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2F7F5"/>
                    </a:solidFill>
                  </a:tcPr>
                </a:tc>
              </a:tr>
              <a:tr h="414002">
                <a:tc>
                  <a:txBody>
                    <a:bodyPr/>
                    <a:lstStyle/>
                    <a:p>
                      <a:pPr algn="ctr"/>
                      <a:r>
                        <a:rPr sz="1400" b="1">
                          <a:solidFill>
                            <a:srgbClr val="222222"/>
                          </a:solidFill>
                          <a:latin typeface="微软雅黑" panose="020B0503020204020204" pitchFamily="34" charset="-122"/>
                          <a:ea typeface="微软雅黑" panose="020B0503020204020204" pitchFamily="34" charset="-122"/>
                        </a:rPr>
                        <a:t>苏北</a:t>
                      </a:r>
                      <a:endParaRPr sz="1400" b="1">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1400" b="0">
                          <a:solidFill>
                            <a:srgbClr val="222222"/>
                          </a:solidFill>
                          <a:latin typeface="微软雅黑" panose="020B0503020204020204" pitchFamily="34" charset="-122"/>
                          <a:ea typeface="微软雅黑" panose="020B0503020204020204" pitchFamily="34" charset="-122"/>
                        </a:rPr>
                        <a:t>491.9</a:t>
                      </a:r>
                      <a:endParaRPr sz="140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1400" b="0">
                          <a:solidFill>
                            <a:srgbClr val="222222"/>
                          </a:solidFill>
                          <a:latin typeface="微软雅黑" panose="020B0503020204020204" pitchFamily="34" charset="-122"/>
                          <a:ea typeface="微软雅黑" panose="020B0503020204020204" pitchFamily="34" charset="-122"/>
                        </a:rPr>
                        <a:t>55.4%</a:t>
                      </a:r>
                      <a:endParaRPr sz="140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c>
                  <a:txBody>
                    <a:bodyPr/>
                    <a:lstStyle/>
                    <a:p>
                      <a:pPr algn="ctr"/>
                      <a:r>
                        <a:rPr sz="1400" b="0">
                          <a:solidFill>
                            <a:srgbClr val="222222"/>
                          </a:solidFill>
                          <a:latin typeface="微软雅黑" panose="020B0503020204020204" pitchFamily="34" charset="-122"/>
                          <a:ea typeface="微软雅黑" panose="020B0503020204020204" pitchFamily="34" charset="-122"/>
                        </a:rPr>
                        <a:t>25.1%</a:t>
                      </a:r>
                      <a:endParaRPr sz="1400" b="0">
                        <a:solidFill>
                          <a:srgbClr val="222222"/>
                        </a:solidFill>
                        <a:latin typeface="微软雅黑" panose="020B0503020204020204" pitchFamily="34" charset="-122"/>
                        <a:ea typeface="微软雅黑" panose="020B0503020204020204" pitchFamily="34" charset="-122"/>
                      </a:endParaRPr>
                    </a:p>
                  </a:txBody>
                  <a:tcPr marL="54000" marR="54000" marT="18000" marB="18000" anchor="ctr">
                    <a:lnL w="9525" cap="flat" cmpd="sng" algn="ctr">
                      <a:solidFill>
                        <a:srgbClr val="D9D9D9"/>
                      </a:solidFill>
                    </a:lnL>
                    <a:lnR w="9525" cap="flat" cmpd="sng" algn="ctr">
                      <a:solidFill>
                        <a:srgbClr val="D9D9D9"/>
                      </a:solidFill>
                    </a:lnR>
                    <a:lnT w="9525" cap="flat" cmpd="sng" algn="ctr">
                      <a:solidFill>
                        <a:srgbClr val="D9D9D9"/>
                      </a:solidFill>
                    </a:lnT>
                    <a:lnB w="9525" cap="flat" cmpd="sng" algn="ctr">
                      <a:solidFill>
                        <a:srgbClr val="D9D9D9"/>
                      </a:solidFill>
                    </a:lnB>
                    <a:solidFill>
                      <a:srgbClr val="FFFFFF"/>
                    </a:solidFill>
                  </a:tcPr>
                </a:tc>
              </a:tr>
            </a:tbl>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hlinkClick r:id="rId1" action="ppaction://hlinksldjump"/>
          </p:cNvPr>
          <p:cNvSpPr/>
          <p:nvPr>
            <p:custDataLst>
              <p:tags r:id="rId2"/>
            </p:custDataLst>
          </p:nvPr>
        </p:nvSpPr>
        <p:spPr>
          <a:xfrm>
            <a:off x="1975485" y="2843530"/>
            <a:ext cx="1284605" cy="1171575"/>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4800" b="1" i="0">
                <a:solidFill>
                  <a:srgbClr val="FFFFFF"/>
                </a:solidFill>
                <a:latin typeface="微软雅黑" panose="020B0503020204020204" pitchFamily="34" charset="-122"/>
                <a:ea typeface="微软雅黑" panose="020B0503020204020204" pitchFamily="34" charset="-122"/>
              </a:rPr>
              <a:t>5</a:t>
            </a:r>
            <a:endParaRPr lang="en-US" sz="4800" b="1" i="0">
              <a:solidFill>
                <a:srgbClr val="FFFFFF"/>
              </a:solidFill>
              <a:latin typeface="微软雅黑" panose="020B0503020204020204" pitchFamily="34" charset="-122"/>
              <a:ea typeface="微软雅黑" panose="020B0503020204020204" pitchFamily="34" charset="-122"/>
            </a:endParaRPr>
          </a:p>
        </p:txBody>
      </p:sp>
      <p:sp>
        <p:nvSpPr>
          <p:cNvPr id="5" name="TextBox 4">
            <a:hlinkClick r:id="rId1" action="ppaction://hlinksldjump"/>
          </p:cNvPr>
          <p:cNvSpPr txBox="1"/>
          <p:nvPr>
            <p:custDataLst>
              <p:tags r:id="rId3"/>
            </p:custDataLst>
          </p:nvPr>
        </p:nvSpPr>
        <p:spPr>
          <a:xfrm>
            <a:off x="3613150" y="3182145"/>
            <a:ext cx="7429500" cy="492443"/>
          </a:xfrm>
          <a:prstGeom prst="rect">
            <a:avLst/>
          </a:prstGeom>
          <a:noFill/>
        </p:spPr>
        <p:txBody>
          <a:bodyPr wrap="square" lIns="0" tIns="0" rIns="0" bIns="0" anchor="ctr">
            <a:spAutoFit/>
          </a:bodyPr>
          <a:lstStyle/>
          <a:p>
            <a:pPr algn="l"/>
            <a:r>
              <a:rPr lang="zh-CN" altLang="en-US" sz="3200" b="1">
                <a:solidFill>
                  <a:srgbClr val="2E7D6B"/>
                </a:solidFill>
                <a:latin typeface="微软雅黑" panose="020B0503020204020204" pitchFamily="34" charset="-122"/>
                <a:ea typeface="微软雅黑" panose="020B0503020204020204" pitchFamily="34" charset="-122"/>
                <a:sym typeface="+mn-ea"/>
              </a:rPr>
              <a:t>典型项目经济效益测算与案例分析</a:t>
            </a:r>
            <a:endParaRPr lang="zh-CN" sz="3200" b="1">
              <a:solidFill>
                <a:srgbClr val="2E7D6B"/>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sz="2100" b="0">
                <a:solidFill>
                  <a:srgbClr val="1F5A4D"/>
                </a:solidFill>
                <a:latin typeface="微软雅黑" panose="020B0503020204020204" pitchFamily="34" charset="-122"/>
                <a:ea typeface="微软雅黑" panose="020B0503020204020204" pitchFamily="34" charset="-122"/>
              </a:rPr>
              <a:t>深度测算12个样本＋11个参照，材料23份</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TextBox 3"/>
          <p:cNvSpPr txBox="1"/>
          <p:nvPr/>
        </p:nvSpPr>
        <p:spPr>
          <a:xfrm>
            <a:off x="822960" y="1091502"/>
            <a:ext cx="10607040" cy="212725"/>
          </a:xfrm>
          <a:prstGeom prst="rect">
            <a:avLst/>
          </a:prstGeom>
          <a:noFill/>
        </p:spPr>
        <p:txBody>
          <a:bodyPr wrap="square" tIns="0" rIns="182880" bIns="36576" anchor="ctr">
            <a:spAutoFit/>
          </a:bodyPr>
          <a:lstStyle/>
          <a:p>
            <a:pPr algn="r">
              <a:spcAft>
                <a:spcPts val="400"/>
              </a:spcAft>
            </a:pPr>
            <a:endParaRPr sz="1150" b="0">
              <a:solidFill>
                <a:srgbClr val="4B5563"/>
              </a:solidFill>
              <a:latin typeface="Noto Sans SC" panose="020B0200000000000000" charset="-122"/>
              <a:ea typeface="Noto Sans SC" panose="020B0200000000000000" charset="-122"/>
            </a:endParaRPr>
          </a:p>
        </p:txBody>
      </p:sp>
      <p:sp>
        <p:nvSpPr>
          <p:cNvPr id="5" name="Rounded Rectangle 4"/>
          <p:cNvSpPr/>
          <p:nvPr/>
        </p:nvSpPr>
        <p:spPr>
          <a:xfrm>
            <a:off x="612648" y="1627632"/>
            <a:ext cx="3526536" cy="4828031"/>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2648" y="1627632"/>
            <a:ext cx="77724" cy="4828031"/>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rt.png"/>
          <p:cNvPicPr>
            <a:picLocks noChangeAspect="1"/>
          </p:cNvPicPr>
          <p:nvPr/>
        </p:nvPicPr>
        <p:blipFill>
          <a:blip r:embed="rId1"/>
          <a:stretch>
            <a:fillRect/>
          </a:stretch>
        </p:blipFill>
        <p:spPr>
          <a:xfrm>
            <a:off x="832104" y="1792224"/>
            <a:ext cx="365760" cy="365760"/>
          </a:xfrm>
          <a:prstGeom prst="rect">
            <a:avLst/>
          </a:prstGeom>
        </p:spPr>
      </p:pic>
      <p:sp>
        <p:nvSpPr>
          <p:cNvPr id="8" name="TextBox 7"/>
          <p:cNvSpPr txBox="1"/>
          <p:nvPr/>
        </p:nvSpPr>
        <p:spPr>
          <a:xfrm>
            <a:off x="1289304" y="1773936"/>
            <a:ext cx="2740152" cy="402336"/>
          </a:xfrm>
          <a:prstGeom prst="rect">
            <a:avLst/>
          </a:prstGeom>
          <a:noFill/>
        </p:spPr>
        <p:txBody>
          <a:bodyPr wrap="square" lIns="0" tIns="0" bIns="36576" anchor="ctr">
            <a:spAutoFit/>
          </a:bodyPr>
          <a:lstStyle/>
          <a:p>
            <a:pPr algn="l">
              <a:spcAft>
                <a:spcPts val="400"/>
              </a:spcAft>
            </a:pPr>
            <a:r>
              <a:rPr sz="2000" b="1">
                <a:solidFill>
                  <a:srgbClr val="2E7D6B"/>
                </a:solidFill>
                <a:latin typeface="Noto Sans SC" panose="020B0200000000000000" charset="-122"/>
                <a:ea typeface="Noto Sans SC" panose="020B0200000000000000" charset="-122"/>
              </a:rPr>
              <a:t>样本构成（12个）</a:t>
            </a:r>
            <a:endParaRPr sz="2000" b="1">
              <a:solidFill>
                <a:srgbClr val="2E7D6B"/>
              </a:solidFill>
              <a:latin typeface="Noto Sans SC" panose="020B0200000000000000" charset="-122"/>
              <a:ea typeface="Noto Sans SC" panose="020B0200000000000000" charset="-122"/>
            </a:endParaRPr>
          </a:p>
        </p:txBody>
      </p:sp>
      <p:sp>
        <p:nvSpPr>
          <p:cNvPr id="9" name="TextBox 8"/>
          <p:cNvSpPr txBox="1"/>
          <p:nvPr/>
        </p:nvSpPr>
        <p:spPr>
          <a:xfrm>
            <a:off x="868680" y="2286000"/>
            <a:ext cx="3124200" cy="3420110"/>
          </a:xfrm>
          <a:prstGeom prst="rect">
            <a:avLst/>
          </a:prstGeom>
          <a:noFill/>
        </p:spPr>
        <p:txBody>
          <a:bodyPr wrap="square">
            <a:spAutoFit/>
          </a:bodyPr>
          <a:lstStyle/>
          <a:p>
            <a:pPr algn="l">
              <a:lnSpc>
                <a:spcPct val="105000"/>
              </a:lnSpc>
              <a:spcAft>
                <a:spcPts val="15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深度测算</a:t>
            </a:r>
            <a:r>
              <a:rPr sz="1400" b="1">
                <a:solidFill>
                  <a:srgbClr val="1F5A4D"/>
                </a:solidFill>
                <a:latin typeface="Noto Sans SC" panose="020B0200000000000000" charset="-122"/>
                <a:ea typeface="Noto Sans SC" panose="020B0200000000000000" charset="-122"/>
              </a:rPr>
              <a:t>12个</a:t>
            </a:r>
            <a:r>
              <a:rPr sz="1400" b="0">
                <a:solidFill>
                  <a:srgbClr val="4B5563"/>
                </a:solidFill>
                <a:latin typeface="Noto Sans SC" panose="020B0200000000000000" charset="-122"/>
                <a:ea typeface="Noto Sans SC" panose="020B0200000000000000" charset="-122"/>
              </a:rPr>
              <a:t>、参照</a:t>
            </a:r>
            <a:r>
              <a:rPr sz="1400" b="1">
                <a:solidFill>
                  <a:srgbClr val="1F5A4D"/>
                </a:solidFill>
                <a:latin typeface="Noto Sans SC" panose="020B0200000000000000" charset="-122"/>
                <a:ea typeface="Noto Sans SC" panose="020B0200000000000000" charset="-122"/>
              </a:rPr>
              <a:t>11个</a:t>
            </a:r>
            <a:endParaRPr sz="14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光伏10个：屋顶自发自用3、渔光互补全额上网5、屋顶全额上网2</a:t>
            </a:r>
            <a:endParaRPr sz="14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绿电直连1个（丰县31.91兆瓦）；独立储能1个（泗阳变75兆瓦/300兆瓦时）</a:t>
            </a:r>
            <a:endParaRPr sz="14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资料</a:t>
            </a:r>
            <a:r>
              <a:rPr sz="1400" b="1">
                <a:solidFill>
                  <a:srgbClr val="1F5A4D"/>
                </a:solidFill>
                <a:latin typeface="Noto Sans SC" panose="020B0200000000000000" charset="-122"/>
                <a:ea typeface="Noto Sans SC" panose="020B0200000000000000" charset="-122"/>
              </a:rPr>
              <a:t>23份</a:t>
            </a:r>
            <a:r>
              <a:rPr sz="1400" b="0">
                <a:solidFill>
                  <a:srgbClr val="4B5563"/>
                </a:solidFill>
                <a:latin typeface="Noto Sans SC" panose="020B0200000000000000" charset="-122"/>
                <a:ea typeface="Noto Sans SC" panose="020B0200000000000000" charset="-122"/>
              </a:rPr>
              <a:t>；样本覆盖苏南、苏中、苏北，另取省外作价格对照</a:t>
            </a:r>
            <a:endParaRPr sz="1400" b="0">
              <a:solidFill>
                <a:srgbClr val="4B5563"/>
              </a:solidFill>
              <a:latin typeface="Noto Sans SC" panose="020B0200000000000000" charset="-122"/>
              <a:ea typeface="Noto Sans SC" panose="020B0200000000000000" charset="-122"/>
            </a:endParaRPr>
          </a:p>
          <a:p>
            <a:pPr algn="l">
              <a:lnSpc>
                <a:spcPct val="105000"/>
              </a:lnSpc>
              <a:spcBef>
                <a:spcPts val="600"/>
              </a:spcBef>
              <a:spcAft>
                <a:spcPts val="1500"/>
              </a:spcAft>
              <a:buClrTx/>
              <a:buSzTx/>
              <a:buFontTx/>
            </a:pPr>
            <a:r>
              <a:rPr sz="1300">
                <a:latin typeface="微软雅黑" panose="020B0503020204020204" pitchFamily="34" charset="-122"/>
              </a:rPr>
              <a:t>▪ </a:t>
            </a:r>
            <a:r>
              <a:rPr sz="1400">
                <a:solidFill>
                  <a:srgbClr val="4B5563"/>
                </a:solidFill>
                <a:latin typeface="Noto Sans SC" panose="020B0200000000000000" charset="-122"/>
                <a:ea typeface="Noto Sans SC" panose="020B0200000000000000" charset="-122"/>
              </a:rPr>
              <a:t>10个光伏样本：单位投资3106—4793元/千瓦，资本金IRR 7.35%—17.66%</a:t>
            </a:r>
            <a:endParaRPr sz="1400">
              <a:solidFill>
                <a:srgbClr val="4B5563"/>
              </a:solidFill>
              <a:latin typeface="Noto Sans SC" panose="020B0200000000000000" charset="-122"/>
              <a:ea typeface="Noto Sans SC" panose="020B0200000000000000" charset="-122"/>
            </a:endParaRPr>
          </a:p>
        </p:txBody>
      </p:sp>
      <p:sp>
        <p:nvSpPr>
          <p:cNvPr id="10" name="Rounded Rectangle 9"/>
          <p:cNvSpPr/>
          <p:nvPr/>
        </p:nvSpPr>
        <p:spPr>
          <a:xfrm>
            <a:off x="4340352" y="1627632"/>
            <a:ext cx="3526536" cy="4828031"/>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40352" y="1627632"/>
            <a:ext cx="77724" cy="4828031"/>
          </a:xfrm>
          <a:prstGeom prst="roundRect">
            <a:avLst>
              <a:gd name="adj"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ales.png"/>
          <p:cNvPicPr>
            <a:picLocks noChangeAspect="1"/>
          </p:cNvPicPr>
          <p:nvPr/>
        </p:nvPicPr>
        <p:blipFill>
          <a:blip r:embed="rId2"/>
          <a:stretch>
            <a:fillRect/>
          </a:stretch>
        </p:blipFill>
        <p:spPr>
          <a:xfrm>
            <a:off x="4559808" y="1792224"/>
            <a:ext cx="365760" cy="365760"/>
          </a:xfrm>
          <a:prstGeom prst="rect">
            <a:avLst/>
          </a:prstGeom>
        </p:spPr>
      </p:pic>
      <p:sp>
        <p:nvSpPr>
          <p:cNvPr id="13" name="TextBox 12"/>
          <p:cNvSpPr txBox="1"/>
          <p:nvPr/>
        </p:nvSpPr>
        <p:spPr>
          <a:xfrm>
            <a:off x="5017008" y="1773936"/>
            <a:ext cx="2740152" cy="402336"/>
          </a:xfrm>
          <a:prstGeom prst="rect">
            <a:avLst/>
          </a:prstGeom>
          <a:noFill/>
        </p:spPr>
        <p:txBody>
          <a:bodyPr wrap="square" lIns="0" tIns="0" bIns="36576" anchor="ctr">
            <a:spAutoFit/>
          </a:bodyPr>
          <a:lstStyle/>
          <a:p>
            <a:pPr algn="l">
              <a:spcAft>
                <a:spcPts val="400"/>
              </a:spcAft>
            </a:pPr>
            <a:r>
              <a:rPr sz="2000" b="1">
                <a:solidFill>
                  <a:srgbClr val="0070C0"/>
                </a:solidFill>
                <a:latin typeface="Noto Sans SC" panose="020B0200000000000000" charset="-122"/>
                <a:ea typeface="Noto Sans SC" panose="020B0200000000000000" charset="-122"/>
              </a:rPr>
              <a:t>测算方法</a:t>
            </a:r>
            <a:endParaRPr sz="2000" b="1">
              <a:solidFill>
                <a:srgbClr val="0070C0"/>
              </a:solidFill>
              <a:latin typeface="Noto Sans SC" panose="020B0200000000000000" charset="-122"/>
              <a:ea typeface="Noto Sans SC" panose="020B0200000000000000" charset="-122"/>
            </a:endParaRPr>
          </a:p>
        </p:txBody>
      </p:sp>
      <p:sp>
        <p:nvSpPr>
          <p:cNvPr id="14" name="TextBox 13"/>
          <p:cNvSpPr txBox="1"/>
          <p:nvPr/>
        </p:nvSpPr>
        <p:spPr>
          <a:xfrm>
            <a:off x="4596384" y="2286000"/>
            <a:ext cx="3124200" cy="4059935"/>
          </a:xfrm>
          <a:prstGeom prst="rect">
            <a:avLst/>
          </a:prstGeom>
          <a:noFill/>
        </p:spPr>
        <p:txBody>
          <a:bodyPr wrap="square">
            <a:spAutoFit/>
          </a:bodyPr>
          <a:lstStyle/>
          <a:p>
            <a:pPr algn="l">
              <a:lnSpc>
                <a:spcPct val="105000"/>
              </a:lnSpc>
              <a:spcAft>
                <a:spcPts val="1500"/>
              </a:spcAft>
            </a:pPr>
            <a:r>
              <a:rPr sz="1400">
                <a:solidFill>
                  <a:srgbClr val="2E7D6B"/>
                </a:solidFill>
                <a:latin typeface="Noto Sans SC" panose="020B0200000000000000" charset="-122"/>
                <a:ea typeface="Noto Sans SC" panose="020B0200000000000000" charset="-122"/>
              </a:rPr>
              <a:t>▪ </a:t>
            </a:r>
            <a:r>
              <a:rPr sz="1400" b="1">
                <a:solidFill>
                  <a:srgbClr val="1F5A4D"/>
                </a:solidFill>
                <a:latin typeface="Noto Sans SC" panose="020B0200000000000000" charset="-122"/>
                <a:ea typeface="Noto Sans SC" panose="020B0200000000000000" charset="-122"/>
              </a:rPr>
              <a:t>节点差额法</a:t>
            </a:r>
            <a:r>
              <a:rPr sz="1400" b="0">
                <a:solidFill>
                  <a:srgbClr val="4B5563"/>
                </a:solidFill>
                <a:latin typeface="Noto Sans SC" panose="020B0200000000000000" charset="-122"/>
                <a:ea typeface="Noto Sans SC" panose="020B0200000000000000" charset="-122"/>
              </a:rPr>
              <a:t>：同一项目按节点前后规则各测算一次，差额归于该节点</a:t>
            </a:r>
            <a:endParaRPr sz="14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400">
                <a:solidFill>
                  <a:srgbClr val="2E7D6B"/>
                </a:solidFill>
                <a:latin typeface="Noto Sans SC" panose="020B0200000000000000" charset="-122"/>
                <a:ea typeface="Noto Sans SC" panose="020B0200000000000000" charset="-122"/>
              </a:rPr>
              <a:t>▪ </a:t>
            </a:r>
            <a:r>
              <a:rPr sz="1400" b="1">
                <a:solidFill>
                  <a:srgbClr val="1F5A4D"/>
                </a:solidFill>
                <a:latin typeface="Noto Sans SC" panose="020B0200000000000000" charset="-122"/>
                <a:ea typeface="Noto Sans SC" panose="020B0200000000000000" charset="-122"/>
              </a:rPr>
              <a:t>情景对比法</a:t>
            </a:r>
            <a:r>
              <a:rPr sz="1400" b="0">
                <a:solidFill>
                  <a:srgbClr val="4B5563"/>
                </a:solidFill>
                <a:latin typeface="Noto Sans SC" panose="020B0200000000000000" charset="-122"/>
                <a:ea typeface="Noto Sans SC" panose="020B0200000000000000" charset="-122"/>
              </a:rPr>
              <a:t>：同一时点、同一负荷下对比新旧方案</a:t>
            </a:r>
            <a:endParaRPr sz="14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增量项目机制电价取竞价区间</a:t>
            </a:r>
            <a:r>
              <a:rPr sz="1400" b="1">
                <a:solidFill>
                  <a:srgbClr val="1F5A4D"/>
                </a:solidFill>
                <a:latin typeface="Noto Sans SC" panose="020B0200000000000000" charset="-122"/>
                <a:ea typeface="Noto Sans SC" panose="020B0200000000000000" charset="-122"/>
              </a:rPr>
              <a:t>0.25—0.391元</a:t>
            </a:r>
            <a:r>
              <a:rPr sz="1400" b="0">
                <a:solidFill>
                  <a:srgbClr val="4B5563"/>
                </a:solidFill>
                <a:latin typeface="Noto Sans SC" panose="020B0200000000000000" charset="-122"/>
                <a:ea typeface="Noto Sans SC" panose="020B0200000000000000" charset="-122"/>
              </a:rPr>
              <a:t>五档</a:t>
            </a:r>
            <a:endParaRPr sz="14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按价格水平年属性测算，不作跨年名义平均</a:t>
            </a:r>
            <a:endParaRPr sz="1400" b="0">
              <a:solidFill>
                <a:srgbClr val="4B5563"/>
              </a:solidFill>
              <a:latin typeface="Noto Sans SC" panose="020B0200000000000000" charset="-122"/>
              <a:ea typeface="Noto Sans SC" panose="020B0200000000000000" charset="-122"/>
            </a:endParaRPr>
          </a:p>
        </p:txBody>
      </p:sp>
      <p:sp>
        <p:nvSpPr>
          <p:cNvPr id="15" name="Rounded Rectangle 14"/>
          <p:cNvSpPr/>
          <p:nvPr/>
        </p:nvSpPr>
        <p:spPr>
          <a:xfrm>
            <a:off x="8068056" y="1627632"/>
            <a:ext cx="3526536" cy="4828031"/>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68056" y="1627632"/>
            <a:ext cx="77724" cy="4828031"/>
          </a:xfrm>
          <a:prstGeom prst="roundRect">
            <a:avLst>
              <a:gd name="adj" fmla="val 0"/>
            </a:avLst>
          </a:prstGeom>
          <a:solidFill>
            <a:srgbClr val="EF8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org.png"/>
          <p:cNvPicPr>
            <a:picLocks noChangeAspect="1"/>
          </p:cNvPicPr>
          <p:nvPr/>
        </p:nvPicPr>
        <p:blipFill>
          <a:blip r:embed="rId3"/>
          <a:stretch>
            <a:fillRect/>
          </a:stretch>
        </p:blipFill>
        <p:spPr>
          <a:xfrm>
            <a:off x="8287512" y="1792224"/>
            <a:ext cx="365760" cy="365760"/>
          </a:xfrm>
          <a:prstGeom prst="rect">
            <a:avLst/>
          </a:prstGeom>
        </p:spPr>
      </p:pic>
      <p:sp>
        <p:nvSpPr>
          <p:cNvPr id="18" name="TextBox 17"/>
          <p:cNvSpPr txBox="1"/>
          <p:nvPr/>
        </p:nvSpPr>
        <p:spPr>
          <a:xfrm>
            <a:off x="8744712" y="1773936"/>
            <a:ext cx="2740152" cy="402336"/>
          </a:xfrm>
          <a:prstGeom prst="rect">
            <a:avLst/>
          </a:prstGeom>
          <a:noFill/>
        </p:spPr>
        <p:txBody>
          <a:bodyPr wrap="square" lIns="0" tIns="0" bIns="36576" anchor="ctr">
            <a:spAutoFit/>
          </a:bodyPr>
          <a:lstStyle/>
          <a:p>
            <a:pPr algn="l">
              <a:spcAft>
                <a:spcPts val="400"/>
              </a:spcAft>
            </a:pPr>
            <a:r>
              <a:rPr sz="2000" b="1">
                <a:solidFill>
                  <a:srgbClr val="EF8403"/>
                </a:solidFill>
                <a:latin typeface="Noto Sans SC" panose="020B0200000000000000" charset="-122"/>
                <a:ea typeface="Noto Sans SC" panose="020B0200000000000000" charset="-122"/>
              </a:rPr>
              <a:t>评价指标（六维度）</a:t>
            </a:r>
            <a:endParaRPr sz="2000" b="1">
              <a:solidFill>
                <a:srgbClr val="EF8403"/>
              </a:solidFill>
              <a:latin typeface="Noto Sans SC" panose="020B0200000000000000" charset="-122"/>
              <a:ea typeface="Noto Sans SC" panose="020B0200000000000000" charset="-122"/>
            </a:endParaRPr>
          </a:p>
        </p:txBody>
      </p:sp>
      <p:sp>
        <p:nvSpPr>
          <p:cNvPr id="19" name="TextBox 18"/>
          <p:cNvSpPr txBox="1"/>
          <p:nvPr/>
        </p:nvSpPr>
        <p:spPr>
          <a:xfrm>
            <a:off x="8324088" y="2286000"/>
            <a:ext cx="3124200" cy="4059935"/>
          </a:xfrm>
          <a:prstGeom prst="rect">
            <a:avLst/>
          </a:prstGeom>
          <a:noFill/>
        </p:spPr>
        <p:txBody>
          <a:bodyPr wrap="square">
            <a:spAutoFit/>
          </a:bodyPr>
          <a:lstStyle/>
          <a:p>
            <a:pPr algn="l">
              <a:lnSpc>
                <a:spcPct val="105000"/>
              </a:lnSpc>
              <a:spcAft>
                <a:spcPts val="15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投资成本、运营维护费用、发电收益</a:t>
            </a:r>
            <a:endParaRPr sz="14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机制电量收益、绿证收益、碳减排收益</a:t>
            </a:r>
            <a:endParaRPr sz="14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经济可行判据：资本金内部收益率高于各项目可研采用的基准收益率</a:t>
            </a:r>
            <a:endParaRPr sz="1400" b="0">
              <a:solidFill>
                <a:srgbClr val="4B5563"/>
              </a:solidFill>
              <a:latin typeface="Noto Sans SC" panose="020B0200000000000000" charset="-122"/>
              <a:ea typeface="Noto Sans SC" panose="020B0200000000000000" charset="-122"/>
            </a:endParaRPr>
          </a:p>
        </p:txBody>
      </p:sp>
      <p:sp>
        <p:nvSpPr>
          <p:cNvPr id="20" name="TextBox 19">
            <a:hlinkClick r:id="rId4" action="ppaction://hlinksldjump"/>
          </p:cNvPr>
          <p:cNvSpPr txBox="1"/>
          <p:nvPr/>
        </p:nvSpPr>
        <p:spPr>
          <a:xfrm>
            <a:off x="11238992" y="274320"/>
            <a:ext cx="309880" cy="260350"/>
          </a:xfrm>
          <a:prstGeom prst="rect">
            <a:avLst/>
          </a:prstGeom>
          <a:noFill/>
        </p:spPr>
        <p:txBody>
          <a:bodyPr wrap="none">
            <a:spAutoFit/>
          </a:bodyPr>
          <a:lstStyle/>
          <a:p>
            <a:pPr algn="r"/>
            <a:endParaRPr sz="1100">
              <a:solidFill>
                <a:srgbClr val="2E7D6B"/>
              </a:solidFill>
              <a:latin typeface="Noto Sans SC" panose="020B0200000000000000" charset="-122"/>
              <a:ea typeface="Noto Sans SC" panose="020B0200000000000000" charset="-122"/>
            </a:endParaRPr>
          </a:p>
        </p:txBody>
      </p:sp>
      <p:sp>
        <p:nvSpPr>
          <p:cNvPr id="22" name="文本框 21"/>
          <p:cNvSpPr txBox="1"/>
          <p:nvPr/>
        </p:nvSpPr>
        <p:spPr>
          <a:xfrm>
            <a:off x="822960" y="170815"/>
            <a:ext cx="11137900" cy="613410"/>
          </a:xfrm>
          <a:prstGeom prst="rect">
            <a:avLst/>
          </a:prstGeom>
          <a:noFill/>
        </p:spPr>
        <p:txBody>
          <a:bodyPr wrap="square" rtlCol="0">
            <a:noAutofit/>
          </a:bodyPr>
          <a:lstStyle/>
          <a:p>
            <a:pPr algn="l">
              <a:buClrTx/>
              <a:buSzTx/>
              <a:buFontTx/>
              <a:buNone/>
            </a:pPr>
            <a:r>
              <a:rPr lang="zh-CN" sz="2800" b="1">
                <a:solidFill>
                  <a:srgbClr val="1F5A4D"/>
                </a:solidFill>
                <a:latin typeface="微软雅黑" panose="020B0503020204020204" pitchFamily="34" charset="-122"/>
                <a:ea typeface="微软雅黑" panose="020B0503020204020204" pitchFamily="34" charset="-122"/>
                <a:sym typeface="+mn-ea"/>
              </a:rPr>
              <a:t>5 典型项目经济效益测算与案例分析</a:t>
            </a:r>
            <a:r>
              <a:rPr lang="en-US" altLang="zh-CN" sz="2800" b="1">
                <a:solidFill>
                  <a:srgbClr val="1F5A4D"/>
                </a:solidFill>
                <a:latin typeface="微软雅黑" panose="020B0503020204020204" pitchFamily="34" charset="-122"/>
                <a:ea typeface="微软雅黑" panose="020B0503020204020204" pitchFamily="34" charset="-122"/>
                <a:sym typeface="+mn-ea"/>
              </a:rPr>
              <a:t>    </a:t>
            </a:r>
            <a:r>
              <a:rPr lang="zh-CN" altLang="en-US" sz="2200" b="1">
                <a:solidFill>
                  <a:srgbClr val="029694"/>
                </a:solidFill>
                <a:latin typeface="Noto Sans SC" panose="020B0200000000000000" charset="-122"/>
                <a:ea typeface="Noto Sans SC" panose="020B0200000000000000" charset="-122"/>
                <a:cs typeface="Noto Sans SC" panose="020B0200000000000000" charset="-122"/>
                <a:sym typeface="+mn-ea"/>
              </a:rPr>
              <a:t>典型项目测算：样本与方法</a:t>
            </a:r>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a:p>
            <a:pPr algn="l">
              <a:buClrTx/>
              <a:buSzTx/>
              <a:buFontTx/>
            </a:pPr>
            <a:endParaRPr lang="en-US" sz="2200" b="1">
              <a:solidFill>
                <a:schemeClr val="accent3"/>
              </a:solidFill>
              <a:latin typeface="Noto Sans SC" panose="020B0200000000000000" charset="-122"/>
              <a:ea typeface="Noto Sans SC" panose="020B0200000000000000" charset="-122"/>
              <a:cs typeface="Noto Sans SC" panose="020B0200000000000000" charset="-122"/>
              <a:sym typeface="+mn-ea"/>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noAutofit/>
          </a:bodyPr>
          <a:lstStyle/>
          <a:p>
            <a:pPr algn="l">
              <a:spcAft>
                <a:spcPts val="400"/>
              </a:spcAft>
            </a:pPr>
            <a:r>
              <a:rPr sz="2000" b="0">
                <a:solidFill>
                  <a:srgbClr val="1F5A4D"/>
                </a:solidFill>
                <a:latin typeface="Noto Sans SC" panose="020B0200000000000000" charset="-122"/>
                <a:ea typeface="Noto Sans SC" panose="020B0200000000000000" charset="-122"/>
              </a:rPr>
              <a:t>分布式光伏单位投资下降，样本收益指标分化</a:t>
            </a:r>
            <a:endParaRPr sz="2000" b="0">
              <a:solidFill>
                <a:srgbClr val="1F5A4D"/>
              </a:solidFill>
              <a:latin typeface="Noto Sans SC" panose="020B0200000000000000" charset="-122"/>
              <a:ea typeface="Noto Sans SC" panose="020B0200000000000000" charset="-122"/>
            </a:endParaRPr>
          </a:p>
        </p:txBody>
      </p:sp>
      <p:sp>
        <p:nvSpPr>
          <p:cNvPr id="4" name="TextBox 3"/>
          <p:cNvSpPr txBox="1"/>
          <p:nvPr/>
        </p:nvSpPr>
        <p:spPr>
          <a:xfrm>
            <a:off x="822960" y="1091502"/>
            <a:ext cx="10607040" cy="212725"/>
          </a:xfrm>
          <a:prstGeom prst="rect">
            <a:avLst/>
          </a:prstGeom>
          <a:noFill/>
        </p:spPr>
        <p:txBody>
          <a:bodyPr wrap="square" tIns="0" rIns="182880" bIns="36576" anchor="ctr">
            <a:spAutoFit/>
          </a:bodyPr>
          <a:lstStyle/>
          <a:p>
            <a:pPr algn="r">
              <a:spcAft>
                <a:spcPts val="400"/>
              </a:spcAft>
            </a:pPr>
            <a:endParaRPr sz="1150" b="0">
              <a:solidFill>
                <a:srgbClr val="4B5563"/>
              </a:solidFill>
              <a:latin typeface="Noto Sans SC" panose="020B0200000000000000" charset="-122"/>
              <a:ea typeface="Noto Sans SC" panose="020B0200000000000000" charset="-122"/>
            </a:endParaRPr>
          </a:p>
        </p:txBody>
      </p:sp>
      <p:sp>
        <p:nvSpPr>
          <p:cNvPr id="6" name="Rounded Rectangle 5"/>
          <p:cNvSpPr/>
          <p:nvPr/>
        </p:nvSpPr>
        <p:spPr>
          <a:xfrm>
            <a:off x="612648" y="4224528"/>
            <a:ext cx="324612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0000" tIns="10800" rIns="54000" bIns="10800" rtlCol="0" anchor="ctr">
            <a:noAutofit/>
          </a:bodyPr>
          <a:lstStyle/>
          <a:p>
            <a:pPr algn="ctr">
              <a:spcAft>
                <a:spcPts val="400"/>
              </a:spcAft>
            </a:pPr>
            <a:r>
              <a:rPr sz="1300" b="1">
                <a:solidFill>
                  <a:srgbClr val="FFFFFF"/>
                </a:solidFill>
                <a:latin typeface="Noto Sans SC" panose="020B0200000000000000" charset="-122"/>
                <a:ea typeface="Noto Sans SC" panose="020B0200000000000000" charset="-122"/>
              </a:rPr>
              <a:t>样本指标</a:t>
            </a:r>
            <a:endParaRPr sz="1300" b="1">
              <a:solidFill>
                <a:srgbClr val="FFFFFF"/>
              </a:solidFill>
              <a:latin typeface="Noto Sans SC" panose="020B0200000000000000" charset="-122"/>
              <a:ea typeface="Noto Sans SC" panose="020B0200000000000000" charset="-122"/>
            </a:endParaRPr>
          </a:p>
        </p:txBody>
      </p:sp>
      <p:sp>
        <p:nvSpPr>
          <p:cNvPr id="7" name="Rounded Rectangle 6"/>
          <p:cNvSpPr/>
          <p:nvPr/>
        </p:nvSpPr>
        <p:spPr>
          <a:xfrm>
            <a:off x="3858768" y="4224528"/>
            <a:ext cx="324612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0000" tIns="10800" rIns="54000" bIns="10800" rtlCol="0" anchor="ctr">
            <a:noAutofit/>
          </a:bodyPr>
          <a:lstStyle/>
          <a:p>
            <a:pPr algn="ctr">
              <a:spcAft>
                <a:spcPts val="400"/>
              </a:spcAft>
            </a:pPr>
            <a:r>
              <a:rPr sz="1300" b="1">
                <a:solidFill>
                  <a:srgbClr val="FFFFFF"/>
                </a:solidFill>
                <a:latin typeface="Noto Sans SC" panose="020B0200000000000000" charset="-122"/>
                <a:ea typeface="Noto Sans SC" panose="020B0200000000000000" charset="-122"/>
              </a:rPr>
              <a:t>区间／取值</a:t>
            </a:r>
            <a:endParaRPr sz="1300" b="1">
              <a:solidFill>
                <a:srgbClr val="FFFFFF"/>
              </a:solidFill>
              <a:latin typeface="Noto Sans SC" panose="020B0200000000000000" charset="-122"/>
              <a:ea typeface="Noto Sans SC" panose="020B0200000000000000" charset="-122"/>
            </a:endParaRPr>
          </a:p>
        </p:txBody>
      </p:sp>
      <p:sp>
        <p:nvSpPr>
          <p:cNvPr id="8" name="Rounded Rectangle 7"/>
          <p:cNvSpPr/>
          <p:nvPr/>
        </p:nvSpPr>
        <p:spPr>
          <a:xfrm>
            <a:off x="612648" y="4608000"/>
            <a:ext cx="3246120" cy="540000"/>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90000" tIns="10800" rIns="54000" bIns="10800" rtlCol="0" anchor="ctr">
            <a:noAutofit/>
          </a:bodyPr>
          <a:lstStyle/>
          <a:p>
            <a:pPr algn="ctr">
              <a:spcAft>
                <a:spcPts val="400"/>
              </a:spcAft>
            </a:pPr>
            <a:r>
              <a:rPr sz="1250" b="0">
                <a:solidFill>
                  <a:srgbClr val="2B3338"/>
                </a:solidFill>
                <a:latin typeface="Noto Sans SC" panose="020B0200000000000000" charset="-122"/>
                <a:ea typeface="Noto Sans SC" panose="020B0200000000000000" charset="-122"/>
              </a:rPr>
              <a:t>单位投资（平价／市场）</a:t>
            </a:r>
            <a:endParaRPr sz="1250" b="0">
              <a:solidFill>
                <a:srgbClr val="2B3338"/>
              </a:solidFill>
              <a:latin typeface="Noto Sans SC" panose="020B0200000000000000" charset="-122"/>
              <a:ea typeface="Noto Sans SC" panose="020B0200000000000000" charset="-122"/>
            </a:endParaRPr>
          </a:p>
        </p:txBody>
      </p:sp>
      <p:sp>
        <p:nvSpPr>
          <p:cNvPr id="9" name="Rounded Rectangle 8"/>
          <p:cNvSpPr/>
          <p:nvPr/>
        </p:nvSpPr>
        <p:spPr>
          <a:xfrm>
            <a:off x="3858768" y="4608000"/>
            <a:ext cx="3246120" cy="540000"/>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36000" tIns="7200" rIns="36000" bIns="7200" rtlCol="0" anchor="ctr">
            <a:noAutofit/>
          </a:bodyPr>
          <a:lstStyle/>
          <a:p>
            <a:pPr algn="ctr">
              <a:lnSpc>
                <a:spcPct val="95000"/>
              </a:lnSpc>
              <a:spcAft>
                <a:spcPts val="0"/>
              </a:spcAft>
            </a:pPr>
            <a:r>
              <a:rPr sz="1080" b="1">
                <a:solidFill>
                  <a:srgbClr val="1F5A4D"/>
                </a:solidFill>
                <a:latin typeface="Noto Sans SC" panose="020B0200000000000000" charset="-122"/>
                <a:ea typeface="Noto Sans SC" panose="020B0200000000000000" charset="-122"/>
              </a:rPr>
              <a:t>3106—4793（平价）</a:t>
            </a:r>
            <a:endParaRPr sz="1080" b="1">
              <a:solidFill>
                <a:srgbClr val="1F5A4D"/>
              </a:solidFill>
              <a:latin typeface="Noto Sans SC" panose="020B0200000000000000" charset="-122"/>
              <a:ea typeface="Noto Sans SC" panose="020B0200000000000000" charset="-122"/>
            </a:endParaRPr>
          </a:p>
          <a:p>
            <a:pPr algn="ctr">
              <a:lnSpc>
                <a:spcPct val="95000"/>
              </a:lnSpc>
              <a:spcAft>
                <a:spcPts val="0"/>
              </a:spcAft>
            </a:pPr>
            <a:r>
              <a:rPr sz="1080" b="1">
                <a:solidFill>
                  <a:srgbClr val="1F5A4D"/>
                </a:solidFill>
                <a:latin typeface="Noto Sans SC" panose="020B0200000000000000" charset="-122"/>
                <a:ea typeface="Noto Sans SC" panose="020B0200000000000000" charset="-122"/>
              </a:rPr>
              <a:t>2501—3210（市场）</a:t>
            </a:r>
            <a:endParaRPr sz="1080" b="1">
              <a:solidFill>
                <a:srgbClr val="1F5A4D"/>
              </a:solidFill>
              <a:latin typeface="Noto Sans SC" panose="020B0200000000000000" charset="-122"/>
              <a:ea typeface="Noto Sans SC" panose="020B0200000000000000" charset="-122"/>
            </a:endParaRPr>
          </a:p>
        </p:txBody>
      </p:sp>
      <p:sp>
        <p:nvSpPr>
          <p:cNvPr id="10" name="Rounded Rectangle 9"/>
          <p:cNvSpPr/>
          <p:nvPr/>
        </p:nvSpPr>
        <p:spPr>
          <a:xfrm>
            <a:off x="612648" y="5148000"/>
            <a:ext cx="3246120" cy="413999"/>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90000" tIns="10800" rIns="54000" bIns="10800" rtlCol="0" anchor="ctr">
            <a:noAutofit/>
          </a:bodyPr>
          <a:lstStyle/>
          <a:p>
            <a:pPr algn="ctr">
              <a:spcAft>
                <a:spcPts val="400"/>
              </a:spcAft>
            </a:pPr>
            <a:r>
              <a:rPr sz="1250" b="0">
                <a:solidFill>
                  <a:srgbClr val="2B3338"/>
                </a:solidFill>
                <a:latin typeface="Noto Sans SC" panose="020B0200000000000000" charset="-122"/>
                <a:ea typeface="Noto Sans SC" panose="020B0200000000000000" charset="-122"/>
              </a:rPr>
              <a:t>投资回收期（税后）</a:t>
            </a:r>
            <a:endParaRPr sz="1250" b="0">
              <a:solidFill>
                <a:srgbClr val="2B3338"/>
              </a:solidFill>
              <a:latin typeface="Noto Sans SC" panose="020B0200000000000000" charset="-122"/>
              <a:ea typeface="Noto Sans SC" panose="020B0200000000000000" charset="-122"/>
            </a:endParaRPr>
          </a:p>
        </p:txBody>
      </p:sp>
      <p:sp>
        <p:nvSpPr>
          <p:cNvPr id="11" name="Rounded Rectangle 10"/>
          <p:cNvSpPr/>
          <p:nvPr/>
        </p:nvSpPr>
        <p:spPr>
          <a:xfrm>
            <a:off x="3858768" y="5148000"/>
            <a:ext cx="3246120" cy="413999"/>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90000" tIns="10800" rIns="54000" bIns="10800" rtlCol="0" anchor="ctr">
            <a:noAutofit/>
          </a:bodyPr>
          <a:lstStyle/>
          <a:p>
            <a:pPr algn="ctr">
              <a:spcAft>
                <a:spcPts val="400"/>
              </a:spcAft>
            </a:pPr>
            <a:r>
              <a:rPr sz="1250" b="1">
                <a:solidFill>
                  <a:srgbClr val="1F5A4D"/>
                </a:solidFill>
                <a:latin typeface="Noto Sans SC" panose="020B0200000000000000" charset="-122"/>
                <a:ea typeface="Noto Sans SC" panose="020B0200000000000000" charset="-122"/>
              </a:rPr>
              <a:t>8.28—15.4年</a:t>
            </a:r>
            <a:endParaRPr sz="1250" b="1">
              <a:solidFill>
                <a:srgbClr val="1F5A4D"/>
              </a:solidFill>
              <a:latin typeface="Noto Sans SC" panose="020B0200000000000000" charset="-122"/>
              <a:ea typeface="Noto Sans SC" panose="020B0200000000000000" charset="-122"/>
            </a:endParaRPr>
          </a:p>
        </p:txBody>
      </p:sp>
      <p:sp>
        <p:nvSpPr>
          <p:cNvPr id="12" name="Rounded Rectangle 11"/>
          <p:cNvSpPr/>
          <p:nvPr/>
        </p:nvSpPr>
        <p:spPr>
          <a:xfrm>
            <a:off x="612648" y="5562000"/>
            <a:ext cx="3246120" cy="413999"/>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90000" tIns="10800" rIns="54000" bIns="10800" rtlCol="0" anchor="ctr">
            <a:noAutofit/>
          </a:bodyPr>
          <a:lstStyle/>
          <a:p>
            <a:pPr algn="ctr">
              <a:spcAft>
                <a:spcPts val="400"/>
              </a:spcAft>
            </a:pPr>
            <a:r>
              <a:rPr sz="1250" b="0">
                <a:solidFill>
                  <a:srgbClr val="2B3338"/>
                </a:solidFill>
                <a:latin typeface="Noto Sans SC" panose="020B0200000000000000" charset="-122"/>
                <a:ea typeface="Noto Sans SC" panose="020B0200000000000000" charset="-122"/>
              </a:rPr>
              <a:t>全部投资</a:t>
            </a:r>
            <a:r>
              <a:rPr lang="zh-CN" sz="1250" b="0">
                <a:solidFill>
                  <a:srgbClr val="2B3338"/>
                </a:solidFill>
                <a:latin typeface="Noto Sans SC" panose="020B0200000000000000" charset="-122"/>
                <a:ea typeface="Noto Sans SC" panose="020B0200000000000000" charset="-122"/>
              </a:rPr>
              <a:t>内部收益率</a:t>
            </a:r>
            <a:r>
              <a:rPr sz="1250" b="0">
                <a:solidFill>
                  <a:srgbClr val="2B3338"/>
                </a:solidFill>
                <a:latin typeface="Noto Sans SC" panose="020B0200000000000000" charset="-122"/>
                <a:ea typeface="Noto Sans SC" panose="020B0200000000000000" charset="-122"/>
              </a:rPr>
              <a:t>（税前）</a:t>
            </a:r>
            <a:endParaRPr sz="1250" b="0">
              <a:solidFill>
                <a:srgbClr val="2B3338"/>
              </a:solidFill>
              <a:latin typeface="Noto Sans SC" panose="020B0200000000000000" charset="-122"/>
              <a:ea typeface="Noto Sans SC" panose="020B0200000000000000" charset="-122"/>
            </a:endParaRPr>
          </a:p>
        </p:txBody>
      </p:sp>
      <p:sp>
        <p:nvSpPr>
          <p:cNvPr id="13" name="Rounded Rectangle 12"/>
          <p:cNvSpPr/>
          <p:nvPr/>
        </p:nvSpPr>
        <p:spPr>
          <a:xfrm>
            <a:off x="3858768" y="5562000"/>
            <a:ext cx="3246120" cy="413999"/>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90000" tIns="10800" rIns="54000" bIns="10800" rtlCol="0" anchor="ctr">
            <a:noAutofit/>
          </a:bodyPr>
          <a:lstStyle/>
          <a:p>
            <a:pPr algn="ctr">
              <a:spcAft>
                <a:spcPts val="400"/>
              </a:spcAft>
            </a:pPr>
            <a:r>
              <a:rPr sz="1250" b="1">
                <a:solidFill>
                  <a:srgbClr val="1F5A4D"/>
                </a:solidFill>
                <a:latin typeface="Noto Sans SC" panose="020B0200000000000000" charset="-122"/>
                <a:ea typeface="Noto Sans SC" panose="020B0200000000000000" charset="-122"/>
              </a:rPr>
              <a:t>6.55%—15.53%</a:t>
            </a:r>
            <a:endParaRPr sz="1250" b="1">
              <a:solidFill>
                <a:srgbClr val="1F5A4D"/>
              </a:solidFill>
              <a:latin typeface="Noto Sans SC" panose="020B0200000000000000" charset="-122"/>
              <a:ea typeface="Noto Sans SC" panose="020B0200000000000000" charset="-122"/>
            </a:endParaRPr>
          </a:p>
        </p:txBody>
      </p:sp>
      <p:sp>
        <p:nvSpPr>
          <p:cNvPr id="14" name="Rounded Rectangle 13"/>
          <p:cNvSpPr/>
          <p:nvPr/>
        </p:nvSpPr>
        <p:spPr>
          <a:xfrm>
            <a:off x="612648" y="5976000"/>
            <a:ext cx="3246120" cy="413999"/>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90000" tIns="10800" rIns="54000" bIns="10800" rtlCol="0" anchor="ctr">
            <a:noAutofit/>
          </a:bodyPr>
          <a:lstStyle/>
          <a:p>
            <a:pPr algn="ctr">
              <a:spcAft>
                <a:spcPts val="400"/>
              </a:spcAft>
            </a:pPr>
            <a:r>
              <a:rPr sz="1250" b="0">
                <a:solidFill>
                  <a:srgbClr val="2B3338"/>
                </a:solidFill>
                <a:latin typeface="Noto Sans SC" panose="020B0200000000000000" charset="-122"/>
                <a:ea typeface="Noto Sans SC" panose="020B0200000000000000" charset="-122"/>
              </a:rPr>
              <a:t>资本金</a:t>
            </a:r>
            <a:r>
              <a:rPr lang="zh-CN" sz="1250" b="0">
                <a:solidFill>
                  <a:srgbClr val="2B3338"/>
                </a:solidFill>
                <a:latin typeface="Noto Sans SC" panose="020B0200000000000000" charset="-122"/>
                <a:ea typeface="Noto Sans SC" panose="020B0200000000000000" charset="-122"/>
              </a:rPr>
              <a:t>内部收益率</a:t>
            </a:r>
            <a:endParaRPr lang="zh-CN" sz="1250" b="0">
              <a:solidFill>
                <a:srgbClr val="2B3338"/>
              </a:solidFill>
              <a:latin typeface="Noto Sans SC" panose="020B0200000000000000" charset="-122"/>
              <a:ea typeface="Noto Sans SC" panose="020B0200000000000000" charset="-122"/>
            </a:endParaRPr>
          </a:p>
        </p:txBody>
      </p:sp>
      <p:sp>
        <p:nvSpPr>
          <p:cNvPr id="15" name="Rounded Rectangle 14"/>
          <p:cNvSpPr/>
          <p:nvPr/>
        </p:nvSpPr>
        <p:spPr>
          <a:xfrm>
            <a:off x="3858768" y="5976000"/>
            <a:ext cx="3246120" cy="413999"/>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90000" tIns="10800" rIns="54000" bIns="10800" rtlCol="0" anchor="ctr">
            <a:noAutofit/>
          </a:bodyPr>
          <a:lstStyle/>
          <a:p>
            <a:pPr algn="ctr">
              <a:spcAft>
                <a:spcPts val="400"/>
              </a:spcAft>
            </a:pPr>
            <a:r>
              <a:rPr sz="1250" b="1">
                <a:solidFill>
                  <a:srgbClr val="1F5A4D"/>
                </a:solidFill>
                <a:latin typeface="Noto Sans SC" panose="020B0200000000000000" charset="-122"/>
                <a:ea typeface="Noto Sans SC" panose="020B0200000000000000" charset="-122"/>
              </a:rPr>
              <a:t>7.35%—17.66%</a:t>
            </a:r>
            <a:endParaRPr sz="1250" b="1">
              <a:solidFill>
                <a:srgbClr val="1F5A4D"/>
              </a:solidFill>
              <a:latin typeface="Noto Sans SC" panose="020B0200000000000000" charset="-122"/>
              <a:ea typeface="Noto Sans SC" panose="020B0200000000000000" charset="-122"/>
            </a:endParaRPr>
          </a:p>
        </p:txBody>
      </p:sp>
      <p:sp>
        <p:nvSpPr>
          <p:cNvPr id="16" name="Rounded Rectangle 15"/>
          <p:cNvSpPr/>
          <p:nvPr/>
        </p:nvSpPr>
        <p:spPr>
          <a:xfrm>
            <a:off x="7306055" y="1517904"/>
            <a:ext cx="4288536" cy="4937759"/>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06055" y="1517904"/>
            <a:ext cx="77724" cy="4937759"/>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cales.png"/>
          <p:cNvPicPr>
            <a:picLocks noChangeAspect="1"/>
          </p:cNvPicPr>
          <p:nvPr/>
        </p:nvPicPr>
        <p:blipFill>
          <a:blip r:embed="rId1"/>
          <a:stretch>
            <a:fillRect/>
          </a:stretch>
        </p:blipFill>
        <p:spPr>
          <a:xfrm>
            <a:off x="7525511" y="1682495"/>
            <a:ext cx="365760" cy="365760"/>
          </a:xfrm>
          <a:prstGeom prst="rect">
            <a:avLst/>
          </a:prstGeom>
        </p:spPr>
      </p:pic>
      <p:sp>
        <p:nvSpPr>
          <p:cNvPr id="19" name="TextBox 18"/>
          <p:cNvSpPr txBox="1"/>
          <p:nvPr/>
        </p:nvSpPr>
        <p:spPr>
          <a:xfrm>
            <a:off x="7982711" y="1664207"/>
            <a:ext cx="3502152" cy="402336"/>
          </a:xfrm>
          <a:prstGeom prst="rect">
            <a:avLst/>
          </a:prstGeom>
          <a:noFill/>
        </p:spPr>
        <p:txBody>
          <a:bodyPr wrap="square" lIns="0" tIns="0" bIns="36576" anchor="ctr">
            <a:spAutoFit/>
          </a:bodyPr>
          <a:lstStyle/>
          <a:p>
            <a:pPr algn="l">
              <a:spcAft>
                <a:spcPts val="400"/>
              </a:spcAft>
            </a:pPr>
            <a:r>
              <a:rPr sz="1900" b="1">
                <a:solidFill>
                  <a:srgbClr val="2E7D6B"/>
                </a:solidFill>
                <a:latin typeface="Noto Sans SC" panose="020B0200000000000000" charset="-122"/>
                <a:ea typeface="Noto Sans SC" panose="020B0200000000000000" charset="-122"/>
              </a:rPr>
              <a:t>分析</a:t>
            </a:r>
            <a:endParaRPr sz="1900" b="1">
              <a:solidFill>
                <a:srgbClr val="2E7D6B"/>
              </a:solidFill>
              <a:latin typeface="Noto Sans SC" panose="020B0200000000000000" charset="-122"/>
              <a:ea typeface="Noto Sans SC" panose="020B0200000000000000" charset="-122"/>
            </a:endParaRPr>
          </a:p>
        </p:txBody>
      </p:sp>
      <p:sp>
        <p:nvSpPr>
          <p:cNvPr id="20" name="TextBox 19"/>
          <p:cNvSpPr txBox="1"/>
          <p:nvPr/>
        </p:nvSpPr>
        <p:spPr>
          <a:xfrm>
            <a:off x="7569073" y="2426462"/>
            <a:ext cx="3886200" cy="3519805"/>
          </a:xfrm>
          <a:prstGeom prst="rect">
            <a:avLst/>
          </a:prstGeom>
          <a:noFill/>
        </p:spPr>
        <p:txBody>
          <a:bodyPr wrap="square" lIns="7200" tIns="7200" rIns="7200" bIns="7200" anchor="t">
            <a:noAutofit/>
          </a:bodyPr>
          <a:lstStyle/>
          <a:p>
            <a:pPr algn="l">
              <a:lnSpc>
                <a:spcPct val="107000"/>
              </a:lnSpc>
              <a:spcAft>
                <a:spcPts val="800"/>
              </a:spcAft>
            </a:pPr>
            <a:r>
              <a:rPr sz="1420" b="0">
                <a:solidFill>
                  <a:srgbClr val="2E7D6B"/>
                </a:solidFill>
                <a:latin typeface="Noto Sans SC" panose="020B0200000000000000" charset="-122"/>
                <a:ea typeface="Noto Sans SC" panose="020B0200000000000000" charset="-122"/>
              </a:rPr>
              <a:t>▪ </a:t>
            </a:r>
            <a:r>
              <a:rPr sz="1420" b="1">
                <a:solidFill>
                  <a:srgbClr val="1F5A4D"/>
                </a:solidFill>
                <a:latin typeface="Noto Sans SC" panose="020B0200000000000000" charset="-122"/>
                <a:ea typeface="Noto Sans SC" panose="020B0200000000000000" charset="-122"/>
              </a:rPr>
              <a:t>单位投资</a:t>
            </a:r>
            <a:r>
              <a:rPr sz="1420" b="0">
                <a:solidFill>
                  <a:srgbClr val="4B5563"/>
                </a:solidFill>
                <a:latin typeface="Noto Sans SC" panose="020B0200000000000000" charset="-122"/>
                <a:ea typeface="Noto Sans SC" panose="020B0200000000000000" charset="-122"/>
              </a:rPr>
              <a:t>：已降至平价阶段低位，8个样本</a:t>
            </a:r>
            <a:r>
              <a:rPr sz="1420" b="1">
                <a:solidFill>
                  <a:srgbClr val="1F5A4D"/>
                </a:solidFill>
                <a:latin typeface="Noto Sans SC" panose="020B0200000000000000" charset="-122"/>
                <a:ea typeface="Noto Sans SC" panose="020B0200000000000000" charset="-122"/>
              </a:rPr>
              <a:t>3106—4793</a:t>
            </a:r>
            <a:r>
              <a:rPr sz="1420" b="0">
                <a:solidFill>
                  <a:srgbClr val="4B5563"/>
                </a:solidFill>
                <a:latin typeface="Noto Sans SC" panose="020B0200000000000000" charset="-122"/>
                <a:ea typeface="Noto Sans SC" panose="020B0200000000000000" charset="-122"/>
              </a:rPr>
              <a:t>元/千瓦、均值</a:t>
            </a:r>
            <a:r>
              <a:rPr sz="1420" b="1">
                <a:solidFill>
                  <a:srgbClr val="1F5A4D"/>
                </a:solidFill>
                <a:latin typeface="Noto Sans SC" panose="020B0200000000000000" charset="-122"/>
                <a:ea typeface="Noto Sans SC" panose="020B0200000000000000" charset="-122"/>
              </a:rPr>
              <a:t>3790</a:t>
            </a:r>
            <a:r>
              <a:rPr sz="1420" b="0">
                <a:solidFill>
                  <a:srgbClr val="4B5563"/>
                </a:solidFill>
                <a:latin typeface="Noto Sans SC" panose="020B0200000000000000" charset="-122"/>
                <a:ea typeface="Noto Sans SC" panose="020B0200000000000000" charset="-122"/>
              </a:rPr>
              <a:t>元，较2016年参照下降约</a:t>
            </a:r>
            <a:r>
              <a:rPr sz="1420" b="1">
                <a:solidFill>
                  <a:srgbClr val="1F5A4D"/>
                </a:solidFill>
                <a:latin typeface="Noto Sans SC" panose="020B0200000000000000" charset="-122"/>
                <a:ea typeface="Noto Sans SC" panose="020B0200000000000000" charset="-122"/>
              </a:rPr>
              <a:t>57%</a:t>
            </a:r>
            <a:r>
              <a:rPr sz="1420" b="0">
                <a:solidFill>
                  <a:srgbClr val="4B5563"/>
                </a:solidFill>
                <a:latin typeface="Noto Sans SC" panose="020B0200000000000000" charset="-122"/>
                <a:ea typeface="Noto Sans SC" panose="020B0200000000000000" charset="-122"/>
              </a:rPr>
              <a:t>；市场机制2个样本</a:t>
            </a:r>
            <a:r>
              <a:rPr sz="1420" b="1">
                <a:solidFill>
                  <a:srgbClr val="1F5A4D"/>
                </a:solidFill>
                <a:latin typeface="Noto Sans SC" panose="020B0200000000000000" charset="-122"/>
                <a:ea typeface="Noto Sans SC" panose="020B0200000000000000" charset="-122"/>
              </a:rPr>
              <a:t>2501—3210</a:t>
            </a:r>
            <a:r>
              <a:rPr sz="1420" b="0">
                <a:solidFill>
                  <a:srgbClr val="4B5563"/>
                </a:solidFill>
                <a:latin typeface="Noto Sans SC" panose="020B0200000000000000" charset="-122"/>
                <a:ea typeface="Noto Sans SC" panose="020B0200000000000000" charset="-122"/>
              </a:rPr>
              <a:t>元/千瓦。</a:t>
            </a:r>
            <a:endParaRPr sz="1420" b="0">
              <a:solidFill>
                <a:srgbClr val="4B5563"/>
              </a:solidFill>
              <a:latin typeface="Noto Sans SC" panose="020B0200000000000000" charset="-122"/>
              <a:ea typeface="Noto Sans SC" panose="020B0200000000000000" charset="-122"/>
            </a:endParaRPr>
          </a:p>
          <a:p>
            <a:pPr algn="l">
              <a:lnSpc>
                <a:spcPct val="107000"/>
              </a:lnSpc>
              <a:spcAft>
                <a:spcPts val="800"/>
              </a:spcAft>
            </a:pPr>
            <a:r>
              <a:rPr sz="1420" b="0">
                <a:solidFill>
                  <a:srgbClr val="2E7D6B"/>
                </a:solidFill>
                <a:latin typeface="Noto Sans SC" panose="020B0200000000000000" charset="-122"/>
                <a:ea typeface="Noto Sans SC" panose="020B0200000000000000" charset="-122"/>
              </a:rPr>
              <a:t>▪ </a:t>
            </a:r>
            <a:r>
              <a:rPr sz="1420" b="1">
                <a:solidFill>
                  <a:srgbClr val="1F5A4D"/>
                </a:solidFill>
                <a:latin typeface="Noto Sans SC" panose="020B0200000000000000" charset="-122"/>
                <a:ea typeface="Noto Sans SC" panose="020B0200000000000000" charset="-122"/>
              </a:rPr>
              <a:t>投资回收期</a:t>
            </a:r>
            <a:r>
              <a:rPr sz="1420" b="0">
                <a:solidFill>
                  <a:srgbClr val="4B5563"/>
                </a:solidFill>
                <a:latin typeface="Noto Sans SC" panose="020B0200000000000000" charset="-122"/>
                <a:ea typeface="Noto Sans SC" panose="020B0200000000000000" charset="-122"/>
              </a:rPr>
              <a:t>：整体处于</a:t>
            </a:r>
            <a:r>
              <a:rPr sz="1420" b="1">
                <a:solidFill>
                  <a:srgbClr val="1F5A4D"/>
                </a:solidFill>
                <a:latin typeface="Noto Sans SC" panose="020B0200000000000000" charset="-122"/>
                <a:ea typeface="Noto Sans SC" panose="020B0200000000000000" charset="-122"/>
              </a:rPr>
              <a:t>8.28—15.4年</a:t>
            </a:r>
            <a:r>
              <a:rPr sz="1420" b="0">
                <a:solidFill>
                  <a:srgbClr val="4B5563"/>
                </a:solidFill>
                <a:latin typeface="Noto Sans SC" panose="020B0200000000000000" charset="-122"/>
                <a:ea typeface="Noto Sans SC" panose="020B0200000000000000" charset="-122"/>
              </a:rPr>
              <a:t>；渔光互补多在</a:t>
            </a:r>
            <a:r>
              <a:rPr sz="1420" b="1">
                <a:solidFill>
                  <a:srgbClr val="1F5A4D"/>
                </a:solidFill>
                <a:latin typeface="Noto Sans SC" panose="020B0200000000000000" charset="-122"/>
                <a:ea typeface="Noto Sans SC" panose="020B0200000000000000" charset="-122"/>
              </a:rPr>
              <a:t>13.05—13.14年</a:t>
            </a:r>
            <a:r>
              <a:rPr sz="1420" b="0">
                <a:solidFill>
                  <a:srgbClr val="4B5563"/>
                </a:solidFill>
                <a:latin typeface="Noto Sans SC" panose="020B0200000000000000" charset="-122"/>
                <a:ea typeface="Noto Sans SC" panose="020B0200000000000000" charset="-122"/>
              </a:rPr>
              <a:t>，屋顶全额上网为</a:t>
            </a:r>
            <a:r>
              <a:rPr sz="1420" b="1">
                <a:solidFill>
                  <a:srgbClr val="1F5A4D"/>
                </a:solidFill>
                <a:latin typeface="Noto Sans SC" panose="020B0200000000000000" charset="-122"/>
                <a:ea typeface="Noto Sans SC" panose="020B0200000000000000" charset="-122"/>
              </a:rPr>
              <a:t>12.71年</a:t>
            </a:r>
            <a:r>
              <a:rPr sz="1420" b="0">
                <a:solidFill>
                  <a:srgbClr val="4B5563"/>
                </a:solidFill>
                <a:latin typeface="Noto Sans SC" panose="020B0200000000000000" charset="-122"/>
                <a:ea typeface="Noto Sans SC" panose="020B0200000000000000" charset="-122"/>
              </a:rPr>
              <a:t>，屋顶自发自用组内分化最大。</a:t>
            </a:r>
            <a:endParaRPr sz="1420" b="0">
              <a:solidFill>
                <a:srgbClr val="4B5563"/>
              </a:solidFill>
              <a:latin typeface="Noto Sans SC" panose="020B0200000000000000" charset="-122"/>
              <a:ea typeface="Noto Sans SC" panose="020B0200000000000000" charset="-122"/>
            </a:endParaRPr>
          </a:p>
          <a:p>
            <a:pPr algn="l">
              <a:lnSpc>
                <a:spcPct val="107000"/>
              </a:lnSpc>
              <a:spcAft>
                <a:spcPts val="800"/>
              </a:spcAft>
            </a:pPr>
            <a:r>
              <a:rPr sz="1420" b="0">
                <a:solidFill>
                  <a:srgbClr val="2E7D6B"/>
                </a:solidFill>
                <a:latin typeface="Noto Sans SC" panose="020B0200000000000000" charset="-122"/>
                <a:ea typeface="Noto Sans SC" panose="020B0200000000000000" charset="-122"/>
              </a:rPr>
              <a:t>▪ </a:t>
            </a:r>
            <a:r>
              <a:rPr sz="1420" b="1">
                <a:solidFill>
                  <a:srgbClr val="1F5A4D"/>
                </a:solidFill>
                <a:latin typeface="Noto Sans SC" panose="020B0200000000000000" charset="-122"/>
                <a:ea typeface="Noto Sans SC" panose="020B0200000000000000" charset="-122"/>
              </a:rPr>
              <a:t>资本金</a:t>
            </a:r>
            <a:r>
              <a:rPr lang="zh-CN" sz="1420" b="1">
                <a:solidFill>
                  <a:srgbClr val="1F5A4D"/>
                </a:solidFill>
                <a:latin typeface="Noto Sans SC" panose="020B0200000000000000" charset="-122"/>
                <a:ea typeface="Noto Sans SC" panose="020B0200000000000000" charset="-122"/>
              </a:rPr>
              <a:t>内部收益率</a:t>
            </a:r>
            <a:r>
              <a:rPr sz="1420" b="0">
                <a:solidFill>
                  <a:srgbClr val="4B5563"/>
                </a:solidFill>
                <a:latin typeface="Noto Sans SC" panose="020B0200000000000000" charset="-122"/>
                <a:ea typeface="Noto Sans SC" panose="020B0200000000000000" charset="-122"/>
              </a:rPr>
              <a:t>：多贴近</a:t>
            </a:r>
            <a:r>
              <a:rPr sz="1420" b="1">
                <a:solidFill>
                  <a:srgbClr val="1F5A4D"/>
                </a:solidFill>
                <a:latin typeface="Noto Sans SC" panose="020B0200000000000000" charset="-122"/>
                <a:ea typeface="Noto Sans SC" panose="020B0200000000000000" charset="-122"/>
              </a:rPr>
              <a:t>8%</a:t>
            </a:r>
            <a:r>
              <a:rPr sz="1420" b="0">
                <a:solidFill>
                  <a:srgbClr val="4B5563"/>
                </a:solidFill>
                <a:latin typeface="Noto Sans SC" panose="020B0200000000000000" charset="-122"/>
                <a:ea typeface="Noto Sans SC" panose="020B0200000000000000" charset="-122"/>
              </a:rPr>
              <a:t>的资本金税后基准，</a:t>
            </a:r>
            <a:r>
              <a:rPr sz="1420" b="1">
                <a:solidFill>
                  <a:srgbClr val="1F5A4D"/>
                </a:solidFill>
                <a:latin typeface="Noto Sans SC" panose="020B0200000000000000" charset="-122"/>
                <a:ea typeface="Noto Sans SC" panose="020B0200000000000000" charset="-122"/>
              </a:rPr>
              <a:t>6个</a:t>
            </a:r>
            <a:r>
              <a:rPr sz="1420" b="0">
                <a:solidFill>
                  <a:srgbClr val="4B5563"/>
                </a:solidFill>
                <a:latin typeface="Noto Sans SC" panose="020B0200000000000000" charset="-122"/>
                <a:ea typeface="Noto Sans SC" panose="020B0200000000000000" charset="-122"/>
              </a:rPr>
              <a:t>样本落在</a:t>
            </a:r>
            <a:r>
              <a:rPr sz="1420" b="1">
                <a:solidFill>
                  <a:srgbClr val="1F5A4D"/>
                </a:solidFill>
                <a:latin typeface="Noto Sans SC" panose="020B0200000000000000" charset="-122"/>
                <a:ea typeface="Noto Sans SC" panose="020B0200000000000000" charset="-122"/>
              </a:rPr>
              <a:t>8.04%—9.45%</a:t>
            </a:r>
            <a:r>
              <a:rPr sz="1420" b="0">
                <a:solidFill>
                  <a:srgbClr val="4B5563"/>
                </a:solidFill>
                <a:latin typeface="Noto Sans SC" panose="020B0200000000000000" charset="-122"/>
                <a:ea typeface="Noto Sans SC" panose="020B0200000000000000" charset="-122"/>
              </a:rPr>
              <a:t>；句容</a:t>
            </a:r>
            <a:r>
              <a:rPr sz="1420" b="1">
                <a:solidFill>
                  <a:srgbClr val="1F5A4D"/>
                </a:solidFill>
                <a:latin typeface="Noto Sans SC" panose="020B0200000000000000" charset="-122"/>
                <a:ea typeface="Noto Sans SC" panose="020B0200000000000000" charset="-122"/>
              </a:rPr>
              <a:t>17.66%</a:t>
            </a:r>
            <a:r>
              <a:rPr sz="1420" b="0">
                <a:solidFill>
                  <a:srgbClr val="4B5563"/>
                </a:solidFill>
                <a:latin typeface="Noto Sans SC" panose="020B0200000000000000" charset="-122"/>
                <a:ea typeface="Noto Sans SC" panose="020B0200000000000000" charset="-122"/>
              </a:rPr>
              <a:t>为上限。</a:t>
            </a:r>
            <a:endParaRPr sz="1420" b="0">
              <a:solidFill>
                <a:srgbClr val="4B5563"/>
              </a:solidFill>
              <a:latin typeface="Noto Sans SC" panose="020B0200000000000000" charset="-122"/>
              <a:ea typeface="Noto Sans SC" panose="020B0200000000000000" charset="-122"/>
            </a:endParaRPr>
          </a:p>
          <a:p>
            <a:pPr algn="l">
              <a:lnSpc>
                <a:spcPct val="107000"/>
              </a:lnSpc>
              <a:spcAft>
                <a:spcPts val="800"/>
              </a:spcAft>
            </a:pPr>
            <a:r>
              <a:rPr sz="1420" b="0">
                <a:solidFill>
                  <a:srgbClr val="2E7D6B"/>
                </a:solidFill>
                <a:latin typeface="Noto Sans SC" panose="020B0200000000000000" charset="-122"/>
                <a:ea typeface="Noto Sans SC" panose="020B0200000000000000" charset="-122"/>
              </a:rPr>
              <a:t>▪ </a:t>
            </a:r>
            <a:r>
              <a:rPr sz="1420" b="1">
                <a:solidFill>
                  <a:srgbClr val="1F5A4D"/>
                </a:solidFill>
                <a:latin typeface="Noto Sans SC" panose="020B0200000000000000" charset="-122"/>
                <a:ea typeface="Noto Sans SC" panose="020B0200000000000000" charset="-122"/>
              </a:rPr>
              <a:t>总体判断</a:t>
            </a:r>
            <a:r>
              <a:rPr sz="1420" b="0">
                <a:solidFill>
                  <a:srgbClr val="4B5563"/>
                </a:solidFill>
                <a:latin typeface="Noto Sans SC" panose="020B0200000000000000" charset="-122"/>
                <a:ea typeface="Noto Sans SC" panose="020B0200000000000000" charset="-122"/>
              </a:rPr>
              <a:t>：单位投资下移扩大可行空间，但样本收益仍贴近基准，模式间回收期与</a:t>
            </a:r>
            <a:r>
              <a:rPr lang="zh-CN" sz="1420" b="0">
                <a:solidFill>
                  <a:srgbClr val="4B5563"/>
                </a:solidFill>
                <a:latin typeface="Noto Sans SC" panose="020B0200000000000000" charset="-122"/>
                <a:ea typeface="Noto Sans SC" panose="020B0200000000000000" charset="-122"/>
              </a:rPr>
              <a:t>资本金内部收益率</a:t>
            </a:r>
            <a:r>
              <a:rPr sz="1420" b="0">
                <a:solidFill>
                  <a:srgbClr val="4B5563"/>
                </a:solidFill>
                <a:latin typeface="Noto Sans SC" panose="020B0200000000000000" charset="-122"/>
                <a:ea typeface="Noto Sans SC" panose="020B0200000000000000" charset="-122"/>
              </a:rPr>
              <a:t>差异明显。</a:t>
            </a:r>
            <a:endParaRPr sz="1420" b="0">
              <a:solidFill>
                <a:srgbClr val="4B5563"/>
              </a:solidFill>
              <a:latin typeface="Noto Sans SC" panose="020B0200000000000000" charset="-122"/>
              <a:ea typeface="Noto Sans SC" panose="020B0200000000000000" charset="-122"/>
            </a:endParaRPr>
          </a:p>
        </p:txBody>
      </p:sp>
      <p:sp>
        <p:nvSpPr>
          <p:cNvPr id="21" name="TextBox 20">
            <a:hlinkClick r:id="rId2" action="ppaction://hlinksldjump"/>
          </p:cNvPr>
          <p:cNvSpPr txBox="1"/>
          <p:nvPr/>
        </p:nvSpPr>
        <p:spPr>
          <a:xfrm>
            <a:off x="11238992" y="274320"/>
            <a:ext cx="309880" cy="260350"/>
          </a:xfrm>
          <a:prstGeom prst="rect">
            <a:avLst/>
          </a:prstGeom>
          <a:noFill/>
        </p:spPr>
        <p:txBody>
          <a:bodyPr wrap="none">
            <a:spAutoFit/>
          </a:bodyPr>
          <a:lstStyle/>
          <a:p>
            <a:pPr algn="r"/>
            <a:endParaRPr lang="zh-CN" sz="1100">
              <a:solidFill>
                <a:srgbClr val="2E7D6B"/>
              </a:solidFill>
              <a:latin typeface="Noto Sans SC" panose="020B0200000000000000" charset="-122"/>
              <a:ea typeface="Noto Sans SC" panose="020B0200000000000000" charset="-122"/>
            </a:endParaRPr>
          </a:p>
        </p:txBody>
      </p:sp>
      <p:sp>
        <p:nvSpPr>
          <p:cNvPr id="23" name="文本框 22"/>
          <p:cNvSpPr txBox="1"/>
          <p:nvPr/>
        </p:nvSpPr>
        <p:spPr>
          <a:xfrm>
            <a:off x="822960" y="170815"/>
            <a:ext cx="11137900" cy="613410"/>
          </a:xfrm>
          <a:prstGeom prst="rect">
            <a:avLst/>
          </a:prstGeom>
          <a:noFill/>
        </p:spPr>
        <p:txBody>
          <a:bodyPr wrap="square" rtlCol="0" anchor="ctr">
            <a:noAutofit/>
          </a:bodyPr>
          <a:lstStyle/>
          <a:p>
            <a:pPr algn="l">
              <a:buClrTx/>
              <a:buSzTx/>
              <a:buFontTx/>
              <a:buNone/>
            </a:pPr>
            <a:r>
              <a:rPr lang="zh-CN" sz="2800" b="1">
                <a:solidFill>
                  <a:srgbClr val="1F5A4D"/>
                </a:solidFill>
                <a:latin typeface="微软雅黑" panose="020B0503020204020204" pitchFamily="34" charset="-122"/>
                <a:ea typeface="微软雅黑" panose="020B0503020204020204" pitchFamily="34" charset="-122"/>
              </a:rPr>
              <a:t>5 典型项目经济效益测算与案例分析    </a:t>
            </a:r>
            <a:r>
              <a:rPr lang="zh-CN" altLang="en-US" sz="2200" b="1">
                <a:solidFill>
                  <a:srgbClr val="029694"/>
                </a:solidFill>
                <a:latin typeface="Noto Sans SC" panose="020B0200000000000000" charset="-122"/>
                <a:ea typeface="Noto Sans SC" panose="020B0200000000000000" charset="-122"/>
                <a:cs typeface="Noto Sans SC" panose="020B0200000000000000" charset="-122"/>
              </a:rPr>
              <a:t>单位投资与收益水平</a:t>
            </a:r>
            <a:endParaRPr lang="en-US" altLang="zh-CN" sz="2800" b="1">
              <a:solidFill>
                <a:srgbClr val="1F5A4D"/>
              </a:solidFill>
              <a:latin typeface="微软雅黑" panose="020B0503020204020204" pitchFamily="34" charset="-122"/>
              <a:ea typeface="微软雅黑" panose="020B0503020204020204" pitchFamily="34" charset="-122"/>
            </a:endParaRPr>
          </a:p>
        </p:txBody>
      </p:sp>
      <p:pic>
        <p:nvPicPr>
          <p:cNvPr id="5" name="Picture 23" descr="p25_sample.png"/>
          <p:cNvPicPr>
            <a:picLocks noChangeAspect="1"/>
          </p:cNvPicPr>
          <p:nvPr/>
        </p:nvPicPr>
        <p:blipFill>
          <a:blip r:embed="rId3"/>
          <a:srcRect l="17070"/>
          <a:stretch>
            <a:fillRect/>
          </a:stretch>
        </p:blipFill>
        <p:spPr>
          <a:xfrm>
            <a:off x="610235" y="1511935"/>
            <a:ext cx="6482080" cy="2553970"/>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sz="2100" b="0">
                <a:solidFill>
                  <a:srgbClr val="1F5A4D"/>
                </a:solidFill>
                <a:latin typeface="微软雅黑" panose="020B0503020204020204" pitchFamily="34" charset="-122"/>
                <a:ea typeface="微软雅黑" panose="020B0503020204020204" pitchFamily="34" charset="-122"/>
              </a:rPr>
              <a:t>机制电价分界是影响上网收入的关键节点之一，转零点逼近竞价下限</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TextBox 3"/>
          <p:cNvSpPr txBox="1"/>
          <p:nvPr/>
        </p:nvSpPr>
        <p:spPr>
          <a:xfrm>
            <a:off x="822960" y="1091502"/>
            <a:ext cx="10607040" cy="212725"/>
          </a:xfrm>
          <a:prstGeom prst="rect">
            <a:avLst/>
          </a:prstGeom>
          <a:noFill/>
        </p:spPr>
        <p:txBody>
          <a:bodyPr wrap="square" tIns="0" rIns="182880" bIns="36576" anchor="ctr">
            <a:spAutoFit/>
          </a:bodyPr>
          <a:lstStyle/>
          <a:p>
            <a:pPr algn="r">
              <a:spcAft>
                <a:spcPts val="400"/>
              </a:spcAft>
            </a:pPr>
            <a:endParaRPr sz="1150" b="0">
              <a:solidFill>
                <a:srgbClr val="4B5563"/>
              </a:solidFill>
              <a:latin typeface="Noto Sans SC" panose="020B0200000000000000" charset="-122"/>
              <a:ea typeface="Noto Sans SC" panose="020B0200000000000000" charset="-122"/>
            </a:endParaRPr>
          </a:p>
        </p:txBody>
      </p:sp>
      <p:sp>
        <p:nvSpPr>
          <p:cNvPr id="6" name="Rounded Rectangle 5"/>
          <p:cNvSpPr/>
          <p:nvPr/>
        </p:nvSpPr>
        <p:spPr>
          <a:xfrm>
            <a:off x="612648" y="4224528"/>
            <a:ext cx="324612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机制电价关键参数</a:t>
            </a:r>
            <a:endParaRPr sz="1300" b="1">
              <a:solidFill>
                <a:srgbClr val="FFFFFF"/>
              </a:solidFill>
              <a:latin typeface="Noto Sans SC" panose="020B0200000000000000" charset="-122"/>
              <a:ea typeface="Noto Sans SC" panose="020B0200000000000000" charset="-122"/>
            </a:endParaRPr>
          </a:p>
        </p:txBody>
      </p:sp>
      <p:sp>
        <p:nvSpPr>
          <p:cNvPr id="7" name="Rounded Rectangle 6"/>
          <p:cNvSpPr/>
          <p:nvPr/>
        </p:nvSpPr>
        <p:spPr>
          <a:xfrm>
            <a:off x="3858768" y="4224528"/>
            <a:ext cx="3246120" cy="384048"/>
          </a:xfrm>
          <a:prstGeom prst="roundRect">
            <a:avLst>
              <a:gd name="adj" fmla="val 5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400"/>
              </a:spcAft>
            </a:pPr>
            <a:r>
              <a:rPr sz="1300" b="1">
                <a:solidFill>
                  <a:srgbClr val="FFFFFF"/>
                </a:solidFill>
                <a:latin typeface="Noto Sans SC" panose="020B0200000000000000" charset="-122"/>
                <a:ea typeface="Noto Sans SC" panose="020B0200000000000000" charset="-122"/>
              </a:rPr>
              <a:t>取值</a:t>
            </a:r>
            <a:endParaRPr sz="1300" b="1">
              <a:solidFill>
                <a:srgbClr val="FFFFFF"/>
              </a:solidFill>
              <a:latin typeface="Noto Sans SC" panose="020B0200000000000000" charset="-122"/>
              <a:ea typeface="Noto Sans SC" panose="020B0200000000000000" charset="-122"/>
            </a:endParaRPr>
          </a:p>
        </p:txBody>
      </p:sp>
      <p:sp>
        <p:nvSpPr>
          <p:cNvPr id="8" name="Rounded Rectangle 7"/>
          <p:cNvSpPr/>
          <p:nvPr/>
        </p:nvSpPr>
        <p:spPr>
          <a:xfrm>
            <a:off x="612648" y="4608576"/>
            <a:ext cx="3246120" cy="36941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存量机制电价</a:t>
            </a:r>
            <a:endParaRPr sz="1250" b="0">
              <a:solidFill>
                <a:srgbClr val="2B3338"/>
              </a:solidFill>
              <a:latin typeface="Noto Sans SC" panose="020B0200000000000000" charset="-122"/>
              <a:ea typeface="Noto Sans SC" panose="020B0200000000000000" charset="-122"/>
            </a:endParaRPr>
          </a:p>
        </p:txBody>
      </p:sp>
      <p:sp>
        <p:nvSpPr>
          <p:cNvPr id="9" name="Rounded Rectangle 8"/>
          <p:cNvSpPr/>
          <p:nvPr/>
        </p:nvSpPr>
        <p:spPr>
          <a:xfrm>
            <a:off x="3858768" y="4608576"/>
            <a:ext cx="3246120" cy="36941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0.391元/千瓦时</a:t>
            </a:r>
            <a:endParaRPr sz="1250" b="1">
              <a:solidFill>
                <a:srgbClr val="1F5A4D"/>
              </a:solidFill>
              <a:latin typeface="Noto Sans SC" panose="020B0200000000000000" charset="-122"/>
              <a:ea typeface="Noto Sans SC" panose="020B0200000000000000" charset="-122"/>
            </a:endParaRPr>
          </a:p>
        </p:txBody>
      </p:sp>
      <p:sp>
        <p:nvSpPr>
          <p:cNvPr id="10" name="Rounded Rectangle 9"/>
          <p:cNvSpPr/>
          <p:nvPr/>
        </p:nvSpPr>
        <p:spPr>
          <a:xfrm>
            <a:off x="612648" y="4977993"/>
            <a:ext cx="3246120" cy="369417"/>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增量竞价区间</a:t>
            </a:r>
            <a:endParaRPr sz="1250" b="0">
              <a:solidFill>
                <a:srgbClr val="2B3338"/>
              </a:solidFill>
              <a:latin typeface="Noto Sans SC" panose="020B0200000000000000" charset="-122"/>
              <a:ea typeface="Noto Sans SC" panose="020B0200000000000000" charset="-122"/>
            </a:endParaRPr>
          </a:p>
        </p:txBody>
      </p:sp>
      <p:sp>
        <p:nvSpPr>
          <p:cNvPr id="11" name="Rounded Rectangle 10"/>
          <p:cNvSpPr/>
          <p:nvPr/>
        </p:nvSpPr>
        <p:spPr>
          <a:xfrm>
            <a:off x="3858768" y="4977993"/>
            <a:ext cx="3246120" cy="369417"/>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0.25—0.391元/千瓦时</a:t>
            </a:r>
            <a:endParaRPr sz="1250" b="1">
              <a:solidFill>
                <a:srgbClr val="1F5A4D"/>
              </a:solidFill>
              <a:latin typeface="Noto Sans SC" panose="020B0200000000000000" charset="-122"/>
              <a:ea typeface="Noto Sans SC" panose="020B0200000000000000" charset="-122"/>
            </a:endParaRPr>
          </a:p>
        </p:txBody>
      </p:sp>
      <p:sp>
        <p:nvSpPr>
          <p:cNvPr id="12" name="Rounded Rectangle 11"/>
          <p:cNvSpPr/>
          <p:nvPr/>
        </p:nvSpPr>
        <p:spPr>
          <a:xfrm>
            <a:off x="612648" y="5347411"/>
            <a:ext cx="3246120" cy="36941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盈亏平衡电价（情景）</a:t>
            </a:r>
            <a:endParaRPr sz="1250" b="0">
              <a:solidFill>
                <a:srgbClr val="2B3338"/>
              </a:solidFill>
              <a:latin typeface="Noto Sans SC" panose="020B0200000000000000" charset="-122"/>
              <a:ea typeface="Noto Sans SC" panose="020B0200000000000000" charset="-122"/>
            </a:endParaRPr>
          </a:p>
        </p:txBody>
      </p:sp>
      <p:sp>
        <p:nvSpPr>
          <p:cNvPr id="13" name="Rounded Rectangle 12"/>
          <p:cNvSpPr/>
          <p:nvPr/>
        </p:nvSpPr>
        <p:spPr>
          <a:xfrm>
            <a:off x="3858768" y="5347411"/>
            <a:ext cx="3246120" cy="36941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约0.281元/千瓦时</a:t>
            </a:r>
            <a:endParaRPr sz="1250" b="1">
              <a:solidFill>
                <a:srgbClr val="1F5A4D"/>
              </a:solidFill>
              <a:latin typeface="Noto Sans SC" panose="020B0200000000000000" charset="-122"/>
              <a:ea typeface="Noto Sans SC" panose="020B0200000000000000" charset="-122"/>
            </a:endParaRPr>
          </a:p>
        </p:txBody>
      </p:sp>
      <p:sp>
        <p:nvSpPr>
          <p:cNvPr id="14" name="Rounded Rectangle 13"/>
          <p:cNvSpPr/>
          <p:nvPr/>
        </p:nvSpPr>
        <p:spPr>
          <a:xfrm>
            <a:off x="612648" y="5716828"/>
            <a:ext cx="3246120" cy="369417"/>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可持续报价区间（情景）</a:t>
            </a:r>
            <a:endParaRPr sz="1250" b="0">
              <a:solidFill>
                <a:srgbClr val="2B3338"/>
              </a:solidFill>
              <a:latin typeface="Noto Sans SC" panose="020B0200000000000000" charset="-122"/>
              <a:ea typeface="Noto Sans SC" panose="020B0200000000000000" charset="-122"/>
            </a:endParaRPr>
          </a:p>
        </p:txBody>
      </p:sp>
      <p:sp>
        <p:nvSpPr>
          <p:cNvPr id="15" name="Rounded Rectangle 14"/>
          <p:cNvSpPr/>
          <p:nvPr/>
        </p:nvSpPr>
        <p:spPr>
          <a:xfrm>
            <a:off x="3858768" y="5716828"/>
            <a:ext cx="3246120" cy="369417"/>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0.28—0.36元/千瓦时</a:t>
            </a:r>
            <a:endParaRPr sz="1250" b="1">
              <a:solidFill>
                <a:srgbClr val="1F5A4D"/>
              </a:solidFill>
              <a:latin typeface="Noto Sans SC" panose="020B0200000000000000" charset="-122"/>
              <a:ea typeface="Noto Sans SC" panose="020B0200000000000000" charset="-122"/>
            </a:endParaRPr>
          </a:p>
        </p:txBody>
      </p:sp>
      <p:sp>
        <p:nvSpPr>
          <p:cNvPr id="16" name="Rounded Rectangle 15"/>
          <p:cNvSpPr/>
          <p:nvPr/>
        </p:nvSpPr>
        <p:spPr>
          <a:xfrm>
            <a:off x="612648" y="6086246"/>
            <a:ext cx="3246120" cy="36941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0">
                <a:solidFill>
                  <a:srgbClr val="2B3338"/>
                </a:solidFill>
                <a:latin typeface="Noto Sans SC" panose="020B0200000000000000" charset="-122"/>
                <a:ea typeface="Noto Sans SC" panose="020B0200000000000000" charset="-122"/>
              </a:rPr>
              <a:t>存量机制电量比例</a:t>
            </a:r>
            <a:endParaRPr sz="1250" b="0">
              <a:solidFill>
                <a:srgbClr val="2B3338"/>
              </a:solidFill>
              <a:latin typeface="Noto Sans SC" panose="020B0200000000000000" charset="-122"/>
              <a:ea typeface="Noto Sans SC" panose="020B0200000000000000" charset="-122"/>
            </a:endParaRPr>
          </a:p>
        </p:txBody>
      </p:sp>
      <p:sp>
        <p:nvSpPr>
          <p:cNvPr id="17" name="Rounded Rectangle 16"/>
          <p:cNvSpPr/>
          <p:nvPr/>
        </p:nvSpPr>
        <p:spPr>
          <a:xfrm>
            <a:off x="3858768" y="6086246"/>
            <a:ext cx="3246120" cy="369417"/>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73152" tIns="36576" rIns="54864" bIns="36576" rtlCol="0" anchor="ctr"/>
          <a:lstStyle/>
          <a:p>
            <a:pPr algn="ctr">
              <a:spcAft>
                <a:spcPts val="400"/>
              </a:spcAft>
            </a:pPr>
            <a:r>
              <a:rPr sz="1250" b="1">
                <a:solidFill>
                  <a:srgbClr val="1F5A4D"/>
                </a:solidFill>
                <a:latin typeface="Noto Sans SC" panose="020B0200000000000000" charset="-122"/>
                <a:ea typeface="Noto Sans SC" panose="020B0200000000000000" charset="-122"/>
              </a:rPr>
              <a:t>不高于90%（户用100%）</a:t>
            </a:r>
            <a:endParaRPr sz="1250" b="1">
              <a:solidFill>
                <a:srgbClr val="1F5A4D"/>
              </a:solidFill>
              <a:latin typeface="Noto Sans SC" panose="020B0200000000000000" charset="-122"/>
              <a:ea typeface="Noto Sans SC" panose="020B0200000000000000" charset="-122"/>
            </a:endParaRPr>
          </a:p>
        </p:txBody>
      </p:sp>
      <p:sp>
        <p:nvSpPr>
          <p:cNvPr id="18" name="Rounded Rectangle 17"/>
          <p:cNvSpPr/>
          <p:nvPr/>
        </p:nvSpPr>
        <p:spPr>
          <a:xfrm>
            <a:off x="7306055" y="1517904"/>
            <a:ext cx="4288536" cy="4937759"/>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06055" y="1517904"/>
            <a:ext cx="77724" cy="4937759"/>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cales.png"/>
          <p:cNvPicPr>
            <a:picLocks noChangeAspect="1"/>
          </p:cNvPicPr>
          <p:nvPr/>
        </p:nvPicPr>
        <p:blipFill>
          <a:blip r:embed="rId1"/>
          <a:stretch>
            <a:fillRect/>
          </a:stretch>
        </p:blipFill>
        <p:spPr>
          <a:xfrm>
            <a:off x="7525511" y="1682495"/>
            <a:ext cx="365760" cy="365760"/>
          </a:xfrm>
          <a:prstGeom prst="rect">
            <a:avLst/>
          </a:prstGeom>
        </p:spPr>
      </p:pic>
      <p:sp>
        <p:nvSpPr>
          <p:cNvPr id="21" name="TextBox 20"/>
          <p:cNvSpPr txBox="1"/>
          <p:nvPr/>
        </p:nvSpPr>
        <p:spPr>
          <a:xfrm>
            <a:off x="7982711" y="1664207"/>
            <a:ext cx="3502152" cy="402336"/>
          </a:xfrm>
          <a:prstGeom prst="rect">
            <a:avLst/>
          </a:prstGeom>
          <a:noFill/>
        </p:spPr>
        <p:txBody>
          <a:bodyPr wrap="square" lIns="0" tIns="0" bIns="36576" anchor="ctr">
            <a:spAutoFit/>
          </a:bodyPr>
          <a:lstStyle/>
          <a:p>
            <a:pPr algn="l">
              <a:spcAft>
                <a:spcPts val="400"/>
              </a:spcAft>
            </a:pPr>
            <a:r>
              <a:rPr sz="1900" b="1">
                <a:solidFill>
                  <a:srgbClr val="2E7D6B"/>
                </a:solidFill>
                <a:latin typeface="Noto Sans SC" panose="020B0200000000000000" charset="-122"/>
                <a:ea typeface="Noto Sans SC" panose="020B0200000000000000" charset="-122"/>
              </a:rPr>
              <a:t>分析</a:t>
            </a:r>
            <a:endParaRPr sz="1900" b="1">
              <a:solidFill>
                <a:srgbClr val="2E7D6B"/>
              </a:solidFill>
              <a:latin typeface="Noto Sans SC" panose="020B0200000000000000" charset="-122"/>
              <a:ea typeface="Noto Sans SC" panose="020B0200000000000000" charset="-122"/>
            </a:endParaRPr>
          </a:p>
        </p:txBody>
      </p:sp>
      <p:sp>
        <p:nvSpPr>
          <p:cNvPr id="22" name="TextBox 21"/>
          <p:cNvSpPr txBox="1"/>
          <p:nvPr/>
        </p:nvSpPr>
        <p:spPr>
          <a:xfrm>
            <a:off x="7562088" y="2176272"/>
            <a:ext cx="3886200" cy="3519805"/>
          </a:xfrm>
          <a:prstGeom prst="rect">
            <a:avLst/>
          </a:prstGeom>
          <a:noFill/>
        </p:spPr>
        <p:txBody>
          <a:bodyPr wrap="square">
            <a:spAutoFit/>
          </a:bodyPr>
          <a:lstStyle/>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存量锁定机制电价</a:t>
            </a:r>
            <a:r>
              <a:rPr sz="1500" b="1">
                <a:solidFill>
                  <a:srgbClr val="1F5A4D"/>
                </a:solidFill>
                <a:latin typeface="Noto Sans SC" panose="020B0200000000000000" charset="-122"/>
                <a:ea typeface="Noto Sans SC" panose="020B0200000000000000" charset="-122"/>
              </a:rPr>
              <a:t>0.391元/千瓦时</a:t>
            </a:r>
            <a:r>
              <a:rPr sz="1500" b="0">
                <a:solidFill>
                  <a:srgbClr val="4B5563"/>
                </a:solidFill>
                <a:latin typeface="Noto Sans SC" panose="020B0200000000000000" charset="-122"/>
                <a:ea typeface="Noto Sans SC" panose="020B0200000000000000" charset="-122"/>
              </a:rPr>
              <a:t>，资本金内部收益率</a:t>
            </a:r>
            <a:r>
              <a:rPr sz="1500" b="1">
                <a:solidFill>
                  <a:srgbClr val="1F5A4D"/>
                </a:solidFill>
                <a:latin typeface="Noto Sans SC" panose="020B0200000000000000" charset="-122"/>
                <a:ea typeface="Noto Sans SC" panose="020B0200000000000000" charset="-122"/>
              </a:rPr>
              <a:t>8.53%</a:t>
            </a:r>
            <a:r>
              <a:rPr lang="zh-CN" sz="1500" b="1">
                <a:solidFill>
                  <a:srgbClr val="1F5A4D"/>
                </a:solidFill>
                <a:latin typeface="Noto Sans SC" panose="020B0200000000000000" charset="-122"/>
                <a:ea typeface="Noto Sans SC" panose="020B0200000000000000" charset="-122"/>
              </a:rPr>
              <a:t>。</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增量经竞价：0.360→</a:t>
            </a:r>
            <a:r>
              <a:rPr sz="1500" b="1">
                <a:solidFill>
                  <a:srgbClr val="1F5A4D"/>
                </a:solidFill>
                <a:latin typeface="Noto Sans SC" panose="020B0200000000000000" charset="-122"/>
                <a:ea typeface="Noto Sans SC" panose="020B0200000000000000" charset="-122"/>
              </a:rPr>
              <a:t>6.24%</a:t>
            </a:r>
            <a:r>
              <a:rPr sz="1500" b="0">
                <a:solidFill>
                  <a:srgbClr val="4B5563"/>
                </a:solidFill>
                <a:latin typeface="Noto Sans SC" panose="020B0200000000000000" charset="-122"/>
                <a:ea typeface="Noto Sans SC" panose="020B0200000000000000" charset="-122"/>
              </a:rPr>
              <a:t>；0.320→</a:t>
            </a:r>
            <a:r>
              <a:rPr sz="1500" b="1">
                <a:solidFill>
                  <a:srgbClr val="1F5A4D"/>
                </a:solidFill>
                <a:latin typeface="Noto Sans SC" panose="020B0200000000000000" charset="-122"/>
                <a:ea typeface="Noto Sans SC" panose="020B0200000000000000" charset="-122"/>
              </a:rPr>
              <a:t>3.32%</a:t>
            </a:r>
            <a:r>
              <a:rPr sz="1500" b="0">
                <a:solidFill>
                  <a:srgbClr val="4B5563"/>
                </a:solidFill>
                <a:latin typeface="Noto Sans SC" panose="020B0200000000000000" charset="-122"/>
                <a:ea typeface="Noto Sans SC" panose="020B0200000000000000" charset="-122"/>
              </a:rPr>
              <a:t>；0.280→</a:t>
            </a:r>
            <a:r>
              <a:rPr sz="1500" b="1">
                <a:solidFill>
                  <a:srgbClr val="1F5A4D"/>
                </a:solidFill>
                <a:latin typeface="Noto Sans SC" panose="020B0200000000000000" charset="-122"/>
                <a:ea typeface="Noto Sans SC" panose="020B0200000000000000" charset="-122"/>
              </a:rPr>
              <a:t>0.11%</a:t>
            </a:r>
            <a:r>
              <a:rPr sz="1500" b="0">
                <a:solidFill>
                  <a:srgbClr val="4B5563"/>
                </a:solidFill>
                <a:latin typeface="Noto Sans SC" panose="020B0200000000000000" charset="-122"/>
                <a:ea typeface="Noto Sans SC" panose="020B0200000000000000" charset="-122"/>
              </a:rPr>
              <a:t>；0.250→</a:t>
            </a:r>
            <a:r>
              <a:rPr sz="1500" b="1">
                <a:solidFill>
                  <a:srgbClr val="1F5A4D"/>
                </a:solidFill>
                <a:latin typeface="Noto Sans SC" panose="020B0200000000000000" charset="-122"/>
                <a:ea typeface="Noto Sans SC" panose="020B0200000000000000" charset="-122"/>
              </a:rPr>
              <a:t>−2.62%</a:t>
            </a:r>
            <a:endParaRPr sz="1500" b="1">
              <a:solidFill>
                <a:srgbClr val="1F5A4D"/>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资本金内部收益率</a:t>
            </a:r>
            <a:r>
              <a:rPr sz="1500" b="1">
                <a:solidFill>
                  <a:srgbClr val="1F5A4D"/>
                </a:solidFill>
                <a:latin typeface="Noto Sans SC" panose="020B0200000000000000" charset="-122"/>
                <a:ea typeface="Noto Sans SC" panose="020B0200000000000000" charset="-122"/>
              </a:rPr>
              <a:t>转零点约0.281元/千瓦时</a:t>
            </a:r>
            <a:r>
              <a:rPr sz="1500" b="0">
                <a:solidFill>
                  <a:srgbClr val="4B5563"/>
                </a:solidFill>
                <a:latin typeface="Noto Sans SC" panose="020B0200000000000000" charset="-122"/>
                <a:ea typeface="Noto Sans SC" panose="020B0200000000000000" charset="-122"/>
              </a:rPr>
              <a:t>，逼近竞价区间下限0.250元</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1">
                <a:solidFill>
                  <a:srgbClr val="1F5A4D"/>
                </a:solidFill>
                <a:latin typeface="Noto Sans SC" panose="020B0200000000000000" charset="-122"/>
                <a:ea typeface="Noto Sans SC" panose="020B0200000000000000" charset="-122"/>
              </a:rPr>
              <a:t>可持续报价区间0.28—0.36元/千瓦时</a:t>
            </a:r>
            <a:r>
              <a:rPr sz="1500" b="0">
                <a:solidFill>
                  <a:srgbClr val="4B5563"/>
                </a:solidFill>
                <a:latin typeface="Noto Sans SC" panose="020B0200000000000000" charset="-122"/>
                <a:ea typeface="Noto Sans SC" panose="020B0200000000000000" charset="-122"/>
              </a:rPr>
              <a:t>；机制电量总规模按不低于申报总规模125%设定</a:t>
            </a:r>
            <a:endParaRPr sz="1500" b="0">
              <a:solidFill>
                <a:srgbClr val="4B5563"/>
              </a:solidFill>
              <a:latin typeface="Noto Sans SC" panose="020B0200000000000000" charset="-122"/>
              <a:ea typeface="Noto Sans SC" panose="020B0200000000000000" charset="-122"/>
            </a:endParaRPr>
          </a:p>
          <a:p>
            <a:pPr algn="l">
              <a:lnSpc>
                <a:spcPct val="105000"/>
              </a:lnSpc>
              <a:spcAft>
                <a:spcPts val="1500"/>
              </a:spcAft>
            </a:pPr>
            <a:r>
              <a:rPr sz="1500">
                <a:solidFill>
                  <a:srgbClr val="2E7D6B"/>
                </a:solidFill>
                <a:latin typeface="Noto Sans SC" panose="020B0200000000000000" charset="-122"/>
                <a:ea typeface="Noto Sans SC" panose="020B0200000000000000" charset="-122"/>
              </a:rPr>
              <a:t>▪ </a:t>
            </a:r>
            <a:r>
              <a:rPr sz="1500" b="0">
                <a:solidFill>
                  <a:srgbClr val="4B5563"/>
                </a:solidFill>
                <a:latin typeface="Noto Sans SC" panose="020B0200000000000000" charset="-122"/>
                <a:ea typeface="Noto Sans SC" panose="020B0200000000000000" charset="-122"/>
              </a:rPr>
              <a:t>测算口径：以泰州海陵</a:t>
            </a:r>
            <a:r>
              <a:rPr lang="zh-CN" sz="1500" b="0">
                <a:solidFill>
                  <a:srgbClr val="4B5563"/>
                </a:solidFill>
                <a:latin typeface="Noto Sans SC" panose="020B0200000000000000" charset="-122"/>
                <a:ea typeface="Noto Sans SC" panose="020B0200000000000000" charset="-122"/>
              </a:rPr>
              <a:t>等</a:t>
            </a:r>
            <a:r>
              <a:rPr sz="1500" b="0">
                <a:solidFill>
                  <a:srgbClr val="4B5563"/>
                </a:solidFill>
                <a:latin typeface="Noto Sans SC" panose="020B0200000000000000" charset="-122"/>
                <a:ea typeface="Noto Sans SC" panose="020B0200000000000000" charset="-122"/>
              </a:rPr>
              <a:t>项目参数为基础，按存量机制电价0.391元/千瓦时推算</a:t>
            </a:r>
            <a:endParaRPr sz="1500" b="0">
              <a:solidFill>
                <a:srgbClr val="4B5563"/>
              </a:solidFill>
              <a:latin typeface="Noto Sans SC" panose="020B0200000000000000" charset="-122"/>
              <a:ea typeface="Noto Sans SC" panose="020B0200000000000000" charset="-122"/>
            </a:endParaRPr>
          </a:p>
        </p:txBody>
      </p:sp>
      <p:sp>
        <p:nvSpPr>
          <p:cNvPr id="23" name="TextBox 22">
            <a:hlinkClick r:id="rId2" action="ppaction://hlinksldjump"/>
          </p:cNvPr>
          <p:cNvSpPr txBox="1"/>
          <p:nvPr/>
        </p:nvSpPr>
        <p:spPr>
          <a:xfrm>
            <a:off x="11238992" y="274320"/>
            <a:ext cx="309880" cy="260350"/>
          </a:xfrm>
          <a:prstGeom prst="rect">
            <a:avLst/>
          </a:prstGeom>
          <a:noFill/>
        </p:spPr>
        <p:txBody>
          <a:bodyPr wrap="none">
            <a:spAutoFit/>
          </a:bodyPr>
          <a:lstStyle/>
          <a:p>
            <a:pPr algn="r"/>
            <a:endParaRPr sz="1100">
              <a:solidFill>
                <a:srgbClr val="2E7D6B"/>
              </a:solidFill>
              <a:latin typeface="Noto Sans SC" panose="020B0200000000000000" charset="-122"/>
              <a:ea typeface="Noto Sans SC" panose="020B0200000000000000" charset="-122"/>
            </a:endParaRPr>
          </a:p>
        </p:txBody>
      </p:sp>
      <p:sp>
        <p:nvSpPr>
          <p:cNvPr id="25" name="文本框 24"/>
          <p:cNvSpPr txBox="1"/>
          <p:nvPr/>
        </p:nvSpPr>
        <p:spPr>
          <a:xfrm>
            <a:off x="822960" y="170815"/>
            <a:ext cx="11137900" cy="613410"/>
          </a:xfrm>
          <a:prstGeom prst="rect">
            <a:avLst/>
          </a:prstGeom>
          <a:noFill/>
        </p:spPr>
        <p:txBody>
          <a:bodyPr wrap="square" rtlCol="0">
            <a:noAutofit/>
          </a:bodyPr>
          <a:lstStyle/>
          <a:p>
            <a:pPr algn="l">
              <a:buClrTx/>
              <a:buSzTx/>
              <a:buFontTx/>
              <a:buNone/>
            </a:pPr>
            <a:r>
              <a:rPr lang="zh-CN" sz="2800" b="1">
                <a:solidFill>
                  <a:srgbClr val="1F5A4D"/>
                </a:solidFill>
                <a:latin typeface="微软雅黑" panose="020B0503020204020204" pitchFamily="34" charset="-122"/>
                <a:ea typeface="微软雅黑" panose="020B0503020204020204" pitchFamily="34" charset="-122"/>
                <a:sym typeface="+mn-ea"/>
              </a:rPr>
              <a:t>5 典型项目经济效益测算与案例分析</a:t>
            </a:r>
            <a:r>
              <a:rPr lang="en-US" altLang="zh-CN" sz="2800" b="1">
                <a:solidFill>
                  <a:srgbClr val="1F5A4D"/>
                </a:solidFill>
                <a:latin typeface="微软雅黑" panose="020B0503020204020204" pitchFamily="34" charset="-122"/>
                <a:ea typeface="微软雅黑" panose="020B0503020204020204" pitchFamily="34" charset="-122"/>
                <a:sym typeface="+mn-ea"/>
              </a:rPr>
              <a:t>    </a:t>
            </a:r>
            <a:r>
              <a:rPr lang="zh-CN" altLang="en-US" sz="2200" b="1">
                <a:solidFill>
                  <a:srgbClr val="029694"/>
                </a:solidFill>
                <a:latin typeface="Noto Sans SC" panose="020B0200000000000000" charset="-122"/>
                <a:ea typeface="Noto Sans SC" panose="020B0200000000000000" charset="-122"/>
                <a:cs typeface="Noto Sans SC" panose="020B0200000000000000" charset="-122"/>
                <a:sym typeface="+mn-ea"/>
              </a:rPr>
              <a:t>机制电价情景与收益拐点</a:t>
            </a:r>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a:p>
            <a:pPr algn="l">
              <a:buClrTx/>
              <a:buSzTx/>
              <a:buFontTx/>
            </a:pPr>
            <a:endParaRPr lang="en-US" sz="2200" b="1">
              <a:solidFill>
                <a:schemeClr val="accent3"/>
              </a:solidFill>
              <a:latin typeface="Noto Sans SC" panose="020B0200000000000000" charset="-122"/>
              <a:ea typeface="Noto Sans SC" panose="020B0200000000000000" charset="-122"/>
              <a:cs typeface="Noto Sans SC" panose="020B0200000000000000" charset="-122"/>
              <a:sym typeface="+mn-ea"/>
            </a:endParaRPr>
          </a:p>
        </p:txBody>
      </p:sp>
      <p:pic>
        <p:nvPicPr>
          <p:cNvPr id="2" name="Picture 25" descr="p24_price.png"/>
          <p:cNvPicPr>
            <a:picLocks noChangeAspect="1"/>
          </p:cNvPicPr>
          <p:nvPr/>
        </p:nvPicPr>
        <p:blipFill>
          <a:blip r:embed="rId3"/>
          <a:stretch>
            <a:fillRect/>
          </a:stretch>
        </p:blipFill>
        <p:spPr>
          <a:xfrm>
            <a:off x="612000" y="1512254"/>
            <a:ext cx="6480000" cy="2555492"/>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hlinkClick r:id="rId1" action="ppaction://hlinksldjump"/>
          </p:cNvPr>
          <p:cNvSpPr/>
          <p:nvPr>
            <p:custDataLst>
              <p:tags r:id="rId2"/>
            </p:custDataLst>
          </p:nvPr>
        </p:nvSpPr>
        <p:spPr>
          <a:xfrm>
            <a:off x="1975485" y="2843530"/>
            <a:ext cx="1284605" cy="1171575"/>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4800" b="1" i="0">
                <a:solidFill>
                  <a:srgbClr val="FFFFFF"/>
                </a:solidFill>
                <a:latin typeface="微软雅黑" panose="020B0503020204020204" pitchFamily="34" charset="-122"/>
                <a:ea typeface="微软雅黑" panose="020B0503020204020204" pitchFamily="34" charset="-122"/>
              </a:rPr>
              <a:t>6</a:t>
            </a:r>
            <a:endParaRPr lang="en-US" sz="4800" b="1" i="0">
              <a:solidFill>
                <a:srgbClr val="FFFFFF"/>
              </a:solidFill>
              <a:latin typeface="微软雅黑" panose="020B0503020204020204" pitchFamily="34" charset="-122"/>
              <a:ea typeface="微软雅黑" panose="020B0503020204020204" pitchFamily="34" charset="-122"/>
            </a:endParaRPr>
          </a:p>
        </p:txBody>
      </p:sp>
      <p:sp>
        <p:nvSpPr>
          <p:cNvPr id="5" name="TextBox 4">
            <a:hlinkClick r:id="rId1" action="ppaction://hlinksldjump"/>
          </p:cNvPr>
          <p:cNvSpPr txBox="1"/>
          <p:nvPr>
            <p:custDataLst>
              <p:tags r:id="rId3"/>
            </p:custDataLst>
          </p:nvPr>
        </p:nvSpPr>
        <p:spPr>
          <a:xfrm>
            <a:off x="3613150" y="3182145"/>
            <a:ext cx="7429500" cy="492443"/>
          </a:xfrm>
          <a:prstGeom prst="rect">
            <a:avLst/>
          </a:prstGeom>
          <a:noFill/>
        </p:spPr>
        <p:txBody>
          <a:bodyPr wrap="square" lIns="0" tIns="0" rIns="0" bIns="0" anchor="ctr">
            <a:spAutoFit/>
          </a:bodyPr>
          <a:lstStyle/>
          <a:p>
            <a:pPr algn="l"/>
            <a:r>
              <a:rPr lang="zh-CN" altLang="en-US" sz="3200" b="1">
                <a:solidFill>
                  <a:srgbClr val="2E7D6B"/>
                </a:solidFill>
                <a:latin typeface="微软雅黑" panose="020B0503020204020204" pitchFamily="34" charset="-122"/>
                <a:ea typeface="微软雅黑" panose="020B0503020204020204" pitchFamily="34" charset="-122"/>
                <a:sym typeface="+mn-ea"/>
              </a:rPr>
              <a:t>新兴要素对电力市场的综合影响</a:t>
            </a:r>
            <a:endParaRPr lang="zh-CN" sz="3200" b="1">
              <a:solidFill>
                <a:srgbClr val="2E7D6B"/>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sz="2100" b="0">
                <a:solidFill>
                  <a:srgbClr val="1F5A4D"/>
                </a:solidFill>
                <a:latin typeface="微软雅黑" panose="020B0503020204020204" pitchFamily="34" charset="-122"/>
                <a:ea typeface="微软雅黑" panose="020B0503020204020204" pitchFamily="34" charset="-122"/>
              </a:rPr>
              <a:t>供给结构翻转，平衡矛盾由总量转向时段，运行约束集中于配电网</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TextBox 3"/>
          <p:cNvSpPr txBox="1"/>
          <p:nvPr/>
        </p:nvSpPr>
        <p:spPr>
          <a:xfrm>
            <a:off x="822960" y="1091502"/>
            <a:ext cx="10607040" cy="212725"/>
          </a:xfrm>
          <a:prstGeom prst="rect">
            <a:avLst/>
          </a:prstGeom>
          <a:noFill/>
        </p:spPr>
        <p:txBody>
          <a:bodyPr wrap="square" tIns="0" rIns="182880" bIns="36576" anchor="ctr">
            <a:spAutoFit/>
          </a:bodyPr>
          <a:lstStyle/>
          <a:p>
            <a:pPr algn="r">
              <a:spcAft>
                <a:spcPts val="400"/>
              </a:spcAft>
            </a:pPr>
            <a:endParaRPr sz="1150" b="0">
              <a:solidFill>
                <a:srgbClr val="4B5563"/>
              </a:solidFill>
              <a:latin typeface="Noto Sans SC" panose="020B0200000000000000" charset="-122"/>
              <a:ea typeface="Noto Sans SC" panose="020B0200000000000000" charset="-122"/>
            </a:endParaRPr>
          </a:p>
        </p:txBody>
      </p:sp>
      <p:sp>
        <p:nvSpPr>
          <p:cNvPr id="5" name="Rounded Rectangle 4"/>
          <p:cNvSpPr/>
          <p:nvPr>
            <p:custDataLst>
              <p:tags r:id="rId1"/>
            </p:custDataLst>
          </p:nvPr>
        </p:nvSpPr>
        <p:spPr>
          <a:xfrm>
            <a:off x="612648" y="1627632"/>
            <a:ext cx="5399532" cy="2304288"/>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custDataLst>
              <p:tags r:id="rId2"/>
            </p:custDataLst>
          </p:nvPr>
        </p:nvSpPr>
        <p:spPr>
          <a:xfrm>
            <a:off x="612648" y="1627632"/>
            <a:ext cx="77724" cy="2304288"/>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rt.png"/>
          <p:cNvPicPr>
            <a:picLocks noChangeAspect="1"/>
          </p:cNvPicPr>
          <p:nvPr>
            <p:custDataLst>
              <p:tags r:id="rId3"/>
            </p:custDataLst>
          </p:nvPr>
        </p:nvPicPr>
        <p:blipFill>
          <a:blip r:embed="rId4"/>
          <a:stretch>
            <a:fillRect/>
          </a:stretch>
        </p:blipFill>
        <p:spPr>
          <a:xfrm>
            <a:off x="832104" y="1792224"/>
            <a:ext cx="365760" cy="365760"/>
          </a:xfrm>
          <a:prstGeom prst="rect">
            <a:avLst/>
          </a:prstGeom>
        </p:spPr>
      </p:pic>
      <p:sp>
        <p:nvSpPr>
          <p:cNvPr id="8" name="TextBox 7"/>
          <p:cNvSpPr txBox="1"/>
          <p:nvPr>
            <p:custDataLst>
              <p:tags r:id="rId5"/>
            </p:custDataLst>
          </p:nvPr>
        </p:nvSpPr>
        <p:spPr>
          <a:xfrm>
            <a:off x="1289304" y="1773936"/>
            <a:ext cx="4613148" cy="402336"/>
          </a:xfrm>
          <a:prstGeom prst="rect">
            <a:avLst/>
          </a:prstGeom>
          <a:noFill/>
        </p:spPr>
        <p:txBody>
          <a:bodyPr wrap="square" lIns="0" tIns="0" bIns="36576" anchor="ctr">
            <a:spAutoFit/>
          </a:bodyPr>
          <a:lstStyle/>
          <a:p>
            <a:pPr algn="l">
              <a:spcAft>
                <a:spcPts val="400"/>
              </a:spcAft>
            </a:pPr>
            <a:r>
              <a:rPr sz="1800" b="1">
                <a:solidFill>
                  <a:srgbClr val="2E7D6B"/>
                </a:solidFill>
                <a:latin typeface="Noto Sans SC" panose="020B0200000000000000" charset="-122"/>
                <a:ea typeface="Noto Sans SC" panose="020B0200000000000000" charset="-122"/>
              </a:rPr>
              <a:t>供给结构翻转</a:t>
            </a:r>
            <a:endParaRPr sz="1800" b="1">
              <a:solidFill>
                <a:srgbClr val="2E7D6B"/>
              </a:solidFill>
              <a:latin typeface="Noto Sans SC" panose="020B0200000000000000" charset="-122"/>
              <a:ea typeface="Noto Sans SC" panose="020B0200000000000000" charset="-122"/>
            </a:endParaRPr>
          </a:p>
        </p:txBody>
      </p:sp>
      <p:sp>
        <p:nvSpPr>
          <p:cNvPr id="9" name="TextBox 8"/>
          <p:cNvSpPr txBox="1"/>
          <p:nvPr>
            <p:custDataLst>
              <p:tags r:id="rId6"/>
            </p:custDataLst>
          </p:nvPr>
        </p:nvSpPr>
        <p:spPr>
          <a:xfrm>
            <a:off x="868680" y="2286000"/>
            <a:ext cx="4997196" cy="1536192"/>
          </a:xfrm>
          <a:prstGeom prst="rect">
            <a:avLst/>
          </a:prstGeom>
          <a:noFill/>
        </p:spPr>
        <p:txBody>
          <a:bodyPr wrap="square">
            <a:spAutoFit/>
          </a:bodyPr>
          <a:lstStyle/>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分布式光伏以</a:t>
            </a:r>
            <a:r>
              <a:rPr sz="1400" b="1">
                <a:solidFill>
                  <a:srgbClr val="1F5A4D"/>
                </a:solidFill>
                <a:latin typeface="Noto Sans SC" panose="020B0200000000000000" charset="-122"/>
                <a:ea typeface="Noto Sans SC" panose="020B0200000000000000" charset="-122"/>
              </a:rPr>
              <a:t>7001万千瓦、占50.5%</a:t>
            </a:r>
            <a:r>
              <a:rPr sz="1400" b="0">
                <a:solidFill>
                  <a:srgbClr val="4B5563"/>
                </a:solidFill>
                <a:latin typeface="Noto Sans SC" panose="020B0200000000000000" charset="-122"/>
                <a:ea typeface="Noto Sans SC" panose="020B0200000000000000" charset="-122"/>
              </a:rPr>
              <a:t>取代风电成为第一大品种（2026年8月末）</a:t>
            </a:r>
            <a:endParaRPr sz="1400" b="0">
              <a:solidFill>
                <a:srgbClr val="4B5563"/>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电源接入由电源侧转为</a:t>
            </a:r>
            <a:r>
              <a:rPr sz="1400" b="1">
                <a:solidFill>
                  <a:srgbClr val="1F5A4D"/>
                </a:solidFill>
                <a:latin typeface="Noto Sans SC" panose="020B0200000000000000" charset="-122"/>
                <a:ea typeface="Noto Sans SC" panose="020B0200000000000000" charset="-122"/>
              </a:rPr>
              <a:t>用户侧</a:t>
            </a:r>
            <a:r>
              <a:rPr sz="1400" b="0">
                <a:solidFill>
                  <a:srgbClr val="4B5563"/>
                </a:solidFill>
                <a:latin typeface="Noto Sans SC" panose="020B0200000000000000" charset="-122"/>
                <a:ea typeface="Noto Sans SC" panose="020B0200000000000000" charset="-122"/>
              </a:rPr>
              <a:t>；2021年以来风电仅增270万千瓦，太阳能新增6026万千瓦</a:t>
            </a:r>
            <a:endParaRPr sz="1400" b="0">
              <a:solidFill>
                <a:srgbClr val="4B5563"/>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新能源发电量占比升至23.0%，宿迁52.8%、淮安49.3%</a:t>
            </a:r>
            <a:endParaRPr sz="1400" b="0">
              <a:solidFill>
                <a:srgbClr val="4B5563"/>
              </a:solidFill>
              <a:latin typeface="Noto Sans SC" panose="020B0200000000000000" charset="-122"/>
              <a:ea typeface="Noto Sans SC" panose="020B0200000000000000" charset="-122"/>
            </a:endParaRPr>
          </a:p>
        </p:txBody>
      </p:sp>
      <p:sp>
        <p:nvSpPr>
          <p:cNvPr id="10" name="Rounded Rectangle 9"/>
          <p:cNvSpPr/>
          <p:nvPr>
            <p:custDataLst>
              <p:tags r:id="rId7"/>
            </p:custDataLst>
          </p:nvPr>
        </p:nvSpPr>
        <p:spPr>
          <a:xfrm>
            <a:off x="6195060" y="1627632"/>
            <a:ext cx="5399532" cy="2304288"/>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custDataLst>
              <p:tags r:id="rId8"/>
            </p:custDataLst>
          </p:nvPr>
        </p:nvSpPr>
        <p:spPr>
          <a:xfrm>
            <a:off x="6195060" y="1627632"/>
            <a:ext cx="77724" cy="2304288"/>
          </a:xfrm>
          <a:prstGeom prst="roundRect">
            <a:avLst>
              <a:gd name="adj"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ap.png"/>
          <p:cNvPicPr>
            <a:picLocks noChangeAspect="1"/>
          </p:cNvPicPr>
          <p:nvPr>
            <p:custDataLst>
              <p:tags r:id="rId9"/>
            </p:custDataLst>
          </p:nvPr>
        </p:nvPicPr>
        <p:blipFill>
          <a:blip r:embed="rId10"/>
          <a:stretch>
            <a:fillRect/>
          </a:stretch>
        </p:blipFill>
        <p:spPr>
          <a:xfrm>
            <a:off x="6414516" y="1792224"/>
            <a:ext cx="365760" cy="365760"/>
          </a:xfrm>
          <a:prstGeom prst="rect">
            <a:avLst/>
          </a:prstGeom>
        </p:spPr>
      </p:pic>
      <p:sp>
        <p:nvSpPr>
          <p:cNvPr id="13" name="TextBox 12"/>
          <p:cNvSpPr txBox="1"/>
          <p:nvPr>
            <p:custDataLst>
              <p:tags r:id="rId11"/>
            </p:custDataLst>
          </p:nvPr>
        </p:nvSpPr>
        <p:spPr>
          <a:xfrm>
            <a:off x="6871716" y="1773936"/>
            <a:ext cx="4613148" cy="402336"/>
          </a:xfrm>
          <a:prstGeom prst="rect">
            <a:avLst/>
          </a:prstGeom>
          <a:noFill/>
        </p:spPr>
        <p:txBody>
          <a:bodyPr wrap="square" lIns="0" tIns="0" bIns="36576" anchor="ctr">
            <a:spAutoFit/>
          </a:bodyPr>
          <a:lstStyle/>
          <a:p>
            <a:pPr algn="l">
              <a:spcAft>
                <a:spcPts val="400"/>
              </a:spcAft>
            </a:pPr>
            <a:r>
              <a:rPr sz="1800" b="1">
                <a:solidFill>
                  <a:srgbClr val="0070C0"/>
                </a:solidFill>
                <a:latin typeface="Noto Sans SC" panose="020B0200000000000000" charset="-122"/>
                <a:ea typeface="Noto Sans SC" panose="020B0200000000000000" charset="-122"/>
              </a:rPr>
              <a:t>资源与负荷空间分离</a:t>
            </a:r>
            <a:endParaRPr sz="1800" b="1">
              <a:solidFill>
                <a:srgbClr val="0070C0"/>
              </a:solidFill>
              <a:latin typeface="Noto Sans SC" panose="020B0200000000000000" charset="-122"/>
              <a:ea typeface="Noto Sans SC" panose="020B0200000000000000" charset="-122"/>
            </a:endParaRPr>
          </a:p>
        </p:txBody>
      </p:sp>
      <p:sp>
        <p:nvSpPr>
          <p:cNvPr id="14" name="TextBox 13"/>
          <p:cNvSpPr txBox="1"/>
          <p:nvPr>
            <p:custDataLst>
              <p:tags r:id="rId12"/>
            </p:custDataLst>
          </p:nvPr>
        </p:nvSpPr>
        <p:spPr>
          <a:xfrm>
            <a:off x="6455537" y="2226310"/>
            <a:ext cx="4997196" cy="1527175"/>
          </a:xfrm>
          <a:prstGeom prst="rect">
            <a:avLst/>
          </a:prstGeom>
          <a:noFill/>
        </p:spPr>
        <p:txBody>
          <a:bodyPr wrap="square">
            <a:spAutoFit/>
          </a:bodyPr>
          <a:lstStyle/>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a:solidFill>
                  <a:srgbClr val="4B5563"/>
                </a:solidFill>
                <a:latin typeface="Noto Sans SC" panose="020B0200000000000000" charset="-122"/>
                <a:ea typeface="Noto Sans SC" panose="020B0200000000000000" charset="-122"/>
                <a:sym typeface="+mn-ea"/>
              </a:rPr>
              <a:t>苏南新能源装机占</a:t>
            </a:r>
            <a:r>
              <a:rPr sz="1400" b="1">
                <a:solidFill>
                  <a:srgbClr val="1F5A4D"/>
                </a:solidFill>
                <a:latin typeface="Noto Sans SC" panose="020B0200000000000000" charset="-122"/>
                <a:ea typeface="Noto Sans SC" panose="020B0200000000000000" charset="-122"/>
                <a:sym typeface="+mn-ea"/>
              </a:rPr>
              <a:t>24.4%</a:t>
            </a:r>
            <a:r>
              <a:rPr sz="1400">
                <a:solidFill>
                  <a:srgbClr val="4B5563"/>
                </a:solidFill>
                <a:latin typeface="Noto Sans SC" panose="020B0200000000000000" charset="-122"/>
                <a:ea typeface="Noto Sans SC" panose="020B0200000000000000" charset="-122"/>
                <a:sym typeface="+mn-ea"/>
              </a:rPr>
              <a:t>、用电占</a:t>
            </a:r>
            <a:r>
              <a:rPr sz="1400" b="1">
                <a:solidFill>
                  <a:srgbClr val="1F5A4D"/>
                </a:solidFill>
                <a:latin typeface="Noto Sans SC" panose="020B0200000000000000" charset="-122"/>
                <a:ea typeface="Noto Sans SC" panose="020B0200000000000000" charset="-122"/>
                <a:sym typeface="+mn-ea"/>
              </a:rPr>
              <a:t>56.1%</a:t>
            </a:r>
            <a:r>
              <a:rPr sz="1400">
                <a:solidFill>
                  <a:srgbClr val="4B5563"/>
                </a:solidFill>
                <a:latin typeface="Noto Sans SC" panose="020B0200000000000000" charset="-122"/>
                <a:ea typeface="Noto Sans SC" panose="020B0200000000000000" charset="-122"/>
                <a:sym typeface="+mn-ea"/>
              </a:rPr>
              <a:t>；苏北装机占</a:t>
            </a:r>
            <a:r>
              <a:rPr sz="1400" b="1">
                <a:solidFill>
                  <a:srgbClr val="1F5A4D"/>
                </a:solidFill>
                <a:latin typeface="Noto Sans SC" panose="020B0200000000000000" charset="-122"/>
                <a:ea typeface="Noto Sans SC" panose="020B0200000000000000" charset="-122"/>
                <a:sym typeface="+mn-ea"/>
              </a:rPr>
              <a:t>47.0%</a:t>
            </a:r>
            <a:r>
              <a:rPr sz="1400">
                <a:solidFill>
                  <a:srgbClr val="4B5563"/>
                </a:solidFill>
                <a:latin typeface="Noto Sans SC" panose="020B0200000000000000" charset="-122"/>
                <a:ea typeface="Noto Sans SC" panose="020B0200000000000000" charset="-122"/>
                <a:sym typeface="+mn-ea"/>
              </a:rPr>
              <a:t>、用电仅</a:t>
            </a:r>
            <a:r>
              <a:rPr sz="1400" b="1">
                <a:solidFill>
                  <a:srgbClr val="1F5A4D"/>
                </a:solidFill>
                <a:latin typeface="Noto Sans SC" panose="020B0200000000000000" charset="-122"/>
                <a:ea typeface="Noto Sans SC" panose="020B0200000000000000" charset="-122"/>
                <a:sym typeface="+mn-ea"/>
              </a:rPr>
              <a:t>25.1%</a:t>
            </a:r>
            <a:endParaRPr sz="1400" b="0">
              <a:solidFill>
                <a:srgbClr val="4B5563"/>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a:solidFill>
                  <a:srgbClr val="4B5563"/>
                </a:solidFill>
                <a:latin typeface="Noto Sans SC" panose="020B0200000000000000" charset="-122"/>
                <a:ea typeface="Noto Sans SC" panose="020B0200000000000000" charset="-122"/>
                <a:sym typeface="+mn-ea"/>
              </a:rPr>
              <a:t>储能落点与新能源装机一致、与负荷相反</a:t>
            </a:r>
            <a:endParaRPr sz="1400" b="0">
              <a:solidFill>
                <a:srgbClr val="4B5563"/>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北电南送过江通道2025年约2500万千瓦、2030年约2800万千瓦</a:t>
            </a:r>
            <a:endParaRPr sz="1400" b="0">
              <a:solidFill>
                <a:srgbClr val="4B5563"/>
              </a:solidFill>
              <a:latin typeface="Noto Sans SC" panose="020B0200000000000000" charset="-122"/>
              <a:ea typeface="Noto Sans SC" panose="020B0200000000000000" charset="-122"/>
            </a:endParaRPr>
          </a:p>
        </p:txBody>
      </p:sp>
      <p:sp>
        <p:nvSpPr>
          <p:cNvPr id="15" name="Rounded Rectangle 14"/>
          <p:cNvSpPr/>
          <p:nvPr>
            <p:custDataLst>
              <p:tags r:id="rId13"/>
            </p:custDataLst>
          </p:nvPr>
        </p:nvSpPr>
        <p:spPr>
          <a:xfrm>
            <a:off x="612648" y="4114800"/>
            <a:ext cx="5399532" cy="2304288"/>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custDataLst>
              <p:tags r:id="rId14"/>
            </p:custDataLst>
          </p:nvPr>
        </p:nvSpPr>
        <p:spPr>
          <a:xfrm>
            <a:off x="612648" y="4114800"/>
            <a:ext cx="77724" cy="2304288"/>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net.png"/>
          <p:cNvPicPr>
            <a:picLocks noChangeAspect="1"/>
          </p:cNvPicPr>
          <p:nvPr>
            <p:custDataLst>
              <p:tags r:id="rId15"/>
            </p:custDataLst>
          </p:nvPr>
        </p:nvPicPr>
        <p:blipFill>
          <a:blip r:embed="rId16"/>
          <a:stretch>
            <a:fillRect/>
          </a:stretch>
        </p:blipFill>
        <p:spPr>
          <a:xfrm>
            <a:off x="832104" y="4279392"/>
            <a:ext cx="365760" cy="365760"/>
          </a:xfrm>
          <a:prstGeom prst="rect">
            <a:avLst/>
          </a:prstGeom>
        </p:spPr>
      </p:pic>
      <p:sp>
        <p:nvSpPr>
          <p:cNvPr id="18" name="TextBox 17"/>
          <p:cNvSpPr txBox="1"/>
          <p:nvPr>
            <p:custDataLst>
              <p:tags r:id="rId17"/>
            </p:custDataLst>
          </p:nvPr>
        </p:nvSpPr>
        <p:spPr>
          <a:xfrm>
            <a:off x="1289304" y="4261104"/>
            <a:ext cx="4613148" cy="402336"/>
          </a:xfrm>
          <a:prstGeom prst="rect">
            <a:avLst/>
          </a:prstGeom>
          <a:noFill/>
        </p:spPr>
        <p:txBody>
          <a:bodyPr wrap="square" lIns="0" tIns="0" bIns="36576" anchor="ctr">
            <a:spAutoFit/>
          </a:bodyPr>
          <a:lstStyle/>
          <a:p>
            <a:pPr algn="l">
              <a:spcAft>
                <a:spcPts val="400"/>
              </a:spcAft>
            </a:pPr>
            <a:r>
              <a:rPr sz="1800" b="1">
                <a:solidFill>
                  <a:srgbClr val="2E7D6B"/>
                </a:solidFill>
                <a:latin typeface="Noto Sans SC" panose="020B0200000000000000" charset="-122"/>
                <a:ea typeface="Noto Sans SC" panose="020B0200000000000000" charset="-122"/>
              </a:rPr>
              <a:t>平衡矛盾由总量转向时段</a:t>
            </a:r>
            <a:endParaRPr sz="1800" b="1">
              <a:solidFill>
                <a:srgbClr val="2E7D6B"/>
              </a:solidFill>
              <a:latin typeface="Noto Sans SC" panose="020B0200000000000000" charset="-122"/>
              <a:ea typeface="Noto Sans SC" panose="020B0200000000000000" charset="-122"/>
            </a:endParaRPr>
          </a:p>
        </p:txBody>
      </p:sp>
      <p:sp>
        <p:nvSpPr>
          <p:cNvPr id="19" name="TextBox 18"/>
          <p:cNvSpPr txBox="1"/>
          <p:nvPr>
            <p:custDataLst>
              <p:tags r:id="rId18"/>
            </p:custDataLst>
          </p:nvPr>
        </p:nvSpPr>
        <p:spPr>
          <a:xfrm>
            <a:off x="868680" y="4773168"/>
            <a:ext cx="4997196" cy="1536191"/>
          </a:xfrm>
          <a:prstGeom prst="rect">
            <a:avLst/>
          </a:prstGeom>
          <a:noFill/>
        </p:spPr>
        <p:txBody>
          <a:bodyPr wrap="square">
            <a:spAutoFit/>
          </a:bodyPr>
          <a:lstStyle/>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1">
                <a:solidFill>
                  <a:srgbClr val="1F5A4D"/>
                </a:solidFill>
                <a:latin typeface="Noto Sans SC" panose="020B0200000000000000" charset="-122"/>
                <a:ea typeface="Noto Sans SC" panose="020B0200000000000000" charset="-122"/>
              </a:rPr>
              <a:t>月度规律</a:t>
            </a:r>
            <a:r>
              <a:rPr sz="1400" b="0">
                <a:solidFill>
                  <a:srgbClr val="4B5563"/>
                </a:solidFill>
                <a:latin typeface="Noto Sans SC" panose="020B0200000000000000" charset="-122"/>
                <a:ea typeface="Noto Sans SC" panose="020B0200000000000000" charset="-122"/>
              </a:rPr>
              <a:t>：光伏出力高峰与用电负荷高峰同处夏季，2025年7月光伏发电量偏离月均水平</a:t>
            </a:r>
            <a:r>
              <a:rPr sz="1400" b="1">
                <a:solidFill>
                  <a:srgbClr val="1F5A4D"/>
                </a:solidFill>
                <a:latin typeface="Noto Sans SC" panose="020B0200000000000000" charset="-122"/>
                <a:ea typeface="Noto Sans SC" panose="020B0200000000000000" charset="-122"/>
              </a:rPr>
              <a:t>+4.3个百分点</a:t>
            </a:r>
            <a:endParaRPr sz="1400" b="1">
              <a:solidFill>
                <a:srgbClr val="1F5A4D"/>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1">
                <a:solidFill>
                  <a:srgbClr val="1F5A4D"/>
                </a:solidFill>
                <a:latin typeface="Noto Sans SC" panose="020B0200000000000000" charset="-122"/>
                <a:ea typeface="Noto Sans SC" panose="020B0200000000000000" charset="-122"/>
              </a:rPr>
              <a:t>日内规律</a:t>
            </a:r>
            <a:r>
              <a:rPr sz="1400" b="0">
                <a:solidFill>
                  <a:srgbClr val="4B5563"/>
                </a:solidFill>
                <a:latin typeface="Noto Sans SC" panose="020B0200000000000000" charset="-122"/>
                <a:ea typeface="Noto Sans SC" panose="020B0200000000000000" charset="-122"/>
              </a:rPr>
              <a:t>：午间净负荷低谷与晚峰爬坡同日内并存，系统同时受</a:t>
            </a:r>
            <a:r>
              <a:rPr sz="1400" b="1">
                <a:solidFill>
                  <a:srgbClr val="1F5A4D"/>
                </a:solidFill>
                <a:latin typeface="Noto Sans SC" panose="020B0200000000000000" charset="-122"/>
                <a:ea typeface="Noto Sans SC" panose="020B0200000000000000" charset="-122"/>
              </a:rPr>
              <a:t>电量</a:t>
            </a:r>
            <a:r>
              <a:rPr sz="1400" b="0">
                <a:solidFill>
                  <a:srgbClr val="4B5563"/>
                </a:solidFill>
                <a:latin typeface="Noto Sans SC" panose="020B0200000000000000" charset="-122"/>
                <a:ea typeface="Noto Sans SC" panose="020B0200000000000000" charset="-122"/>
              </a:rPr>
              <a:t>与</a:t>
            </a:r>
            <a:r>
              <a:rPr sz="1400" b="1">
                <a:solidFill>
                  <a:srgbClr val="1F5A4D"/>
                </a:solidFill>
                <a:latin typeface="Noto Sans SC" panose="020B0200000000000000" charset="-122"/>
                <a:ea typeface="Noto Sans SC" panose="020B0200000000000000" charset="-122"/>
              </a:rPr>
              <a:t>容量</a:t>
            </a:r>
            <a:r>
              <a:rPr sz="1400" b="0">
                <a:solidFill>
                  <a:srgbClr val="4B5563"/>
                </a:solidFill>
                <a:latin typeface="Noto Sans SC" panose="020B0200000000000000" charset="-122"/>
                <a:ea typeface="Noto Sans SC" panose="020B0200000000000000" charset="-122"/>
              </a:rPr>
              <a:t>约束</a:t>
            </a:r>
            <a:endParaRPr sz="1400" b="0">
              <a:solidFill>
                <a:srgbClr val="4B5563"/>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光伏出力在晚峰归零，净负荷抬升集中而快速</a:t>
            </a:r>
            <a:endParaRPr sz="1400" b="0">
              <a:solidFill>
                <a:srgbClr val="4B5563"/>
              </a:solidFill>
              <a:latin typeface="Noto Sans SC" panose="020B0200000000000000" charset="-122"/>
              <a:ea typeface="Noto Sans SC" panose="020B0200000000000000" charset="-122"/>
            </a:endParaRPr>
          </a:p>
        </p:txBody>
      </p:sp>
      <p:sp>
        <p:nvSpPr>
          <p:cNvPr id="20" name="Rounded Rectangle 19"/>
          <p:cNvSpPr/>
          <p:nvPr>
            <p:custDataLst>
              <p:tags r:id="rId19"/>
            </p:custDataLst>
          </p:nvPr>
        </p:nvSpPr>
        <p:spPr>
          <a:xfrm>
            <a:off x="6195060" y="4114800"/>
            <a:ext cx="5399532" cy="2304288"/>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custDataLst>
              <p:tags r:id="rId20"/>
            </p:custDataLst>
          </p:nvPr>
        </p:nvSpPr>
        <p:spPr>
          <a:xfrm>
            <a:off x="6195060" y="4114800"/>
            <a:ext cx="77724" cy="2304288"/>
          </a:xfrm>
          <a:prstGeom prst="roundRect">
            <a:avLst>
              <a:gd name="adj" fmla="val 0"/>
            </a:avLst>
          </a:prstGeom>
          <a:solidFill>
            <a:srgbClr val="EF8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grid.png"/>
          <p:cNvPicPr>
            <a:picLocks noChangeAspect="1"/>
          </p:cNvPicPr>
          <p:nvPr>
            <p:custDataLst>
              <p:tags r:id="rId21"/>
            </p:custDataLst>
          </p:nvPr>
        </p:nvPicPr>
        <p:blipFill>
          <a:blip r:embed="rId22"/>
          <a:stretch>
            <a:fillRect/>
          </a:stretch>
        </p:blipFill>
        <p:spPr>
          <a:xfrm>
            <a:off x="6414516" y="4279392"/>
            <a:ext cx="365760" cy="365760"/>
          </a:xfrm>
          <a:prstGeom prst="rect">
            <a:avLst/>
          </a:prstGeom>
        </p:spPr>
      </p:pic>
      <p:sp>
        <p:nvSpPr>
          <p:cNvPr id="23" name="TextBox 22"/>
          <p:cNvSpPr txBox="1"/>
          <p:nvPr>
            <p:custDataLst>
              <p:tags r:id="rId23"/>
            </p:custDataLst>
          </p:nvPr>
        </p:nvSpPr>
        <p:spPr>
          <a:xfrm>
            <a:off x="6871716" y="4261104"/>
            <a:ext cx="4613148" cy="402336"/>
          </a:xfrm>
          <a:prstGeom prst="rect">
            <a:avLst/>
          </a:prstGeom>
          <a:noFill/>
        </p:spPr>
        <p:txBody>
          <a:bodyPr wrap="square" lIns="0" tIns="0" bIns="36576" anchor="ctr">
            <a:spAutoFit/>
          </a:bodyPr>
          <a:lstStyle/>
          <a:p>
            <a:pPr algn="l">
              <a:spcAft>
                <a:spcPts val="400"/>
              </a:spcAft>
            </a:pPr>
            <a:r>
              <a:rPr sz="1800" b="1">
                <a:solidFill>
                  <a:srgbClr val="EF8403"/>
                </a:solidFill>
                <a:latin typeface="Noto Sans SC" panose="020B0200000000000000" charset="-122"/>
                <a:ea typeface="Noto Sans SC" panose="020B0200000000000000" charset="-122"/>
              </a:rPr>
              <a:t>运行约束集中于配电网</a:t>
            </a:r>
            <a:endParaRPr sz="1800" b="1">
              <a:solidFill>
                <a:srgbClr val="EF8403"/>
              </a:solidFill>
              <a:latin typeface="Noto Sans SC" panose="020B0200000000000000" charset="-122"/>
              <a:ea typeface="Noto Sans SC" panose="020B0200000000000000" charset="-122"/>
            </a:endParaRPr>
          </a:p>
        </p:txBody>
      </p:sp>
      <p:sp>
        <p:nvSpPr>
          <p:cNvPr id="24" name="TextBox 23"/>
          <p:cNvSpPr txBox="1"/>
          <p:nvPr>
            <p:custDataLst>
              <p:tags r:id="rId24"/>
            </p:custDataLst>
          </p:nvPr>
        </p:nvSpPr>
        <p:spPr>
          <a:xfrm>
            <a:off x="6451092" y="4773168"/>
            <a:ext cx="4997196" cy="1536191"/>
          </a:xfrm>
          <a:prstGeom prst="rect">
            <a:avLst/>
          </a:prstGeom>
          <a:noFill/>
        </p:spPr>
        <p:txBody>
          <a:bodyPr wrap="square">
            <a:spAutoFit/>
          </a:bodyPr>
          <a:lstStyle/>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苏州配变倒送</a:t>
            </a:r>
            <a:r>
              <a:rPr sz="1400" b="1">
                <a:solidFill>
                  <a:srgbClr val="1F5A4D"/>
                </a:solidFill>
                <a:latin typeface="Noto Sans SC" panose="020B0200000000000000" charset="-122"/>
                <a:ea typeface="Noto Sans SC" panose="020B0200000000000000" charset="-122"/>
              </a:rPr>
              <a:t>5746台、占6.49%</a:t>
            </a:r>
            <a:r>
              <a:rPr sz="1400" b="0">
                <a:solidFill>
                  <a:srgbClr val="4B5563"/>
                </a:solidFill>
                <a:latin typeface="Noto Sans SC" panose="020B0200000000000000" charset="-122"/>
                <a:ea typeface="Noto Sans SC" panose="020B0200000000000000" charset="-122"/>
              </a:rPr>
              <a:t>（2025年第二季度）；宿迁红区</a:t>
            </a:r>
            <a:r>
              <a:rPr sz="1400" b="1">
                <a:solidFill>
                  <a:srgbClr val="1F5A4D"/>
                </a:solidFill>
                <a:latin typeface="Noto Sans SC" panose="020B0200000000000000" charset="-122"/>
                <a:ea typeface="Noto Sans SC" panose="020B0200000000000000" charset="-122"/>
              </a:rPr>
              <a:t>2400个台区</a:t>
            </a:r>
            <a:r>
              <a:rPr sz="1400" b="0">
                <a:solidFill>
                  <a:srgbClr val="4B5563"/>
                </a:solidFill>
                <a:latin typeface="Noto Sans SC" panose="020B0200000000000000" charset="-122"/>
                <a:ea typeface="Noto Sans SC" panose="020B0200000000000000" charset="-122"/>
              </a:rPr>
              <a:t>（2026年第二季度）</a:t>
            </a:r>
            <a:endParaRPr sz="1400" b="0">
              <a:solidFill>
                <a:srgbClr val="4B5563"/>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开发约束由资源可得性转向</a:t>
            </a:r>
            <a:r>
              <a:rPr sz="1400" b="1">
                <a:solidFill>
                  <a:srgbClr val="1F5A4D"/>
                </a:solidFill>
                <a:latin typeface="Noto Sans SC" panose="020B0200000000000000" charset="-122"/>
                <a:ea typeface="Noto Sans SC" panose="020B0200000000000000" charset="-122"/>
              </a:rPr>
              <a:t>网架承载力</a:t>
            </a:r>
            <a:endParaRPr sz="1400" b="1">
              <a:solidFill>
                <a:srgbClr val="1F5A4D"/>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储能125座/888.6万千瓦；宿迁测算2030年可消纳光伏5.65亿千瓦时、延缓投资约7.9亿元</a:t>
            </a:r>
            <a:endParaRPr sz="1400" b="0">
              <a:solidFill>
                <a:srgbClr val="4B5563"/>
              </a:solidFill>
              <a:latin typeface="Noto Sans SC" panose="020B0200000000000000" charset="-122"/>
              <a:ea typeface="Noto Sans SC" panose="020B0200000000000000" charset="-122"/>
            </a:endParaRPr>
          </a:p>
        </p:txBody>
      </p:sp>
      <p:sp>
        <p:nvSpPr>
          <p:cNvPr id="25" name="TextBox 24">
            <a:hlinkClick r:id="rId25" action="ppaction://hlinksldjump"/>
          </p:cNvPr>
          <p:cNvSpPr txBox="1"/>
          <p:nvPr/>
        </p:nvSpPr>
        <p:spPr>
          <a:xfrm>
            <a:off x="11238992" y="274320"/>
            <a:ext cx="309880" cy="260350"/>
          </a:xfrm>
          <a:prstGeom prst="rect">
            <a:avLst/>
          </a:prstGeom>
          <a:noFill/>
        </p:spPr>
        <p:txBody>
          <a:bodyPr wrap="none">
            <a:spAutoFit/>
          </a:bodyPr>
          <a:lstStyle/>
          <a:p>
            <a:pPr algn="r"/>
            <a:endParaRPr sz="1100">
              <a:solidFill>
                <a:srgbClr val="2E7D6B"/>
              </a:solidFill>
              <a:latin typeface="Noto Sans SC" panose="020B0200000000000000" charset="-122"/>
              <a:ea typeface="Noto Sans SC" panose="020B0200000000000000" charset="-122"/>
            </a:endParaRPr>
          </a:p>
        </p:txBody>
      </p:sp>
      <p:sp>
        <p:nvSpPr>
          <p:cNvPr id="28" name="文本框 27"/>
          <p:cNvSpPr txBox="1"/>
          <p:nvPr/>
        </p:nvSpPr>
        <p:spPr>
          <a:xfrm>
            <a:off x="822960" y="170815"/>
            <a:ext cx="11137900" cy="613410"/>
          </a:xfrm>
          <a:prstGeom prst="rect">
            <a:avLst/>
          </a:prstGeom>
          <a:noFill/>
        </p:spPr>
        <p:txBody>
          <a:bodyPr wrap="square" rtlCol="0">
            <a:noAutofit/>
          </a:bodyPr>
          <a:lstStyle/>
          <a:p>
            <a:pPr algn="l">
              <a:buClrTx/>
              <a:buSzTx/>
              <a:buFontTx/>
              <a:buNone/>
            </a:pPr>
            <a:r>
              <a:rPr lang="zh-CN" altLang="en-US" sz="2800" b="1">
                <a:solidFill>
                  <a:srgbClr val="1F5A4D"/>
                </a:solidFill>
                <a:latin typeface="微软雅黑" panose="020B0503020204020204" pitchFamily="34" charset="-122"/>
                <a:ea typeface="微软雅黑" panose="020B0503020204020204" pitchFamily="34" charset="-122"/>
                <a:sym typeface="+mn-ea"/>
              </a:rPr>
              <a:t>6 新兴要素对电力市场的综合影响</a:t>
            </a:r>
            <a:r>
              <a:rPr lang="en-US" altLang="zh-CN" sz="2800" b="1">
                <a:solidFill>
                  <a:srgbClr val="1F5A4D"/>
                </a:solidFill>
                <a:latin typeface="微软雅黑" panose="020B0503020204020204" pitchFamily="34" charset="-122"/>
                <a:ea typeface="微软雅黑" panose="020B0503020204020204" pitchFamily="34" charset="-122"/>
                <a:sym typeface="+mn-ea"/>
              </a:rPr>
              <a:t>    </a:t>
            </a:r>
            <a:r>
              <a:rPr lang="zh-CN" altLang="en-US" sz="2200" b="1">
                <a:solidFill>
                  <a:srgbClr val="029694"/>
                </a:solidFill>
                <a:latin typeface="Noto Sans SC" panose="020B0200000000000000" charset="-122"/>
                <a:ea typeface="Noto Sans SC" panose="020B0200000000000000" charset="-122"/>
                <a:cs typeface="Noto Sans SC" panose="020B0200000000000000" charset="-122"/>
                <a:sym typeface="+mn-ea"/>
              </a:rPr>
              <a:t>供需平衡与电网运行</a:t>
            </a:r>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a:p>
            <a:pPr algn="l">
              <a:buClrTx/>
              <a:buSzTx/>
              <a:buFontTx/>
            </a:pPr>
            <a:endParaRPr lang="en-US" sz="2200" b="1">
              <a:solidFill>
                <a:schemeClr val="accent3"/>
              </a:solidFill>
              <a:latin typeface="Noto Sans SC" panose="020B0200000000000000" charset="-122"/>
              <a:ea typeface="Noto Sans SC" panose="020B0200000000000000" charset="-122"/>
              <a:cs typeface="Noto Sans SC" panose="020B0200000000000000" charset="-122"/>
              <a:sym typeface="+mn-ea"/>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sz="2100" b="0">
                <a:solidFill>
                  <a:srgbClr val="1F5A4D"/>
                </a:solidFill>
                <a:latin typeface="微软雅黑" panose="020B0503020204020204" pitchFamily="34" charset="-122"/>
                <a:ea typeface="微软雅黑" panose="020B0503020204020204" pitchFamily="34" charset="-122"/>
              </a:rPr>
              <a:t>市场主体扩容、双轨结算成型，分散资源聚合组织成为交易前提</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TextBox 3"/>
          <p:cNvSpPr txBox="1"/>
          <p:nvPr/>
        </p:nvSpPr>
        <p:spPr>
          <a:xfrm>
            <a:off x="822960" y="1091502"/>
            <a:ext cx="10607040" cy="212725"/>
          </a:xfrm>
          <a:prstGeom prst="rect">
            <a:avLst/>
          </a:prstGeom>
          <a:noFill/>
        </p:spPr>
        <p:txBody>
          <a:bodyPr wrap="square" tIns="0" rIns="182880" bIns="36576" anchor="ctr">
            <a:spAutoFit/>
          </a:bodyPr>
          <a:lstStyle/>
          <a:p>
            <a:pPr algn="r">
              <a:spcAft>
                <a:spcPts val="400"/>
              </a:spcAft>
            </a:pPr>
            <a:endParaRPr sz="1150" b="0">
              <a:solidFill>
                <a:srgbClr val="4B5563"/>
              </a:solidFill>
              <a:latin typeface="Noto Sans SC" panose="020B0200000000000000" charset="-122"/>
              <a:ea typeface="Noto Sans SC" panose="020B0200000000000000" charset="-122"/>
            </a:endParaRPr>
          </a:p>
        </p:txBody>
      </p:sp>
      <p:sp>
        <p:nvSpPr>
          <p:cNvPr id="5" name="Rounded Rectangle 4"/>
          <p:cNvSpPr/>
          <p:nvPr/>
        </p:nvSpPr>
        <p:spPr>
          <a:xfrm>
            <a:off x="612648" y="1627632"/>
            <a:ext cx="5399532" cy="2304288"/>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2648" y="1627632"/>
            <a:ext cx="77724" cy="2304288"/>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org.png"/>
          <p:cNvPicPr>
            <a:picLocks noChangeAspect="1"/>
          </p:cNvPicPr>
          <p:nvPr/>
        </p:nvPicPr>
        <p:blipFill>
          <a:blip r:embed="rId1"/>
          <a:stretch>
            <a:fillRect/>
          </a:stretch>
        </p:blipFill>
        <p:spPr>
          <a:xfrm>
            <a:off x="832104" y="1792224"/>
            <a:ext cx="365760" cy="365760"/>
          </a:xfrm>
          <a:prstGeom prst="rect">
            <a:avLst/>
          </a:prstGeom>
        </p:spPr>
      </p:pic>
      <p:sp>
        <p:nvSpPr>
          <p:cNvPr id="8" name="TextBox 7"/>
          <p:cNvSpPr txBox="1"/>
          <p:nvPr/>
        </p:nvSpPr>
        <p:spPr>
          <a:xfrm>
            <a:off x="1289304" y="1773936"/>
            <a:ext cx="4613148" cy="402336"/>
          </a:xfrm>
          <a:prstGeom prst="rect">
            <a:avLst/>
          </a:prstGeom>
          <a:noFill/>
        </p:spPr>
        <p:txBody>
          <a:bodyPr wrap="square" lIns="0" tIns="0" bIns="36576" anchor="ctr">
            <a:spAutoFit/>
          </a:bodyPr>
          <a:lstStyle/>
          <a:p>
            <a:pPr algn="l">
              <a:spcAft>
                <a:spcPts val="400"/>
              </a:spcAft>
            </a:pPr>
            <a:r>
              <a:rPr sz="1800" b="1">
                <a:solidFill>
                  <a:srgbClr val="2E7D6B"/>
                </a:solidFill>
                <a:latin typeface="Noto Sans SC" panose="020B0200000000000000" charset="-122"/>
                <a:ea typeface="Noto Sans SC" panose="020B0200000000000000" charset="-122"/>
              </a:rPr>
              <a:t>市场主体扩容</a:t>
            </a:r>
            <a:endParaRPr sz="1800" b="1">
              <a:solidFill>
                <a:srgbClr val="2E7D6B"/>
              </a:solidFill>
              <a:latin typeface="Noto Sans SC" panose="020B0200000000000000" charset="-122"/>
              <a:ea typeface="Noto Sans SC" panose="020B0200000000000000" charset="-122"/>
            </a:endParaRPr>
          </a:p>
        </p:txBody>
      </p:sp>
      <p:sp>
        <p:nvSpPr>
          <p:cNvPr id="9" name="TextBox 8"/>
          <p:cNvSpPr txBox="1"/>
          <p:nvPr/>
        </p:nvSpPr>
        <p:spPr>
          <a:xfrm>
            <a:off x="868680" y="2286000"/>
            <a:ext cx="4997196" cy="1536192"/>
          </a:xfrm>
          <a:prstGeom prst="rect">
            <a:avLst/>
          </a:prstGeom>
          <a:noFill/>
        </p:spPr>
        <p:txBody>
          <a:bodyPr wrap="square">
            <a:spAutoFit/>
          </a:bodyPr>
          <a:lstStyle/>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江苏注册经营主体</a:t>
            </a:r>
            <a:r>
              <a:rPr sz="1400" b="1">
                <a:solidFill>
                  <a:srgbClr val="1F5A4D"/>
                </a:solidFill>
                <a:latin typeface="Noto Sans SC" panose="020B0200000000000000" charset="-122"/>
                <a:ea typeface="Noto Sans SC" panose="020B0200000000000000" charset="-122"/>
              </a:rPr>
              <a:t>16.0万家</a:t>
            </a:r>
            <a:r>
              <a:rPr sz="1400" b="0">
                <a:solidFill>
                  <a:srgbClr val="4B5563"/>
                </a:solidFill>
                <a:latin typeface="Noto Sans SC" panose="020B0200000000000000" charset="-122"/>
                <a:ea typeface="Noto Sans SC" panose="020B0200000000000000" charset="-122"/>
              </a:rPr>
              <a:t>（2025年6月末）</a:t>
            </a:r>
            <a:endParaRPr sz="1400" b="0">
              <a:solidFill>
                <a:srgbClr val="4B5563"/>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发电2137家、售电250家、分布式聚合商35家、独立储能48家、虚拟电厂26家</a:t>
            </a:r>
            <a:endParaRPr sz="1400" b="0">
              <a:solidFill>
                <a:srgbClr val="4B5563"/>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全国注册经营主体109万家、同比增33.6%</a:t>
            </a:r>
            <a:endParaRPr sz="1400" b="0">
              <a:solidFill>
                <a:srgbClr val="4B5563"/>
              </a:solidFill>
              <a:latin typeface="Noto Sans SC" panose="020B0200000000000000" charset="-122"/>
              <a:ea typeface="Noto Sans SC" panose="020B0200000000000000" charset="-122"/>
            </a:endParaRPr>
          </a:p>
        </p:txBody>
      </p:sp>
      <p:sp>
        <p:nvSpPr>
          <p:cNvPr id="10" name="Rounded Rectangle 9"/>
          <p:cNvSpPr/>
          <p:nvPr/>
        </p:nvSpPr>
        <p:spPr>
          <a:xfrm>
            <a:off x="6195060" y="1627632"/>
            <a:ext cx="5399532" cy="2304288"/>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95060" y="1627632"/>
            <a:ext cx="77724" cy="2304288"/>
          </a:xfrm>
          <a:prstGeom prst="roundRect">
            <a:avLst>
              <a:gd name="adj"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net.png"/>
          <p:cNvPicPr>
            <a:picLocks noChangeAspect="1"/>
          </p:cNvPicPr>
          <p:nvPr/>
        </p:nvPicPr>
        <p:blipFill>
          <a:blip r:embed="rId2"/>
          <a:stretch>
            <a:fillRect/>
          </a:stretch>
        </p:blipFill>
        <p:spPr>
          <a:xfrm>
            <a:off x="6414516" y="1792224"/>
            <a:ext cx="365760" cy="365760"/>
          </a:xfrm>
          <a:prstGeom prst="rect">
            <a:avLst/>
          </a:prstGeom>
        </p:spPr>
      </p:pic>
      <p:sp>
        <p:nvSpPr>
          <p:cNvPr id="13" name="TextBox 12"/>
          <p:cNvSpPr txBox="1"/>
          <p:nvPr/>
        </p:nvSpPr>
        <p:spPr>
          <a:xfrm>
            <a:off x="6871716" y="1773936"/>
            <a:ext cx="4613148" cy="402336"/>
          </a:xfrm>
          <a:prstGeom prst="rect">
            <a:avLst/>
          </a:prstGeom>
          <a:noFill/>
        </p:spPr>
        <p:txBody>
          <a:bodyPr wrap="square" lIns="0" tIns="0" bIns="36576" anchor="ctr">
            <a:spAutoFit/>
          </a:bodyPr>
          <a:lstStyle/>
          <a:p>
            <a:pPr algn="l">
              <a:spcAft>
                <a:spcPts val="400"/>
              </a:spcAft>
            </a:pPr>
            <a:r>
              <a:rPr sz="1800" b="1">
                <a:solidFill>
                  <a:srgbClr val="0070C0"/>
                </a:solidFill>
                <a:latin typeface="Noto Sans SC" panose="020B0200000000000000" charset="-122"/>
                <a:ea typeface="Noto Sans SC" panose="020B0200000000000000" charset="-122"/>
              </a:rPr>
              <a:t>新能源全面入市、双轨结算</a:t>
            </a:r>
            <a:endParaRPr sz="1800" b="1">
              <a:solidFill>
                <a:srgbClr val="0070C0"/>
              </a:solidFill>
              <a:latin typeface="Noto Sans SC" panose="020B0200000000000000" charset="-122"/>
              <a:ea typeface="Noto Sans SC" panose="020B0200000000000000" charset="-122"/>
            </a:endParaRPr>
          </a:p>
        </p:txBody>
      </p:sp>
      <p:sp>
        <p:nvSpPr>
          <p:cNvPr id="14" name="TextBox 13"/>
          <p:cNvSpPr txBox="1"/>
          <p:nvPr/>
        </p:nvSpPr>
        <p:spPr>
          <a:xfrm>
            <a:off x="6451092" y="2286000"/>
            <a:ext cx="4997196" cy="1536192"/>
          </a:xfrm>
          <a:prstGeom prst="rect">
            <a:avLst/>
          </a:prstGeom>
          <a:noFill/>
        </p:spPr>
        <p:txBody>
          <a:bodyPr wrap="square">
            <a:spAutoFit/>
          </a:bodyPr>
          <a:lstStyle/>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2026年1月1日起上网电量原则上全部入市</a:t>
            </a:r>
            <a:endParaRPr sz="1400" b="0">
              <a:solidFill>
                <a:srgbClr val="4B5563"/>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形成"</a:t>
            </a:r>
            <a:r>
              <a:rPr sz="1400" b="1">
                <a:solidFill>
                  <a:srgbClr val="1F5A4D"/>
                </a:solidFill>
                <a:latin typeface="Noto Sans SC" panose="020B0200000000000000" charset="-122"/>
                <a:ea typeface="Noto Sans SC" panose="020B0200000000000000" charset="-122"/>
              </a:rPr>
              <a:t>市场轨道＋保障轨道</a:t>
            </a:r>
            <a:r>
              <a:rPr sz="1400" b="0">
                <a:solidFill>
                  <a:srgbClr val="4B5563"/>
                </a:solidFill>
                <a:latin typeface="Noto Sans SC" panose="020B0200000000000000" charset="-122"/>
                <a:ea typeface="Noto Sans SC" panose="020B0200000000000000" charset="-122"/>
              </a:rPr>
              <a:t>"双轨结算</a:t>
            </a:r>
            <a:endParaRPr sz="1400" b="0">
              <a:solidFill>
                <a:srgbClr val="4B5563"/>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存量机制电量比例</a:t>
            </a:r>
            <a:r>
              <a:rPr sz="1400" b="1">
                <a:solidFill>
                  <a:srgbClr val="1F5A4D"/>
                </a:solidFill>
                <a:latin typeface="Noto Sans SC" panose="020B0200000000000000" charset="-122"/>
                <a:ea typeface="Noto Sans SC" panose="020B0200000000000000" charset="-122"/>
              </a:rPr>
              <a:t>不高于90%</a:t>
            </a:r>
            <a:r>
              <a:rPr sz="1400" b="0">
                <a:solidFill>
                  <a:srgbClr val="4B5563"/>
                </a:solidFill>
                <a:latin typeface="Noto Sans SC" panose="020B0200000000000000" charset="-122"/>
                <a:ea typeface="Noto Sans SC" panose="020B0200000000000000" charset="-122"/>
              </a:rPr>
              <a:t>、</a:t>
            </a:r>
            <a:r>
              <a:rPr sz="1400" b="1">
                <a:solidFill>
                  <a:srgbClr val="1F5A4D"/>
                </a:solidFill>
                <a:latin typeface="Noto Sans SC" panose="020B0200000000000000" charset="-122"/>
                <a:ea typeface="Noto Sans SC" panose="020B0200000000000000" charset="-122"/>
              </a:rPr>
              <a:t>户用光伏100%</a:t>
            </a:r>
            <a:endParaRPr sz="1400" b="1">
              <a:solidFill>
                <a:srgbClr val="1F5A4D"/>
              </a:solidFill>
              <a:latin typeface="Noto Sans SC" panose="020B0200000000000000" charset="-122"/>
              <a:ea typeface="Noto Sans SC" panose="020B0200000000000000" charset="-122"/>
            </a:endParaRPr>
          </a:p>
        </p:txBody>
      </p:sp>
      <p:sp>
        <p:nvSpPr>
          <p:cNvPr id="15" name="Rounded Rectangle 14"/>
          <p:cNvSpPr/>
          <p:nvPr/>
        </p:nvSpPr>
        <p:spPr>
          <a:xfrm>
            <a:off x="612648" y="4114800"/>
            <a:ext cx="5399532" cy="2304288"/>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2648" y="4114800"/>
            <a:ext cx="77724" cy="2304288"/>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hier.png"/>
          <p:cNvPicPr>
            <a:picLocks noChangeAspect="1"/>
          </p:cNvPicPr>
          <p:nvPr/>
        </p:nvPicPr>
        <p:blipFill>
          <a:blip r:embed="rId3"/>
          <a:stretch>
            <a:fillRect/>
          </a:stretch>
        </p:blipFill>
        <p:spPr>
          <a:xfrm>
            <a:off x="832104" y="4279392"/>
            <a:ext cx="365760" cy="365760"/>
          </a:xfrm>
          <a:prstGeom prst="rect">
            <a:avLst/>
          </a:prstGeom>
        </p:spPr>
      </p:pic>
      <p:sp>
        <p:nvSpPr>
          <p:cNvPr id="18" name="TextBox 17"/>
          <p:cNvSpPr txBox="1"/>
          <p:nvPr/>
        </p:nvSpPr>
        <p:spPr>
          <a:xfrm>
            <a:off x="1289304" y="4261104"/>
            <a:ext cx="4613148" cy="402336"/>
          </a:xfrm>
          <a:prstGeom prst="rect">
            <a:avLst/>
          </a:prstGeom>
          <a:noFill/>
        </p:spPr>
        <p:txBody>
          <a:bodyPr wrap="square" lIns="0" tIns="0" bIns="36576" anchor="ctr">
            <a:spAutoFit/>
          </a:bodyPr>
          <a:lstStyle/>
          <a:p>
            <a:pPr algn="l">
              <a:spcAft>
                <a:spcPts val="400"/>
              </a:spcAft>
            </a:pPr>
            <a:r>
              <a:rPr sz="1800" b="1">
                <a:solidFill>
                  <a:srgbClr val="2E7D6B"/>
                </a:solidFill>
                <a:latin typeface="Noto Sans SC" panose="020B0200000000000000" charset="-122"/>
                <a:ea typeface="Noto Sans SC" panose="020B0200000000000000" charset="-122"/>
              </a:rPr>
              <a:t>分散资源聚合组织</a:t>
            </a:r>
            <a:endParaRPr sz="1800" b="1">
              <a:solidFill>
                <a:srgbClr val="2E7D6B"/>
              </a:solidFill>
              <a:latin typeface="Noto Sans SC" panose="020B0200000000000000" charset="-122"/>
              <a:ea typeface="Noto Sans SC" panose="020B0200000000000000" charset="-122"/>
            </a:endParaRPr>
          </a:p>
        </p:txBody>
      </p:sp>
      <p:sp>
        <p:nvSpPr>
          <p:cNvPr id="19" name="TextBox 18"/>
          <p:cNvSpPr txBox="1"/>
          <p:nvPr/>
        </p:nvSpPr>
        <p:spPr>
          <a:xfrm>
            <a:off x="868680" y="4773168"/>
            <a:ext cx="4997196" cy="1536191"/>
          </a:xfrm>
          <a:prstGeom prst="rect">
            <a:avLst/>
          </a:prstGeom>
          <a:noFill/>
        </p:spPr>
        <p:txBody>
          <a:bodyPr wrap="square">
            <a:spAutoFit/>
          </a:bodyPr>
          <a:lstStyle/>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整村连片开发交流汇聚接网，较零散开发降低接网投资</a:t>
            </a:r>
            <a:r>
              <a:rPr sz="1400" b="1">
                <a:solidFill>
                  <a:srgbClr val="1F5A4D"/>
                </a:solidFill>
                <a:latin typeface="Noto Sans SC" panose="020B0200000000000000" charset="-122"/>
                <a:ea typeface="Noto Sans SC" panose="020B0200000000000000" charset="-122"/>
              </a:rPr>
              <a:t>28.24%</a:t>
            </a:r>
            <a:endParaRPr sz="1400" b="1">
              <a:solidFill>
                <a:srgbClr val="1F5A4D"/>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交易组织单元细化至台区、园区、单户</a:t>
            </a:r>
            <a:endParaRPr sz="1400" b="0">
              <a:solidFill>
                <a:srgbClr val="4B5563"/>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中长期、现货、辅助服务、绿电绿证并行</a:t>
            </a:r>
            <a:endParaRPr sz="1400" b="0">
              <a:solidFill>
                <a:srgbClr val="4B5563"/>
              </a:solidFill>
              <a:latin typeface="Noto Sans SC" panose="020B0200000000000000" charset="-122"/>
              <a:ea typeface="Noto Sans SC" panose="020B0200000000000000" charset="-122"/>
            </a:endParaRPr>
          </a:p>
        </p:txBody>
      </p:sp>
      <p:sp>
        <p:nvSpPr>
          <p:cNvPr id="20" name="Rounded Rectangle 19"/>
          <p:cNvSpPr/>
          <p:nvPr/>
        </p:nvSpPr>
        <p:spPr>
          <a:xfrm>
            <a:off x="6195060" y="4114800"/>
            <a:ext cx="5399532" cy="2304288"/>
          </a:xfrm>
          <a:prstGeom prst="roundRect">
            <a:avLst>
              <a:gd name="adj" fmla="val 3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95060" y="4114800"/>
            <a:ext cx="77724" cy="2304288"/>
          </a:xfrm>
          <a:prstGeom prst="roundRect">
            <a:avLst>
              <a:gd name="adj" fmla="val 0"/>
            </a:avLst>
          </a:prstGeom>
          <a:solidFill>
            <a:srgbClr val="EF8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node.png"/>
          <p:cNvPicPr>
            <a:picLocks noChangeAspect="1"/>
          </p:cNvPicPr>
          <p:nvPr/>
        </p:nvPicPr>
        <p:blipFill>
          <a:blip r:embed="rId4"/>
          <a:stretch>
            <a:fillRect/>
          </a:stretch>
        </p:blipFill>
        <p:spPr>
          <a:xfrm>
            <a:off x="6414516" y="4279392"/>
            <a:ext cx="365760" cy="365760"/>
          </a:xfrm>
          <a:prstGeom prst="rect">
            <a:avLst/>
          </a:prstGeom>
        </p:spPr>
      </p:pic>
      <p:sp>
        <p:nvSpPr>
          <p:cNvPr id="23" name="TextBox 22"/>
          <p:cNvSpPr txBox="1"/>
          <p:nvPr/>
        </p:nvSpPr>
        <p:spPr>
          <a:xfrm>
            <a:off x="6871716" y="4261104"/>
            <a:ext cx="4613148" cy="402336"/>
          </a:xfrm>
          <a:prstGeom prst="rect">
            <a:avLst/>
          </a:prstGeom>
          <a:noFill/>
        </p:spPr>
        <p:txBody>
          <a:bodyPr wrap="square" lIns="0" tIns="0" bIns="36576" anchor="ctr">
            <a:spAutoFit/>
          </a:bodyPr>
          <a:lstStyle/>
          <a:p>
            <a:pPr algn="l">
              <a:spcAft>
                <a:spcPts val="400"/>
              </a:spcAft>
            </a:pPr>
            <a:r>
              <a:rPr sz="1800" b="1">
                <a:solidFill>
                  <a:srgbClr val="EF8403"/>
                </a:solidFill>
                <a:latin typeface="Noto Sans SC" panose="020B0200000000000000" charset="-122"/>
                <a:ea typeface="Noto Sans SC" panose="020B0200000000000000" charset="-122"/>
              </a:rPr>
              <a:t>绿电交易与价格信号</a:t>
            </a:r>
            <a:endParaRPr sz="1800" b="1">
              <a:solidFill>
                <a:srgbClr val="EF8403"/>
              </a:solidFill>
              <a:latin typeface="Noto Sans SC" panose="020B0200000000000000" charset="-122"/>
              <a:ea typeface="Noto Sans SC" panose="020B0200000000000000" charset="-122"/>
            </a:endParaRPr>
          </a:p>
        </p:txBody>
      </p:sp>
      <p:sp>
        <p:nvSpPr>
          <p:cNvPr id="24" name="TextBox 23"/>
          <p:cNvSpPr txBox="1"/>
          <p:nvPr/>
        </p:nvSpPr>
        <p:spPr>
          <a:xfrm>
            <a:off x="6451092" y="4773168"/>
            <a:ext cx="4997196" cy="1536191"/>
          </a:xfrm>
          <a:prstGeom prst="rect">
            <a:avLst/>
          </a:prstGeom>
          <a:noFill/>
        </p:spPr>
        <p:txBody>
          <a:bodyPr wrap="square">
            <a:spAutoFit/>
          </a:bodyPr>
          <a:lstStyle/>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2025年</a:t>
            </a:r>
            <a:r>
              <a:rPr sz="1400" b="1">
                <a:solidFill>
                  <a:srgbClr val="1F5A4D"/>
                </a:solidFill>
                <a:latin typeface="Noto Sans SC" panose="020B0200000000000000" charset="-122"/>
                <a:ea typeface="Noto Sans SC" panose="020B0200000000000000" charset="-122"/>
              </a:rPr>
              <a:t>210.7亿千瓦时</a:t>
            </a:r>
            <a:r>
              <a:rPr sz="1400" b="0">
                <a:solidFill>
                  <a:srgbClr val="4B5563"/>
                </a:solidFill>
                <a:latin typeface="Noto Sans SC" panose="020B0200000000000000" charset="-122"/>
                <a:ea typeface="Noto Sans SC" panose="020B0200000000000000" charset="-122"/>
              </a:rPr>
              <a:t>，省间占</a:t>
            </a:r>
            <a:r>
              <a:rPr sz="1400" b="1">
                <a:solidFill>
                  <a:srgbClr val="1F5A4D"/>
                </a:solidFill>
                <a:latin typeface="Noto Sans SC" panose="020B0200000000000000" charset="-122"/>
                <a:ea typeface="Noto Sans SC" panose="020B0200000000000000" charset="-122"/>
              </a:rPr>
              <a:t>44.9%</a:t>
            </a:r>
            <a:r>
              <a:rPr sz="1400" b="0">
                <a:solidFill>
                  <a:srgbClr val="4B5563"/>
                </a:solidFill>
                <a:latin typeface="Noto Sans SC" panose="020B0200000000000000" charset="-122"/>
                <a:ea typeface="Noto Sans SC" panose="020B0200000000000000" charset="-122"/>
              </a:rPr>
              <a:t>（省内108.8、省间94.6亿千瓦时）</a:t>
            </a:r>
            <a:endParaRPr sz="1400" b="0">
              <a:solidFill>
                <a:srgbClr val="4B5563"/>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2026年度交易：加权均价</a:t>
            </a:r>
            <a:r>
              <a:rPr sz="1400" b="1">
                <a:solidFill>
                  <a:srgbClr val="1F5A4D"/>
                </a:solidFill>
                <a:latin typeface="Noto Sans SC" panose="020B0200000000000000" charset="-122"/>
                <a:ea typeface="Noto Sans SC" panose="020B0200000000000000" charset="-122"/>
              </a:rPr>
              <a:t>404.94元/兆瓦时</a:t>
            </a:r>
            <a:r>
              <a:rPr sz="1400" b="0">
                <a:solidFill>
                  <a:srgbClr val="4B5563"/>
                </a:solidFill>
                <a:latin typeface="Noto Sans SC" panose="020B0200000000000000" charset="-122"/>
                <a:ea typeface="Noto Sans SC" panose="020B0200000000000000" charset="-122"/>
              </a:rPr>
              <a:t>、环境溢价21.71元/兆瓦时</a:t>
            </a:r>
            <a:endParaRPr sz="1400" b="0">
              <a:solidFill>
                <a:srgbClr val="4B5563"/>
              </a:solidFill>
              <a:latin typeface="Noto Sans SC" panose="020B0200000000000000" charset="-122"/>
              <a:ea typeface="Noto Sans SC" panose="020B0200000000000000" charset="-122"/>
            </a:endParaRPr>
          </a:p>
          <a:p>
            <a:pPr algn="l">
              <a:lnSpc>
                <a:spcPct val="105000"/>
              </a:lnSpc>
              <a:spcAft>
                <a:spcPts val="1200"/>
              </a:spcAft>
            </a:pPr>
            <a:r>
              <a:rPr sz="1400">
                <a:solidFill>
                  <a:srgbClr val="2E7D6B"/>
                </a:solidFill>
                <a:latin typeface="Noto Sans SC" panose="020B0200000000000000" charset="-122"/>
                <a:ea typeface="Noto Sans SC" panose="020B0200000000000000" charset="-122"/>
              </a:rPr>
              <a:t>▪ </a:t>
            </a:r>
            <a:r>
              <a:rPr sz="1400" b="0">
                <a:solidFill>
                  <a:srgbClr val="4B5563"/>
                </a:solidFill>
                <a:latin typeface="Noto Sans SC" panose="020B0200000000000000" charset="-122"/>
                <a:ea typeface="Noto Sans SC" panose="020B0200000000000000" charset="-122"/>
              </a:rPr>
              <a:t>省间交易成为省外供应链合规需求的重要补充</a:t>
            </a:r>
            <a:endParaRPr sz="1400" b="0">
              <a:solidFill>
                <a:srgbClr val="4B5563"/>
              </a:solidFill>
              <a:latin typeface="Noto Sans SC" panose="020B0200000000000000" charset="-122"/>
              <a:ea typeface="Noto Sans SC" panose="020B0200000000000000" charset="-122"/>
            </a:endParaRPr>
          </a:p>
        </p:txBody>
      </p:sp>
      <p:sp>
        <p:nvSpPr>
          <p:cNvPr id="25" name="TextBox 24">
            <a:hlinkClick r:id="rId5" action="ppaction://hlinksldjump"/>
          </p:cNvPr>
          <p:cNvSpPr txBox="1"/>
          <p:nvPr/>
        </p:nvSpPr>
        <p:spPr>
          <a:xfrm>
            <a:off x="11238992" y="274320"/>
            <a:ext cx="309880" cy="260350"/>
          </a:xfrm>
          <a:prstGeom prst="rect">
            <a:avLst/>
          </a:prstGeom>
          <a:noFill/>
        </p:spPr>
        <p:txBody>
          <a:bodyPr wrap="none">
            <a:spAutoFit/>
          </a:bodyPr>
          <a:lstStyle/>
          <a:p>
            <a:pPr algn="r"/>
            <a:endParaRPr sz="1100">
              <a:solidFill>
                <a:srgbClr val="2E7D6B"/>
              </a:solidFill>
              <a:latin typeface="Noto Sans SC" panose="020B0200000000000000" charset="-122"/>
              <a:ea typeface="Noto Sans SC" panose="020B0200000000000000" charset="-122"/>
            </a:endParaRPr>
          </a:p>
        </p:txBody>
      </p:sp>
      <p:sp>
        <p:nvSpPr>
          <p:cNvPr id="28" name="文本框 27"/>
          <p:cNvSpPr txBox="1"/>
          <p:nvPr/>
        </p:nvSpPr>
        <p:spPr>
          <a:xfrm>
            <a:off x="822960" y="170815"/>
            <a:ext cx="11137900" cy="613410"/>
          </a:xfrm>
          <a:prstGeom prst="rect">
            <a:avLst/>
          </a:prstGeom>
          <a:noFill/>
        </p:spPr>
        <p:txBody>
          <a:bodyPr wrap="square" rtlCol="0">
            <a:noAutofit/>
          </a:bodyPr>
          <a:lstStyle/>
          <a:p>
            <a:pPr algn="l">
              <a:buClrTx/>
              <a:buSzTx/>
              <a:buFontTx/>
              <a:buNone/>
            </a:pPr>
            <a:r>
              <a:rPr lang="zh-CN" altLang="en-US" sz="2800" b="1">
                <a:solidFill>
                  <a:srgbClr val="1F5A4D"/>
                </a:solidFill>
                <a:latin typeface="微软雅黑" panose="020B0503020204020204" pitchFamily="34" charset="-122"/>
                <a:ea typeface="微软雅黑" panose="020B0503020204020204" pitchFamily="34" charset="-122"/>
                <a:sym typeface="+mn-ea"/>
              </a:rPr>
              <a:t>6 新兴要素对电力市场的综合影响</a:t>
            </a:r>
            <a:r>
              <a:rPr lang="en-US" altLang="zh-CN" sz="2800" b="1">
                <a:solidFill>
                  <a:srgbClr val="1F5A4D"/>
                </a:solidFill>
                <a:latin typeface="微软雅黑" panose="020B0503020204020204" pitchFamily="34" charset="-122"/>
                <a:ea typeface="微软雅黑" panose="020B0503020204020204" pitchFamily="34" charset="-122"/>
                <a:sym typeface="+mn-ea"/>
              </a:rPr>
              <a:t>    </a:t>
            </a:r>
            <a:r>
              <a:rPr lang="zh-CN" altLang="en-US" sz="2200" b="1">
                <a:solidFill>
                  <a:srgbClr val="029694"/>
                </a:solidFill>
                <a:latin typeface="Noto Sans SC" panose="020B0200000000000000" charset="-122"/>
                <a:ea typeface="Noto Sans SC" panose="020B0200000000000000" charset="-122"/>
                <a:cs typeface="Noto Sans SC" panose="020B0200000000000000" charset="-122"/>
                <a:sym typeface="+mn-ea"/>
              </a:rPr>
              <a:t>市场交易模式</a:t>
            </a:r>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a:p>
            <a:pPr algn="l">
              <a:buClrTx/>
              <a:buSzTx/>
              <a:buFontTx/>
            </a:pPr>
            <a:endParaRPr lang="en-US" sz="2200" b="1">
              <a:solidFill>
                <a:schemeClr val="accent3"/>
              </a:solidFill>
              <a:latin typeface="Noto Sans SC" panose="020B0200000000000000" charset="-122"/>
              <a:ea typeface="Noto Sans SC" panose="020B0200000000000000" charset="-122"/>
              <a:cs typeface="Noto Sans SC" panose="020B0200000000000000" charset="-122"/>
              <a:sym typeface="+mn-ea"/>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36576" bIns="36576" rtlCol="0" anchor="ctr"/>
          <a:lstStyle/>
          <a:p>
            <a:pPr algn="l">
              <a:spcAft>
                <a:spcPts val="400"/>
              </a:spcAft>
            </a:pPr>
            <a:r>
              <a:rPr sz="2100" b="0">
                <a:solidFill>
                  <a:srgbClr val="1F5A4D"/>
                </a:solidFill>
                <a:latin typeface="微软雅黑" panose="020B0503020204020204" pitchFamily="34" charset="-122"/>
                <a:ea typeface="微软雅黑" panose="020B0503020204020204" pitchFamily="34" charset="-122"/>
              </a:rPr>
              <a:t>上网电价由行政核定向市场形成，电能量、绿色属性、系统成本分列定价</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TextBox 3"/>
          <p:cNvSpPr txBox="1"/>
          <p:nvPr/>
        </p:nvSpPr>
        <p:spPr>
          <a:xfrm>
            <a:off x="822960" y="1091502"/>
            <a:ext cx="10607040" cy="212725"/>
          </a:xfrm>
          <a:prstGeom prst="rect">
            <a:avLst/>
          </a:prstGeom>
          <a:noFill/>
        </p:spPr>
        <p:txBody>
          <a:bodyPr wrap="square" tIns="0" rIns="182880" bIns="36576" anchor="ctr">
            <a:spAutoFit/>
          </a:bodyPr>
          <a:lstStyle/>
          <a:p>
            <a:pPr algn="r">
              <a:spcAft>
                <a:spcPts val="400"/>
              </a:spcAft>
            </a:pPr>
            <a:endParaRPr sz="1150" b="0">
              <a:solidFill>
                <a:srgbClr val="4B5563"/>
              </a:solidFill>
              <a:latin typeface="Noto Sans SC" panose="020B0200000000000000" charset="-122"/>
              <a:ea typeface="Noto Sans SC" panose="020B0200000000000000" charset="-122"/>
            </a:endParaRPr>
          </a:p>
        </p:txBody>
      </p:sp>
      <p:sp>
        <p:nvSpPr>
          <p:cNvPr id="5" name="Rounded Rectangle 4"/>
          <p:cNvSpPr/>
          <p:nvPr/>
        </p:nvSpPr>
        <p:spPr>
          <a:xfrm>
            <a:off x="612648" y="1902587"/>
            <a:ext cx="2194560" cy="603504"/>
          </a:xfrm>
          <a:prstGeom prst="roundRect">
            <a:avLst>
              <a:gd name="adj" fmla="val 3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400"/>
              </a:spcAft>
            </a:pPr>
            <a:r>
              <a:rPr sz="1600" b="1">
                <a:solidFill>
                  <a:srgbClr val="FFFFFF"/>
                </a:solidFill>
                <a:latin typeface="微软雅黑" panose="020B0503020204020204" pitchFamily="34" charset="-122"/>
                <a:ea typeface="微软雅黑" panose="020B0503020204020204" pitchFamily="34" charset="-122"/>
              </a:rPr>
              <a:t>维度</a:t>
            </a:r>
            <a:endParaRPr sz="1600" b="1">
              <a:solidFill>
                <a:srgbClr val="FFFFFF"/>
              </a:solidFill>
              <a:latin typeface="微软雅黑" panose="020B0503020204020204" pitchFamily="34" charset="-122"/>
              <a:ea typeface="微软雅黑" panose="020B0503020204020204" pitchFamily="34" charset="-122"/>
            </a:endParaRPr>
          </a:p>
        </p:txBody>
      </p:sp>
      <p:sp>
        <p:nvSpPr>
          <p:cNvPr id="6" name="Rounded Rectangle 5"/>
          <p:cNvSpPr/>
          <p:nvPr/>
        </p:nvSpPr>
        <p:spPr>
          <a:xfrm>
            <a:off x="2807208" y="1902587"/>
            <a:ext cx="3657600" cy="603504"/>
          </a:xfrm>
          <a:prstGeom prst="roundRect">
            <a:avLst>
              <a:gd name="adj" fmla="val 3000"/>
            </a:avLst>
          </a:prstGeom>
          <a:solidFill>
            <a:srgbClr val="4B556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400"/>
              </a:spcAft>
            </a:pPr>
            <a:r>
              <a:rPr sz="1600" b="1">
                <a:solidFill>
                  <a:srgbClr val="FFFFFF"/>
                </a:solidFill>
                <a:latin typeface="微软雅黑" panose="020B0503020204020204" pitchFamily="34" charset="-122"/>
                <a:ea typeface="微软雅黑" panose="020B0503020204020204" pitchFamily="34" charset="-122"/>
              </a:rPr>
              <a:t>转变前</a:t>
            </a:r>
            <a:endParaRPr sz="1600" b="1">
              <a:solidFill>
                <a:srgbClr val="FFFFFF"/>
              </a:solidFill>
              <a:latin typeface="微软雅黑" panose="020B0503020204020204" pitchFamily="34" charset="-122"/>
              <a:ea typeface="微软雅黑" panose="020B0503020204020204" pitchFamily="34" charset="-122"/>
            </a:endParaRPr>
          </a:p>
        </p:txBody>
      </p:sp>
      <p:sp>
        <p:nvSpPr>
          <p:cNvPr id="7" name="Rounded Rectangle 6"/>
          <p:cNvSpPr/>
          <p:nvPr/>
        </p:nvSpPr>
        <p:spPr>
          <a:xfrm>
            <a:off x="6464808" y="1902587"/>
            <a:ext cx="5129784" cy="603504"/>
          </a:xfrm>
          <a:prstGeom prst="roundRect">
            <a:avLst>
              <a:gd name="adj" fmla="val 3000"/>
            </a:avLst>
          </a:prstGeom>
          <a:solidFill>
            <a:srgbClr val="2E7D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400"/>
              </a:spcAft>
            </a:pPr>
            <a:r>
              <a:rPr sz="1600" b="1">
                <a:solidFill>
                  <a:srgbClr val="FFFFFF"/>
                </a:solidFill>
                <a:latin typeface="微软雅黑" panose="020B0503020204020204" pitchFamily="34" charset="-122"/>
                <a:ea typeface="微软雅黑" panose="020B0503020204020204" pitchFamily="34" charset="-122"/>
              </a:rPr>
              <a:t>转变后</a:t>
            </a:r>
            <a:endParaRPr sz="1600" b="1">
              <a:solidFill>
                <a:srgbClr val="FFFFFF"/>
              </a:solidFill>
              <a:latin typeface="微软雅黑" panose="020B0503020204020204" pitchFamily="34" charset="-122"/>
              <a:ea typeface="微软雅黑" panose="020B0503020204020204" pitchFamily="34" charset="-122"/>
            </a:endParaRPr>
          </a:p>
        </p:txBody>
      </p:sp>
      <p:sp>
        <p:nvSpPr>
          <p:cNvPr id="8" name="Rounded Rectangle 7"/>
          <p:cNvSpPr/>
          <p:nvPr/>
        </p:nvSpPr>
        <p:spPr>
          <a:xfrm>
            <a:off x="612648" y="2506091"/>
            <a:ext cx="2194560" cy="731520"/>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146304" tIns="36576" bIns="36576" rtlCol="0" anchor="ctr"/>
          <a:lstStyle/>
          <a:p>
            <a:pPr algn="ctr">
              <a:spcAft>
                <a:spcPts val="400"/>
              </a:spcAft>
            </a:pPr>
            <a:r>
              <a:rPr sz="1500" b="1">
                <a:solidFill>
                  <a:srgbClr val="1F5A4D"/>
                </a:solidFill>
                <a:latin typeface="Noto Sans SC" panose="020B0200000000000000" charset="-122"/>
                <a:ea typeface="Noto Sans SC" panose="020B0200000000000000" charset="-122"/>
              </a:rPr>
              <a:t>上网电量定价</a:t>
            </a:r>
            <a:endParaRPr sz="1500" b="1">
              <a:solidFill>
                <a:srgbClr val="1F5A4D"/>
              </a:solidFill>
              <a:latin typeface="Noto Sans SC" panose="020B0200000000000000" charset="-122"/>
              <a:ea typeface="Noto Sans SC" panose="020B0200000000000000" charset="-122"/>
            </a:endParaRPr>
          </a:p>
        </p:txBody>
      </p:sp>
      <p:sp>
        <p:nvSpPr>
          <p:cNvPr id="9" name="Rounded Rectangle 8"/>
          <p:cNvSpPr/>
          <p:nvPr/>
        </p:nvSpPr>
        <p:spPr>
          <a:xfrm>
            <a:off x="2807208" y="2506091"/>
            <a:ext cx="3657600" cy="731520"/>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146304" tIns="36576" bIns="36576" rtlCol="0" anchor="ctr"/>
          <a:lstStyle/>
          <a:p>
            <a:pPr algn="ctr">
              <a:spcAft>
                <a:spcPts val="400"/>
              </a:spcAft>
            </a:pPr>
            <a:r>
              <a:rPr sz="1500" b="0">
                <a:solidFill>
                  <a:srgbClr val="4B5563"/>
                </a:solidFill>
                <a:latin typeface="Noto Sans SC" panose="020B0200000000000000" charset="-122"/>
                <a:ea typeface="Noto Sans SC" panose="020B0200000000000000" charset="-122"/>
              </a:rPr>
              <a:t>行政核定（补贴／标杆电价）</a:t>
            </a:r>
            <a:endParaRPr sz="1500" b="0">
              <a:solidFill>
                <a:srgbClr val="4B5563"/>
              </a:solidFill>
              <a:latin typeface="Noto Sans SC" panose="020B0200000000000000" charset="-122"/>
              <a:ea typeface="Noto Sans SC" panose="020B0200000000000000" charset="-122"/>
            </a:endParaRPr>
          </a:p>
        </p:txBody>
      </p:sp>
      <p:sp>
        <p:nvSpPr>
          <p:cNvPr id="10" name="Rounded Rectangle 9"/>
          <p:cNvSpPr/>
          <p:nvPr/>
        </p:nvSpPr>
        <p:spPr>
          <a:xfrm>
            <a:off x="6464808" y="2506091"/>
            <a:ext cx="5129784" cy="731520"/>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146304" tIns="36576" bIns="36576" rtlCol="0" anchor="ctr"/>
          <a:lstStyle/>
          <a:p>
            <a:pPr algn="ctr">
              <a:spcAft>
                <a:spcPts val="400"/>
              </a:spcAft>
            </a:pPr>
            <a:r>
              <a:rPr sz="1500" b="1">
                <a:solidFill>
                  <a:srgbClr val="1F5A4D"/>
                </a:solidFill>
                <a:latin typeface="Noto Sans SC" panose="020B0200000000000000" charset="-122"/>
                <a:ea typeface="Noto Sans SC" panose="020B0200000000000000" charset="-122"/>
              </a:rPr>
              <a:t>市场形成（机制电价＋增量竞价）</a:t>
            </a:r>
            <a:endParaRPr sz="1500" b="1">
              <a:solidFill>
                <a:srgbClr val="1F5A4D"/>
              </a:solidFill>
              <a:latin typeface="Noto Sans SC" panose="020B0200000000000000" charset="-122"/>
              <a:ea typeface="Noto Sans SC" panose="020B0200000000000000" charset="-122"/>
            </a:endParaRPr>
          </a:p>
        </p:txBody>
      </p:sp>
      <p:sp>
        <p:nvSpPr>
          <p:cNvPr id="11" name="Rounded Rectangle 10"/>
          <p:cNvSpPr/>
          <p:nvPr/>
        </p:nvSpPr>
        <p:spPr>
          <a:xfrm>
            <a:off x="612648" y="3237611"/>
            <a:ext cx="2194560" cy="731520"/>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146304" tIns="36576" bIns="36576" rtlCol="0" anchor="ctr"/>
          <a:lstStyle/>
          <a:p>
            <a:pPr algn="ctr">
              <a:spcAft>
                <a:spcPts val="400"/>
              </a:spcAft>
            </a:pPr>
            <a:r>
              <a:rPr sz="1500" b="1">
                <a:solidFill>
                  <a:srgbClr val="1F5A4D"/>
                </a:solidFill>
                <a:latin typeface="Noto Sans SC" panose="020B0200000000000000" charset="-122"/>
                <a:ea typeface="Noto Sans SC" panose="020B0200000000000000" charset="-122"/>
              </a:rPr>
              <a:t>电能量价格</a:t>
            </a:r>
            <a:endParaRPr sz="1500" b="1">
              <a:solidFill>
                <a:srgbClr val="1F5A4D"/>
              </a:solidFill>
              <a:latin typeface="Noto Sans SC" panose="020B0200000000000000" charset="-122"/>
              <a:ea typeface="Noto Sans SC" panose="020B0200000000000000" charset="-122"/>
            </a:endParaRPr>
          </a:p>
        </p:txBody>
      </p:sp>
      <p:sp>
        <p:nvSpPr>
          <p:cNvPr id="12" name="Rounded Rectangle 11"/>
          <p:cNvSpPr/>
          <p:nvPr/>
        </p:nvSpPr>
        <p:spPr>
          <a:xfrm>
            <a:off x="2807208" y="3237611"/>
            <a:ext cx="3657600" cy="731520"/>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146304" tIns="36576" bIns="36576" rtlCol="0" anchor="ctr"/>
          <a:lstStyle/>
          <a:p>
            <a:pPr algn="ctr">
              <a:spcAft>
                <a:spcPts val="400"/>
              </a:spcAft>
            </a:pPr>
            <a:r>
              <a:rPr sz="1500" b="0">
                <a:solidFill>
                  <a:srgbClr val="4B5563"/>
                </a:solidFill>
                <a:latin typeface="Noto Sans SC" panose="020B0200000000000000" charset="-122"/>
                <a:ea typeface="Noto Sans SC" panose="020B0200000000000000" charset="-122"/>
              </a:rPr>
              <a:t>统一电价</a:t>
            </a:r>
            <a:endParaRPr sz="1500" b="0">
              <a:solidFill>
                <a:srgbClr val="4B5563"/>
              </a:solidFill>
              <a:latin typeface="Noto Sans SC" panose="020B0200000000000000" charset="-122"/>
              <a:ea typeface="Noto Sans SC" panose="020B0200000000000000" charset="-122"/>
            </a:endParaRPr>
          </a:p>
        </p:txBody>
      </p:sp>
      <p:sp>
        <p:nvSpPr>
          <p:cNvPr id="13" name="Rounded Rectangle 12"/>
          <p:cNvSpPr/>
          <p:nvPr/>
        </p:nvSpPr>
        <p:spPr>
          <a:xfrm>
            <a:off x="6464808" y="3237611"/>
            <a:ext cx="5129784" cy="731520"/>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146304" tIns="36576" bIns="36576" rtlCol="0" anchor="ctr"/>
          <a:lstStyle/>
          <a:p>
            <a:pPr algn="ctr">
              <a:spcAft>
                <a:spcPts val="400"/>
              </a:spcAft>
            </a:pPr>
            <a:r>
              <a:rPr sz="1500" b="1">
                <a:solidFill>
                  <a:srgbClr val="1F5A4D"/>
                </a:solidFill>
                <a:latin typeface="Noto Sans SC" panose="020B0200000000000000" charset="-122"/>
                <a:ea typeface="Noto Sans SC" panose="020B0200000000000000" charset="-122"/>
              </a:rPr>
              <a:t>分时定价（四次调整、增设午间谷段）</a:t>
            </a:r>
            <a:endParaRPr sz="1500" b="1">
              <a:solidFill>
                <a:srgbClr val="1F5A4D"/>
              </a:solidFill>
              <a:latin typeface="Noto Sans SC" panose="020B0200000000000000" charset="-122"/>
              <a:ea typeface="Noto Sans SC" panose="020B0200000000000000" charset="-122"/>
            </a:endParaRPr>
          </a:p>
        </p:txBody>
      </p:sp>
      <p:sp>
        <p:nvSpPr>
          <p:cNvPr id="14" name="Rounded Rectangle 13"/>
          <p:cNvSpPr/>
          <p:nvPr/>
        </p:nvSpPr>
        <p:spPr>
          <a:xfrm>
            <a:off x="612648" y="3969131"/>
            <a:ext cx="2194560" cy="731520"/>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146304" tIns="36576" bIns="36576" rtlCol="0" anchor="ctr"/>
          <a:lstStyle/>
          <a:p>
            <a:pPr algn="ctr">
              <a:spcAft>
                <a:spcPts val="400"/>
              </a:spcAft>
            </a:pPr>
            <a:r>
              <a:rPr sz="1500" b="1">
                <a:solidFill>
                  <a:srgbClr val="1F5A4D"/>
                </a:solidFill>
                <a:latin typeface="Noto Sans SC" panose="020B0200000000000000" charset="-122"/>
                <a:ea typeface="Noto Sans SC" panose="020B0200000000000000" charset="-122"/>
              </a:rPr>
              <a:t>绿色属性</a:t>
            </a:r>
            <a:endParaRPr sz="1500" b="1">
              <a:solidFill>
                <a:srgbClr val="1F5A4D"/>
              </a:solidFill>
              <a:latin typeface="Noto Sans SC" panose="020B0200000000000000" charset="-122"/>
              <a:ea typeface="Noto Sans SC" panose="020B0200000000000000" charset="-122"/>
            </a:endParaRPr>
          </a:p>
        </p:txBody>
      </p:sp>
      <p:sp>
        <p:nvSpPr>
          <p:cNvPr id="15" name="Rounded Rectangle 14"/>
          <p:cNvSpPr/>
          <p:nvPr/>
        </p:nvSpPr>
        <p:spPr>
          <a:xfrm>
            <a:off x="2807208" y="3969131"/>
            <a:ext cx="3657600" cy="731520"/>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146304" tIns="36576" bIns="36576" rtlCol="0" anchor="ctr"/>
          <a:lstStyle/>
          <a:p>
            <a:pPr algn="ctr">
              <a:spcAft>
                <a:spcPts val="400"/>
              </a:spcAft>
            </a:pPr>
            <a:r>
              <a:rPr sz="1500" b="0">
                <a:solidFill>
                  <a:srgbClr val="4B5563"/>
                </a:solidFill>
                <a:latin typeface="Noto Sans SC" panose="020B0200000000000000" charset="-122"/>
                <a:ea typeface="Noto Sans SC" panose="020B0200000000000000" charset="-122"/>
              </a:rPr>
              <a:t>依附电价</a:t>
            </a:r>
            <a:endParaRPr sz="1500" b="0">
              <a:solidFill>
                <a:srgbClr val="4B5563"/>
              </a:solidFill>
              <a:latin typeface="Noto Sans SC" panose="020B0200000000000000" charset="-122"/>
              <a:ea typeface="Noto Sans SC" panose="020B0200000000000000" charset="-122"/>
            </a:endParaRPr>
          </a:p>
        </p:txBody>
      </p:sp>
      <p:sp>
        <p:nvSpPr>
          <p:cNvPr id="16" name="Rounded Rectangle 15"/>
          <p:cNvSpPr/>
          <p:nvPr/>
        </p:nvSpPr>
        <p:spPr>
          <a:xfrm>
            <a:off x="6464808" y="3969131"/>
            <a:ext cx="5129784" cy="731520"/>
          </a:xfrm>
          <a:prstGeom prst="roundRect">
            <a:avLst>
              <a:gd name="adj" fmla="val 0"/>
            </a:avLst>
          </a:prstGeom>
          <a:solidFill>
            <a:srgbClr val="FFFFFF"/>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146304" tIns="36576" bIns="36576" rtlCol="0" anchor="ctr"/>
          <a:lstStyle/>
          <a:p>
            <a:pPr algn="ctr">
              <a:spcAft>
                <a:spcPts val="400"/>
              </a:spcAft>
            </a:pPr>
            <a:r>
              <a:rPr sz="1500" b="1">
                <a:solidFill>
                  <a:srgbClr val="1F5A4D"/>
                </a:solidFill>
                <a:latin typeface="Noto Sans SC" panose="020B0200000000000000" charset="-122"/>
                <a:ea typeface="Noto Sans SC" panose="020B0200000000000000" charset="-122"/>
              </a:rPr>
              <a:t>独立凭证计价（绿证核发全覆盖、分列结算）</a:t>
            </a:r>
            <a:endParaRPr sz="1500" b="1">
              <a:solidFill>
                <a:srgbClr val="1F5A4D"/>
              </a:solidFill>
              <a:latin typeface="Noto Sans SC" panose="020B0200000000000000" charset="-122"/>
              <a:ea typeface="Noto Sans SC" panose="020B0200000000000000" charset="-122"/>
            </a:endParaRPr>
          </a:p>
        </p:txBody>
      </p:sp>
      <p:sp>
        <p:nvSpPr>
          <p:cNvPr id="17" name="Rounded Rectangle 16"/>
          <p:cNvSpPr/>
          <p:nvPr/>
        </p:nvSpPr>
        <p:spPr>
          <a:xfrm>
            <a:off x="612648" y="4700651"/>
            <a:ext cx="2194560" cy="731520"/>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146304" tIns="36576" bIns="36576" rtlCol="0" anchor="ctr"/>
          <a:lstStyle/>
          <a:p>
            <a:pPr algn="ctr">
              <a:spcAft>
                <a:spcPts val="400"/>
              </a:spcAft>
            </a:pPr>
            <a:r>
              <a:rPr sz="1500" b="1">
                <a:solidFill>
                  <a:srgbClr val="1F5A4D"/>
                </a:solidFill>
                <a:latin typeface="Noto Sans SC" panose="020B0200000000000000" charset="-122"/>
                <a:ea typeface="Noto Sans SC" panose="020B0200000000000000" charset="-122"/>
              </a:rPr>
              <a:t>系统成本</a:t>
            </a:r>
            <a:endParaRPr sz="1500" b="1">
              <a:solidFill>
                <a:srgbClr val="1F5A4D"/>
              </a:solidFill>
              <a:latin typeface="Noto Sans SC" panose="020B0200000000000000" charset="-122"/>
              <a:ea typeface="Noto Sans SC" panose="020B0200000000000000" charset="-122"/>
            </a:endParaRPr>
          </a:p>
        </p:txBody>
      </p:sp>
      <p:sp>
        <p:nvSpPr>
          <p:cNvPr id="18" name="Rounded Rectangle 17"/>
          <p:cNvSpPr/>
          <p:nvPr/>
        </p:nvSpPr>
        <p:spPr>
          <a:xfrm>
            <a:off x="2807208" y="4700651"/>
            <a:ext cx="3657600" cy="731520"/>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146304" tIns="36576" bIns="36576" rtlCol="0" anchor="ctr"/>
          <a:lstStyle/>
          <a:p>
            <a:pPr algn="ctr">
              <a:spcAft>
                <a:spcPts val="400"/>
              </a:spcAft>
            </a:pPr>
            <a:r>
              <a:rPr sz="1500" b="0">
                <a:solidFill>
                  <a:srgbClr val="4B5563"/>
                </a:solidFill>
                <a:latin typeface="Noto Sans SC" panose="020B0200000000000000" charset="-122"/>
                <a:ea typeface="Noto Sans SC" panose="020B0200000000000000" charset="-122"/>
              </a:rPr>
              <a:t>隐含交叉补贴</a:t>
            </a:r>
            <a:endParaRPr sz="1500" b="0">
              <a:solidFill>
                <a:srgbClr val="4B5563"/>
              </a:solidFill>
              <a:latin typeface="Noto Sans SC" panose="020B0200000000000000" charset="-122"/>
              <a:ea typeface="Noto Sans SC" panose="020B0200000000000000" charset="-122"/>
            </a:endParaRPr>
          </a:p>
        </p:txBody>
      </p:sp>
      <p:sp>
        <p:nvSpPr>
          <p:cNvPr id="19" name="Rounded Rectangle 18"/>
          <p:cNvSpPr/>
          <p:nvPr/>
        </p:nvSpPr>
        <p:spPr>
          <a:xfrm>
            <a:off x="6464808" y="4700651"/>
            <a:ext cx="5129784" cy="731520"/>
          </a:xfrm>
          <a:prstGeom prst="roundRect">
            <a:avLst>
              <a:gd name="adj" fmla="val 0"/>
            </a:avLst>
          </a:prstGeom>
          <a:solidFill>
            <a:srgbClr val="F1F4F5"/>
          </a:solidFill>
          <a:ln w="9525">
            <a:solidFill>
              <a:srgbClr val="DDE4E7"/>
            </a:solidFill>
          </a:ln>
          <a:effectLst/>
        </p:spPr>
        <p:style>
          <a:lnRef idx="1">
            <a:schemeClr val="accent1"/>
          </a:lnRef>
          <a:fillRef idx="3">
            <a:schemeClr val="accent1"/>
          </a:fillRef>
          <a:effectRef idx="2">
            <a:schemeClr val="accent1"/>
          </a:effectRef>
          <a:fontRef idx="minor">
            <a:schemeClr val="lt1"/>
          </a:fontRef>
        </p:style>
        <p:txBody>
          <a:bodyPr wrap="square" lIns="146304" tIns="36576" bIns="36576" rtlCol="0" anchor="ctr"/>
          <a:lstStyle/>
          <a:p>
            <a:pPr algn="ctr">
              <a:spcAft>
                <a:spcPts val="400"/>
              </a:spcAft>
            </a:pPr>
            <a:r>
              <a:rPr sz="1500" b="1">
                <a:solidFill>
                  <a:srgbClr val="1F5A4D"/>
                </a:solidFill>
                <a:latin typeface="Noto Sans SC" panose="020B0200000000000000" charset="-122"/>
                <a:ea typeface="Noto Sans SC" panose="020B0200000000000000" charset="-122"/>
              </a:rPr>
              <a:t>显性分摊（机制差价、辅助服务、容量费用）</a:t>
            </a:r>
            <a:endParaRPr sz="1500" b="1">
              <a:solidFill>
                <a:srgbClr val="1F5A4D"/>
              </a:solidFill>
              <a:latin typeface="Noto Sans SC" panose="020B0200000000000000" charset="-122"/>
              <a:ea typeface="Noto Sans SC" panose="020B0200000000000000" charset="-122"/>
            </a:endParaRPr>
          </a:p>
        </p:txBody>
      </p:sp>
      <p:sp>
        <p:nvSpPr>
          <p:cNvPr id="22" name="TextBox 21">
            <a:hlinkClick r:id="rId1" action="ppaction://hlinksldjump"/>
          </p:cNvPr>
          <p:cNvSpPr txBox="1"/>
          <p:nvPr/>
        </p:nvSpPr>
        <p:spPr>
          <a:xfrm>
            <a:off x="11238992" y="274320"/>
            <a:ext cx="309880" cy="260350"/>
          </a:xfrm>
          <a:prstGeom prst="rect">
            <a:avLst/>
          </a:prstGeom>
          <a:noFill/>
        </p:spPr>
        <p:txBody>
          <a:bodyPr wrap="none">
            <a:spAutoFit/>
          </a:bodyPr>
          <a:lstStyle/>
          <a:p>
            <a:pPr algn="r"/>
            <a:endParaRPr sz="1100">
              <a:solidFill>
                <a:srgbClr val="2E7D6B"/>
              </a:solidFill>
              <a:latin typeface="Noto Sans SC" panose="020B0200000000000000" charset="-122"/>
              <a:ea typeface="Noto Sans SC" panose="020B0200000000000000" charset="-122"/>
            </a:endParaRPr>
          </a:p>
        </p:txBody>
      </p:sp>
      <p:sp>
        <p:nvSpPr>
          <p:cNvPr id="28" name="文本框 27"/>
          <p:cNvSpPr txBox="1"/>
          <p:nvPr/>
        </p:nvSpPr>
        <p:spPr>
          <a:xfrm>
            <a:off x="822960" y="170815"/>
            <a:ext cx="11137900" cy="613410"/>
          </a:xfrm>
          <a:prstGeom prst="rect">
            <a:avLst/>
          </a:prstGeom>
          <a:noFill/>
        </p:spPr>
        <p:txBody>
          <a:bodyPr wrap="square" rtlCol="0">
            <a:noAutofit/>
          </a:bodyPr>
          <a:lstStyle/>
          <a:p>
            <a:pPr algn="l">
              <a:buClrTx/>
              <a:buSzTx/>
              <a:buFontTx/>
              <a:buNone/>
            </a:pPr>
            <a:r>
              <a:rPr lang="zh-CN" altLang="en-US" sz="2800" b="1">
                <a:solidFill>
                  <a:srgbClr val="1F5A4D"/>
                </a:solidFill>
                <a:latin typeface="微软雅黑" panose="020B0503020204020204" pitchFamily="34" charset="-122"/>
                <a:ea typeface="微软雅黑" panose="020B0503020204020204" pitchFamily="34" charset="-122"/>
                <a:sym typeface="+mn-ea"/>
              </a:rPr>
              <a:t>6 新兴要素对电力市场的综合影响</a:t>
            </a:r>
            <a:r>
              <a:rPr lang="en-US" altLang="zh-CN" sz="2800" b="1">
                <a:solidFill>
                  <a:srgbClr val="1F5A4D"/>
                </a:solidFill>
                <a:latin typeface="微软雅黑" panose="020B0503020204020204" pitchFamily="34" charset="-122"/>
                <a:ea typeface="微软雅黑" panose="020B0503020204020204" pitchFamily="34" charset="-122"/>
                <a:sym typeface="+mn-ea"/>
              </a:rPr>
              <a:t>    </a:t>
            </a:r>
            <a:r>
              <a:rPr lang="zh-CN" altLang="en-US" sz="2200" b="1">
                <a:solidFill>
                  <a:srgbClr val="029694"/>
                </a:solidFill>
                <a:latin typeface="Noto Sans SC" panose="020B0200000000000000" charset="-122"/>
                <a:ea typeface="Noto Sans SC" panose="020B0200000000000000" charset="-122"/>
                <a:cs typeface="Noto Sans SC" panose="020B0200000000000000" charset="-122"/>
                <a:sym typeface="+mn-ea"/>
              </a:rPr>
              <a:t>价格机制</a:t>
            </a:r>
            <a:endParaRPr lang="en-US" sz="2200" b="1">
              <a:solidFill>
                <a:srgbClr val="029694"/>
              </a:solidFill>
              <a:latin typeface="Noto Sans SC" panose="020B0200000000000000" charset="-122"/>
              <a:ea typeface="Noto Sans SC" panose="020B0200000000000000" charset="-122"/>
              <a:cs typeface="Noto Sans SC" panose="020B0200000000000000" charset="-122"/>
            </a:endParaRPr>
          </a:p>
          <a:p>
            <a:pPr algn="l">
              <a:buClrTx/>
              <a:buSzTx/>
              <a:buFontTx/>
            </a:pPr>
            <a:endParaRPr lang="en-US" sz="2200" b="1">
              <a:solidFill>
                <a:schemeClr val="accent3"/>
              </a:solidFill>
              <a:latin typeface="Noto Sans SC" panose="020B0200000000000000" charset="-122"/>
              <a:ea typeface="Noto Sans SC" panose="020B0200000000000000" charset="-122"/>
              <a:cs typeface="Noto Sans SC" panose="020B0200000000000000" charset="-122"/>
              <a:sym typeface="+mn-ea"/>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hlinkClick r:id="rId1" action="ppaction://hlinksldjump"/>
          </p:cNvPr>
          <p:cNvSpPr/>
          <p:nvPr>
            <p:custDataLst>
              <p:tags r:id="rId2"/>
            </p:custDataLst>
          </p:nvPr>
        </p:nvSpPr>
        <p:spPr>
          <a:xfrm>
            <a:off x="4267835" y="2843530"/>
            <a:ext cx="1284605" cy="1171575"/>
          </a:xfrm>
          <a:prstGeom prst="roundRect">
            <a:avLst>
              <a:gd name="adj" fmla="val 1600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4800" b="1" i="0">
                <a:solidFill>
                  <a:srgbClr val="FFFFFF"/>
                </a:solidFill>
                <a:latin typeface="微软雅黑" panose="020B0503020204020204" pitchFamily="34" charset="-122"/>
                <a:ea typeface="微软雅黑" panose="020B0503020204020204" pitchFamily="34" charset="-122"/>
              </a:rPr>
              <a:t>7</a:t>
            </a:r>
            <a:endParaRPr lang="en-US" sz="4800" b="1" i="0">
              <a:solidFill>
                <a:srgbClr val="FFFFFF"/>
              </a:solidFill>
              <a:latin typeface="微软雅黑" panose="020B0503020204020204" pitchFamily="34" charset="-122"/>
              <a:ea typeface="微软雅黑" panose="020B0503020204020204" pitchFamily="34" charset="-122"/>
            </a:endParaRPr>
          </a:p>
        </p:txBody>
      </p:sp>
      <p:sp>
        <p:nvSpPr>
          <p:cNvPr id="5" name="TextBox 4">
            <a:hlinkClick r:id="rId1" action="ppaction://hlinksldjump"/>
          </p:cNvPr>
          <p:cNvSpPr txBox="1"/>
          <p:nvPr>
            <p:custDataLst>
              <p:tags r:id="rId3"/>
            </p:custDataLst>
          </p:nvPr>
        </p:nvSpPr>
        <p:spPr>
          <a:xfrm>
            <a:off x="5905500" y="3182145"/>
            <a:ext cx="7429500" cy="492443"/>
          </a:xfrm>
          <a:prstGeom prst="rect">
            <a:avLst/>
          </a:prstGeom>
          <a:noFill/>
        </p:spPr>
        <p:txBody>
          <a:bodyPr wrap="square" lIns="0" tIns="0" rIns="0" bIns="0" anchor="ctr">
            <a:spAutoFit/>
          </a:bodyPr>
          <a:lstStyle/>
          <a:p>
            <a:pPr algn="l"/>
            <a:r>
              <a:rPr lang="zh-CN" altLang="en-US" sz="3200" b="1">
                <a:solidFill>
                  <a:srgbClr val="2E7D6B"/>
                </a:solidFill>
                <a:latin typeface="微软雅黑" panose="020B0503020204020204" pitchFamily="34" charset="-122"/>
                <a:ea typeface="微软雅黑" panose="020B0503020204020204" pitchFamily="34" charset="-122"/>
                <a:sym typeface="+mn-ea"/>
              </a:rPr>
              <a:t>下一步计划</a:t>
            </a:r>
            <a:endParaRPr lang="zh-CN" sz="3200" b="1">
              <a:solidFill>
                <a:srgbClr val="2E7D6B"/>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6384" y="182880"/>
            <a:ext cx="10881360" cy="548640"/>
          </a:xfrm>
          <a:prstGeom prst="rect">
            <a:avLst/>
          </a:prstGeom>
          <a:noFill/>
        </p:spPr>
        <p:txBody>
          <a:bodyPr wrap="square" lIns="18288" tIns="0" rIns="0" bIns="0" anchor="ctr">
            <a:spAutoFit/>
          </a:bodyPr>
          <a:lstStyle/>
          <a:p>
            <a:r>
              <a:rPr sz="2800" b="1">
                <a:solidFill>
                  <a:srgbClr val="1F5A4D"/>
                </a:solidFill>
                <a:latin typeface="微软雅黑" panose="020B0503020204020204" pitchFamily="34" charset="-122"/>
                <a:ea typeface="微软雅黑" panose="020B0503020204020204" pitchFamily="34" charset="-122"/>
              </a:rPr>
              <a:t>7 下一步计划    </a:t>
            </a:r>
            <a:r>
              <a:rPr sz="2200" b="1">
                <a:solidFill>
                  <a:srgbClr val="029694"/>
                </a:solidFill>
                <a:latin typeface="微软雅黑" panose="020B0503020204020204" pitchFamily="34" charset="-122"/>
                <a:ea typeface="微软雅黑" panose="020B0503020204020204" pitchFamily="34" charset="-122"/>
              </a:rPr>
              <a:t>工作安排</a:t>
            </a:r>
            <a:endParaRPr sz="2200" b="1">
              <a:solidFill>
                <a:srgbClr val="029694"/>
              </a:solidFill>
              <a:latin typeface="微软雅黑" panose="020B0503020204020204" pitchFamily="34" charset="-122"/>
              <a:ea typeface="微软雅黑" panose="020B0503020204020204" pitchFamily="34" charset="-122"/>
            </a:endParaRPr>
          </a:p>
        </p:txBody>
      </p:sp>
      <p:sp>
        <p:nvSpPr>
          <p:cNvPr id="3" name="Rounded Rectangle 2"/>
          <p:cNvSpPr/>
          <p:nvPr/>
        </p:nvSpPr>
        <p:spPr>
          <a:xfrm>
            <a:off x="713232" y="950976"/>
            <a:ext cx="10762488" cy="493776"/>
          </a:xfrm>
          <a:prstGeom prst="roundRect">
            <a:avLst>
              <a:gd name="adj" fmla="val 16000"/>
            </a:avLst>
          </a:prstGeom>
          <a:solidFill>
            <a:srgbClr val="E6F1EE"/>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0" rIns="73152" bIns="0" rtlCol="0" anchor="ctr"/>
          <a:lstStyle/>
          <a:p>
            <a:pPr algn="l"/>
            <a:r>
              <a:rPr sz="2100" b="0">
                <a:solidFill>
                  <a:srgbClr val="1F5A4D"/>
                </a:solidFill>
                <a:latin typeface="微软雅黑" panose="020B0503020204020204" pitchFamily="34" charset="-122"/>
                <a:ea typeface="微软雅黑" panose="020B0503020204020204" pitchFamily="34" charset="-122"/>
              </a:rPr>
              <a:t>在六章报告完成的基础上，下一步重点抓好规划建议、校核、定稿与论文推进</a:t>
            </a:r>
            <a:endParaRPr sz="2100" b="0">
              <a:solidFill>
                <a:srgbClr val="1F5A4D"/>
              </a:solidFill>
              <a:latin typeface="微软雅黑" panose="020B0503020204020204" pitchFamily="34" charset="-122"/>
              <a:ea typeface="微软雅黑" panose="020B0503020204020204" pitchFamily="34" charset="-122"/>
            </a:endParaRPr>
          </a:p>
        </p:txBody>
      </p:sp>
      <p:sp>
        <p:nvSpPr>
          <p:cNvPr id="4" name="Rounded Rectangle 3"/>
          <p:cNvSpPr/>
          <p:nvPr>
            <p:custDataLst>
              <p:tags r:id="rId1"/>
            </p:custDataLst>
          </p:nvPr>
        </p:nvSpPr>
        <p:spPr>
          <a:xfrm>
            <a:off x="612648" y="1572768"/>
            <a:ext cx="10981944" cy="1110996"/>
          </a:xfrm>
          <a:prstGeom prst="roundRect">
            <a:avLst>
              <a:gd name="adj" fmla="val 5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custDataLst>
              <p:tags r:id="rId2"/>
            </p:custDataLst>
          </p:nvPr>
        </p:nvSpPr>
        <p:spPr>
          <a:xfrm>
            <a:off x="612648" y="1572768"/>
            <a:ext cx="77724" cy="1110996"/>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custDataLst>
              <p:tags r:id="rId3"/>
            </p:custDataLst>
          </p:nvPr>
        </p:nvSpPr>
        <p:spPr>
          <a:xfrm>
            <a:off x="868680" y="1997774"/>
            <a:ext cx="3246120" cy="260985"/>
          </a:xfrm>
          <a:prstGeom prst="rect">
            <a:avLst/>
          </a:prstGeom>
          <a:noFill/>
        </p:spPr>
        <p:txBody>
          <a:bodyPr wrap="square" lIns="0" tIns="0" rIns="73152" bIns="0" anchor="ctr">
            <a:spAutoFit/>
          </a:bodyPr>
          <a:lstStyle/>
          <a:p>
            <a:pPr algn="l"/>
            <a:r>
              <a:rPr sz="1700" b="1">
                <a:solidFill>
                  <a:srgbClr val="1F5A4D"/>
                </a:solidFill>
                <a:latin typeface="微软雅黑" panose="020B0503020204020204" pitchFamily="34" charset="-122"/>
                <a:ea typeface="微软雅黑" panose="020B0503020204020204" pitchFamily="34" charset="-122"/>
              </a:rPr>
              <a:t>1  规划建设发展建议</a:t>
            </a:r>
            <a:r>
              <a:rPr lang="zh-CN" sz="1700" b="1">
                <a:solidFill>
                  <a:srgbClr val="1F5A4D"/>
                </a:solidFill>
                <a:latin typeface="微软雅黑" panose="020B0503020204020204" pitchFamily="34" charset="-122"/>
                <a:ea typeface="微软雅黑" panose="020B0503020204020204" pitchFamily="34" charset="-122"/>
              </a:rPr>
              <a:t>（第七章）</a:t>
            </a:r>
            <a:endParaRPr lang="zh-CN" sz="1700" b="1">
              <a:solidFill>
                <a:srgbClr val="1F5A4D"/>
              </a:solidFill>
              <a:latin typeface="微软雅黑" panose="020B0503020204020204" pitchFamily="34" charset="-122"/>
              <a:ea typeface="微软雅黑" panose="020B0503020204020204" pitchFamily="34" charset="-122"/>
            </a:endParaRPr>
          </a:p>
        </p:txBody>
      </p:sp>
      <p:sp>
        <p:nvSpPr>
          <p:cNvPr id="7" name="TextBox 6"/>
          <p:cNvSpPr txBox="1"/>
          <p:nvPr>
            <p:custDataLst>
              <p:tags r:id="rId4"/>
            </p:custDataLst>
          </p:nvPr>
        </p:nvSpPr>
        <p:spPr>
          <a:xfrm>
            <a:off x="4160520" y="1719072"/>
            <a:ext cx="7269480" cy="818388"/>
          </a:xfrm>
          <a:prstGeom prst="rect">
            <a:avLst/>
          </a:prstGeom>
          <a:noFill/>
        </p:spPr>
        <p:txBody>
          <a:bodyPr wrap="square" lIns="0" tIns="0" rIns="73152" bIns="0" anchor="ctr">
            <a:spAutoFit/>
          </a:bodyPr>
          <a:lstStyle/>
          <a:p>
            <a:pPr algn="l"/>
            <a:r>
              <a:rPr sz="1400" b="0">
                <a:solidFill>
                  <a:srgbClr val="4B5563"/>
                </a:solidFill>
                <a:latin typeface="Noto Sans SC" panose="020B0200000000000000" charset="-122"/>
                <a:ea typeface="Noto Sans SC" panose="020B0200000000000000" charset="-122"/>
              </a:rPr>
              <a:t>在综合影响研判的基础上，提炼电网及电源规划建设发展建议，形成建议草案</a:t>
            </a:r>
            <a:endParaRPr sz="1400" b="0">
              <a:solidFill>
                <a:srgbClr val="4B5563"/>
              </a:solidFill>
              <a:latin typeface="Noto Sans SC" panose="020B0200000000000000" charset="-122"/>
              <a:ea typeface="Noto Sans SC" panose="020B0200000000000000" charset="-122"/>
            </a:endParaRPr>
          </a:p>
        </p:txBody>
      </p:sp>
      <p:sp>
        <p:nvSpPr>
          <p:cNvPr id="8" name="Rounded Rectangle 7"/>
          <p:cNvSpPr/>
          <p:nvPr>
            <p:custDataLst>
              <p:tags r:id="rId5"/>
            </p:custDataLst>
          </p:nvPr>
        </p:nvSpPr>
        <p:spPr>
          <a:xfrm>
            <a:off x="612648" y="2830068"/>
            <a:ext cx="10981944" cy="1110996"/>
          </a:xfrm>
          <a:prstGeom prst="roundRect">
            <a:avLst>
              <a:gd name="adj" fmla="val 5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custDataLst>
              <p:tags r:id="rId6"/>
            </p:custDataLst>
          </p:nvPr>
        </p:nvSpPr>
        <p:spPr>
          <a:xfrm>
            <a:off x="612648" y="2830068"/>
            <a:ext cx="77724" cy="1110996"/>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custDataLst>
              <p:tags r:id="rId7"/>
            </p:custDataLst>
          </p:nvPr>
        </p:nvSpPr>
        <p:spPr>
          <a:xfrm>
            <a:off x="868680" y="2976372"/>
            <a:ext cx="3246120" cy="818388"/>
          </a:xfrm>
          <a:prstGeom prst="rect">
            <a:avLst/>
          </a:prstGeom>
          <a:noFill/>
        </p:spPr>
        <p:txBody>
          <a:bodyPr wrap="square" lIns="0" tIns="0" rIns="73152" bIns="0" anchor="ctr">
            <a:spAutoFit/>
          </a:bodyPr>
          <a:lstStyle/>
          <a:p>
            <a:pPr algn="l"/>
            <a:r>
              <a:rPr sz="1700" b="1">
                <a:solidFill>
                  <a:srgbClr val="1F5A4D"/>
                </a:solidFill>
                <a:latin typeface="微软雅黑" panose="020B0503020204020204" pitchFamily="34" charset="-122"/>
                <a:ea typeface="微软雅黑" panose="020B0503020204020204" pitchFamily="34" charset="-122"/>
              </a:rPr>
              <a:t>2  报告校核与完善</a:t>
            </a:r>
            <a:endParaRPr sz="1700" b="1">
              <a:solidFill>
                <a:srgbClr val="1F5A4D"/>
              </a:solidFill>
              <a:latin typeface="微软雅黑" panose="020B0503020204020204" pitchFamily="34" charset="-122"/>
              <a:ea typeface="微软雅黑" panose="020B0503020204020204" pitchFamily="34" charset="-122"/>
            </a:endParaRPr>
          </a:p>
        </p:txBody>
      </p:sp>
      <p:sp>
        <p:nvSpPr>
          <p:cNvPr id="11" name="TextBox 10"/>
          <p:cNvSpPr txBox="1"/>
          <p:nvPr>
            <p:custDataLst>
              <p:tags r:id="rId8"/>
            </p:custDataLst>
          </p:nvPr>
        </p:nvSpPr>
        <p:spPr>
          <a:xfrm>
            <a:off x="4160520" y="2976372"/>
            <a:ext cx="7269480" cy="818388"/>
          </a:xfrm>
          <a:prstGeom prst="rect">
            <a:avLst/>
          </a:prstGeom>
          <a:noFill/>
        </p:spPr>
        <p:txBody>
          <a:bodyPr wrap="square" lIns="0" tIns="0" rIns="73152" bIns="0" anchor="ctr">
            <a:spAutoFit/>
          </a:bodyPr>
          <a:lstStyle/>
          <a:p>
            <a:pPr algn="l"/>
            <a:r>
              <a:rPr sz="1400" b="0">
                <a:solidFill>
                  <a:srgbClr val="4B5563"/>
                </a:solidFill>
                <a:latin typeface="Noto Sans SC" panose="020B0200000000000000" charset="-122"/>
                <a:ea typeface="Noto Sans SC" panose="020B0200000000000000" charset="-122"/>
              </a:rPr>
              <a:t>完成研究报告全文校核，统一数据口径与表述，确保各章结论相互衔接</a:t>
            </a:r>
            <a:endParaRPr sz="1400" b="0">
              <a:solidFill>
                <a:srgbClr val="4B5563"/>
              </a:solidFill>
              <a:latin typeface="Noto Sans SC" panose="020B0200000000000000" charset="-122"/>
              <a:ea typeface="Noto Sans SC" panose="020B0200000000000000" charset="-122"/>
            </a:endParaRPr>
          </a:p>
        </p:txBody>
      </p:sp>
      <p:sp>
        <p:nvSpPr>
          <p:cNvPr id="12" name="Rounded Rectangle 11"/>
          <p:cNvSpPr/>
          <p:nvPr>
            <p:custDataLst>
              <p:tags r:id="rId9"/>
            </p:custDataLst>
          </p:nvPr>
        </p:nvSpPr>
        <p:spPr>
          <a:xfrm>
            <a:off x="612648" y="4087368"/>
            <a:ext cx="10981944" cy="1110996"/>
          </a:xfrm>
          <a:prstGeom prst="roundRect">
            <a:avLst>
              <a:gd name="adj" fmla="val 5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custDataLst>
              <p:tags r:id="rId10"/>
            </p:custDataLst>
          </p:nvPr>
        </p:nvSpPr>
        <p:spPr>
          <a:xfrm>
            <a:off x="612648" y="4087368"/>
            <a:ext cx="77724" cy="1110996"/>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custDataLst>
              <p:tags r:id="rId11"/>
            </p:custDataLst>
          </p:nvPr>
        </p:nvSpPr>
        <p:spPr>
          <a:xfrm>
            <a:off x="868680" y="4233672"/>
            <a:ext cx="3246120" cy="818388"/>
          </a:xfrm>
          <a:prstGeom prst="rect">
            <a:avLst/>
          </a:prstGeom>
          <a:noFill/>
        </p:spPr>
        <p:txBody>
          <a:bodyPr wrap="square" lIns="0" tIns="0" rIns="73152" bIns="0" anchor="ctr">
            <a:spAutoFit/>
          </a:bodyPr>
          <a:lstStyle/>
          <a:p>
            <a:pPr algn="l"/>
            <a:r>
              <a:rPr sz="1700" b="1">
                <a:solidFill>
                  <a:srgbClr val="1F5A4D"/>
                </a:solidFill>
                <a:latin typeface="微软雅黑" panose="020B0503020204020204" pitchFamily="34" charset="-122"/>
                <a:ea typeface="微软雅黑" panose="020B0503020204020204" pitchFamily="34" charset="-122"/>
              </a:rPr>
              <a:t>3  研究报告定稿</a:t>
            </a:r>
            <a:endParaRPr sz="1700" b="1">
              <a:solidFill>
                <a:srgbClr val="1F5A4D"/>
              </a:solidFill>
              <a:latin typeface="微软雅黑" panose="020B0503020204020204" pitchFamily="34" charset="-122"/>
              <a:ea typeface="微软雅黑" panose="020B0503020204020204" pitchFamily="34" charset="-122"/>
            </a:endParaRPr>
          </a:p>
        </p:txBody>
      </p:sp>
      <p:sp>
        <p:nvSpPr>
          <p:cNvPr id="15" name="TextBox 14"/>
          <p:cNvSpPr txBox="1"/>
          <p:nvPr>
            <p:custDataLst>
              <p:tags r:id="rId12"/>
            </p:custDataLst>
          </p:nvPr>
        </p:nvSpPr>
        <p:spPr>
          <a:xfrm>
            <a:off x="4160520" y="4233672"/>
            <a:ext cx="7269480" cy="818388"/>
          </a:xfrm>
          <a:prstGeom prst="rect">
            <a:avLst/>
          </a:prstGeom>
          <a:noFill/>
        </p:spPr>
        <p:txBody>
          <a:bodyPr wrap="square" lIns="0" tIns="0" rIns="73152" bIns="0" anchor="ctr">
            <a:spAutoFit/>
          </a:bodyPr>
          <a:lstStyle/>
          <a:p>
            <a:pPr algn="l"/>
            <a:r>
              <a:rPr sz="1400" b="0">
                <a:solidFill>
                  <a:srgbClr val="4B5563"/>
                </a:solidFill>
                <a:latin typeface="Noto Sans SC" panose="020B0200000000000000" charset="-122"/>
                <a:ea typeface="Noto Sans SC" panose="020B0200000000000000" charset="-122"/>
              </a:rPr>
              <a:t>完成研究报告定稿，整理过程资料并形成归档清单</a:t>
            </a:r>
            <a:endParaRPr sz="1400" b="0">
              <a:solidFill>
                <a:srgbClr val="4B5563"/>
              </a:solidFill>
              <a:latin typeface="Noto Sans SC" panose="020B0200000000000000" charset="-122"/>
              <a:ea typeface="Noto Sans SC" panose="020B0200000000000000" charset="-122"/>
            </a:endParaRPr>
          </a:p>
        </p:txBody>
      </p:sp>
      <p:sp>
        <p:nvSpPr>
          <p:cNvPr id="16" name="Rounded Rectangle 15"/>
          <p:cNvSpPr/>
          <p:nvPr>
            <p:custDataLst>
              <p:tags r:id="rId13"/>
            </p:custDataLst>
          </p:nvPr>
        </p:nvSpPr>
        <p:spPr>
          <a:xfrm>
            <a:off x="612648" y="5344668"/>
            <a:ext cx="10981944" cy="1110996"/>
          </a:xfrm>
          <a:prstGeom prst="roundRect">
            <a:avLst>
              <a:gd name="adj" fmla="val 5000"/>
            </a:avLst>
          </a:prstGeom>
          <a:solidFill>
            <a:srgbClr val="FFFFFF"/>
          </a:solidFill>
          <a:ln w="12700">
            <a:solidFill>
              <a:srgbClr val="DD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custDataLst>
              <p:tags r:id="rId14"/>
            </p:custDataLst>
          </p:nvPr>
        </p:nvSpPr>
        <p:spPr>
          <a:xfrm>
            <a:off x="612648" y="5344668"/>
            <a:ext cx="77724" cy="1110996"/>
          </a:xfrm>
          <a:prstGeom prst="roundRect">
            <a:avLst>
              <a:gd name="adj" fmla="val 0"/>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custDataLst>
              <p:tags r:id="rId15"/>
            </p:custDataLst>
          </p:nvPr>
        </p:nvSpPr>
        <p:spPr>
          <a:xfrm>
            <a:off x="868680" y="5490972"/>
            <a:ext cx="3246120" cy="818388"/>
          </a:xfrm>
          <a:prstGeom prst="rect">
            <a:avLst/>
          </a:prstGeom>
          <a:noFill/>
        </p:spPr>
        <p:txBody>
          <a:bodyPr wrap="square" lIns="0" tIns="0" rIns="73152" bIns="0" anchor="ctr">
            <a:spAutoFit/>
          </a:bodyPr>
          <a:lstStyle/>
          <a:p>
            <a:pPr algn="l"/>
            <a:r>
              <a:rPr sz="1700" b="1">
                <a:solidFill>
                  <a:srgbClr val="1F5A4D"/>
                </a:solidFill>
                <a:latin typeface="微软雅黑" panose="020B0503020204020204" pitchFamily="34" charset="-122"/>
                <a:ea typeface="微软雅黑" panose="020B0503020204020204" pitchFamily="34" charset="-122"/>
              </a:rPr>
              <a:t>4  论文推进</a:t>
            </a:r>
            <a:endParaRPr sz="1700" b="1">
              <a:solidFill>
                <a:srgbClr val="1F5A4D"/>
              </a:solidFill>
              <a:latin typeface="微软雅黑" panose="020B0503020204020204" pitchFamily="34" charset="-122"/>
              <a:ea typeface="微软雅黑" panose="020B0503020204020204" pitchFamily="34" charset="-122"/>
            </a:endParaRPr>
          </a:p>
        </p:txBody>
      </p:sp>
      <p:sp>
        <p:nvSpPr>
          <p:cNvPr id="19" name="TextBox 18"/>
          <p:cNvSpPr txBox="1"/>
          <p:nvPr>
            <p:custDataLst>
              <p:tags r:id="rId16"/>
            </p:custDataLst>
          </p:nvPr>
        </p:nvSpPr>
        <p:spPr>
          <a:xfrm>
            <a:off x="4160520" y="5792534"/>
            <a:ext cx="7269480" cy="215265"/>
          </a:xfrm>
          <a:prstGeom prst="rect">
            <a:avLst/>
          </a:prstGeom>
          <a:noFill/>
        </p:spPr>
        <p:txBody>
          <a:bodyPr wrap="square" lIns="0" tIns="0" rIns="73152" bIns="0" anchor="ctr">
            <a:spAutoFit/>
          </a:bodyPr>
          <a:lstStyle/>
          <a:p>
            <a:pPr algn="l"/>
            <a:r>
              <a:rPr sz="1400" b="0">
                <a:solidFill>
                  <a:srgbClr val="4B5563"/>
                </a:solidFill>
                <a:latin typeface="Noto Sans SC" panose="020B0200000000000000" charset="-122"/>
                <a:ea typeface="Noto Sans SC" panose="020B0200000000000000" charset="-122"/>
              </a:rPr>
              <a:t>1篇</a:t>
            </a:r>
            <a:r>
              <a:rPr lang="zh-CN" sz="1400" b="0">
                <a:solidFill>
                  <a:srgbClr val="4B5563"/>
                </a:solidFill>
                <a:latin typeface="Noto Sans SC" panose="020B0200000000000000" charset="-122"/>
                <a:ea typeface="Noto Sans SC" panose="020B0200000000000000" charset="-122"/>
              </a:rPr>
              <a:t>有录用通知</a:t>
            </a:r>
            <a:r>
              <a:rPr sz="1400" b="0">
                <a:solidFill>
                  <a:srgbClr val="4B5563"/>
                </a:solidFill>
                <a:latin typeface="Noto Sans SC" panose="020B0200000000000000" charset="-122"/>
                <a:ea typeface="Noto Sans SC" panose="020B0200000000000000" charset="-122"/>
              </a:rPr>
              <a:t>；另1篇推进投稿与录用</a:t>
            </a:r>
            <a:endParaRPr sz="1400" b="0">
              <a:solidFill>
                <a:srgbClr val="4B5563"/>
              </a:solidFill>
              <a:latin typeface="Noto Sans SC" panose="020B0200000000000000" charset="-122"/>
              <a:ea typeface="Noto Sans SC" panose="020B0200000000000000"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788920"/>
            <a:ext cx="12188952" cy="822960"/>
          </a:xfrm>
          <a:prstGeom prst="rect">
            <a:avLst/>
          </a:prstGeom>
          <a:noFill/>
        </p:spPr>
        <p:txBody>
          <a:bodyPr wrap="square" tIns="36576" bIns="36576" anchor="ctr">
            <a:spAutoFit/>
          </a:bodyPr>
          <a:lstStyle/>
          <a:p>
            <a:pPr algn="ctr">
              <a:spcAft>
                <a:spcPts val="400"/>
              </a:spcAft>
            </a:pPr>
            <a:r>
              <a:rPr sz="4000" b="1">
                <a:solidFill>
                  <a:srgbClr val="1F5A4D"/>
                </a:solidFill>
                <a:latin typeface="微软雅黑" panose="020B0503020204020204" pitchFamily="34" charset="-122"/>
                <a:ea typeface="微软雅黑" panose="020B0503020204020204" pitchFamily="34" charset="-122"/>
              </a:rPr>
              <a:t>谢谢聆听</a:t>
            </a:r>
            <a:endParaRPr sz="4000" b="1">
              <a:solidFill>
                <a:srgbClr val="1F5A4D"/>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0" y="3703320"/>
            <a:ext cx="12188952" cy="457200"/>
          </a:xfrm>
          <a:prstGeom prst="rect">
            <a:avLst/>
          </a:prstGeom>
          <a:noFill/>
        </p:spPr>
        <p:txBody>
          <a:bodyPr wrap="square" tIns="36576" bIns="36576" anchor="ctr">
            <a:spAutoFit/>
          </a:bodyPr>
          <a:lstStyle/>
          <a:p>
            <a:pPr algn="ctr">
              <a:spcAft>
                <a:spcPts val="400"/>
              </a:spcAft>
            </a:pPr>
            <a:r>
              <a:rPr sz="1600" b="0">
                <a:solidFill>
                  <a:srgbClr val="4B5563"/>
                </a:solidFill>
                <a:latin typeface="Noto Sans SC" panose="020B0200000000000000" charset="-122"/>
                <a:ea typeface="Noto Sans SC" panose="020B0200000000000000" charset="-122"/>
              </a:rPr>
              <a:t>敬请批评指正</a:t>
            </a:r>
            <a:endParaRPr sz="1600" b="0">
              <a:solidFill>
                <a:srgbClr val="4B5563"/>
              </a:solidFill>
              <a:latin typeface="Noto Sans SC" panose="020B0200000000000000" charset="-122"/>
              <a:ea typeface="Noto Sans SC" panose="020B0200000000000000" charset="-122"/>
            </a:endParaRPr>
          </a:p>
        </p:txBody>
      </p:sp>
    </p:spTree>
  </p:cSld>
  <p:clrMapOvr>
    <a:masterClrMapping/>
  </p:clrMapOvr>
  <p:transition/>
</p:sld>
</file>

<file path=ppt/tags/tag1.xml><?xml version="1.0" encoding="utf-8"?>
<p:tagLst xmlns:p="http://schemas.openxmlformats.org/presentationml/2006/main">
  <p:tag name="PA" val="v5.2.9"/>
</p:tagLst>
</file>

<file path=ppt/tags/tag2.xml><?xml version="1.0" encoding="utf-8"?>
<p:tagLst xmlns:p="http://schemas.openxmlformats.org/presentationml/2006/main">
  <p:tag name="PA" val="v5.2.9"/>
</p:tagLst>
</file>

<file path=ppt/tags/tag3.xml><?xml version="1.0" encoding="utf-8"?>
<p:tagLst xmlns:p="http://schemas.openxmlformats.org/presentationml/2006/main">
  <p:tag name="PA" val="v5.2.9"/>
</p:tagLst>
</file>

<file path=ppt/tags/tag4.xml><?xml version="1.0" encoding="utf-8"?>
<p:tagLst xmlns:p="http://schemas.openxmlformats.org/presentationml/2006/main">
  <p:tag name="PA" val="v5.2.9"/>
</p:tagLst>
</file>

<file path=ppt/tags/tag5.xml><?xml version="1.0" encoding="utf-8"?>
<p:tagLst xmlns:p="http://schemas.openxmlformats.org/presentationml/2006/main">
  <p:tag name="PA" val="v5.2.9"/>
</p:tagLst>
</file>

<file path=ppt/tags/tag6.xml><?xml version="1.0" encoding="utf-8"?>
<p:tagLst xmlns:p="http://schemas.openxmlformats.org/presentationml/2006/main">
  <p:tag name="PA" val="v5.2.9"/>
</p:tagLst>
</file>

<file path=ppt/tags/tag7.xml><?xml version="1.0" encoding="utf-8"?>
<p:tagLst xmlns:p="http://schemas.openxmlformats.org/presentationml/2006/main">
  <p:tag name="PA" val="v5.2.9"/>
</p:tagLst>
</file>

<file path=ppt/tags/tag8.xml><?xml version="1.0" encoding="utf-8"?>
<p:tagLst xmlns:p="http://schemas.openxmlformats.org/presentationml/2006/main">
  <p:tag name="PA" val="v5.2.9"/>
</p:tagLst>
</file>

<file path=ppt/tags/tag9.xml><?xml version="1.0" encoding="utf-8"?>
<p:tagLst xmlns:p="http://schemas.openxmlformats.org/presentationml/2006/main">
  <p:tag name="PA" val="v5.2.9"/>
</p:tagLst>
</file>

<file path=ppt/tags/tag10.xml><?xml version="1.0" encoding="utf-8"?>
<p:tagLst xmlns:p="http://schemas.openxmlformats.org/presentationml/2006/main">
  <p:tag name="PA" val="v5.2.9"/>
</p:tagLst>
</file>

<file path=ppt/tags/tag11.xml><?xml version="1.0" encoding="utf-8"?>
<p:tagLst xmlns:p="http://schemas.openxmlformats.org/presentationml/2006/main">
  <p:tag name="PA" val="v5.2.9"/>
</p:tagLst>
</file>

<file path=ppt/tags/tag12.xml><?xml version="1.0" encoding="utf-8"?>
<p:tagLst xmlns:p="http://schemas.openxmlformats.org/presentationml/2006/main">
  <p:tag name="PA" val="v5.2.9"/>
</p:tagLst>
</file>

<file path=ppt/tags/tag13.xml><?xml version="1.0" encoding="utf-8"?>
<p:tagLst xmlns:p="http://schemas.openxmlformats.org/presentationml/2006/main">
  <p:tag name="PA" val="v5.2.9"/>
</p:tagLst>
</file>

<file path=ppt/tags/tag14.xml><?xml version="1.0" encoding="utf-8"?>
<p:tagLst xmlns:p="http://schemas.openxmlformats.org/presentationml/2006/main">
  <p:tag name="PA" val="v5.2.9"/>
</p:tagLst>
</file>

<file path=ppt/tags/tag15.xml><?xml version="1.0" encoding="utf-8"?>
<p:tagLst xmlns:p="http://schemas.openxmlformats.org/presentationml/2006/main">
  <p:tag name="PA" val="v5.2.9"/>
</p:tagLst>
</file>

<file path=ppt/tags/tag16.xml><?xml version="1.0" encoding="utf-8"?>
<p:tagLst xmlns:p="http://schemas.openxmlformats.org/presentationml/2006/main">
  <p:tag name="PA" val="v5.2.9"/>
</p:tagLst>
</file>

<file path=ppt/tags/tag17.xml><?xml version="1.0" encoding="utf-8"?>
<p:tagLst xmlns:p="http://schemas.openxmlformats.org/presentationml/2006/main">
  <p:tag name="PA" val="v5.2.9"/>
</p:tagLst>
</file>

<file path=ppt/tags/tag18.xml><?xml version="1.0" encoding="utf-8"?>
<p:tagLst xmlns:p="http://schemas.openxmlformats.org/presentationml/2006/main">
  <p:tag name="PA" val="v5.2.9"/>
</p:tagLst>
</file>

<file path=ppt/tags/tag19.xml><?xml version="1.0" encoding="utf-8"?>
<p:tagLst xmlns:p="http://schemas.openxmlformats.org/presentationml/2006/main">
  <p:tag name="PA" val="v5.2.9"/>
</p:tagLst>
</file>

<file path=ppt/tags/tag20.xml><?xml version="1.0" encoding="utf-8"?>
<p:tagLst xmlns:p="http://schemas.openxmlformats.org/presentationml/2006/main">
  <p:tag name="PA" val="v5.2.9"/>
</p:tagLst>
</file>

<file path=ppt/tags/tag21.xml><?xml version="1.0" encoding="utf-8"?>
<p:tagLst xmlns:p="http://schemas.openxmlformats.org/presentationml/2006/main">
  <p:tag name="PA" val="v5.2.9"/>
</p:tagLst>
</file>

<file path=ppt/tags/tag22.xml><?xml version="1.0" encoding="utf-8"?>
<p:tagLst xmlns:p="http://schemas.openxmlformats.org/presentationml/2006/main">
  <p:tag name="PA" val="v5.2.9"/>
</p:tagLst>
</file>

<file path=ppt/tags/tag23.xml><?xml version="1.0" encoding="utf-8"?>
<p:tagLst xmlns:p="http://schemas.openxmlformats.org/presentationml/2006/main">
  <p:tag name="PA" val="v5.2.9"/>
</p:tagLst>
</file>

<file path=ppt/tags/tag24.xml><?xml version="1.0" encoding="utf-8"?>
<p:tagLst xmlns:p="http://schemas.openxmlformats.org/presentationml/2006/main">
  <p:tag name="PA" val="v5.2.9"/>
</p:tagLst>
</file>

<file path=ppt/tags/tag25.xml><?xml version="1.0" encoding="utf-8"?>
<p:tagLst xmlns:p="http://schemas.openxmlformats.org/presentationml/2006/main">
  <p:tag name="PA" val="v5.2.9"/>
</p:tagLst>
</file>

<file path=ppt/tags/tag26.xml><?xml version="1.0" encoding="utf-8"?>
<p:tagLst xmlns:p="http://schemas.openxmlformats.org/presentationml/2006/main">
  <p:tag name="PA" val="v5.2.9"/>
</p:tagLst>
</file>

<file path=ppt/tags/tag27.xml><?xml version="1.0" encoding="utf-8"?>
<p:tagLst xmlns:p="http://schemas.openxmlformats.org/presentationml/2006/main">
  <p:tag name="PA" val="v5.2.9"/>
</p:tagLst>
</file>

<file path=ppt/tags/tag28.xml><?xml version="1.0" encoding="utf-8"?>
<p:tagLst xmlns:p="http://schemas.openxmlformats.org/presentationml/2006/main">
  <p:tag name="PA" val="v5.2.9"/>
</p:tagLst>
</file>

<file path=ppt/tags/tag29.xml><?xml version="1.0" encoding="utf-8"?>
<p:tagLst xmlns:p="http://schemas.openxmlformats.org/presentationml/2006/main">
  <p:tag name="PA" val="v5.2.9"/>
</p:tagLst>
</file>

<file path=ppt/tags/tag30.xml><?xml version="1.0" encoding="utf-8"?>
<p:tagLst xmlns:p="http://schemas.openxmlformats.org/presentationml/2006/main">
  <p:tag name="PA" val="v5.2.9"/>
</p:tagLst>
</file>

<file path=ppt/tags/tag31.xml><?xml version="1.0" encoding="utf-8"?>
<p:tagLst xmlns:p="http://schemas.openxmlformats.org/presentationml/2006/main">
  <p:tag name="PA" val="v5.2.9"/>
</p:tagLst>
</file>

<file path=ppt/tags/tag32.xml><?xml version="1.0" encoding="utf-8"?>
<p:tagLst xmlns:p="http://schemas.openxmlformats.org/presentationml/2006/main">
  <p:tag name="PA" val="v5.2.11"/>
</p:tagLst>
</file>

<file path=ppt/tags/tag33.xml><?xml version="1.0" encoding="utf-8"?>
<p:tagLst xmlns:p="http://schemas.openxmlformats.org/presentationml/2006/main">
  <p:tag name="TYPE" val="icon"/>
</p:tagLst>
</file>

<file path=ppt/tags/tag34.xml><?xml version="1.0" encoding="utf-8"?>
<p:tagLst xmlns:p="http://schemas.openxmlformats.org/presentationml/2006/main">
  <p:tag name="PA" val="v5.2.11"/>
</p:tagLst>
</file>

<file path=ppt/tags/tag35.xml><?xml version="1.0" encoding="utf-8"?>
<p:tagLst xmlns:p="http://schemas.openxmlformats.org/presentationml/2006/main">
  <p:tag name="PA" val="v5.2.9"/>
</p:tagLst>
</file>

<file path=ppt/tags/tag36.xml><?xml version="1.0" encoding="utf-8"?>
<p:tagLst xmlns:p="http://schemas.openxmlformats.org/presentationml/2006/main">
  <p:tag name="PA" val="v5.2.9"/>
</p:tagLst>
</file>

<file path=ppt/tags/tag37.xml><?xml version="1.0" encoding="utf-8"?>
<p:tagLst xmlns:p="http://schemas.openxmlformats.org/presentationml/2006/main">
  <p:tag name="PA" val="v5.2.9"/>
</p:tagLst>
</file>

<file path=ppt/tags/tag38.xml><?xml version="1.0" encoding="utf-8"?>
<p:tagLst xmlns:p="http://schemas.openxmlformats.org/presentationml/2006/main">
  <p:tag name="PA" val="v5.2.9"/>
</p:tagLst>
</file>

<file path=ppt/tags/tag39.xml><?xml version="1.0" encoding="utf-8"?>
<p:tagLst xmlns:p="http://schemas.openxmlformats.org/presentationml/2006/main">
  <p:tag name="PA" val="v5.2.9"/>
</p:tagLst>
</file>

<file path=ppt/tags/tag40.xml><?xml version="1.0" encoding="utf-8"?>
<p:tagLst xmlns:p="http://schemas.openxmlformats.org/presentationml/2006/main">
  <p:tag name="PA" val="v5.2.9"/>
</p:tagLst>
</file>

<file path=ppt/tags/tag41.xml><?xml version="1.0" encoding="utf-8"?>
<p:tagLst xmlns:p="http://schemas.openxmlformats.org/presentationml/2006/main">
  <p:tag name="PA" val="v5.2.9"/>
</p:tagLst>
</file>

<file path=ppt/tags/tag42.xml><?xml version="1.0" encoding="utf-8"?>
<p:tagLst xmlns:p="http://schemas.openxmlformats.org/presentationml/2006/main">
  <p:tag name="PA" val="v5.2.9"/>
</p:tagLst>
</file>

<file path=ppt/tags/tag43.xml><?xml version="1.0" encoding="utf-8"?>
<p:tagLst xmlns:p="http://schemas.openxmlformats.org/presentationml/2006/main">
  <p:tag name="PA" val="v5.2.9"/>
</p:tagLst>
</file>

<file path=ppt/tags/tag44.xml><?xml version="1.0" encoding="utf-8"?>
<p:tagLst xmlns:p="http://schemas.openxmlformats.org/presentationml/2006/main">
  <p:tag name="PA" val="v5.2.9"/>
</p:tagLst>
</file>

<file path=ppt/tags/tag45.xml><?xml version="1.0" encoding="utf-8"?>
<p:tagLst xmlns:p="http://schemas.openxmlformats.org/presentationml/2006/main">
  <p:tag name="PA" val="v5.2.9"/>
</p:tagLst>
</file>

<file path=ppt/tags/tag46.xml><?xml version="1.0" encoding="utf-8"?>
<p:tagLst xmlns:p="http://schemas.openxmlformats.org/presentationml/2006/main">
  <p:tag name="PA" val="v5.2.9"/>
</p:tagLst>
</file>

<file path=ppt/tags/tag47.xml><?xml version="1.0" encoding="utf-8"?>
<p:tagLst xmlns:p="http://schemas.openxmlformats.org/presentationml/2006/main">
  <p:tag name="PA" val="v5.2.9"/>
</p:tagLst>
</file>

<file path=ppt/tags/tag48.xml><?xml version="1.0" encoding="utf-8"?>
<p:tagLst xmlns:p="http://schemas.openxmlformats.org/presentationml/2006/main">
  <p:tag name="PA" val="v5.2.9"/>
</p:tagLst>
</file>

<file path=ppt/tags/tag49.xml><?xml version="1.0" encoding="utf-8"?>
<p:tagLst xmlns:p="http://schemas.openxmlformats.org/presentationml/2006/main">
  <p:tag name="PA" val="v5.2.9"/>
</p:tagLst>
</file>

<file path=ppt/tags/tag50.xml><?xml version="1.0" encoding="utf-8"?>
<p:tagLst xmlns:p="http://schemas.openxmlformats.org/presentationml/2006/main">
  <p:tag name="PA" val="v5.2.9"/>
</p:tagLst>
</file>

<file path=ppt/tags/tag51.xml><?xml version="1.0" encoding="utf-8"?>
<p:tagLst xmlns:p="http://schemas.openxmlformats.org/presentationml/2006/main">
  <p:tag name="PA" val="v5.2.9"/>
</p:tagLst>
</file>

<file path=ppt/tags/tag52.xml><?xml version="1.0" encoding="utf-8"?>
<p:tagLst xmlns:p="http://schemas.openxmlformats.org/presentationml/2006/main">
  <p:tag name="PA" val="v5.2.9"/>
</p:tagLst>
</file>

<file path=ppt/tags/tag53.xml><?xml version="1.0" encoding="utf-8"?>
<p:tagLst xmlns:p="http://schemas.openxmlformats.org/presentationml/2006/main">
  <p:tag name="PA" val="v5.2.9"/>
</p:tagLst>
</file>

<file path=ppt/tags/tag54.xml><?xml version="1.0" encoding="utf-8"?>
<p:tagLst xmlns:p="http://schemas.openxmlformats.org/presentationml/2006/main">
  <p:tag name="PA" val="v5.2.9"/>
</p:tagLst>
</file>

<file path=ppt/tags/tag55.xml><?xml version="1.0" encoding="utf-8"?>
<p:tagLst xmlns:p="http://schemas.openxmlformats.org/presentationml/2006/main">
  <p:tag name="PA" val="v5.2.9"/>
</p:tagLst>
</file>

<file path=ppt/tags/tag56.xml><?xml version="1.0" encoding="utf-8"?>
<p:tagLst xmlns:p="http://schemas.openxmlformats.org/presentationml/2006/main">
  <p:tag name="PA" val="v5.2.9"/>
</p:tagLst>
</file>

<file path=ppt/tags/tag57.xml><?xml version="1.0" encoding="utf-8"?>
<p:tagLst xmlns:p="http://schemas.openxmlformats.org/presentationml/2006/main">
  <p:tag name="PA" val="v5.2.9"/>
</p:tagLst>
</file>

<file path=ppt/tags/tag58.xml><?xml version="1.0" encoding="utf-8"?>
<p:tagLst xmlns:p="http://schemas.openxmlformats.org/presentationml/2006/main">
  <p:tag name="PA" val="v5.2.9"/>
</p:tagLst>
</file>

<file path=ppt/tags/tag59.xml><?xml version="1.0" encoding="utf-8"?>
<p:tagLst xmlns:p="http://schemas.openxmlformats.org/presentationml/2006/main">
  <p:tag name="PA" val="v5.2.9"/>
</p:tagLst>
</file>

<file path=ppt/tags/tag60.xml><?xml version="1.0" encoding="utf-8"?>
<p:tagLst xmlns:p="http://schemas.openxmlformats.org/presentationml/2006/main">
  <p:tag name="PA" val="v5.2.9"/>
</p:tagLst>
</file>

<file path=ppt/tags/tag61.xml><?xml version="1.0" encoding="utf-8"?>
<p:tagLst xmlns:p="http://schemas.openxmlformats.org/presentationml/2006/main">
  <p:tag name="PA" val="v5.2.9"/>
</p:tagLst>
</file>

<file path=ppt/tags/tag62.xml><?xml version="1.0" encoding="utf-8"?>
<p:tagLst xmlns:p="http://schemas.openxmlformats.org/presentationml/2006/main">
  <p:tag name="PA" val="v5.2.9"/>
</p:tagLst>
</file>

<file path=ppt/tags/tag63.xml><?xml version="1.0" encoding="utf-8"?>
<p:tagLst xmlns:p="http://schemas.openxmlformats.org/presentationml/2006/main">
  <p:tag name="PA" val="v5.2.9"/>
</p:tagLst>
</file>

<file path=ppt/tags/tag64.xml><?xml version="1.0" encoding="utf-8"?>
<p:tagLst xmlns:p="http://schemas.openxmlformats.org/presentationml/2006/main">
  <p:tag name="PA" val="v5.2.9"/>
</p:tagLst>
</file>

<file path=ppt/tags/tag65.xml><?xml version="1.0" encoding="utf-8"?>
<p:tagLst xmlns:p="http://schemas.openxmlformats.org/presentationml/2006/main">
  <p:tag name="PA" val="v5.2.9"/>
</p:tagLst>
</file>

<file path=ppt/tags/tag66.xml><?xml version="1.0" encoding="utf-8"?>
<p:tagLst xmlns:p="http://schemas.openxmlformats.org/presentationml/2006/main">
  <p:tag name="PA" val="v5.2.11"/>
</p:tagLst>
</file>

<file path=ppt/tags/tag67.xml><?xml version="1.0" encoding="utf-8"?>
<p:tagLst xmlns:p="http://schemas.openxmlformats.org/presentationml/2006/main">
  <p:tag name="TYPE" val="icon"/>
</p:tagLst>
</file>

<file path=ppt/tags/tag68.xml><?xml version="1.0" encoding="utf-8"?>
<p:tagLst xmlns:p="http://schemas.openxmlformats.org/presentationml/2006/main">
  <p:tag name="PA" val="v5.2.11"/>
</p:tagLst>
</file>

<file path=ppt/tags/tag69.xml><?xml version="1.0" encoding="utf-8"?>
<p:tagLst xmlns:p="http://schemas.openxmlformats.org/presentationml/2006/main">
  <p:tag name="KSO_WM_DIAGRAM_VIRTUALLY_FRAME" val="{&quot;height&quot;:388.0799212598425,&quot;left&quot;:411.84,&quot;top&quot;:93.6,&quot;width&quot;:509.76000000000005}"/>
</p:tagLst>
</file>

<file path=ppt/tags/tag70.xml><?xml version="1.0" encoding="utf-8"?>
<p:tagLst xmlns:p="http://schemas.openxmlformats.org/presentationml/2006/main">
  <p:tag name="KSO_WM_DIAGRAM_VIRTUALLY_FRAME" val="{&quot;height&quot;:388.0799212598425,&quot;left&quot;:411.84,&quot;top&quot;:93.6,&quot;width&quot;:509.76000000000005}"/>
</p:tagLst>
</file>

<file path=ppt/tags/tag71.xml><?xml version="1.0" encoding="utf-8"?>
<p:tagLst xmlns:p="http://schemas.openxmlformats.org/presentationml/2006/main">
  <p:tag name="KSO_WM_DIAGRAM_VIRTUALLY_FRAME" val="{&quot;height&quot;:388.0799212598425,&quot;left&quot;:411.84,&quot;top&quot;:93.6,&quot;width&quot;:509.76000000000005}"/>
</p:tagLst>
</file>

<file path=ppt/tags/tag72.xml><?xml version="1.0" encoding="utf-8"?>
<p:tagLst xmlns:p="http://schemas.openxmlformats.org/presentationml/2006/main">
  <p:tag name="KSO_WM_DIAGRAM_VIRTUALLY_FRAME" val="{&quot;height&quot;:388.0799212598425,&quot;left&quot;:411.84,&quot;top&quot;:93.6,&quot;width&quot;:509.76000000000005}"/>
</p:tagLst>
</file>

<file path=ppt/tags/tag73.xml><?xml version="1.0" encoding="utf-8"?>
<p:tagLst xmlns:p="http://schemas.openxmlformats.org/presentationml/2006/main">
  <p:tag name="KSO_WM_DIAGRAM_VIRTUALLY_FRAME" val="{&quot;height&quot;:388.0799212598425,&quot;left&quot;:411.84,&quot;top&quot;:93.6,&quot;width&quot;:509.76000000000005}"/>
</p:tagLst>
</file>

<file path=ppt/tags/tag74.xml><?xml version="1.0" encoding="utf-8"?>
<p:tagLst xmlns:p="http://schemas.openxmlformats.org/presentationml/2006/main">
  <p:tag name="KSO_WM_DIAGRAM_VIRTUALLY_FRAME" val="{&quot;height&quot;:388.0799212598425,&quot;left&quot;:411.84,&quot;top&quot;:93.6,&quot;width&quot;:509.76000000000005}"/>
</p:tagLst>
</file>

<file path=ppt/tags/tag75.xml><?xml version="1.0" encoding="utf-8"?>
<p:tagLst xmlns:p="http://schemas.openxmlformats.org/presentationml/2006/main">
  <p:tag name="KSO_WM_DIAGRAM_VIRTUALLY_FRAME" val="{&quot;height&quot;:388.0799212598425,&quot;left&quot;:411.84,&quot;top&quot;:93.6,&quot;width&quot;:509.76000000000005}"/>
</p:tagLst>
</file>

<file path=ppt/tags/tag76.xml><?xml version="1.0" encoding="utf-8"?>
<p:tagLst xmlns:p="http://schemas.openxmlformats.org/presentationml/2006/main">
  <p:tag name="KSO_WM_DIAGRAM_VIRTUALLY_FRAME" val="{&quot;height&quot;:388.0799212598425,&quot;left&quot;:411.84,&quot;top&quot;:93.6,&quot;width&quot;:509.76000000000005}"/>
</p:tagLst>
</file>

<file path=ppt/tags/tag77.xml><?xml version="1.0" encoding="utf-8"?>
<p:tagLst xmlns:p="http://schemas.openxmlformats.org/presentationml/2006/main">
  <p:tag name="KSO_WM_DIAGRAM_VIRTUALLY_FRAME" val="{&quot;height&quot;:388.0799212598425,&quot;left&quot;:411.84,&quot;top&quot;:93.6,&quot;width&quot;:509.76000000000005}"/>
</p:tagLst>
</file>

<file path=ppt/tags/tag78.xml><?xml version="1.0" encoding="utf-8"?>
<p:tagLst xmlns:p="http://schemas.openxmlformats.org/presentationml/2006/main">
  <p:tag name="KSO_WM_DIAGRAM_VIRTUALLY_FRAME" val="{&quot;height&quot;:388.0799212598425,&quot;left&quot;:411.84,&quot;top&quot;:93.6,&quot;width&quot;:509.76000000000005}"/>
</p:tagLst>
</file>

<file path=ppt/tags/tag79.xml><?xml version="1.0" encoding="utf-8"?>
<p:tagLst xmlns:p="http://schemas.openxmlformats.org/presentationml/2006/main">
  <p:tag name="KSO_WM_DIAGRAM_VIRTUALLY_FRAME" val="{&quot;height&quot;:388.0799212598425,&quot;left&quot;:411.84,&quot;top&quot;:93.6,&quot;width&quot;:509.76000000000005}"/>
</p:tagLst>
</file>

<file path=ppt/tags/tag80.xml><?xml version="1.0" encoding="utf-8"?>
<p:tagLst xmlns:p="http://schemas.openxmlformats.org/presentationml/2006/main">
  <p:tag name="KSO_WM_DIAGRAM_VIRTUALLY_FRAME" val="{&quot;height&quot;:388.0799212598425,&quot;left&quot;:411.84,&quot;top&quot;:93.6,&quot;width&quot;:509.76000000000005}"/>
</p:tagLst>
</file>

<file path=ppt/tags/tag81.xml><?xml version="1.0" encoding="utf-8"?>
<p:tagLst xmlns:p="http://schemas.openxmlformats.org/presentationml/2006/main">
  <p:tag name="KSO_WM_DIAGRAM_VIRTUALLY_FRAME" val="{&quot;height&quot;:388.0799212598425,&quot;left&quot;:411.84,&quot;top&quot;:93.6,&quot;width&quot;:509.76000000000005}"/>
</p:tagLst>
</file>

<file path=ppt/tags/tag82.xml><?xml version="1.0" encoding="utf-8"?>
<p:tagLst xmlns:p="http://schemas.openxmlformats.org/presentationml/2006/main">
  <p:tag name="KSO_WM_DIAGRAM_VIRTUALLY_FRAME" val="{&quot;height&quot;:388.0799212598425,&quot;left&quot;:411.84,&quot;top&quot;:93.6,&quot;width&quot;:509.76000000000005}"/>
</p:tagLst>
</file>

<file path=ppt/tags/tag83.xml><?xml version="1.0" encoding="utf-8"?>
<p:tagLst xmlns:p="http://schemas.openxmlformats.org/presentationml/2006/main">
  <p:tag name="KSO_WM_DIAGRAM_VIRTUALLY_FRAME" val="{&quot;height&quot;:388.0799212598425,&quot;left&quot;:411.84,&quot;top&quot;:93.6,&quot;width&quot;:509.76000000000005}"/>
</p:tagLst>
</file>

<file path=ppt/tags/tag84.xml><?xml version="1.0" encoding="utf-8"?>
<p:tagLst xmlns:p="http://schemas.openxmlformats.org/presentationml/2006/main">
  <p:tag name="KSO_WM_DIAGRAM_VIRTUALLY_FRAME" val="{&quot;height&quot;:388.0799212598425,&quot;left&quot;:411.84,&quot;top&quot;:93.6,&quot;width&quot;:509.76000000000005}"/>
</p:tagLst>
</file>

<file path=ppt/tags/tag85.xml><?xml version="1.0" encoding="utf-8"?>
<p:tagLst xmlns:p="http://schemas.openxmlformats.org/presentationml/2006/main">
  <p:tag name="KSO_WM_DIAGRAM_VIRTUALLY_FRAME" val="{&quot;height&quot;:388.0799212598425,&quot;left&quot;:411.84,&quot;top&quot;:93.6,&quot;width&quot;:509.76000000000005}"/>
</p:tagLst>
</file>

<file path=ppt/tags/tag86.xml><?xml version="1.0" encoding="utf-8"?>
<p:tagLst xmlns:p="http://schemas.openxmlformats.org/presentationml/2006/main">
  <p:tag name="KSO_WM_DIAGRAM_VIRTUALLY_FRAME" val="{&quot;height&quot;:388.0799212598425,&quot;left&quot;:411.84,&quot;top&quot;:93.6,&quot;width&quot;:509.76000000000005}"/>
</p:tagLst>
</file>

<file path=ppt/tags/tag87.xml><?xml version="1.0" encoding="utf-8"?>
<p:tagLst xmlns:p="http://schemas.openxmlformats.org/presentationml/2006/main">
  <p:tag name="KSO_WM_DIAGRAM_VIRTUALLY_FRAME" val="{&quot;height&quot;:433.53999999999996,&quot;left&quot;:48.239999999999995,&quot;top&quot;:123.84,&quot;width&quot;:864.01}"/>
</p:tagLst>
</file>

<file path=ppt/tags/tag88.xml><?xml version="1.0" encoding="utf-8"?>
<p:tagLst xmlns:p="http://schemas.openxmlformats.org/presentationml/2006/main">
  <p:tag name="KSO_WM_DIAGRAM_VIRTUALLY_FRAME" val="{&quot;height&quot;:433.53999999999996,&quot;left&quot;:48.239999999999995,&quot;top&quot;:123.84,&quot;width&quot;:864.01}"/>
</p:tagLst>
</file>

<file path=ppt/tags/tag89.xml><?xml version="1.0" encoding="utf-8"?>
<p:tagLst xmlns:p="http://schemas.openxmlformats.org/presentationml/2006/main">
  <p:tag name="KSO_WM_DIAGRAM_VIRTUALLY_FRAME" val="{&quot;height&quot;:433.53999999999996,&quot;left&quot;:48.239999999999995,&quot;top&quot;:123.84,&quot;width&quot;:864.01}"/>
</p:tagLst>
</file>

<file path=ppt/tags/tag90.xml><?xml version="1.0" encoding="utf-8"?>
<p:tagLst xmlns:p="http://schemas.openxmlformats.org/presentationml/2006/main">
  <p:tag name="KSO_WM_DIAGRAM_VIRTUALLY_FRAME" val="{&quot;height&quot;:433.53999999999996,&quot;left&quot;:48.239999999999995,&quot;top&quot;:123.84,&quot;width&quot;:864.01}"/>
</p:tagLst>
</file>

<file path=ppt/tags/tag91.xml><?xml version="1.0" encoding="utf-8"?>
<p:tagLst xmlns:p="http://schemas.openxmlformats.org/presentationml/2006/main">
  <p:tag name="KSO_WM_DIAGRAM_VIRTUALLY_FRAME" val="{&quot;height&quot;:433.53999999999996,&quot;left&quot;:48.239999999999995,&quot;top&quot;:123.84,&quot;width&quot;:864.01}"/>
</p:tagLst>
</file>

<file path=ppt/tags/tag92.xml><?xml version="1.0" encoding="utf-8"?>
<p:tagLst xmlns:p="http://schemas.openxmlformats.org/presentationml/2006/main">
  <p:tag name="KSO_WM_DIAGRAM_VIRTUALLY_FRAME" val="{&quot;height&quot;:433.53999999999996,&quot;left&quot;:48.239999999999995,&quot;top&quot;:123.84,&quot;width&quot;:864.01}"/>
</p:tagLst>
</file>

<file path=ppt/tags/tag93.xml><?xml version="1.0" encoding="utf-8"?>
<p:tagLst xmlns:p="http://schemas.openxmlformats.org/presentationml/2006/main">
  <p:tag name="KSO_WM_DIAGRAM_VIRTUALLY_FRAME" val="{&quot;height&quot;:433.53999999999996,&quot;left&quot;:48.239999999999995,&quot;top&quot;:123.84,&quot;width&quot;:864.01}"/>
</p:tagLst>
</file>

<file path=ppt/tags/tag94.xml><?xml version="1.0" encoding="utf-8"?>
<p:tagLst xmlns:p="http://schemas.openxmlformats.org/presentationml/2006/main">
  <p:tag name="KSO_WM_DIAGRAM_VIRTUALLY_FRAME" val="{&quot;height&quot;:433.53999999999996,&quot;left&quot;:48.239999999999995,&quot;top&quot;:123.84,&quot;width&quot;:864.01}"/>
</p:tagLst>
</file>

<file path=ppt/tags/tag95.xml><?xml version="1.0" encoding="utf-8"?>
<p:tagLst xmlns:p="http://schemas.openxmlformats.org/presentationml/2006/main">
  <p:tag name="KSO_WM_DIAGRAM_VIRTUALLY_FRAME" val="{&quot;height&quot;:388.0799212598425,&quot;left&quot;:411.84,&quot;top&quot;:93.6,&quot;width&quot;:509.76000000000005}"/>
</p:tagLst>
</file>

<file path=ppt/tags/tag96.xml><?xml version="1.0" encoding="utf-8"?>
<p:tagLst xmlns:p="http://schemas.openxmlformats.org/presentationml/2006/main">
  <p:tag name="KSO_WM_DIAGRAM_VIRTUALLY_FRAME" val="{&quot;height&quot;:388.0799212598425,&quot;left&quot;:411.84,&quot;top&quot;:93.6,&quot;width&quot;:509.76000000000005}"/>
</p:tagLst>
</file>

<file path=ppt/tags/tag97.xml><?xml version="1.0" encoding="utf-8"?>
<p:tagLst xmlns:p="http://schemas.openxmlformats.org/presentationml/2006/main">
  <p:tag name="KSO_WM_DIAGRAM_VIRTUALLY_FRAME" val="{&quot;height&quot;:380.1599212598425,&quot;left&quot;:48.239999999999995,&quot;top&quot;:128.16,&quot;width&quot;:864.7199212598425}"/>
</p:tagLst>
</file>

<file path=ppt/tags/tag98.xml><?xml version="1.0" encoding="utf-8"?>
<p:tagLst xmlns:p="http://schemas.openxmlformats.org/presentationml/2006/main">
  <p:tag name="KSO_WM_DIAGRAM_VIRTUALLY_FRAME" val="{&quot;height&quot;:380.1599212598425,&quot;left&quot;:48.239999999999995,&quot;top&quot;:128.16,&quot;width&quot;:864.7199212598425}"/>
</p:tagLst>
</file>

<file path=ppt/tags/tag99.xml><?xml version="1.0" encoding="utf-8"?>
<p:tagLst xmlns:p="http://schemas.openxmlformats.org/presentationml/2006/main">
  <p:tag name="KSO_WM_DIAGRAM_VIRTUALLY_FRAME" val="{&quot;height&quot;:380.1599212598425,&quot;left&quot;:48.239999999999995,&quot;top&quot;:128.16,&quot;width&quot;:864.7199212598425}"/>
</p:tagLst>
</file>

<file path=ppt/tags/tag100.xml><?xml version="1.0" encoding="utf-8"?>
<p:tagLst xmlns:p="http://schemas.openxmlformats.org/presentationml/2006/main">
  <p:tag name="KSO_WM_DIAGRAM_VIRTUALLY_FRAME" val="{&quot;height&quot;:380.1599212598425,&quot;left&quot;:48.239999999999995,&quot;top&quot;:128.16,&quot;width&quot;:864.7199212598425}"/>
</p:tagLst>
</file>

<file path=ppt/tags/tag101.xml><?xml version="1.0" encoding="utf-8"?>
<p:tagLst xmlns:p="http://schemas.openxmlformats.org/presentationml/2006/main">
  <p:tag name="KSO_WM_DIAGRAM_VIRTUALLY_FRAME" val="{&quot;height&quot;:380.1599212598425,&quot;left&quot;:48.239999999999995,&quot;top&quot;:128.16,&quot;width&quot;:864.7199212598425}"/>
</p:tagLst>
</file>

<file path=ppt/tags/tag102.xml><?xml version="1.0" encoding="utf-8"?>
<p:tagLst xmlns:p="http://schemas.openxmlformats.org/presentationml/2006/main">
  <p:tag name="KSO_WM_DIAGRAM_VIRTUALLY_FRAME" val="{&quot;height&quot;:380.1599212598425,&quot;left&quot;:48.239999999999995,&quot;top&quot;:128.16,&quot;width&quot;:864.7199212598425}"/>
</p:tagLst>
</file>

<file path=ppt/tags/tag103.xml><?xml version="1.0" encoding="utf-8"?>
<p:tagLst xmlns:p="http://schemas.openxmlformats.org/presentationml/2006/main">
  <p:tag name="KSO_WM_DIAGRAM_VIRTUALLY_FRAME" val="{&quot;height&quot;:380.1599212598425,&quot;left&quot;:48.239999999999995,&quot;top&quot;:128.16,&quot;width&quot;:864.7199212598425}"/>
</p:tagLst>
</file>

<file path=ppt/tags/tag104.xml><?xml version="1.0" encoding="utf-8"?>
<p:tagLst xmlns:p="http://schemas.openxmlformats.org/presentationml/2006/main">
  <p:tag name="KSO_WM_DIAGRAM_VIRTUALLY_FRAME" val="{&quot;height&quot;:380.1599212598425,&quot;left&quot;:48.239999999999995,&quot;top&quot;:128.16,&quot;width&quot;:864.7199212598425}"/>
</p:tagLst>
</file>

<file path=ppt/tags/tag105.xml><?xml version="1.0" encoding="utf-8"?>
<p:tagLst xmlns:p="http://schemas.openxmlformats.org/presentationml/2006/main">
  <p:tag name="KSO_WM_DIAGRAM_VIRTUALLY_FRAME" val="{&quot;height&quot;:380.1599212598425,&quot;left&quot;:48.239999999999995,&quot;top&quot;:128.16,&quot;width&quot;:864.7199212598425}"/>
</p:tagLst>
</file>

<file path=ppt/tags/tag106.xml><?xml version="1.0" encoding="utf-8"?>
<p:tagLst xmlns:p="http://schemas.openxmlformats.org/presentationml/2006/main">
  <p:tag name="KSO_WM_DIAGRAM_VIRTUALLY_FRAME" val="{&quot;height&quot;:380.1599212598425,&quot;left&quot;:48.239999999999995,&quot;top&quot;:128.16,&quot;width&quot;:864.7199212598425}"/>
</p:tagLst>
</file>

<file path=ppt/tags/tag107.xml><?xml version="1.0" encoding="utf-8"?>
<p:tagLst xmlns:p="http://schemas.openxmlformats.org/presentationml/2006/main">
  <p:tag name="KSO_WM_DIAGRAM_VIRTUALLY_FRAME" val="{&quot;height&quot;:388.0799212598425,&quot;left&quot;:411.84,&quot;top&quot;:93.6,&quot;width&quot;:509.76000000000005}"/>
</p:tagLst>
</file>

<file path=ppt/tags/tag108.xml><?xml version="1.0" encoding="utf-8"?>
<p:tagLst xmlns:p="http://schemas.openxmlformats.org/presentationml/2006/main">
  <p:tag name="KSO_WM_DIAGRAM_VIRTUALLY_FRAME" val="{&quot;height&quot;:388.0799212598425,&quot;left&quot;:411.84,&quot;top&quot;:93.6,&quot;width&quot;:509.76000000000005}"/>
</p:tagLst>
</file>

<file path=ppt/tags/tag109.xml><?xml version="1.0" encoding="utf-8"?>
<p:tagLst xmlns:p="http://schemas.openxmlformats.org/presentationml/2006/main">
  <p:tag name="KSO_WM_DIAGRAM_VIRTUALLY_FRAME" val="{&quot;height&quot;:377.28,&quot;left&quot;:48.239999999999995,&quot;top&quot;:128.16,&quot;width&quot;:864.72}"/>
</p:tagLst>
</file>

<file path=ppt/tags/tag110.xml><?xml version="1.0" encoding="utf-8"?>
<p:tagLst xmlns:p="http://schemas.openxmlformats.org/presentationml/2006/main">
  <p:tag name="KSO_WM_DIAGRAM_VIRTUALLY_FRAME" val="{&quot;height&quot;:377.28,&quot;left&quot;:48.239999999999995,&quot;top&quot;:128.16,&quot;width&quot;:864.72}"/>
</p:tagLst>
</file>

<file path=ppt/tags/tag111.xml><?xml version="1.0" encoding="utf-8"?>
<p:tagLst xmlns:p="http://schemas.openxmlformats.org/presentationml/2006/main">
  <p:tag name="KSO_WM_DIAGRAM_VIRTUALLY_FRAME" val="{&quot;height&quot;:377.28,&quot;left&quot;:48.239999999999995,&quot;top&quot;:128.16,&quot;width&quot;:864.72}"/>
</p:tagLst>
</file>

<file path=ppt/tags/tag112.xml><?xml version="1.0" encoding="utf-8"?>
<p:tagLst xmlns:p="http://schemas.openxmlformats.org/presentationml/2006/main">
  <p:tag name="KSO_WM_DIAGRAM_VIRTUALLY_FRAME" val="{&quot;height&quot;:377.28,&quot;left&quot;:48.239999999999995,&quot;top&quot;:128.16,&quot;width&quot;:864.72}"/>
</p:tagLst>
</file>

<file path=ppt/tags/tag113.xml><?xml version="1.0" encoding="utf-8"?>
<p:tagLst xmlns:p="http://schemas.openxmlformats.org/presentationml/2006/main">
  <p:tag name="KSO_WM_DIAGRAM_VIRTUALLY_FRAME" val="{&quot;height&quot;:377.28,&quot;left&quot;:48.239999999999995,&quot;top&quot;:128.16,&quot;width&quot;:864.72}"/>
</p:tagLst>
</file>

<file path=ppt/tags/tag114.xml><?xml version="1.0" encoding="utf-8"?>
<p:tagLst xmlns:p="http://schemas.openxmlformats.org/presentationml/2006/main">
  <p:tag name="KSO_WM_DIAGRAM_VIRTUALLY_FRAME" val="{&quot;height&quot;:377.28,&quot;left&quot;:48.239999999999995,&quot;top&quot;:128.16,&quot;width&quot;:864.72}"/>
</p:tagLst>
</file>

<file path=ppt/tags/tag115.xml><?xml version="1.0" encoding="utf-8"?>
<p:tagLst xmlns:p="http://schemas.openxmlformats.org/presentationml/2006/main">
  <p:tag name="KSO_WM_DIAGRAM_VIRTUALLY_FRAME" val="{&quot;height&quot;:377.28,&quot;left&quot;:48.239999999999995,&quot;top&quot;:128.16,&quot;width&quot;:864.72}"/>
</p:tagLst>
</file>

<file path=ppt/tags/tag116.xml><?xml version="1.0" encoding="utf-8"?>
<p:tagLst xmlns:p="http://schemas.openxmlformats.org/presentationml/2006/main">
  <p:tag name="KSO_WM_DIAGRAM_VIRTUALLY_FRAME" val="{&quot;height&quot;:377.28,&quot;left&quot;:48.239999999999995,&quot;top&quot;:128.16,&quot;width&quot;:864.72}"/>
</p:tagLst>
</file>

<file path=ppt/tags/tag117.xml><?xml version="1.0" encoding="utf-8"?>
<p:tagLst xmlns:p="http://schemas.openxmlformats.org/presentationml/2006/main">
  <p:tag name="KSO_WM_DIAGRAM_VIRTUALLY_FRAME" val="{&quot;height&quot;:377.28,&quot;left&quot;:48.239999999999995,&quot;top&quot;:128.16,&quot;width&quot;:864.72}"/>
</p:tagLst>
</file>

<file path=ppt/tags/tag118.xml><?xml version="1.0" encoding="utf-8"?>
<p:tagLst xmlns:p="http://schemas.openxmlformats.org/presentationml/2006/main">
  <p:tag name="KSO_WM_DIAGRAM_VIRTUALLY_FRAME" val="{&quot;height&quot;:377.28,&quot;left&quot;:48.239999999999995,&quot;top&quot;:128.16,&quot;width&quot;:864.72}"/>
</p:tagLst>
</file>

<file path=ppt/tags/tag119.xml><?xml version="1.0" encoding="utf-8"?>
<p:tagLst xmlns:p="http://schemas.openxmlformats.org/presentationml/2006/main">
  <p:tag name="KSO_WM_DIAGRAM_VIRTUALLY_FRAME" val="{&quot;height&quot;:377.28,&quot;left&quot;:48.239999999999995,&quot;top&quot;:128.16,&quot;width&quot;:864.72}"/>
</p:tagLst>
</file>

<file path=ppt/tags/tag120.xml><?xml version="1.0" encoding="utf-8"?>
<p:tagLst xmlns:p="http://schemas.openxmlformats.org/presentationml/2006/main">
  <p:tag name="KSO_WM_DIAGRAM_VIRTUALLY_FRAME" val="{&quot;height&quot;:377.28,&quot;left&quot;:48.239999999999995,&quot;top&quot;:128.16,&quot;width&quot;:864.72}"/>
</p:tagLst>
</file>

<file path=ppt/tags/tag121.xml><?xml version="1.0" encoding="utf-8"?>
<p:tagLst xmlns:p="http://schemas.openxmlformats.org/presentationml/2006/main">
  <p:tag name="KSO_WM_DIAGRAM_VIRTUALLY_FRAME" val="{&quot;height&quot;:377.28,&quot;left&quot;:48.239999999999995,&quot;top&quot;:128.16,&quot;width&quot;:864.72}"/>
</p:tagLst>
</file>

<file path=ppt/tags/tag122.xml><?xml version="1.0" encoding="utf-8"?>
<p:tagLst xmlns:p="http://schemas.openxmlformats.org/presentationml/2006/main">
  <p:tag name="KSO_WM_DIAGRAM_VIRTUALLY_FRAME" val="{&quot;height&quot;:377.28,&quot;left&quot;:48.239999999999995,&quot;top&quot;:128.16,&quot;width&quot;:864.72}"/>
</p:tagLst>
</file>

<file path=ppt/tags/tag123.xml><?xml version="1.0" encoding="utf-8"?>
<p:tagLst xmlns:p="http://schemas.openxmlformats.org/presentationml/2006/main">
  <p:tag name="KSO_WM_DIAGRAM_VIRTUALLY_FRAME" val="{&quot;height&quot;:377.28,&quot;left&quot;:48.239999999999995,&quot;top&quot;:128.16,&quot;width&quot;:864.72}"/>
</p:tagLst>
</file>

<file path=ppt/tags/tag124.xml><?xml version="1.0" encoding="utf-8"?>
<p:tagLst xmlns:p="http://schemas.openxmlformats.org/presentationml/2006/main">
  <p:tag name="KSO_WM_DIAGRAM_VIRTUALLY_FRAME" val="{&quot;height&quot;:377.28,&quot;left&quot;:48.239999999999995,&quot;top&quot;:128.16,&quot;width&quot;:864.72}"/>
</p:tagLst>
</file>

<file path=ppt/tags/tag125.xml><?xml version="1.0" encoding="utf-8"?>
<p:tagLst xmlns:p="http://schemas.openxmlformats.org/presentationml/2006/main">
  <p:tag name="KSO_WM_DIAGRAM_VIRTUALLY_FRAME" val="{&quot;height&quot;:377.28,&quot;left&quot;:48.239999999999995,&quot;top&quot;:128.16,&quot;width&quot;:864.72}"/>
</p:tagLst>
</file>

<file path=ppt/tags/tag126.xml><?xml version="1.0" encoding="utf-8"?>
<p:tagLst xmlns:p="http://schemas.openxmlformats.org/presentationml/2006/main">
  <p:tag name="KSO_WM_DIAGRAM_VIRTUALLY_FRAME" val="{&quot;height&quot;:377.28,&quot;left&quot;:48.239999999999995,&quot;top&quot;:128.16,&quot;width&quot;:864.72}"/>
</p:tagLst>
</file>

<file path=ppt/tags/tag127.xml><?xml version="1.0" encoding="utf-8"?>
<p:tagLst xmlns:p="http://schemas.openxmlformats.org/presentationml/2006/main">
  <p:tag name="KSO_WM_DIAGRAM_VIRTUALLY_FRAME" val="{&quot;height&quot;:377.28,&quot;left&quot;:48.239999999999995,&quot;top&quot;:128.16,&quot;width&quot;:864.72}"/>
</p:tagLst>
</file>

<file path=ppt/tags/tag128.xml><?xml version="1.0" encoding="utf-8"?>
<p:tagLst xmlns:p="http://schemas.openxmlformats.org/presentationml/2006/main">
  <p:tag name="KSO_WM_DIAGRAM_VIRTUALLY_FRAME" val="{&quot;height&quot;:377.28,&quot;left&quot;:48.239999999999995,&quot;top&quot;:128.16,&quot;width&quot;:864.72}"/>
</p:tagLst>
</file>

<file path=ppt/tags/tag129.xml><?xml version="1.0" encoding="utf-8"?>
<p:tagLst xmlns:p="http://schemas.openxmlformats.org/presentationml/2006/main">
  <p:tag name="KSO_WM_DIAGRAM_VIRTUALLY_FRAME" val="{&quot;height&quot;:388.0799212598425,&quot;left&quot;:411.84,&quot;top&quot;:93.6,&quot;width&quot;:509.76000000000005}"/>
</p:tagLst>
</file>

<file path=ppt/tags/tag130.xml><?xml version="1.0" encoding="utf-8"?>
<p:tagLst xmlns:p="http://schemas.openxmlformats.org/presentationml/2006/main">
  <p:tag name="KSO_WM_DIAGRAM_VIRTUALLY_FRAME" val="{&quot;height&quot;:388.0799212598425,&quot;left&quot;:411.84,&quot;top&quot;:93.6,&quot;width&quot;:509.76000000000005}"/>
</p:tagLst>
</file>

<file path=ppt/tags/tag131.xml><?xml version="1.0" encoding="utf-8"?>
<p:tagLst xmlns:p="http://schemas.openxmlformats.org/presentationml/2006/main">
  <p:tag name="KSO_WM_DIAGRAM_VIRTUALLY_FRAME" val="{&quot;height&quot;:388.0799212598425,&quot;left&quot;:411.84,&quot;top&quot;:93.6,&quot;width&quot;:509.76000000000005}"/>
</p:tagLst>
</file>

<file path=ppt/tags/tag132.xml><?xml version="1.0" encoding="utf-8"?>
<p:tagLst xmlns:p="http://schemas.openxmlformats.org/presentationml/2006/main">
  <p:tag name="KSO_WM_DIAGRAM_VIRTUALLY_FRAME" val="{&quot;height&quot;:388.0799212598425,&quot;left&quot;:411.84,&quot;top&quot;:93.6,&quot;width&quot;:509.76000000000005}"/>
</p:tagLst>
</file>

<file path=ppt/tags/tag133.xml><?xml version="1.0" encoding="utf-8"?>
<p:tagLst xmlns:p="http://schemas.openxmlformats.org/presentationml/2006/main">
  <p:tag name="KSO_WM_DIAGRAM_VIRTUALLY_FRAME" val="{&quot;height&quot;:388.0799212598425,&quot;left&quot;:411.84,&quot;top&quot;:93.6,&quot;width&quot;:509.76000000000005}"/>
</p:tagLst>
</file>

<file path=ppt/tags/tag134.xml><?xml version="1.0" encoding="utf-8"?>
<p:tagLst xmlns:p="http://schemas.openxmlformats.org/presentationml/2006/main">
  <p:tag name="KSO_WM_DIAGRAM_VIRTUALLY_FRAME" val="{&quot;height&quot;:388.0799212598425,&quot;left&quot;:411.84,&quot;top&quot;:93.6,&quot;width&quot;:509.76000000000005}"/>
</p:tagLst>
</file>

<file path=ppt/tags/tag135.xml><?xml version="1.0" encoding="utf-8"?>
<p:tagLst xmlns:p="http://schemas.openxmlformats.org/presentationml/2006/main">
  <p:tag name="KSO_WM_DIAGRAM_VIRTUALLY_FRAME" val="{&quot;height&quot;:388.0799212598425,&quot;left&quot;:411.84,&quot;top&quot;:93.6,&quot;width&quot;:509.76000000000005}"/>
</p:tagLst>
</file>

<file path=ppt/tags/tag136.xml><?xml version="1.0" encoding="utf-8"?>
<p:tagLst xmlns:p="http://schemas.openxmlformats.org/presentationml/2006/main">
  <p:tag name="KSO_WM_DIAGRAM_VIRTUALLY_FRAME" val="{&quot;height&quot;:388.0799212598425,&quot;left&quot;:411.84,&quot;top&quot;:93.6,&quot;width&quot;:509.76000000000005}"/>
</p:tagLst>
</file>

<file path=ppt/tags/tag137.xml><?xml version="1.0" encoding="utf-8"?>
<p:tagLst xmlns:p="http://schemas.openxmlformats.org/presentationml/2006/main">
  <p:tag name="KSO_WM_DIAGRAM_VIRTUALLY_FRAME" val="{&quot;height&quot;:377.28,&quot;left&quot;:48.239999999999995,&quot;top&quot;:128.16,&quot;width&quot;:864.72}"/>
</p:tagLst>
</file>

<file path=ppt/tags/tag138.xml><?xml version="1.0" encoding="utf-8"?>
<p:tagLst xmlns:p="http://schemas.openxmlformats.org/presentationml/2006/main">
  <p:tag name="KSO_WM_DIAGRAM_VIRTUALLY_FRAME" val="{&quot;height&quot;:377.28,&quot;left&quot;:48.239999999999995,&quot;top&quot;:128.16,&quot;width&quot;:864.72}"/>
</p:tagLst>
</file>

<file path=ppt/tags/tag139.xml><?xml version="1.0" encoding="utf-8"?>
<p:tagLst xmlns:p="http://schemas.openxmlformats.org/presentationml/2006/main">
  <p:tag name="KSO_WM_DIAGRAM_VIRTUALLY_FRAME" val="{&quot;height&quot;:377.28,&quot;left&quot;:48.239999999999995,&quot;top&quot;:128.16,&quot;width&quot;:864.72}"/>
</p:tagLst>
</file>

<file path=ppt/tags/tag140.xml><?xml version="1.0" encoding="utf-8"?>
<p:tagLst xmlns:p="http://schemas.openxmlformats.org/presentationml/2006/main">
  <p:tag name="KSO_WM_DIAGRAM_VIRTUALLY_FRAME" val="{&quot;height&quot;:377.28,&quot;left&quot;:48.239999999999995,&quot;top&quot;:128.16,&quot;width&quot;:864.72}"/>
</p:tagLst>
</file>

<file path=ppt/tags/tag141.xml><?xml version="1.0" encoding="utf-8"?>
<p:tagLst xmlns:p="http://schemas.openxmlformats.org/presentationml/2006/main">
  <p:tag name="KSO_WM_DIAGRAM_VIRTUALLY_FRAME" val="{&quot;height&quot;:377.28,&quot;left&quot;:48.239999999999995,&quot;top&quot;:128.16,&quot;width&quot;:864.72}"/>
</p:tagLst>
</file>

<file path=ppt/tags/tag142.xml><?xml version="1.0" encoding="utf-8"?>
<p:tagLst xmlns:p="http://schemas.openxmlformats.org/presentationml/2006/main">
  <p:tag name="KSO_WM_DIAGRAM_VIRTUALLY_FRAME" val="{&quot;height&quot;:377.28,&quot;left&quot;:48.239999999999995,&quot;top&quot;:128.16,&quot;width&quot;:864.72}"/>
</p:tagLst>
</file>

<file path=ppt/tags/tag143.xml><?xml version="1.0" encoding="utf-8"?>
<p:tagLst xmlns:p="http://schemas.openxmlformats.org/presentationml/2006/main">
  <p:tag name="KSO_WM_DIAGRAM_VIRTUALLY_FRAME" val="{&quot;height&quot;:377.28,&quot;left&quot;:48.239999999999995,&quot;top&quot;:128.16,&quot;width&quot;:864.72}"/>
</p:tagLst>
</file>

<file path=ppt/tags/tag144.xml><?xml version="1.0" encoding="utf-8"?>
<p:tagLst xmlns:p="http://schemas.openxmlformats.org/presentationml/2006/main">
  <p:tag name="KSO_WM_DIAGRAM_VIRTUALLY_FRAME" val="{&quot;height&quot;:377.28,&quot;left&quot;:48.239999999999995,&quot;top&quot;:128.16,&quot;width&quot;:864.72}"/>
</p:tagLst>
</file>

<file path=ppt/tags/tag145.xml><?xml version="1.0" encoding="utf-8"?>
<p:tagLst xmlns:p="http://schemas.openxmlformats.org/presentationml/2006/main">
  <p:tag name="KSO_WM_DIAGRAM_VIRTUALLY_FRAME" val="{&quot;height&quot;:377.28,&quot;left&quot;:48.239999999999995,&quot;top&quot;:128.16,&quot;width&quot;:864.72}"/>
</p:tagLst>
</file>

<file path=ppt/tags/tag146.xml><?xml version="1.0" encoding="utf-8"?>
<p:tagLst xmlns:p="http://schemas.openxmlformats.org/presentationml/2006/main">
  <p:tag name="KSO_WM_DIAGRAM_VIRTUALLY_FRAME" val="{&quot;height&quot;:377.28,&quot;left&quot;:48.239999999999995,&quot;top&quot;:128.16,&quot;width&quot;:864.72}"/>
</p:tagLst>
</file>

<file path=ppt/tags/tag147.xml><?xml version="1.0" encoding="utf-8"?>
<p:tagLst xmlns:p="http://schemas.openxmlformats.org/presentationml/2006/main">
  <p:tag name="KSO_WM_DIAGRAM_VIRTUALLY_FRAME" val="{&quot;height&quot;:377.28,&quot;left&quot;:48.239999999999995,&quot;top&quot;:128.16,&quot;width&quot;:864.72}"/>
</p:tagLst>
</file>

<file path=ppt/tags/tag148.xml><?xml version="1.0" encoding="utf-8"?>
<p:tagLst xmlns:p="http://schemas.openxmlformats.org/presentationml/2006/main">
  <p:tag name="KSO_WM_DIAGRAM_VIRTUALLY_FRAME" val="{&quot;height&quot;:377.28,&quot;left&quot;:48.239999999999995,&quot;top&quot;:128.16,&quot;width&quot;:864.72}"/>
</p:tagLst>
</file>

<file path=ppt/tags/tag149.xml><?xml version="1.0" encoding="utf-8"?>
<p:tagLst xmlns:p="http://schemas.openxmlformats.org/presentationml/2006/main">
  <p:tag name="KSO_WM_DIAGRAM_VIRTUALLY_FRAME" val="{&quot;height&quot;:377.28,&quot;left&quot;:48.239999999999995,&quot;top&quot;:128.16,&quot;width&quot;:864.72}"/>
</p:tagLst>
</file>

<file path=ppt/tags/tag150.xml><?xml version="1.0" encoding="utf-8"?>
<p:tagLst xmlns:p="http://schemas.openxmlformats.org/presentationml/2006/main">
  <p:tag name="KSO_WM_DIAGRAM_VIRTUALLY_FRAME" val="{&quot;height&quot;:377.28,&quot;left&quot;:48.239999999999995,&quot;top&quot;:128.16,&quot;width&quot;:864.72}"/>
</p:tagLst>
</file>

<file path=ppt/tags/tag151.xml><?xml version="1.0" encoding="utf-8"?>
<p:tagLst xmlns:p="http://schemas.openxmlformats.org/presentationml/2006/main">
  <p:tag name="KSO_WM_DIAGRAM_VIRTUALLY_FRAME" val="{&quot;height&quot;:377.28,&quot;left&quot;:48.239999999999995,&quot;top&quot;:128.16,&quot;width&quot;:864.72}"/>
</p:tagLst>
</file>

<file path=ppt/tags/tag152.xml><?xml version="1.0" encoding="utf-8"?>
<p:tagLst xmlns:p="http://schemas.openxmlformats.org/presentationml/2006/main">
  <p:tag name="KSO_WM_DIAGRAM_VIRTUALLY_FRAME" val="{&quot;height&quot;:377.28,&quot;left&quot;:48.239999999999995,&quot;top&quot;:128.16,&quot;width&quot;:864.72}"/>
</p:tagLst>
</file>

<file path=ppt/tags/tag153.xml><?xml version="1.0" encoding="utf-8"?>
<p:tagLst xmlns:p="http://schemas.openxmlformats.org/presentationml/2006/main">
  <p:tag name="KSO_WM_DIAGRAM_VIRTUALLY_FRAME" val="{&quot;height&quot;:377.28,&quot;left&quot;:48.239999999999995,&quot;top&quot;:128.16,&quot;width&quot;:864.72}"/>
</p:tagLst>
</file>

<file path=ppt/tags/tag154.xml><?xml version="1.0" encoding="utf-8"?>
<p:tagLst xmlns:p="http://schemas.openxmlformats.org/presentationml/2006/main">
  <p:tag name="KSO_WM_DIAGRAM_VIRTUALLY_FRAME" val="{&quot;height&quot;:377.28,&quot;left&quot;:48.239999999999995,&quot;top&quot;:128.16,&quot;width&quot;:864.72}"/>
</p:tagLst>
</file>

<file path=ppt/tags/tag155.xml><?xml version="1.0" encoding="utf-8"?>
<p:tagLst xmlns:p="http://schemas.openxmlformats.org/presentationml/2006/main">
  <p:tag name="KSO_WM_DIAGRAM_VIRTUALLY_FRAME" val="{&quot;height&quot;:377.28,&quot;left&quot;:48.239999999999995,&quot;top&quot;:128.16,&quot;width&quot;:864.72}"/>
</p:tagLst>
</file>

<file path=ppt/tags/tag156.xml><?xml version="1.0" encoding="utf-8"?>
<p:tagLst xmlns:p="http://schemas.openxmlformats.org/presentationml/2006/main">
  <p:tag name="KSO_WM_DIAGRAM_VIRTUALLY_FRAME" val="{&quot;height&quot;:377.28,&quot;left&quot;:48.239999999999995,&quot;top&quot;:128.16,&quot;width&quot;:864.72}"/>
</p:tagLst>
</file>

<file path=ppt/tags/tag157.xml><?xml version="1.0" encoding="utf-8"?>
<p:tagLst xmlns:p="http://schemas.openxmlformats.org/presentationml/2006/main">
  <p:tag name="KSO_WM_DIAGRAM_VIRTUALLY_FRAME" val="{&quot;height&quot;:388.0799212598425,&quot;left&quot;:411.84,&quot;top&quot;:93.6,&quot;width&quot;:509.76000000000005}"/>
</p:tagLst>
</file>

<file path=ppt/tags/tag158.xml><?xml version="1.0" encoding="utf-8"?>
<p:tagLst xmlns:p="http://schemas.openxmlformats.org/presentationml/2006/main">
  <p:tag name="KSO_WM_DIAGRAM_VIRTUALLY_FRAME" val="{&quot;height&quot;:388.0799212598425,&quot;left&quot;:411.84,&quot;top&quot;:93.6,&quot;width&quot;:509.76000000000005}"/>
</p:tagLst>
</file>

<file path=ppt/tags/tag159.xml><?xml version="1.0" encoding="utf-8"?>
<p:tagLst xmlns:p="http://schemas.openxmlformats.org/presentationml/2006/main">
  <p:tag name="KSO_WM_DIAGRAM_VIRTUALLY_FRAME" val="{&quot;height&quot;:384.47999999999996,&quot;left&quot;:48.239999999999995,&quot;top&quot;:123.84,&quot;width&quot;:864.72}"/>
</p:tagLst>
</file>

<file path=ppt/tags/tag160.xml><?xml version="1.0" encoding="utf-8"?>
<p:tagLst xmlns:p="http://schemas.openxmlformats.org/presentationml/2006/main">
  <p:tag name="KSO_WM_DIAGRAM_VIRTUALLY_FRAME" val="{&quot;height&quot;:384.47999999999996,&quot;left&quot;:48.239999999999995,&quot;top&quot;:123.84,&quot;width&quot;:864.72}"/>
</p:tagLst>
</file>

<file path=ppt/tags/tag161.xml><?xml version="1.0" encoding="utf-8"?>
<p:tagLst xmlns:p="http://schemas.openxmlformats.org/presentationml/2006/main">
  <p:tag name="KSO_WM_DIAGRAM_VIRTUALLY_FRAME" val="{&quot;height&quot;:384.47999999999996,&quot;left&quot;:48.239999999999995,&quot;top&quot;:123.84,&quot;width&quot;:864.72}"/>
</p:tagLst>
</file>

<file path=ppt/tags/tag162.xml><?xml version="1.0" encoding="utf-8"?>
<p:tagLst xmlns:p="http://schemas.openxmlformats.org/presentationml/2006/main">
  <p:tag name="KSO_WM_DIAGRAM_VIRTUALLY_FRAME" val="{&quot;height&quot;:384.47999999999996,&quot;left&quot;:48.239999999999995,&quot;top&quot;:123.84,&quot;width&quot;:864.72}"/>
</p:tagLst>
</file>

<file path=ppt/tags/tag163.xml><?xml version="1.0" encoding="utf-8"?>
<p:tagLst xmlns:p="http://schemas.openxmlformats.org/presentationml/2006/main">
  <p:tag name="KSO_WM_DIAGRAM_VIRTUALLY_FRAME" val="{&quot;height&quot;:384.47999999999996,&quot;left&quot;:48.239999999999995,&quot;top&quot;:123.84,&quot;width&quot;:864.72}"/>
</p:tagLst>
</file>

<file path=ppt/tags/tag164.xml><?xml version="1.0" encoding="utf-8"?>
<p:tagLst xmlns:p="http://schemas.openxmlformats.org/presentationml/2006/main">
  <p:tag name="KSO_WM_DIAGRAM_VIRTUALLY_FRAME" val="{&quot;height&quot;:384.47999999999996,&quot;left&quot;:48.239999999999995,&quot;top&quot;:123.84,&quot;width&quot;:864.72}"/>
</p:tagLst>
</file>

<file path=ppt/tags/tag165.xml><?xml version="1.0" encoding="utf-8"?>
<p:tagLst xmlns:p="http://schemas.openxmlformats.org/presentationml/2006/main">
  <p:tag name="KSO_WM_DIAGRAM_VIRTUALLY_FRAME" val="{&quot;height&quot;:384.47999999999996,&quot;left&quot;:48.239999999999995,&quot;top&quot;:123.84,&quot;width&quot;:864.72}"/>
</p:tagLst>
</file>

<file path=ppt/tags/tag166.xml><?xml version="1.0" encoding="utf-8"?>
<p:tagLst xmlns:p="http://schemas.openxmlformats.org/presentationml/2006/main">
  <p:tag name="KSO_WM_DIAGRAM_VIRTUALLY_FRAME" val="{&quot;height&quot;:384.47999999999996,&quot;left&quot;:48.239999999999995,&quot;top&quot;:123.84,&quot;width&quot;:864.72}"/>
</p:tagLst>
</file>

<file path=ppt/tags/tag167.xml><?xml version="1.0" encoding="utf-8"?>
<p:tagLst xmlns:p="http://schemas.openxmlformats.org/presentationml/2006/main">
  <p:tag name="KSO_WM_DIAGRAM_VIRTUALLY_FRAME" val="{&quot;height&quot;:384.47999999999996,&quot;left&quot;:48.239999999999995,&quot;top&quot;:123.84,&quot;width&quot;:864.72}"/>
</p:tagLst>
</file>

<file path=ppt/tags/tag168.xml><?xml version="1.0" encoding="utf-8"?>
<p:tagLst xmlns:p="http://schemas.openxmlformats.org/presentationml/2006/main">
  <p:tag name="KSO_WM_DIAGRAM_VIRTUALLY_FRAME" val="{&quot;height&quot;:384.47999999999996,&quot;left&quot;:48.239999999999995,&quot;top&quot;:123.84,&quot;width&quot;:864.72}"/>
</p:tagLst>
</file>

<file path=ppt/tags/tag169.xml><?xml version="1.0" encoding="utf-8"?>
<p:tagLst xmlns:p="http://schemas.openxmlformats.org/presentationml/2006/main">
  <p:tag name="KSO_WM_DIAGRAM_VIRTUALLY_FRAME" val="{&quot;height&quot;:384.47999999999996,&quot;left&quot;:48.239999999999995,&quot;top&quot;:123.84,&quot;width&quot;:864.72}"/>
</p:tagLst>
</file>

<file path=ppt/tags/tag170.xml><?xml version="1.0" encoding="utf-8"?>
<p:tagLst xmlns:p="http://schemas.openxmlformats.org/presentationml/2006/main">
  <p:tag name="KSO_WM_DIAGRAM_VIRTUALLY_FRAME" val="{&quot;height&quot;:384.47999999999996,&quot;left&quot;:48.239999999999995,&quot;top&quot;:123.84,&quot;width&quot;:864.72}"/>
</p:tagLst>
</file>

<file path=ppt/tags/tag171.xml><?xml version="1.0" encoding="utf-8"?>
<p:tagLst xmlns:p="http://schemas.openxmlformats.org/presentationml/2006/main">
  <p:tag name="KSO_WM_DIAGRAM_VIRTUALLY_FRAME" val="{&quot;height&quot;:384.47999999999996,&quot;left&quot;:48.239999999999995,&quot;top&quot;:123.84,&quot;width&quot;:864.72}"/>
</p:tagLst>
</file>

<file path=ppt/tags/tag172.xml><?xml version="1.0" encoding="utf-8"?>
<p:tagLst xmlns:p="http://schemas.openxmlformats.org/presentationml/2006/main">
  <p:tag name="KSO_WM_DIAGRAM_VIRTUALLY_FRAME" val="{&quot;height&quot;:384.47999999999996,&quot;left&quot;:48.239999999999995,&quot;top&quot;:123.84,&quot;width&quot;:864.72}"/>
</p:tagLst>
</file>

<file path=ppt/tags/tag173.xml><?xml version="1.0" encoding="utf-8"?>
<p:tagLst xmlns:p="http://schemas.openxmlformats.org/presentationml/2006/main">
  <p:tag name="KSO_WM_DIAGRAM_VIRTUALLY_FRAME" val="{&quot;height&quot;:384.47999999999996,&quot;left&quot;:48.239999999999995,&quot;top&quot;:123.84,&quot;width&quot;:864.72}"/>
</p:tagLst>
</file>

<file path=ppt/tags/tag174.xml><?xml version="1.0" encoding="utf-8"?>
<p:tagLst xmlns:p="http://schemas.openxmlformats.org/presentationml/2006/main">
  <p:tag name="KSO_WM_DIAGRAM_VIRTUALLY_FRAME" val="{&quot;height&quot;:384.47999999999996,&quot;left&quot;:48.239999999999995,&quot;top&quot;:123.84,&quot;width&quot;:864.72}"/>
</p:tagLst>
</file>

<file path=ppt/theme/theme1.xml><?xml version="1.0" encoding="utf-8"?>
<a:theme xmlns:a="http://schemas.openxmlformats.org/drawingml/2006/main" name="默认">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6">
      <a:majorFont>
        <a:latin typeface="MiSans Demibold"/>
        <a:ea typeface="MiSans Demibold"/>
        <a:cs typeface=""/>
      </a:majorFont>
      <a:minorFont>
        <a:latin typeface="MiSans Normal"/>
        <a:ea typeface="MiSans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0">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6">
      <a:majorFont>
        <a:latin typeface="MiSans Demibold"/>
        <a:ea typeface="MiSans Demibold"/>
        <a:cs typeface=""/>
      </a:majorFont>
      <a:minorFont>
        <a:latin typeface="MiSans Normal"/>
        <a:ea typeface="MiSans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0">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8710</Words>
  <Application>WPS 演示</Application>
  <PresentationFormat>宽屏</PresentationFormat>
  <Paragraphs>836</Paragraphs>
  <Slides>32</Slides>
  <Notes>32</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32</vt:i4>
      </vt:variant>
    </vt:vector>
  </HeadingPairs>
  <TitlesOfParts>
    <vt:vector size="47" baseType="lpstr">
      <vt:lpstr>Arial</vt:lpstr>
      <vt:lpstr>宋体</vt:lpstr>
      <vt:lpstr>Wingdings</vt:lpstr>
      <vt:lpstr>等线</vt:lpstr>
      <vt:lpstr>微软雅黑</vt:lpstr>
      <vt:lpstr>仿宋_GB2312</vt:lpstr>
      <vt:lpstr>仿宋</vt:lpstr>
      <vt:lpstr>Noto Sans SC</vt:lpstr>
      <vt:lpstr>MiSans Normal</vt:lpstr>
      <vt:lpstr>MiSans</vt:lpstr>
      <vt:lpstr>MiSans Demibold</vt:lpstr>
      <vt:lpstr>Arial Unicode MS</vt:lpstr>
      <vt:lpstr>Calibri</vt:lpstr>
      <vt:lpstr>默认</vt:lpstr>
      <vt:lpstr>1_默认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 jie</dc:creator>
  <cp:lastModifiedBy>韩帅</cp:lastModifiedBy>
  <cp:revision>962</cp:revision>
  <dcterms:created xsi:type="dcterms:W3CDTF">2023-08-09T12:44:00Z</dcterms:created>
  <dcterms:modified xsi:type="dcterms:W3CDTF">2026-10-19T08:25:31Z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B497E3E7B1B14B2BA291BF9E5D393365_13</vt:lpwstr>
  </property>
</Properties>
</file>