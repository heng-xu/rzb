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1_tf1_tf1.xml" ContentType="application/vnd.openxmlformats-officedocument.presentationml.notesSlide+xml"/>
  <Override PartName="/ppt/notesSlides/notesSlide2_tf1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notesSlides/notesSlide15_tf1.xml" ContentType="application/vnd.openxmlformats-officedocument.presentationml.notesSlide+xml"/>
  <Override PartName="/ppt/notesSlides/notesSlide16_tf1.xml" ContentType="application/vnd.openxmlformats-officedocument.presentationml.notesSlide+xml"/>
  <Override PartName="/ppt/notesSlides/notesSlide17_tf1.xml" ContentType="application/vnd.openxmlformats-officedocument.presentationml.notesSlide+xml"/>
  <Override PartName="/ppt/notesSlides/notesSlide18_tf1.xml" ContentType="application/vnd.openxmlformats-officedocument.presentationml.notesSlide+xml"/>
  <Override PartName="/ppt/notesSlides/notesSlide19_tf1.xml" ContentType="application/vnd.openxmlformats-officedocument.presentationml.notesSlide+xml"/>
  <Override PartName="/ppt/notesSlides/notesSlide20_tf1.xml" ContentType="application/vnd.openxmlformats-officedocument.presentationml.notesSlide+xml"/>
  <Override PartName="/ppt/notesSlides/notesSlide21_tf1.xml" ContentType="application/vnd.openxmlformats-officedocument.presentationml.notesSlide+xml"/>
  <Override PartName="/ppt/notesSlides/notesSlide22_tf1.xml" ContentType="application/vnd.openxmlformats-officedocument.presentationml.notesSlide+xml"/>
  <Override PartName="/ppt/notesSlides/notesSlide23_tf1.xml" ContentType="application/vnd.openxmlformats-officedocument.presentationml.notesSlide+xml"/>
  <Override PartName="/ppt/notesSlides/notesSlide24_tf1.xml" ContentType="application/vnd.openxmlformats-officedocument.presentationml.notesSlide+xml"/>
  <Override PartName="/ppt/notesSlides/notesSlide25_tf1.xml" ContentType="application/vnd.openxmlformats-officedocument.presentationml.notesSlide+xml"/>
  <Override PartName="/ppt/notesSlides/notesSlide26_tf1.xml" ContentType="application/vnd.openxmlformats-officedocument.presentationml.notesSlide+xml"/>
  <Override PartName="/ppt/notesSlides/notesSlide27_tf1.xml" ContentType="application/vnd.openxmlformats-officedocument.presentationml.notesSlide+xml"/>
  <Override PartName="/ppt/notesSlides/notesSlide28_tf1.xml" ContentType="application/vnd.openxmlformats-officedocument.presentationml.notesSlide+xml"/>
  <Override PartName="/ppt/notesSlides/notesSlide29_tf1.xml" ContentType="application/vnd.openxmlformats-officedocument.presentationml.notesSlide+xml"/>
  <Override PartName="/ppt/notesSlides/notesSlide30_tf1.xml" ContentType="application/vnd.openxmlformats-officedocument.presentationml.notesSlide+xml"/>
  <Override PartName="/ppt/notesSlides/notesSlide31_tf1.xml" ContentType="application/vnd.openxmlformats-officedocument.presentationml.notesSlide+xml"/>
  <Override PartName="/ppt/notesSlides/notesSlide32_tf1.xml" ContentType="application/vnd.openxmlformats-officedocument.presentationml.notesSlide+xml"/>
  <Override PartName="/ppt/notesSlides/notesSlide33_tf1.xml" ContentType="application/vnd.openxmlformats-officedocument.presentationml.notesSlide+xml"/>
  <Override PartName="/ppt/notesSlides/notesSlide34_tf1.xml" ContentType="application/vnd.openxmlformats-officedocument.presentationml.notesSlide+xml"/>
  <Override PartName="/ppt/notesSlides/notesSlide35_tf1.xml" ContentType="application/vnd.openxmlformats-officedocument.presentationml.notesSlide+xml"/>
  <Override PartName="/ppt/notesSlides/notesSlide36_tf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Relationship Id="rId4" Type="http://schemas.openxmlformats.org/officeDocument/2006/relationships/notesMaster" Target="notesMasters/notesMaster1.xml" /><Relationship Id="rId20" Type="http://schemas.openxmlformats.org/officeDocument/2006/relationships/font" Target="fonts/font8.fntdata" /><Relationship Id="rId2" Type="http://schemas.openxmlformats.org/officeDocument/2006/relationships/theme" Target="theme/theme1.xml" /><Relationship Id="rId19" Type="http://schemas.openxmlformats.org/officeDocument/2006/relationships/font" Target="fonts/font7.fntdata" /><Relationship Id="rId18" Type="http://schemas.openxmlformats.org/officeDocument/2006/relationships/font" Target="fonts/font6.fntdata" /><Relationship Id="rId17" Type="http://schemas.openxmlformats.org/officeDocument/2006/relationships/font" Target="fonts/font5.fntdata" /><Relationship Id="rId16" Type="http://schemas.openxmlformats.org/officeDocument/2006/relationships/font" Target="fonts/font4.fntdata" /><Relationship Id="rId15" Type="http://schemas.openxmlformats.org/officeDocument/2006/relationships/font" Target="fonts/font3.fntdata" /><Relationship Id="rId14" Type="http://schemas.openxmlformats.org/officeDocument/2006/relationships/font" Target="fonts/font2.fntdata" /><Relationship Id="rId13" Type="http://schemas.openxmlformats.org/officeDocument/2006/relationships/font" Target="fonts/font1.fntdata" /><Relationship Id="rId12" Type="http://schemas.openxmlformats.org/officeDocument/2006/relationships/commentAuthors" Target="commentAuthors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Relationship Id="rId36" Type="http://schemas.openxmlformats.org/officeDocument/2006/relationships/slide" Target="slides/slide16.xml" /><Relationship Id="rId37" Type="http://schemas.openxmlformats.org/officeDocument/2006/relationships/slide" Target="slides/slide17.xml" /><Relationship Id="rId38" Type="http://schemas.openxmlformats.org/officeDocument/2006/relationships/slide" Target="slides/slide18.xml" /><Relationship Id="rId39" Type="http://schemas.openxmlformats.org/officeDocument/2006/relationships/slide" Target="slides/slide19.xml" /><Relationship Id="rId40" Type="http://schemas.openxmlformats.org/officeDocument/2006/relationships/slide" Target="slides/slide20.xml" /><Relationship Id="rId41" Type="http://schemas.openxmlformats.org/officeDocument/2006/relationships/slide" Target="slides/slide21.xml" /><Relationship Id="rId42" Type="http://schemas.openxmlformats.org/officeDocument/2006/relationships/slide" Target="slides/slide22.xml" /><Relationship Id="rId43" Type="http://schemas.openxmlformats.org/officeDocument/2006/relationships/slide" Target="slides/slide23.xml" /><Relationship Id="rId44" Type="http://schemas.openxmlformats.org/officeDocument/2006/relationships/slide" Target="slides/slide24.xml" /><Relationship Id="rId45" Type="http://schemas.openxmlformats.org/officeDocument/2006/relationships/slide" Target="slides/slide25.xml" /><Relationship Id="rId46" Type="http://schemas.openxmlformats.org/officeDocument/2006/relationships/slide" Target="slides/slide26.xml" /><Relationship Id="rId47" Type="http://schemas.openxmlformats.org/officeDocument/2006/relationships/slide" Target="slides/slide27.xml" /><Relationship Id="rId48" Type="http://schemas.openxmlformats.org/officeDocument/2006/relationships/slide" Target="slides/slide28.xml" /><Relationship Id="rId49" Type="http://schemas.openxmlformats.org/officeDocument/2006/relationships/slide" Target="slides/slide29.xml" /><Relationship Id="rId50" Type="http://schemas.openxmlformats.org/officeDocument/2006/relationships/slide" Target="slides/slide30.xml" /><Relationship Id="rId51" Type="http://schemas.openxmlformats.org/officeDocument/2006/relationships/slide" Target="slides/slide31.xml" /><Relationship Id="rId52" Type="http://schemas.openxmlformats.org/officeDocument/2006/relationships/slide" Target="slides/slide32.xml" /><Relationship Id="rId53" Type="http://schemas.openxmlformats.org/officeDocument/2006/relationships/slide" Target="slides/slide33.xml" /><Relationship Id="rId54" Type="http://schemas.openxmlformats.org/officeDocument/2006/relationships/slide" Target="slides/slide34.xml" /><Relationship Id="rId55" Type="http://schemas.openxmlformats.org/officeDocument/2006/relationships/slide" Target="slides/slide35.xml" /><Relationship Id="rId56" Type="http://schemas.openxmlformats.org/officeDocument/2006/relationships/slide" Target="slides/slide36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1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1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1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1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1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1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1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1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1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1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2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2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2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2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2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3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3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3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3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3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3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3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notesSlide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</a:p>
        </p:txBody>
      </p:sp>
    </p:spTree>
  </p:cSld>
  <p:clrMapOvr>
    <a:masterClrMapping/>
  </p:clrMapOvr>
</p:notes>
</file>

<file path=ppt/notesSlides/notesSlide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主变更换按整台新购容量计价，扩建按完整项目投资计价，新购容量与净增容量分别反映采购费用和区域容量变化。联络按实际新建条数与地区综合造价计费。三类措施后续统一按投运批次计算评价期费用。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储能支撑同时受功率和可用电量约束，研究取可用电量系数0.76。对额定1 MW、2.15 MWh配置，2、4、6小时有效支撑分别为0.82、0.41、0.27 MW。时间条件改变可用支撑规模，工程投资仍按新增整数柜及统一单价计取。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三类措施在同一供电任务下联合选择，设备按可选额定容量、台数和整台投运，储能柜数及新增联络数量取整数。正常运行和最大单台主变N-1条件共同限制方案，储能与转供在同年设备状态下参与容量支撑。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类方案使用相同2021年实际容量和各年源荷，后续承接已投运设备。刚性基准对新增扩容实行容量控制，弹性方案在相同正常和故障约束下比较主变、储能与联络费用。比较统一评价期内新增措施费用现值，不将求解可行结果称为已证明全局最优。</a:t>
            </a:r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</a:p>
        </p:txBody>
      </p:sp>
    </p:spTree>
  </p:cSld>
  <p:clrMapOvr>
    <a:masterClrMapping/>
  </p:clrMapOvr>
</p:notes>
</file>

<file path=ppt/notesSlides/notesSlide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</a:p>
        </p:txBody>
      </p:sp>
    </p:spTree>
  </p:cSld>
  <p:clrMapOvr>
    <a:masterClrMapping/>
  </p:clrMapOvr>
</p:notes>
</file>

<file path=ppt/notesSlides/notesSlide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</a:p>
        </p:txBody>
      </p:sp>
    </p:spTree>
  </p:cSld>
  <p:clrMapOvr>
    <a:masterClrMapping/>
  </p:clrMapOvr>
</p:notes>
</file>

<file path=ppt/notesSlides/notesSlide2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</a:p>
        </p:txBody>
      </p:sp>
    </p:spTree>
  </p:cSld>
  <p:clrMapOvr>
    <a:masterClrMapping/>
  </p:clrMapOvr>
</p:notes>
</file>

<file path=ppt/notesSlides/notesSlide2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</a:p>
        </p:txBody>
      </p:sp>
    </p:spTree>
  </p:cSld>
  <p:clrMapOvr>
    <a:masterClrMapping/>
  </p:clrMapOvr>
</p:notes>
</file>

<file path=ppt/notesSlides/notesSlide2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</a:p>
        </p:txBody>
      </p:sp>
    </p:spTree>
  </p:cSld>
  <p:clrMapOvr>
    <a:masterClrMapping/>
  </p:clrMapOvr>
</p:notes>
</file>

<file path=ppt/notesSlides/notesSlide2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</a:p>
        </p:txBody>
      </p:sp>
    </p:spTree>
  </p:cSld>
  <p:clrMapOvr>
    <a:masterClrMapping/>
  </p:clrMapOvr>
</p:notes>
</file>

<file path=ppt/notesSlides/notesSlide2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</a:p>
        </p:txBody>
      </p:sp>
    </p:spTree>
  </p:cSld>
  <p:clrMapOvr>
    <a:masterClrMapping/>
  </p:clrMapOvr>
</p:notes>
</file>

<file path=ppt/notesSlides/notesSlide2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汇报完毕，敬请各位专家批评指正。</a:t>
            </a:r>
          </a:p>
        </p:txBody>
      </p:sp>
    </p:spTree>
  </p:cSld>
  <p:clrMapOvr>
    <a:masterClrMapping/>
  </p:clrMapOvr>
</p:notes>
</file>

<file path=ppt/notesSlides/notesSlide2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</a:p>
        </p:txBody>
      </p:sp>
    </p:spTree>
  </p:cSld>
  <p:clrMapOvr>
    <a:masterClrMapping/>
  </p:clrMapOvr>
</p:notes>
</file>

<file path=ppt/notesSlides/notesSlide2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装机渗透率、增长率、电缆长度占比和负荷分散系数分别改变源荷任务、比值分母、线路造价和局部峰值条件。负荷分散系数完整11节点中，1.11、1.21和1.25触发增容，形成2.05、2.14、2.26、2.43四个容量平台。平台内仍需调整储能和联络，完整节点见下一页。</a:t>
            </a:r>
          </a:p>
        </p:txBody>
      </p:sp>
    </p:spTree>
  </p:cSld>
  <p:clrMapOvr>
    <a:masterClrMapping/>
  </p:clrMapOvr>
</p:notes>
</file>

<file path=ppt/notesSlides/notesSlide3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完整保留1.05至1.25、间隔0.02的11个节点，其余源荷和网络条件相同。1.11增容26 MVA替代8.80 MW储能并减少一项联络；其后同一容量平台内继续调整配套措施。1.21再次增容并取消储能，1.25容量达到710 MVA、配10项联络。全序列费用现值从4310.32万元增至8339.97万元。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5.png" /><Relationship Id="rId1" Type="http://schemas.openxmlformats.org/officeDocument/2006/relationships/image" Target="../media/image4.jpeg" />  <Relationship Id="rId4" Type="http://schemas.openxmlformats.org/officeDocument/2006/relationships/notesSlide" Target="../notesSlides/notesSlide1_tf1_tf1.xml" 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<Relationship Id="rId2" Type="http://schemas.openxmlformats.org/officeDocument/2006/relationships/notesSlide" Target="../notesSlides/notesSlide2_tf1_tf1.xml" 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6d703104f17ea2a.png" />  <Relationship Id="rId3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_tf1.xml" 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_tf1.xml" 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6_tf1.xml" />
<Relationship Id="rId4" Type="http://schemas.openxmlformats.org/officeDocument/2006/relationships/image" Target="../media/image_ea664b76921f4795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7_tf1.xml" />
<Relationship Id="rId4" Type="http://schemas.openxmlformats.org/officeDocument/2006/relationships/image" Target="../media/image_6f1f3130ee9ed91c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8_tf1.xml" />
<Relationship Id="rId4" Type="http://schemas.openxmlformats.org/officeDocument/2006/relationships/image" Target="../media/image_588eadc4eeeab195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9_tf1.xml" />
<Relationship Id="rId4" Type="http://schemas.openxmlformats.org/officeDocument/2006/relationships/image" Target="../media/image_f1e6229dd6598447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bf8fb2b8862fba8.png" />  <Relationship Id="rId3" Type="http://schemas.openxmlformats.org/officeDocument/2006/relationships/notesSlide" Target="../notesSlides/notesSlide10_tf1.xml" 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63e5f99ec502ec3d.png" />  <Relationship Id="rId3" Type="http://schemas.openxmlformats.org/officeDocument/2006/relationships/notesSlide" Target="../notesSlides/notesSlide11_tf1.xml" 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c620f68386a67fa.png" />  <Relationship Id="rId3" Type="http://schemas.openxmlformats.org/officeDocument/2006/relationships/notesSlide" Target="../notesSlides/notesSlide12_tf1.xml" 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3_tf1.xml" 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26670a2dd8df8c6.png" />  <Relationship Id="rId3" Type="http://schemas.openxmlformats.org/officeDocument/2006/relationships/notesSlide" Target="../notesSlides/notesSlide14_tf1.xml" 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5_tf1.xml" 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6_tf1.xml" />
<Relationship Id="rId4" Type="http://schemas.openxmlformats.org/officeDocument/2006/relationships/image" Target="../media/image_ff89f419e8c9174d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7_tf1.xml" />
<Relationship Id="rId4" Type="http://schemas.openxmlformats.org/officeDocument/2006/relationships/image" Target="../media/image_62b515396907a348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8_tf1.xml" />
<Relationship Id="rId4" Type="http://schemas.openxmlformats.org/officeDocument/2006/relationships/image" Target="../media/image_6fc08cc98c2c012a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19_tf1.xml" />
<Relationship Id="rId4" Type="http://schemas.openxmlformats.org/officeDocument/2006/relationships/image" Target="../media/image_62688b4550adbdbf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0_tf1.xml" />
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_tf1.xml" />
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_tf1.xml" 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notesSlide" Target="../notesSlides/notesSlide23_tf1.xml" />
<Relationship Id="rId4" Type="http://schemas.openxmlformats.org/officeDocument/2006/relationships/image" Target="../media/image_67f54dba2725b3e4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4_tf1.xml" 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5_tf1.xml" />
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6_tf1.xml" />
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7_tf1.xml" />
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_tf1.xml" />
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9_tf1.xml" />
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0_tf1.xml" />
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1_tf1.xml" />
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2_tf1.xml" />
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3_tf1.xml" />
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4_tf1.xml" />
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d542011d916257fb.png" />  <Relationship Id="rId3" Type="http://schemas.openxmlformats.org/officeDocument/2006/relationships/notesSlide" Target="../notesSlides/notesSlide35_tf1.xml" />
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7e2ed38723ea33cf.png" />  <Relationship Id="rId3" Type="http://schemas.openxmlformats.org/officeDocument/2006/relationships/notesSlide" Target="../notesSlides/notesSlide36_tf1.xml" />
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徐州地区分布式新能源高渗透率地区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110 kV电网容载比弹性指标优化研究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成果汇报</a:t>
            </a: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国网江苏电力设计咨询有限公司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徐州勘测设计分公司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520148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743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研究背景</a:t>
                </a: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研究目标和思路</a:t>
                </a: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研究内容</a:t>
                </a: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实证分析</a:t>
                </a: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项目成效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1.1 背景与规划问题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光伏接入使主变同时承担正向供电与反向输送任务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依据：研究报告1.1—1.2；《配电网规划设计技术导则（修订稿，2025年4月）》</a:t>
              </a: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日间：本地消纳与余电反送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晚间：上级电网供电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反向容量校核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正向峰值与主变N-1校核</a:t>
              </a: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双向运行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区域与站级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援影响。</a:t>
              </a: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kV联络，形成分片区的容量规划建议。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研究目标和思路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2.1 研究目标与思路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把片区推荐值落实为满足供电任务的工程配置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依据：研究报告1.4—1.5、图1-1</a:t>
              </a: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运行资料</a:t>
              </a: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荷与既有转供资料。</a:t>
              </a: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运行任务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确站级容量需求。</a:t>
              </a: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工程费用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折算投运批次费用。</a:t>
              </a: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联合比选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储能和联络措施。</a:t>
              </a: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⑤ 结果解释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施的替代关系。</a:t>
              </a: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⑥ 条件推荐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落实具体工程方案。</a:t>
              </a: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由运行特征、费用与设备结果形成五参数推荐范围，服务分片区容量规划。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 研究对象与数据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邳州与市区分别体现高光伏县域和负荷集中城区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依据：研究报告3.1、表3-12、表5-1</a:t>
              </a: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2025年指标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站级分析范围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实际主变容量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2139.50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3701.00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年网供最大负荷 /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956.45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1528.82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 txBox="1"/>
            <p:nvPr/>
          </p:nvSpPr>
          <p:spPr>
            <a:xfrm>
              <a:off x="440817" y="5156200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统计与仿真：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现状统计描述实际容量与源荷；逐年方案以2021年实际容量为共同起点，2022—2025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年为历史回算，2026—2035年为预测条件规划。</a:t>
              </a: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量的比例；本页两项均为报告估计值。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3.2 历史容量与负荷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两地区容载比变化反映不同的建设与负荷发展过程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依据：研究报告表3-1、表3-2、表3-24</a:t>
              </a: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比由2.77降至2.24。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合容量投放与负荷回落共同解释。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3.3 光伏发展与渗透率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光伏规模及供能水平差异形成不同的双向运行任务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依据：研究报告3.3、表3-6、表3-12</a:t>
              </a: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较高，日间反送任务更突出。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报告预测情景输入，并与负荷预测共同作用。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3.4 净负荷与近峰特征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正反向峰值及持续过程共同决定容量与支撑需求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依据：研究报告3.4、表3-10；保留补值标识的区域8760小时序列</a:t>
              </a: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11 h，反映两地区持续支撑任务的差异。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容载比继续采用年度统计峰值。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3.5 站级容量压力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区域容量储备与少数站点的局部压力可以同时存在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依据：研究报告表3-8、表3-22、表3-23</a:t>
              </a: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储备与少数站局部压力可以同时存在。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应把站级净负荷、设备与转供条件共同纳入比选。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3.6 核心指标筛选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十三项指标经组内筛选与高相关归并形成五项参数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依据：研究报告3.5、表3-14—3-20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十三项候选</a:t>
              </a: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九项关联指标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留能够反映容载比变化的信息。</a:t>
              </a: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五项基础参数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入。</a:t>
              </a: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1414" indent="-141414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，筛选结果结合计算关系和规划含义解释。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3.7 参数核验与分档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五项参数分别保留不同规划条件的信息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依据：研究报告表3-19、表3-21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矩阵分类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≤1；(1,2]；&gt;2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≤2%；(2%,4%]；(4%,7%]；&gt;7%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≤10%；(10%,30%]；&gt;30%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≤30%；(30%,50%]；(50%,70%]；&gt;70%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≤1.15；&gt;1.15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内最大参数间Pearson绝对值为0.29，结合计算关系核验后用于推广分档。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3.8 工程费用模型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工程投资按采购规模、项目数量和投运时点计取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依据：研究报告4.2—4.3、表4-2、表4-3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19375"/>
            <a:ext cx="4953000" cy="2857500"/>
            <a:chOff x="333375" y="2619375"/>
            <a:chExt cx="49530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4953000" cy="28575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20" y="2619375"/>
              <a:ext cx="4675909" cy="2857500"/>
            </a:xfrm>
            <a:prstGeom prst="rect">
              <a:avLst/>
            </a:prstGeom>
          </p:spPr>
        </p:pic>
      </p:grpSp>
      <p:grpSp>
        <p:nvGrpSpPr>
          <p:cNvPr id="36" name="v2-cost-0"/>
          <p:cNvGrpSpPr/>
          <p:nvPr/>
        </p:nvGrpSpPr>
        <p:grpSpPr>
          <a:xfrm>
            <a:off x="5619750" y="2600325"/>
            <a:ext cx="3190875" cy="1005999"/>
            <a:chOff x="5619750" y="2600325"/>
            <a:chExt cx="31908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5619750" y="2600325"/>
              <a:ext cx="319087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5619750" y="2619375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5659374" y="26479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主变更换</a:t>
              </a: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5660708" y="2911475"/>
              <a:ext cx="284162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按整台新购铭牌容量计价，净增容量扣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除同期被替换容量，采购支出与增容效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果分别核算。</a:t>
              </a:r>
            </a:p>
          </p:txBody>
        </p:sp>
      </p:grpSp>
      <p:grpSp>
        <p:nvGrpSpPr>
          <p:cNvPr id="27" name="v2-cost-1"/>
          <p:cNvGrpSpPr/>
          <p:nvPr/>
        </p:nvGrpSpPr>
        <p:grpSpPr>
          <a:xfrm>
            <a:off x="5619750" y="3600450"/>
            <a:ext cx="3190875" cy="1005999"/>
            <a:chOff x="5619750" y="3600450"/>
            <a:chExt cx="3190875" cy="1005999"/>
          </a:xfrm>
        </p:grpSpPr>
        <p:sp>
          <p:nvSpPr>
            <p:cNvPr id="23" name="Rectangle 23"/>
            <p:cNvSpPr/>
            <p:nvPr/>
          </p:nvSpPr>
          <p:spPr>
            <a:xfrm>
              <a:off x="5619750" y="3600450"/>
              <a:ext cx="319087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619750" y="361950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59374" y="36480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主变扩建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0708" y="3911600"/>
              <a:ext cx="2883217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按完整扩建项目计费，50 MVA扩建参考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投资1223.00万元，实际方案还受预留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位置限制。</a:t>
              </a:r>
            </a:p>
          </p:txBody>
        </p:sp>
      </p:grpSp>
      <p:grpSp>
        <p:nvGrpSpPr>
          <p:cNvPr id="32" name="v2-cost-2"/>
          <p:cNvGrpSpPr/>
          <p:nvPr/>
        </p:nvGrpSpPr>
        <p:grpSpPr>
          <a:xfrm>
            <a:off x="5619750" y="4600575"/>
            <a:ext cx="3190875" cy="1005999"/>
            <a:chOff x="5619750" y="4600575"/>
            <a:chExt cx="31908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5619750" y="4600575"/>
              <a:ext cx="319087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619750" y="4619625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9374" y="46482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新增联络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0708" y="4911725"/>
              <a:ext cx="2866580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以电缆长度占比折算3 km项目费用，既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有工程不重复计建设费，新增项目按投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运年计费。</a:t>
              </a:r>
            </a:p>
          </p:txBody>
        </p:sp>
      </p:grpSp>
      <p:grpSp>
        <p:nvGrpSpPr>
          <p:cNvPr id="35" name="v2-cost-mechanism"/>
          <p:cNvGrpSpPr/>
          <p:nvPr/>
        </p:nvGrpSpPr>
        <p:grpSpPr>
          <a:xfrm>
            <a:off x="333375" y="5715000"/>
            <a:ext cx="8477250" cy="561975"/>
            <a:chOff x="333375" y="5715000"/>
            <a:chExt cx="8477250" cy="561975"/>
          </a:xfrm>
        </p:grpSpPr>
        <p:sp>
          <p:nvSpPr>
            <p:cNvPr id="33" name="Rectangle 33"/>
            <p:cNvSpPr/>
            <p:nvPr/>
          </p:nvSpPr>
          <p:spPr>
            <a:xfrm>
              <a:off x="333375" y="5715000"/>
              <a:ext cx="8477250" cy="5619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0817" y="5740400"/>
              <a:ext cx="763466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地区造价：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邳州、市区单项新增联络参考投资分别为128.38、452.40万元。电缆占比提高使联络支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援成本上升，进而影响其与站内补强、配储的费用比较。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3.9 储能有效支撑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额定功率与可用电量共同限制持续支撑能力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依据：研究报告4.4—4.6、表4-4、表4-5</a:t>
              </a:r>
            </a:p>
          </p:txBody>
        </p:sp>
      </p:grpSp>
      <p:grpSp>
        <p:nvGrpSpPr>
          <p:cNvPr id="25" name="storage-relationship"/>
          <p:cNvGrpSpPr/>
          <p:nvPr/>
        </p:nvGrpSpPr>
        <p:grpSpPr>
          <a:xfrm>
            <a:off x="333375" y="2667000"/>
            <a:ext cx="8477250" cy="1476375"/>
            <a:chOff x="333375" y="2667000"/>
            <a:chExt cx="8477250" cy="14763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86883" y="2819400"/>
              <a:ext cx="637023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有效支撑功率 = min（额定功率，可用电量 ÷ 支撑时间）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5150" y="3248025"/>
              <a:ext cx="51537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可用电量系数0.76：结合SOC可用窗口与单向放电效率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8162" y="3616325"/>
              <a:ext cx="5407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柜型：100 kW / 215 kWh；参考投资：21.05万元/柜</a:t>
              </a:r>
            </a:p>
          </p:txBody>
        </p:sp>
      </p:grpSp>
      <p:graphicFrame>
        <p:nvGraphicFramePr>
          <p:cNvPr id="26" name="storage-duration"/>
          <p:cNvGraphicFramePr>
            <a:graphicFrameLocks noGrp="1"/>
          </p:cNvGraphicFramePr>
          <p:nvPr/>
        </p:nvGraphicFramePr>
        <p:xfrm>
          <a:off x="333375" y="4410075"/>
          <a:ext cx="847725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306"/>
                <a:gridCol w="1926648"/>
                <a:gridCol w="1926648"/>
                <a:gridCol w="192664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额定配置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MW / 2.15 MWh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7" name="v2-storage-procurement"/>
          <p:cNvGrpSpPr/>
          <p:nvPr/>
        </p:nvGrpSpPr>
        <p:grpSpPr>
          <a:xfrm>
            <a:off x="333375" y="5581650"/>
            <a:ext cx="8477250" cy="695325"/>
            <a:chOff x="333375" y="5581650"/>
            <a:chExt cx="8477250" cy="695325"/>
          </a:xfrm>
        </p:grpSpPr>
        <p:sp>
          <p:nvSpPr>
            <p:cNvPr id="28" name="Rectangle 18"/>
            <p:cNvSpPr/>
            <p:nvPr/>
          </p:nvSpPr>
          <p:spPr>
            <a:xfrm>
              <a:off x="333375" y="5581650"/>
              <a:ext cx="8477250" cy="695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19"/>
            <p:cNvSpPr txBox="1"/>
            <p:nvPr/>
          </p:nvSpPr>
          <p:spPr>
            <a:xfrm>
              <a:off x="440626" y="5594350"/>
              <a:ext cx="749014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采购规模：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同样承担1.00 MW连续支撑任务，2 h、4 h、6 h分别需要13、25、37柜。较长持续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时间受可用电量限制，柜数按整数取值，进而形成对应投资。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3.10 三类措施联合配置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主变、联络与储能在相同安全约束下共同承担任务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依据：研究报告5.2—5.3</a:t>
              </a:r>
            </a:p>
          </p:txBody>
        </p:sp>
      </p:grpSp>
      <p:grpSp>
        <p:nvGrpSpPr>
          <p:cNvPr id="47" name="v2-equipment"/>
          <p:cNvGrpSpPr/>
          <p:nvPr/>
        </p:nvGrpSpPr>
        <p:grpSpPr>
          <a:xfrm>
            <a:off x="333375" y="2762250"/>
            <a:ext cx="4572000" cy="2095500"/>
            <a:chOff x="333375" y="2762250"/>
            <a:chExt cx="4572000" cy="2095500"/>
          </a:xfrm>
        </p:grpSpPr>
        <p:sp>
          <p:nvSpPr>
            <p:cNvPr id="48" name="Rectangle 12"/>
            <p:cNvSpPr/>
            <p:nvPr/>
          </p:nvSpPr>
          <p:spPr>
            <a:xfrm>
              <a:off x="333375" y="2762250"/>
              <a:ext cx="4572000" cy="20955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9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3375" y="2857696"/>
              <a:ext cx="4572000" cy="1904608"/>
            </a:xfrm>
            <a:prstGeom prst="rect">
              <a:avLst/>
            </a:prstGeom>
          </p:spPr>
        </p:pic>
      </p:grpSp>
      <p:grpSp>
        <p:nvGrpSpPr>
          <p:cNvPr id="21" name="v2-resource-主变"/>
          <p:cNvGrpSpPr/>
          <p:nvPr/>
        </p:nvGrpSpPr>
        <p:grpSpPr>
          <a:xfrm>
            <a:off x="571500" y="4953000"/>
            <a:ext cx="1047750" cy="337566"/>
            <a:chOff x="571500" y="4953000"/>
            <a:chExt cx="1047750" cy="337566"/>
          </a:xfrm>
        </p:grpSpPr>
        <p:sp>
          <p:nvSpPr>
            <p:cNvPr id="50" name="Rectangle 19"/>
            <p:cNvSpPr/>
            <p:nvPr/>
          </p:nvSpPr>
          <p:spPr>
            <a:xfrm>
              <a:off x="571500" y="4953000"/>
              <a:ext cx="1047750" cy="3048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674" y="498157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</a:t>
              </a:r>
            </a:p>
          </p:txBody>
        </p:sp>
      </p:grpSp>
      <p:grpSp>
        <p:nvGrpSpPr>
          <p:cNvPr id="24" name="v2-resource-联络"/>
          <p:cNvGrpSpPr/>
          <p:nvPr/>
        </p:nvGrpSpPr>
        <p:grpSpPr>
          <a:xfrm>
            <a:off x="2095500" y="4953000"/>
            <a:ext cx="1047750" cy="337566"/>
            <a:chOff x="2095500" y="4953000"/>
            <a:chExt cx="1047750" cy="337566"/>
          </a:xfrm>
        </p:grpSpPr>
        <p:sp>
          <p:nvSpPr>
            <p:cNvPr id="22" name="Rectangle 22"/>
            <p:cNvSpPr/>
            <p:nvPr/>
          </p:nvSpPr>
          <p:spPr>
            <a:xfrm>
              <a:off x="2095500" y="4953000"/>
              <a:ext cx="1047750" cy="3048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98674" y="498157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联络</a:t>
              </a:r>
            </a:p>
          </p:txBody>
        </p:sp>
      </p:grpSp>
      <p:grpSp>
        <p:nvGrpSpPr>
          <p:cNvPr id="27" name="v2-resource-储能"/>
          <p:cNvGrpSpPr/>
          <p:nvPr/>
        </p:nvGrpSpPr>
        <p:grpSpPr>
          <a:xfrm>
            <a:off x="3619500" y="4953000"/>
            <a:ext cx="1047750" cy="337566"/>
            <a:chOff x="3619500" y="4953000"/>
            <a:chExt cx="1047750" cy="337566"/>
          </a:xfrm>
        </p:grpSpPr>
        <p:sp>
          <p:nvSpPr>
            <p:cNvPr id="25" name="Rectangle 25"/>
            <p:cNvSpPr/>
            <p:nvPr/>
          </p:nvSpPr>
          <p:spPr>
            <a:xfrm>
              <a:off x="3619500" y="4953000"/>
              <a:ext cx="1047750" cy="3048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2674" y="498157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储能</a:t>
              </a:r>
            </a:p>
          </p:txBody>
        </p:sp>
      </p:grpSp>
      <p:grpSp>
        <p:nvGrpSpPr>
          <p:cNvPr id="32" name="v2-resource-0"/>
          <p:cNvGrpSpPr/>
          <p:nvPr/>
        </p:nvGrpSpPr>
        <p:grpSpPr>
          <a:xfrm>
            <a:off x="5238750" y="2609850"/>
            <a:ext cx="3571875" cy="1013333"/>
            <a:chOff x="5238750" y="2609850"/>
            <a:chExt cx="3571875" cy="1013333"/>
          </a:xfrm>
        </p:grpSpPr>
        <p:sp>
          <p:nvSpPr>
            <p:cNvPr id="28" name="Rectangle 28"/>
            <p:cNvSpPr/>
            <p:nvPr/>
          </p:nvSpPr>
          <p:spPr>
            <a:xfrm>
              <a:off x="5238750" y="2609850"/>
              <a:ext cx="357187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238750" y="2628900"/>
              <a:ext cx="3571875" cy="9525"/>
            </a:xfrm>
            <a:custGeom>
              <a:avLst/>
              <a:gdLst/>
              <a:ahLst/>
              <a:cxnLst/>
              <a:rect l="l" t="t" r="r" b="b"/>
              <a:pathLst>
                <a:path w="3571875" h="9525">
                  <a:moveTo>
                    <a:pt x="0" y="0"/>
                  </a:moveTo>
                  <a:lnTo>
                    <a:pt x="3571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8374" y="2657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主变补强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9517" y="2921000"/>
              <a:ext cx="30998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更换或扩建改变本站容量与最大单台停运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后的剩余能力，设备按可选额定容量、台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数和整台投运。</a:t>
              </a:r>
            </a:p>
          </p:txBody>
        </p:sp>
      </p:grpSp>
      <p:grpSp>
        <p:nvGrpSpPr>
          <p:cNvPr id="37" name="v2-resource-1"/>
          <p:cNvGrpSpPr/>
          <p:nvPr/>
        </p:nvGrpSpPr>
        <p:grpSpPr>
          <a:xfrm>
            <a:off x="5238750" y="3629025"/>
            <a:ext cx="3571875" cy="1013333"/>
            <a:chOff x="5238750" y="3629025"/>
            <a:chExt cx="3571875" cy="1013333"/>
          </a:xfrm>
        </p:grpSpPr>
        <p:sp>
          <p:nvSpPr>
            <p:cNvPr id="33" name="Rectangle 33"/>
            <p:cNvSpPr/>
            <p:nvPr/>
          </p:nvSpPr>
          <p:spPr>
            <a:xfrm>
              <a:off x="5238750" y="3629025"/>
              <a:ext cx="357187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238750" y="3648075"/>
              <a:ext cx="3571875" cy="9525"/>
            </a:xfrm>
            <a:custGeom>
              <a:avLst/>
              <a:gdLst/>
              <a:ahLst/>
              <a:cxnLst/>
              <a:rect l="l" t="t" r="r" b="b"/>
              <a:pathLst>
                <a:path w="3571875" h="9525">
                  <a:moveTo>
                    <a:pt x="0" y="0"/>
                  </a:moveTo>
                  <a:lnTo>
                    <a:pt x="3571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8374" y="36766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联络支援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9517" y="3940175"/>
              <a:ext cx="30998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切换具体源荷区段至有余量的受端，支援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能力由可切负荷、共享通道和接收主变共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同限制。</a:t>
              </a:r>
            </a:p>
          </p:txBody>
        </p:sp>
      </p:grpSp>
      <p:grpSp>
        <p:nvGrpSpPr>
          <p:cNvPr id="42" name="v2-resource-2"/>
          <p:cNvGrpSpPr/>
          <p:nvPr/>
        </p:nvGrpSpPr>
        <p:grpSpPr>
          <a:xfrm>
            <a:off x="5238750" y="4648200"/>
            <a:ext cx="3571875" cy="1013333"/>
            <a:chOff x="5238750" y="4648200"/>
            <a:chExt cx="3571875" cy="1013333"/>
          </a:xfrm>
        </p:grpSpPr>
        <p:sp>
          <p:nvSpPr>
            <p:cNvPr id="38" name="Rectangle 38"/>
            <p:cNvSpPr/>
            <p:nvPr/>
          </p:nvSpPr>
          <p:spPr>
            <a:xfrm>
              <a:off x="5238750" y="4648200"/>
              <a:ext cx="357187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5238750" y="4667250"/>
              <a:ext cx="3571875" cy="9525"/>
            </a:xfrm>
            <a:custGeom>
              <a:avLst/>
              <a:gdLst/>
              <a:ahLst/>
              <a:cxnLst/>
              <a:rect l="l" t="t" r="r" b="b"/>
              <a:pathLst>
                <a:path w="3571875" h="9525">
                  <a:moveTo>
                    <a:pt x="0" y="0"/>
                  </a:moveTo>
                  <a:lnTo>
                    <a:pt x="3571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8374" y="469582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储能支撑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9517" y="4959350"/>
              <a:ext cx="30998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以额定功率和可用电量共同折算有效功率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，按整数柜配置，并与同年的主变及转供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方案衔接。</a:t>
              </a:r>
            </a:p>
          </p:txBody>
        </p:sp>
      </p:grpSp>
      <p:grpSp>
        <p:nvGrpSpPr>
          <p:cNvPr id="46" name="v2-security-constraints"/>
          <p:cNvGrpSpPr/>
          <p:nvPr/>
        </p:nvGrpSpPr>
        <p:grpSpPr>
          <a:xfrm>
            <a:off x="333375" y="5810250"/>
            <a:ext cx="8477250" cy="508508"/>
            <a:chOff x="333375" y="5810250"/>
            <a:chExt cx="8477250" cy="508508"/>
          </a:xfrm>
        </p:grpSpPr>
        <p:sp>
          <p:nvSpPr>
            <p:cNvPr id="43" name="Rectangle 43"/>
            <p:cNvSpPr/>
            <p:nvPr/>
          </p:nvSpPr>
          <p:spPr>
            <a:xfrm>
              <a:off x="333375" y="5810250"/>
              <a:ext cx="8477250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33375" y="5810250"/>
              <a:ext cx="8477250" cy="46672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40817" y="5835650"/>
              <a:ext cx="770324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共同约束：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正常运行负载率≤80%，最大单台主变N-1时剩余设备短时负载率≤130%；储能和转供按同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年设备状态参与支撑。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3.11 逐年比选与经济评价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相同基期和源荷输入下比较完整建设路径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885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依据：研究报告5.1—5.3、表4-1、表5-1、表5-3</a:t>
              </a:r>
            </a:p>
          </p:txBody>
        </p:sp>
      </p:grpSp>
      <p:grpSp>
        <p:nvGrpSpPr>
          <p:cNvPr id="20" name="v2-method-15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共同起点与承接</a:t>
              </a: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4845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以2021年实际容量为基期，邳州2027.00 MVA、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市区3113.50 MVA。后续各年承接已投运设备，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源荷输入与安全要求保持一致。</a:t>
              </a:r>
            </a:p>
          </p:txBody>
        </p:sp>
      </p:grpSp>
      <p:grpSp>
        <p:nvGrpSpPr>
          <p:cNvPr id="25" name="v2-method-15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刚性基准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新增扩容按当年负荷两倍控制，负荷回落时保留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上年在役容量；局部任务继续由储能和联络共同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承担。</a:t>
              </a:r>
            </a:p>
          </p:txBody>
        </p:sp>
      </p:grpSp>
      <p:grpSp>
        <p:nvGrpSpPr>
          <p:cNvPr id="30" name="v2-method-15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弹性方案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142" y="4530725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放宽2.0新增容量控制，在相同正常和故障承载要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求下比较措施组合，结合站级缺口和受端承接能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力形成设备方案。</a:t>
              </a:r>
            </a:p>
          </p:txBody>
        </p:sp>
      </p:grpSp>
      <p:grpSp>
        <p:nvGrpSpPr>
          <p:cNvPr id="35" name="v2-method-15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统一费用评价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777044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投运批次折算至2021年末，评价截止2041年，折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现率6.00%。建设和固定运维计入费用，比较完整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建设路径的新增支出。</a:t>
              </a:r>
            </a:p>
          </p:txBody>
        </p:sp>
      </p:grpSp>
      <p:grpSp>
        <p:nvGrpSpPr>
          <p:cNvPr id="39" name="v2-closing-15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792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比较结果为所设条件下的具体可行方案，费用优势由各年度主变、储能与联络现金流共同支持。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4.1 邳州逐年方案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邳州弹性方案增加站内容量并减少部分配套需求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依据：研究报告表5-4、表5-5、表5-9</a:t>
              </a: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容量路径：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弹性方案在局部需求出现时增加站内容量，2035年达到2901.00 MVA、容载比2.06；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刚性分别为2678.00 MVA、1.90。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71080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措施替代：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期末弹性储能545.67 MWh、累计新增联络21条，均低于刚性。储能及联络支出下降抵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消较多主变投入，全期费用减少848.32万元。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4.2 市区逐年方案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市区费用优势由建设时序和联络替代逐步形成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依据：研究报告表5-6、表5-7、表5-9</a:t>
              </a: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154736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建设时序：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弹性前期以站内补强承接局部需求，2030年累计费用16806.54万元，高于刚性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14819.77万元；费用优势由后续各年工程支出共同形成。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04887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期末组合：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2035年弹性储能109.65 MWh高于刚性92.88 MWh，累计新增联络由66条减至35条；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联络费用下降支持全期减少2050.35万元。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4.3 评价期费用分解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新增主变支出由其他措施费用下降部分抵消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依据：研究报告表5-9、表5-11</a:t>
              </a:r>
            </a:p>
          </p:txBody>
        </p:sp>
      </p:grpSp>
      <p:graphicFrame>
        <p:nvGraphicFramePr>
          <p:cNvPr id="23" name="total-cost"/>
          <p:cNvGraphicFramePr>
            <a:graphicFrameLocks noGrp="1"/>
          </p:cNvGraphicFramePr>
          <p:nvPr/>
        </p:nvGraphicFramePr>
        <p:xfrm>
          <a:off x="333375" y="5381625"/>
          <a:ext cx="8477250" cy="77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/>
                <a:gridCol w="1883834"/>
                <a:gridCol w="1883833"/>
                <a:gridCol w="1883833"/>
              </a:tblGrid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方案费用现值 / 万元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两地区合计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98006.53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95107.86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2898.67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612" y="2544483"/>
              <a:ext cx="8466777" cy="2235758"/>
            </a:xfrm>
            <a:prstGeom prst="rect">
              <a:avLst/>
            </a:prstGeom>
          </p:spPr>
        </p:pic>
      </p:grpSp>
      <p:grpSp>
        <p:nvGrpSpPr>
          <p:cNvPr id="22" name="v2-cost-explanation"/>
          <p:cNvGrpSpPr/>
          <p:nvPr/>
        </p:nvGrpSpPr>
        <p:grpSpPr>
          <a:xfrm>
            <a:off x="333375" y="4848225"/>
            <a:ext cx="8477250" cy="508508"/>
            <a:chOff x="333375" y="4848225"/>
            <a:chExt cx="8477250" cy="508508"/>
          </a:xfrm>
        </p:grpSpPr>
        <p:sp>
          <p:nvSpPr>
            <p:cNvPr id="20" name="Rectangle 20"/>
            <p:cNvSpPr/>
            <p:nvPr/>
          </p:nvSpPr>
          <p:spPr>
            <a:xfrm>
              <a:off x="333375" y="4848225"/>
              <a:ext cx="8477250" cy="504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0817" y="487362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费用来源：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邳州由储能和联络费用下降共同抵消较多主变支出，市区主要由联络费用下降形成优势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。两地区合计减少2898.67万元，降幅2.96%。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2035年设备组合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两类片区通过不同措施组合满足局部供电任务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依据：研究报告表5-10</a:t>
              </a: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31367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邳州组合：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弹性主变容量较大，期末储能由刚性568.25 MWh减至545.67 MWh，累计新增联络由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58条减至21条，站内容量与配套支撑共同调整。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6075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市区组合：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弹性主变仅较刚性多21.50 MVA，储能增加而联络减少。区域容量接近时，各站缺口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和建设时点仍会形成不同的支撑配置与费用。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4.5 代表站设备分析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主变台数组合改变N-1剩余能力及局部支撑需求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依据：研究报告表5-13、表5-15、表5-31及对应逐站分析</a:t>
              </a: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弹性扩建第三台，减少本地配储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31.5+50+50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故障后剩余容量71.50→81.50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容量相同，储能功率3.10→0.30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" name="v2-station-0"/>
          <p:cNvGrpSpPr/>
          <p:nvPr/>
        </p:nvGrpSpPr>
        <p:grpSpPr>
          <a:xfrm>
            <a:off x="333375" y="4943475"/>
            <a:ext cx="4124325" cy="1304925"/>
            <a:chOff x="333375" y="4943475"/>
            <a:chExt cx="4124325" cy="1304925"/>
          </a:xfrm>
        </p:grpSpPr>
        <p:sp>
          <p:nvSpPr>
            <p:cNvPr id="28" name="Rectangle 16"/>
            <p:cNvSpPr/>
            <p:nvPr/>
          </p:nvSpPr>
          <p:spPr>
            <a:xfrm>
              <a:off x="333375" y="4943475"/>
              <a:ext cx="4124325" cy="1304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18"/>
            <p:cNvSpPr/>
            <p:nvPr/>
          </p:nvSpPr>
          <p:spPr>
            <a:xfrm>
              <a:off x="333375" y="49625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19"/>
            <p:cNvSpPr txBox="1"/>
            <p:nvPr/>
          </p:nvSpPr>
          <p:spPr>
            <a:xfrm>
              <a:off x="372999" y="49911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结构作用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952" y="5254625"/>
              <a:ext cx="3721227" cy="709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扩建第三台与更换已有主变，对最大单台停运后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剩余容量的改善不同。兴塘变的71.50与81.50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MVA对应两方案实际设备组合。</a:t>
              </a:r>
            </a:p>
          </p:txBody>
        </p:sp>
      </p:grpSp>
      <p:grpSp>
        <p:nvGrpSpPr>
          <p:cNvPr id="27" name="v2-station-1"/>
          <p:cNvGrpSpPr/>
          <p:nvPr/>
        </p:nvGrpSpPr>
        <p:grpSpPr>
          <a:xfrm>
            <a:off x="4686300" y="4943475"/>
            <a:ext cx="4124325" cy="1304925"/>
            <a:chOff x="4686300" y="4943475"/>
            <a:chExt cx="4124325" cy="1304925"/>
          </a:xfrm>
        </p:grpSpPr>
        <p:sp>
          <p:nvSpPr>
            <p:cNvPr id="23" name="Rectangle 23"/>
            <p:cNvSpPr/>
            <p:nvPr/>
          </p:nvSpPr>
          <p:spPr>
            <a:xfrm>
              <a:off x="4686300" y="4943475"/>
              <a:ext cx="4124325" cy="1304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686300" y="49625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25924" y="49911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局部任务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26876" y="5254625"/>
              <a:ext cx="3721227" cy="709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八义集变两方案主变容量相同，年度固定转接任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务与配储需求仍有差异。逐站分析需联系本站源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荷、受端承接和设备状态解释。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4.6 联络与共享资源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转供支援由源端、路径及接收侧能力共同决定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依据：研究报告3.6、5.5、表5-59—5-61</a:t>
              </a: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正常方式与主变N-1分别安排年度固定转供方案</a:t>
              </a: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源端站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可切换源荷区段</a:t>
                </a: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共享馈线与联络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既有MW额度及通道热限</a:t>
                </a: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/>
                    <a:ea typeface="Microsoft YaHei"/>
                    <a:cs typeface="Microsoft YaHei"/>
                  </a:rPr>
                  <a:t>受端站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/>
                    <a:ea typeface="Microsoft YaHei"/>
                    <a:cs typeface="Microsoft YaHei"/>
                  </a:rPr>
                  <a:t>馈线余量与主变容量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多条联络共用馈线与区段预算</a:t>
              </a: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供；正常与N-1分别采用年度固定方案。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3289" indent="-153289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有效转供7.49 MW，新增项目按投运年计费。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4.7 五参数推荐范围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按片区条件定位推荐带，再核定具体设备方案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依据：研究报告5.6、表3-21、表5-63</a:t>
              </a: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电缆占比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确定三类造价分区</a:t>
              </a: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负荷分散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按1.15划分两档</a:t>
              </a: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源荷条件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初始转供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定位推荐区间列</a:t>
              </a: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推荐容载比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示例条件：电缆长度占比≤10%，负荷分散系数≤1.15，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年最大净负荷平均增长率&gt;7%，装机渗透率(1,2]。</a:t>
              </a: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六表288单元；基准宽0.10、定位网格0.02，接近容量水平按中点共用界值。</a:t>
              </a: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1414" indent="-141414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窗口用于容量初选，再按站级缺口、主变结构与可实施措施落实设备方案。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4.8 参数响应与设备切换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网络支援改善体现为分档推荐带和设备组合变化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依据：研究报告表5-69—5-75</a:t>
              </a: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供率10%—90%的九个细节点。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50051" indent="-150051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反向任务、负荷规模、线路造价和局部高峰，触发不同措施替代。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项目成效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研究成果与规划应用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形成从运行特征到片区工程建议的完整研究链条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依据：研究报告第六章、5.7</a:t>
              </a: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运行特征与参数</a:t>
              </a: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完成46站正反向任务分析，经两层筛选形成五项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参数，把电源、负荷、网络和局部峰值条件与容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量规划联系起来。</a:t>
              </a: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工程费用与联合配置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建立主变更换、扩建、储能柜和联络项目的统一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费用关系，在正常与N-1条件下逐年承接设备，解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释措施替代。</a:t>
              </a: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地区方案与推荐矩阵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142" y="4530725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两地区弹性方案费用现值合计减少2898.67万元、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降幅2.96%。六表288单元提供有条件的容量初选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窗口。</a:t>
              </a: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一片一策落地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先核定同范围源荷与网络参数，再查表并落实设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备、间隔和投运时点；结合真实馈线与储能运行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资料滚动更新。</a:t>
              </a: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23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应用条件：</a:t>
              </a: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工程实施继续核定连续SOC、电压与保护条件，并补充运行费用和资产价值。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2589.50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3473.00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备查：方法与经济参数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采样设计、有效样本和共同经济条件分别登记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依据：研究报告表3-14、表3-15、表4-1</a:t>
              </a: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候选指标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取点/计算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有效组数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有效节点数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站级负载率最大值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最大正向净负荷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11988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88781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最大反向净负荷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4329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95%峰值持续时间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41118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10608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31473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32058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主变/线路投资比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主变/储能投资比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储能支撑持续时间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10704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寿命：主变/线路/储能40/40/25年；维护费率4.2%/2.2%/3%；折现率6%。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评价基准2021年、截止2041年；采样实际取值节点保留于报告表3-14。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依据：研究报告表5-63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依据：研究报告表5-64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2.33～2.43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依据：研究报告表5-65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1.63～1.69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依据：研究报告表5-66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依据：研究报告表5-67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2.09～2.19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1.65～1.73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1.88～1.97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1.43～1.53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1.96～2.03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2.35～2.41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依据：研究报告表5-68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2.79～2.89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2.63～2.69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2.57～2.63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2.17～2.27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1.83～1.92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2.75～2.85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2.47～2.57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1.81～1.89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1.73～1.81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2.52～2.59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2.48～2.52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2.41～2.48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2.02～2.11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1.95～2.02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1.87～1.95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1.89～1.99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1.57～1.67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2.37～2.46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2.28～2.37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2.19～2.28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列为初始转供率；窗口基准宽0.10，相近水平按中点局部接续。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备查：四类参数响应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参数通过不同工程机制触发容量配置切换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依据：研究报告表5-72—5-75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8477250" cy="3190875"/>
            <a:chOff x="333375" y="2571750"/>
            <a:chExt cx="8477250" cy="319087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1908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879" y="2571750"/>
              <a:ext cx="7634243" cy="3190875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分散系数三个增容节点形成四个平台，平台内储能和联络仍有调整。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备查：局部高峰与设备替代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容量平台内的储能和联络仍随局部高峰调整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9189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依据：研究报告5.6.8、表5-75及对应11节点序列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28900"/>
            <a:ext cx="8477250" cy="2914650"/>
            <a:chOff x="333375" y="2628900"/>
            <a:chExt cx="8477250" cy="2914650"/>
          </a:xfrm>
        </p:grpSpPr>
        <p:sp>
          <p:nvSpPr>
            <p:cNvPr id="20" name="Rectangle 20"/>
            <p:cNvSpPr/>
            <p:nvPr/>
          </p:nvSpPr>
          <p:spPr>
            <a:xfrm>
              <a:off x="333375" y="2628900"/>
              <a:ext cx="8477250" cy="29146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4230" y="2628900"/>
              <a:ext cx="6795541" cy="2914650"/>
            </a:xfrm>
            <a:prstGeom prst="rect">
              <a:avLst/>
            </a:prstGeom>
          </p:spPr>
        </p:pic>
      </p:grpSp>
      <p:grpSp>
        <p:nvGrpSpPr>
          <p:cNvPr id="25" name="diversity-condition"/>
          <p:cNvGrpSpPr/>
          <p:nvPr/>
        </p:nvGrpSpPr>
        <p:grpSpPr>
          <a:xfrm>
            <a:off x="326517" y="5597525"/>
            <a:ext cx="8484108" cy="264033"/>
            <a:chOff x="326517" y="5597525"/>
            <a:chExt cx="8484108" cy="264033"/>
          </a:xfrm>
        </p:grpSpPr>
        <p:sp>
          <p:nvSpPr>
            <p:cNvPr id="23" name="Rectangle 23"/>
            <p:cNvSpPr/>
            <p:nvPr/>
          </p:nvSpPr>
          <p:spPr>
            <a:xfrm>
              <a:off x="333375" y="5600700"/>
              <a:ext cx="8477250" cy="228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6517" y="5597525"/>
              <a:ext cx="6592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固定条件：装机渗透率2.00，年最大净负荷平均增长率4%，电缆10%，转供40%。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95975"/>
            <a:ext cx="8477250" cy="400050"/>
            <a:chOff x="333375" y="5895975"/>
            <a:chExt cx="8477250" cy="400050"/>
          </a:xfrm>
        </p:grpSpPr>
        <p:sp>
          <p:nvSpPr>
            <p:cNvPr id="26" name="Rectangle 26"/>
            <p:cNvSpPr/>
            <p:nvPr/>
          </p:nvSpPr>
          <p:spPr>
            <a:xfrm>
              <a:off x="333375" y="5895975"/>
              <a:ext cx="8477250" cy="4000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95975"/>
              <a:ext cx="8477250" cy="40005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984875"/>
              <a:ext cx="6664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1.11增容替代8.80 MW储能；1.21再次增容取消储能，1.25配10项联络。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96</ns0:Words>
  <ns0:Application>WPS 演示</ns0:Application>
  <ns0:PresentationFormat>全屏显示(4:3)</ns0:PresentationFormat>
  <ns0:Paragraphs>51</ns0:Paragraphs>
  <ns0:Slides>36</ns0:Slides>
  <ns0:Notes>11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20" baseType="lpstr">
      <ns1:lpstr>Arial</ns1:lpstr>
      <ns1:lpstr>宋体</ns1:lpstr>
      <ns1:lpstr>Wingdings</ns1:lpstr>
      <ns1:lpstr>黑体</ns1:lpstr>
      <ns1:lpstr>Calibri</ns1:lpstr>
      <ns1:lpstr>汉仪大宋简</ns1:lpstr>
      <ns1:lpstr>微软雅黑</ns1:lpstr>
      <ns1:lpstr>华文细黑</ns1:lpstr>
      <ns1:lpstr>Hiragino Sans GB W3</ns1:lpstr>
      <ns1:lpstr>Segoe Print</ns1:lpstr>
      <ns1:lpstr>Franklin Gothic Book</ns1:lpstr>
      <ns1:lpstr>微软雅黑 Light</ns1:lpstr>
      <ns1:lpstr>Arial Unicode MS</ns1:lpstr>
      <ns1:lpstr>等线</ns1:lpstr>
      <ns1:lpstr>Times New Roman</ns1:lpstr>
      <ns1:lpstr>默认设计模板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