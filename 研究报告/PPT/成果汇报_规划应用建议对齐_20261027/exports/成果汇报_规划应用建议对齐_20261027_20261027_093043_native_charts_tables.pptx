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9144000" cy="6858000" type="screen4x3"/>
  <p:notesSz cx="6797675" cy="9928225"/>
  <p:embeddedFontLst>
    <p:embeddedFont>
      <p:font typeface="黑体" panose="02010609060101010101" pitchFamily="49" charset="-122"/>
      <p:regular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微软雅黑" panose="020B0503020204020204" pitchFamily="34" charset="-122"/>
      <p:regular r:id="rId52"/>
    </p:embeddedFont>
    <p:embeddedFont>
      <p:font typeface="华文细黑" panose="02010600040101010101" pitchFamily="2" charset="-122"/>
      <p:regular r:id="rId53"/>
    </p:embeddedFont>
    <p:embeddedFont>
      <p:font typeface="等线" panose="02010600030101010101" charset="-122"/>
      <p:regular r:id="rId5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 userDrawn="1">
          <p15:clr>
            <a:srgbClr val="A4A3A4"/>
          </p15:clr>
        </p15:guide>
        <p15:guide id="2" orient="horz" pos="832" userDrawn="1">
          <p15:clr>
            <a:srgbClr val="A4A3A4"/>
          </p15:clr>
        </p15:guide>
        <p15:guide id="3" orient="horz" pos="2442" userDrawn="1">
          <p15:clr>
            <a:srgbClr val="A4A3A4"/>
          </p15:clr>
        </p15:guide>
        <p15:guide id="4" pos="5647" userDrawn="1">
          <p15:clr>
            <a:srgbClr val="A4A3A4"/>
          </p15:clr>
        </p15:guide>
        <p15:guide id="5" pos="11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家波" initials="王家波" lastIdx="1" clrIdx="0"/>
  <p:cmAuthor id="1" name="Xianing Jin" initials="X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66"/>
    <a:srgbClr val="F2F2F2"/>
    <a:srgbClr val="009595"/>
    <a:srgbClr val="FFFFFF"/>
    <a:srgbClr val="009191"/>
    <a:srgbClr val="009393"/>
    <a:srgbClr val="009797"/>
    <a:srgbClr val="009999"/>
    <a:srgbClr val="038D80"/>
    <a:srgbClr val="017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99217" autoAdjust="0"/>
  </p:normalViewPr>
  <p:slideViewPr>
    <p:cSldViewPr snapToGrid="0" showGuides="1">
      <p:cViewPr varScale="1">
        <p:scale>
          <a:sx n="95" d="100"/>
          <a:sy n="95" d="100"/>
        </p:scale>
        <p:origin x="932" y="80"/>
      </p:cViewPr>
      <p:guideLst>
        <p:guide orient="horz" pos="550"/>
        <p:guide orient="horz" pos="832"/>
        <p:guide orient="horz" pos="2442"/>
        <p:guide pos="5647"/>
        <p:guide pos="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font" Target="fonts/font8.fntdata"/><Relationship Id="rId53" Type="http://schemas.openxmlformats.org/officeDocument/2006/relationships/font" Target="fonts/font7.fntdata"/><Relationship Id="rId52" Type="http://schemas.openxmlformats.org/officeDocument/2006/relationships/font" Target="fonts/font6.fntdata"/><Relationship Id="rId51" Type="http://schemas.openxmlformats.org/officeDocument/2006/relationships/font" Target="fonts/font5.fntdata"/><Relationship Id="rId50" Type="http://schemas.openxmlformats.org/officeDocument/2006/relationships/font" Target="fonts/font4.fntdata"/><Relationship Id="rId5" Type="http://schemas.openxmlformats.org/officeDocument/2006/relationships/slide" Target="slides/slide2.xml"/><Relationship Id="rId49" Type="http://schemas.openxmlformats.org/officeDocument/2006/relationships/font" Target="fonts/font3.fntdata"/><Relationship Id="rId48" Type="http://schemas.openxmlformats.org/officeDocument/2006/relationships/font" Target="fonts/font2.fntdata"/><Relationship Id="rId47" Type="http://schemas.openxmlformats.org/officeDocument/2006/relationships/font" Target="fonts/font1.fntdata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2B93EAEC-2161-4609-AE92-2EDD2607CF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2FDF2F26-35DF-4761-A9C8-96DA3B3B93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D4C542F9-1364-44B9-8533-A926207E43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1" tIns="47780" rIns="95561" bIns="4778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5561" tIns="47780" rIns="95561" bIns="47780" rtlCol="0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5A583F09-9D4B-4288-9E4A-F5D4C0754C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本次汇报围绕分布式新能源高渗透率下110 kV电网容载比与双向容量需求的协调问题，介绍运行特征、工程成本、联合配置结果及规划应用建议。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汇报分为五部分。首先说明规划问题和研究思路，然后介绍运行分析与成本模型，重点报告两地区逐年方案及五参数推荐范围，最后说明成果和应用条件。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光伏出力较高时，本地负荷由分布式电源供给，剩余功率可能通过主变向上级电网反送。晚间光伏退出后，主变仍承担正向供电。研究据此把区域容载比与逐站正反向容量、主变N-1和站间支援联系起来。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下面进入研究目标和思路部分。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研究先从年度统计和站级资料识别运行任务，再用真实工程造价建立统一费用模型。在相同供电条件下联合选择主变、联络和储能，通过逐年设备与费用结果解释弹性容量的作用，并归纳五参数推荐范围。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下面进入研究内容部分。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两地区保留各自源荷与设备特征，站级分析覆盖邳州20座和市区26座110 kV变电站。历史统计用于描述现状，逐年方案以2021年实际容量为共同起点。时序样本按报告方法补齐为8760小时，装机和电量渗透率中相应估计范围保留。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2021—2025年邳州主变容量增加112.50 MVA，年网供最大负荷增加224.68 MW，容载比由2.77降至2.24。市区同期容量增加587.50 MVA，负荷增加79.05 MW，容载比由2.15升至2.42。比值需同时联系容量和负荷，而年度回落年份还应保留已投运设备的作用。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邳州2025年末光伏装机为1559.64 MW，市区为491.18 MW。两地区的装机和电量渗透率表明，邳州更需关注日间反送。未来光伏按报告的全市相对发展比例形成情景，并与负荷预测分别输入。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净负荷受入为正、反送为负，图中保留补齐后的全年序列。近峰阈值为区域净负荷绝对峰值的95%，邳州最长连续2小时、市区6小时。该统计描述运行过程，年度容载比仍使用年度统计峰值。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46座站的正反向极值展示了容量任务在空间上的差异。邳州有4座站反向幅值较大，市区有1座，其他站以正向任务为主。站级负载率是按容量和功率因数折算的计算指标，与逐台设备实测年最大负载率分别使用。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首先在固定其他条件的受控组内，计算候选指标与容载比的Pearson相关，保留零容量响应组。十三项中九项达到绝对值0.40，再以参数间绝对值0.70归并信息重叠较多的组，优先采用具有明确规划含义的基础输入，形成五项推广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项参数为装机渗透率、年最大净负荷平均增长率、电缆长度占比、初始转供率和负荷分散系数。有效情景库中最大参数间相关绝对值为0.29，五项保留电源规模、负荷发展、线路经济条件、既有支援和局部峰值分布的信息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主变更换按整台新购容量计价，净增容量扣除原有被替换设备。王庄与鲁庙工程形成16.57万元每MVA的采购容量加权参考系数。扩建按50 MVA完整项目1223万元计取，限具备预留位置的站点。刚性与弹性方案采用相同供电安全要求，只对新增容量控制作区别。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联络投资由线路敷设与固定接入两部分构成。电缆长度占比通过成本系数进入线路造价，3 km基准工程另计6万元等效开关接入费。邳州和市区单项投资分别为128.38万元和452.40万元，按实际新增投运条数计算。支援还需满足送端可转负荷、共享通道与受端容量条件。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储能采购按100 kW、215 kWh整柜计费，成套项目折算参考单柜21.05万元。有效功率取额定功率和可用电量除以时长的较小值，0.76综合反映SOC可用窗口与单向放电效率。承担1 MW连续支撑任务，2、4、6小时分别需要13、25、37柜。正反向分别采用相应时长，运行应用继续核定充电、恢复和连续SOC。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投运批次的初始投资、更新和固定运维统一折算至2021年末，再按主变、储能和线路项目汇总。固定运维从投运次年计至2041年，2022至2030年投运设备均未触发更新。期末残值、替换设备运维变化、储能购电和损耗、收益抵扣等沿用报告现有费用边界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下面进入实证分析部分。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2030年邳州弹性主变2388.50 MVA、容载比2.04，刚性分别为2125.50 MVA、1.81。弹性储能69.66 MWh、累计新增联络6条，低于刚性的153.94 MWh和25条。两方案费用现值分别为19668.62万元和21551.31万元，弹性减少1882.68万元。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2030年市区弹性主变3413.00 MVA、容载比1.85，刚性为3140.50 MVA、1.70。弹性未新增储能和联络，刚性配储12.04 MWh、累计新增联络32条。弹性费用16806.54万元，高于刚性14819.77万元，配套工程节省额尚未抵消前期主变投入增加。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费用按区县分别比较。邳州储能和联络费用下降共同抵消较多主变支出，弹性减少1882.68万元；市区主变支出增加超过储能与联络的节省额，弹性增加1986.77万元。费用均对应2030年前新增工程至2041年末的建设及固定运维现值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2030年邳州弹性主变容量较大，储能69.66 MWh、累计新增联络6条，刚性分别为153.94 MWh、25条。市区弹性主变比刚性多272.50 MVA，未新增储能和联络，刚性配储12.04 MWh、累计新增联络32条。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2030年戴圩变和八义集变两方案均为31.50加63.00 MVA，均未新增储能。兴塘变刚性为20.00加40.00 MVA，弹性为31.50加40.00 MVA，最大单台停运后剩余容量分别为20.00 MVA和31.50 MVA。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联络将具体源荷区段切换至有余量的受端，负荷和区段内光伏共同切换。既有转供能力以逐站MW封顶，正常与事故追加共同占用路径和共享馈线预算。10 kV、485 A和功率因数0.95按三相有功关系折算为7.98 MW，工程取8.00 MW，示例区段有效转供7.49 MW。新增工程按实际项目计费，支撑作用通过源端可切负荷、通道和受端主变校核。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矩阵先按三档电缆占比和两档负荷分散系数选表，再以增长率和装机渗透率选行、初始转供率选列。示例四档推荐窗口为1.96至2.03、1.89至1.96、1.63至1.69、1.57至1.63。各格由最接近中位数的真实节点定位基准宽0.10窗口，同距取较大值，定位网格为0.02，相近容量水平按中点共用界值并局部缩窄。查表后按实际主变、扩建位置和网络条件形成设备方案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组典型转供场景在设备重新选配条件下保留10%至90%的九个细节点，容量随转供改善总体降低，同时存在真实平台和局部回升。装机渗透率提高影响反向任务，增长率同时改变负荷分母与建设需求，电缆造价和局部峰值分散则在部分节点触发措施替代。推荐范围与具体设备响应共同使用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下面进入项目成效部分。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规划应用围绕矩阵应用、站级论证和滚动完善三项工作推进。统一五项参数口径，查表得到容量初选范围后，将其落实到具体站点及设备组合。结合转供能力、双向功率缺口和支撑时长，在统一运行约束下比选主变、储能与中压联络。随源荷变化、设备价格和工程进度滚动校核，先在徐州地区试用，再向其他高渗透率片区推广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汇报完毕，敬请各位专家批评指正。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候选参数的取点与有效统计样本分别列示，参数间相关阈值仅用于本研究维度归纳。所有地区方案采用相同寿命、维护费率、折现率与共同评价期。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27225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4B57AF-16D0-4473-BA39-9DBA4F1BA4A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35FA06F-73F4-43B1-9180-37F105F7069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623CCD2-957F-4D25-A49B-38B14FE747D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D77036B-235D-4D28-BF62-4F9DE70CF38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5B2C882-851A-4969-87EE-84A661D0EF3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906D2-9CD4-493A-B3A1-F7BBACC104B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C2D0605-C913-4AF0-80A1-168CF4A527BA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F3A8A7-C69F-4728-B77E-4B58DDD99ABF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DD04195-C942-43EA-83A2-B8062C38B78C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4BC10B9-8B20-433E-9FDA-BB052076CA73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F8AE16A-DC68-474B-BB08-BDCA7A29B7A1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754259-B361-4FED-9CBC-19B280397A5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1"/>
          <p:cNvSpPr>
            <a:spLocks noGrp="1"/>
          </p:cNvSpPr>
          <p:nvPr>
            <p:ph type="title"/>
          </p:nvPr>
        </p:nvSpPr>
        <p:spPr bwMode="auto">
          <a:xfrm>
            <a:off x="468314" y="3"/>
            <a:ext cx="8203443" cy="105273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0" tIns="0" rIns="0" bIns="72000" numCol="1" anchor="b" anchorCtr="0" compatLnSpc="1"/>
          <a:lstStyle>
            <a:lvl1pPr algn="l">
              <a:defRPr sz="1800">
                <a:latin typeface="+mn-ea"/>
                <a:ea typeface="+mn-ea"/>
              </a:defRPr>
            </a:lvl1pPr>
          </a:lstStyle>
          <a:p>
            <a:endParaRPr lang="en-US" noProof="0" dirty="0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0" y="1052736"/>
            <a:ext cx="914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33293"/>
            <a:ext cx="1379913" cy="51538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2337" y="143949"/>
            <a:ext cx="5765426" cy="115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3303F3-3285-4B02-863F-EAD8120BEBD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cxnSp>
        <p:nvCxnSpPr>
          <p:cNvPr id="9" name="直接连接符 6"/>
          <p:cNvCxnSpPr/>
          <p:nvPr userDrawn="1"/>
        </p:nvCxnSpPr>
        <p:spPr>
          <a:xfrm>
            <a:off x="0" y="1335917"/>
            <a:ext cx="9144000" cy="0"/>
          </a:xfrm>
          <a:prstGeom prst="line">
            <a:avLst/>
          </a:prstGeom>
          <a:ln w="19050">
            <a:solidFill>
              <a:srgbClr val="1C979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图片 4" descr="nbwz_banner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54293" y="121323"/>
            <a:ext cx="3034955" cy="11491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'1.0' encoding='utf-8'?>
<Relationships xmlns="http://schemas.openxmlformats.org/package/2006/relationships"><Relationship Id="rId3" Type="http://schemas.openxmlformats.org/officeDocument/2006/relationships/notesSlide" Target="../notesSlides/notesSlide8.xml" /><Relationship Id="rId2" Type="http://schemas.openxmlformats.org/officeDocument/2006/relationships/slideLayout" Target="../slideLayouts/slideLayout1.xml" /><Relationship Id="rId4" Type="http://schemas.openxmlformats.org/officeDocument/2006/relationships/image" Target="../media/image_cc87df1eaf037da8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7.xml.rels><?xml version='1.0' encoding='utf-8'?>
<Relationships xmlns="http://schemas.openxmlformats.org/package/2006/relationships"><Relationship Id="rId4" Type="http://schemas.openxmlformats.org/officeDocument/2006/relationships/slideLayout" Target="../slideLayouts/slideLayout1.xml" /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image" Target="../media/image21.png" />  <Relationship Id="rId5" Type="http://schemas.openxmlformats.org/officeDocument/2006/relationships/notesSlide" Target="../notesSlides/notesSlide17.xml"/>
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.xml" /><Relationship Id="rId4" Type="http://schemas.openxmlformats.org/officeDocument/2006/relationships/image" Target="../media/image_21707ad8bf807de8.png" />  <Relationship Id="rId5" Type="http://schemas.openxmlformats.org/officeDocument/2006/relationships/notesSlide" Target="../notesSlides/notesSlide19.xml" />
</Relationships>
</file>

<file path=ppt/slides/_rels/slide20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.xml" /><Relationship Id="rId4" Type="http://schemas.openxmlformats.org/officeDocument/2006/relationships/image" Target="../media/image_4128447af829adf7.png" />  <Relationship Id="rId5" Type="http://schemas.openxmlformats.org/officeDocument/2006/relationships/notesSlide" Target="../notesSlides/notesSlide20.xml" />
</Relationships>
</file>

<file path=ppt/slides/_rels/slide21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.xml" /><Relationship Id="rId4" Type="http://schemas.openxmlformats.org/officeDocument/2006/relationships/image" Target="../media/image_92de5e12ade4fba4.png" />  <Relationship Id="rId5" Type="http://schemas.openxmlformats.org/officeDocument/2006/relationships/notesSlide" Target="../notesSlides/notesSlide21.xml" />
</Relationships>
</file>

<file path=ppt/slides/_rels/slide22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.xml" /><Relationship Id="rId4" Type="http://schemas.openxmlformats.org/officeDocument/2006/relationships/image" Target="../media/image_d0e48d593c58352c.png" />  <Relationship Id="rId5" Type="http://schemas.openxmlformats.org/officeDocument/2006/relationships/notesSlide" Target="../notesSlides/notesSlide22.xml" />
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</p:sp>
      <p:pic>
        <p:nvPicPr>
          <p:cNvPr id="3" name="Picture 16" descr="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"/>
          <a:stretch>
            <a:fillRect/>
          </a:stretch>
        </p:blipFill>
        <p:spPr bwMode="auto">
          <a:xfrm>
            <a:off x="0" y="0"/>
            <a:ext cx="91440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8"/>
          <p:cNvSpPr>
            <a:spLocks noChangeArrowheads="1"/>
          </p:cNvSpPr>
          <p:nvPr/>
        </p:nvSpPr>
        <p:spPr bwMode="auto">
          <a:xfrm>
            <a:off x="0" y="3357563"/>
            <a:ext cx="4284663" cy="344487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ea typeface="汉仪大宋简"/>
              <a:cs typeface="汉仪大宋简"/>
            </a:endParaRPr>
          </a:p>
        </p:txBody>
      </p:sp>
      <p:sp>
        <p:nvSpPr>
          <p:cNvPr id="8" name="标题 4"/>
          <p:cNvSpPr/>
          <p:nvPr/>
        </p:nvSpPr>
        <p:spPr>
          <a:xfrm>
            <a:off x="0" y="3757136"/>
            <a:ext cx="8964454" cy="1728216"/>
          </a:xfrm>
          <a:prstGeom prst="rect">
            <a:avLst/>
          </a:prstGeom>
          <a:noFill/>
          <a:ln>
            <a:noFill/>
          </a:ln>
        </p:spPr>
        <p:txBody>
          <a:bodyPr wrap="none" lIns="179546" tIns="249555" rIns="0" bIns="0" anchor="t" anchorCtr="0">
            <a:noAutofit/>
          </a:bodyPr>
          <a:lstStyle/>
          <a:p>
            <a:pPr algn="ctr">
              <a:lnSpc>
                <a:spcPts val="3600"/>
              </a:lnSpc>
            </a:pPr>
            <a: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徐州地区分布式新能源高渗透率地区</a:t>
            </a:r>
            <a:b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110 kV电网容载比弹性指标优化研究</a:t>
            </a:r>
            <a:b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成果汇报</a:t>
            </a:r>
            <a:endParaRPr lang="zh-CN" sz="2320" b="1" dirty="0">
              <a:solidFill>
                <a:srgbClr val="007C7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标题 4"/>
          <p:cNvSpPr/>
          <p:nvPr/>
        </p:nvSpPr>
        <p:spPr>
          <a:xfrm>
            <a:off x="2087690" y="5570411"/>
            <a:ext cx="4968526" cy="922401"/>
          </a:xfrm>
          <a:prstGeom prst="rect">
            <a:avLst/>
          </a:prstGeom>
          <a:noFill/>
          <a:ln>
            <a:noFill/>
          </a:ln>
        </p:spPr>
        <p:txBody>
          <a:bodyPr wrap="none" lIns="95" tIns="44101" rIns="0" bIns="0" anchor="t" anchorCtr="0">
            <a:noAutofit/>
          </a:bodyPr>
          <a:lstStyle/>
          <a:p>
            <a:pPr algn="ctr">
              <a:lnSpc>
                <a:spcPts val="2400"/>
              </a:lnSpc>
            </a:pPr>
            <a: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国网江苏电力设计咨询有限公司</a:t>
            </a:r>
            <a:b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徐州勘测设计分公司</a:t>
            </a:r>
            <a:b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2026年10月</a:t>
            </a:r>
            <a:endParaRPr lang="zh-CN" sz="1720" b="1" dirty="0">
              <a:solidFill>
                <a:srgbClr val="20393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0" name="Picture 10" descr="F:\省公司logo\省公司logo\国网江苏省电力有限公司logo.png"/>
          <p:cNvPicPr>
            <a:picLocks noChangeAspect="1"/>
          </p:cNvPicPr>
          <p:nvPr/>
        </p:nvPicPr>
        <p:blipFill>
          <a:blip r:embed="rId2" cstate="print">
            <a:lum bright="100000"/>
          </a:blip>
          <a:stretch>
            <a:fillRect/>
          </a:stretch>
        </p:blipFill>
        <p:spPr>
          <a:xfrm>
            <a:off x="183357" y="1372699"/>
            <a:ext cx="5361536" cy="161988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169033" y="17748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研究背景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1.1 背景与规划问题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光伏接入使主变同时承担正向供电与反向输送任务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47065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依据：研究报告1.1—1.2；《配电网规划设计技术导则（修订稿，2025年4月）》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2" name="v2-concept-plate"/>
          <p:cNvGrpSpPr/>
          <p:nvPr/>
        </p:nvGrpSpPr>
        <p:grpSpPr>
          <a:xfrm>
            <a:off x="333375" y="2895600"/>
            <a:ext cx="5619750" cy="2343150"/>
            <a:chOff x="333375" y="2895600"/>
            <a:chExt cx="5619750" cy="2343150"/>
          </a:xfrm>
        </p:grpSpPr>
        <p:sp>
          <p:nvSpPr>
            <p:cNvPr id="43" name="Rectangle 12"/>
            <p:cNvSpPr/>
            <p:nvPr/>
          </p:nvSpPr>
          <p:spPr>
            <a:xfrm>
              <a:off x="333375" y="2895600"/>
              <a:ext cx="5619750" cy="23431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44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896635"/>
              <a:ext cx="5619750" cy="2341080"/>
            </a:xfrm>
            <a:prstGeom prst="rect">
              <a:avLst/>
            </a:prstGeom>
          </p:spPr>
        </p:pic>
      </p:grpSp>
      <p:grpSp>
        <p:nvGrpSpPr>
          <p:cNvPr id="28" name="v2-concept-labels"/>
          <p:cNvGrpSpPr/>
          <p:nvPr/>
        </p:nvGrpSpPr>
        <p:grpSpPr>
          <a:xfrm>
            <a:off x="333375" y="2571750"/>
            <a:ext cx="5619750" cy="2823083"/>
            <a:chOff x="333375" y="2571750"/>
            <a:chExt cx="5619750" cy="2823083"/>
          </a:xfrm>
        </p:grpSpPr>
        <p:sp>
          <p:nvSpPr>
            <p:cNvPr id="45" name="Rectangle 19"/>
            <p:cNvSpPr/>
            <p:nvPr/>
          </p:nvSpPr>
          <p:spPr>
            <a:xfrm>
              <a:off x="333375" y="2571750"/>
              <a:ext cx="5619750" cy="2800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6270" y="26066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日间：本地消纳与余电反送</a:t>
              </a:r>
              <a:endParaRPr lang="zh-CN" sz="13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8275" y="26066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76382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晚间：上级电网供电</a:t>
              </a:r>
              <a:endParaRPr lang="zh-CN" sz="1350" b="1" dirty="0">
                <a:solidFill>
                  <a:srgbClr val="37638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1733550" y="3514725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688020" y="3514725"/>
              <a:ext cx="91059" cy="94297"/>
            </a:xfrm>
            <a:custGeom>
              <a:avLst/>
              <a:gdLst/>
              <a:ahLst/>
              <a:cxnLst/>
              <a:rect l="l" t="t" r="r" b="b"/>
              <a:pathLst>
                <a:path w="91059" h="94297">
                  <a:moveTo>
                    <a:pt x="45530" y="0"/>
                  </a:moveTo>
                  <a:lnTo>
                    <a:pt x="91059" y="94297"/>
                  </a:lnTo>
                  <a:lnTo>
                    <a:pt x="0" y="94297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4552950" y="3514725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4507420" y="4077652"/>
              <a:ext cx="91059" cy="94297"/>
            </a:xfrm>
            <a:custGeom>
              <a:avLst/>
              <a:gdLst/>
              <a:ahLst/>
              <a:cxnLst/>
              <a:rect l="l" t="t" r="r" b="b"/>
              <a:pathLst>
                <a:path w="91059" h="94297">
                  <a:moveTo>
                    <a:pt x="45529" y="94297"/>
                  </a:moveTo>
                  <a:lnTo>
                    <a:pt x="0" y="0"/>
                  </a:lnTo>
                  <a:lnTo>
                    <a:pt x="91059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81481" y="51308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反向容量校核</a:t>
              </a:r>
              <a:endParaRPr lang="zh-CN" sz="13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61935" y="5130800"/>
              <a:ext cx="19820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76382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正向峰值与主变N-1校核</a:t>
              </a:r>
              <a:endParaRPr lang="zh-CN" sz="1350" b="1" dirty="0">
                <a:solidFill>
                  <a:srgbClr val="37638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3" name="v2-background-day"/>
          <p:cNvGrpSpPr/>
          <p:nvPr/>
        </p:nvGrpSpPr>
        <p:grpSpPr>
          <a:xfrm>
            <a:off x="6096000" y="2638425"/>
            <a:ext cx="2714625" cy="1285875"/>
            <a:chOff x="6096000" y="2638425"/>
            <a:chExt cx="2714625" cy="1285875"/>
          </a:xfrm>
        </p:grpSpPr>
        <p:sp>
          <p:nvSpPr>
            <p:cNvPr id="29" name="Rectangle 29"/>
            <p:cNvSpPr/>
            <p:nvPr/>
          </p:nvSpPr>
          <p:spPr>
            <a:xfrm>
              <a:off x="6096000" y="2638425"/>
              <a:ext cx="2714625" cy="1285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6096000" y="2657475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35624" y="26860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双向运行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36958" y="2949575"/>
              <a:ext cx="2342515" cy="9139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日间光伏优先供应本地负荷，剩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余电力经主变反送；晚间光伏退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出，主变继续承担正向供电任务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8" name="v2-background-plan"/>
          <p:cNvGrpSpPr/>
          <p:nvPr/>
        </p:nvGrpSpPr>
        <p:grpSpPr>
          <a:xfrm>
            <a:off x="6096000" y="4000500"/>
            <a:ext cx="2714625" cy="1285875"/>
            <a:chOff x="6096000" y="4000500"/>
            <a:chExt cx="2714625" cy="1285875"/>
          </a:xfrm>
        </p:grpSpPr>
        <p:sp>
          <p:nvSpPr>
            <p:cNvPr id="34" name="Rectangle 34"/>
            <p:cNvSpPr/>
            <p:nvPr/>
          </p:nvSpPr>
          <p:spPr>
            <a:xfrm>
              <a:off x="6096000" y="4000500"/>
              <a:ext cx="2714625" cy="1285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6096000" y="401955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35624" y="4048125"/>
              <a:ext cx="10795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区域与站级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36958" y="4311650"/>
              <a:ext cx="2342515" cy="9139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区域容载比由主变容量和年网供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最大负荷共同决定，站级需求还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受主变台数、局部峰值和邻站支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援影响。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1" name="v2-background-task"/>
          <p:cNvGrpSpPr/>
          <p:nvPr/>
        </p:nvGrpSpPr>
        <p:grpSpPr>
          <a:xfrm>
            <a:off x="333375" y="5353050"/>
            <a:ext cx="8477250" cy="885825"/>
            <a:chOff x="333375" y="5353050"/>
            <a:chExt cx="8477250" cy="885825"/>
          </a:xfrm>
        </p:grpSpPr>
        <p:sp>
          <p:nvSpPr>
            <p:cNvPr id="39" name="Rectangle 39"/>
            <p:cNvSpPr/>
            <p:nvPr/>
          </p:nvSpPr>
          <p:spPr>
            <a:xfrm>
              <a:off x="333375" y="5353050"/>
              <a:ext cx="8477250" cy="8858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40436" y="5365750"/>
              <a:ext cx="7516622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3035" indent="-153035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研究任务：</a:t>
              </a: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结合邳州与市区源荷特征，在正常运行和主变N-1条件下联合比选主变、储能与10</a:t>
              </a:r>
              <a:b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kV联络，形成分片区的容量规划建议。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/>
              <p:nvPr/>
            </p:nvSpPr>
            <p:spPr>
              <a:xfrm>
                <a:off x="2169033" y="2708243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32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33"/>
            <p:cNvSpPr txBox="1"/>
            <p:nvPr/>
          </p:nvSpPr>
          <p:spPr>
            <a:xfrm>
              <a:off x="8957615" y="65385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研究目标和思路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2.1 研究目标与思路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把片区推荐值落实为满足供电任务的工程配置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228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依据：研究报告1.4—1.5、图1-1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0" name="v2-method-4-0"/>
          <p:cNvGrpSpPr/>
          <p:nvPr/>
        </p:nvGrpSpPr>
        <p:grpSpPr>
          <a:xfrm>
            <a:off x="333375" y="2609850"/>
            <a:ext cx="2673350" cy="1457325"/>
            <a:chOff x="333375" y="2609850"/>
            <a:chExt cx="2673350" cy="1457325"/>
          </a:xfrm>
        </p:grpSpPr>
        <p:sp>
          <p:nvSpPr>
            <p:cNvPr id="50" name="Rectangle 12"/>
            <p:cNvSpPr/>
            <p:nvPr/>
          </p:nvSpPr>
          <p:spPr>
            <a:xfrm>
              <a:off x="33337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Line 16"/>
            <p:cNvSpPr/>
            <p:nvPr/>
          </p:nvSpPr>
          <p:spPr>
            <a:xfrm>
              <a:off x="33337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52" name="TextBox 18"/>
            <p:cNvSpPr txBox="1"/>
            <p:nvPr/>
          </p:nvSpPr>
          <p:spPr>
            <a:xfrm>
              <a:off x="37299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① 运行资料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53" name="TextBox 19"/>
            <p:cNvSpPr txBox="1"/>
            <p:nvPr/>
          </p:nvSpPr>
          <p:spPr>
            <a:xfrm>
              <a:off x="37414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整理年度容量、同范围负荷和光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伏，匹配46座站的设备、净负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荷与既有转供资料。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5" name="v2-method-4-1"/>
          <p:cNvGrpSpPr/>
          <p:nvPr/>
        </p:nvGrpSpPr>
        <p:grpSpPr>
          <a:xfrm>
            <a:off x="3235325" y="2609850"/>
            <a:ext cx="2673350" cy="1457325"/>
            <a:chOff x="3235325" y="2609850"/>
            <a:chExt cx="2673350" cy="1457325"/>
          </a:xfrm>
        </p:grpSpPr>
        <p:sp>
          <p:nvSpPr>
            <p:cNvPr id="21" name="Rectangle 21"/>
            <p:cNvSpPr/>
            <p:nvPr/>
          </p:nvSpPr>
          <p:spPr>
            <a:xfrm>
              <a:off x="323532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23532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7494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② 运行任务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7609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按同小时功率关系识别正向供电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、日间反送及局部近峰过程，明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确站级容量需求。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0" name="v2-method-4-2"/>
          <p:cNvGrpSpPr/>
          <p:nvPr/>
        </p:nvGrpSpPr>
        <p:grpSpPr>
          <a:xfrm>
            <a:off x="6137275" y="2609850"/>
            <a:ext cx="2673350" cy="1457325"/>
            <a:chOff x="6137275" y="2609850"/>
            <a:chExt cx="2673350" cy="1457325"/>
          </a:xfrm>
        </p:grpSpPr>
        <p:sp>
          <p:nvSpPr>
            <p:cNvPr id="26" name="Rectangle 26"/>
            <p:cNvSpPr/>
            <p:nvPr/>
          </p:nvSpPr>
          <p:spPr>
            <a:xfrm>
              <a:off x="613727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613727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7689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③ 工程费用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7804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区分主变更换与扩建，按储能柜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数和新增联络项目计费，并统一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折算投运批次费用。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5" name="v2-method-4-3"/>
          <p:cNvGrpSpPr/>
          <p:nvPr/>
        </p:nvGrpSpPr>
        <p:grpSpPr>
          <a:xfrm>
            <a:off x="333375" y="4238625"/>
            <a:ext cx="2673350" cy="1457325"/>
            <a:chOff x="333375" y="4238625"/>
            <a:chExt cx="2673350" cy="1457325"/>
          </a:xfrm>
        </p:grpSpPr>
        <p:sp>
          <p:nvSpPr>
            <p:cNvPr id="31" name="Rectangle 31"/>
            <p:cNvSpPr/>
            <p:nvPr/>
          </p:nvSpPr>
          <p:spPr>
            <a:xfrm>
              <a:off x="33337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3337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299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④ 联合比选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414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逐年承接已投运设备，在正常与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主变N-1约束下共同选择主变、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储能和联络措施。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0" name="v2-method-4-4"/>
          <p:cNvGrpSpPr/>
          <p:nvPr/>
        </p:nvGrpSpPr>
        <p:grpSpPr>
          <a:xfrm>
            <a:off x="3235325" y="4238625"/>
            <a:ext cx="2673350" cy="1457325"/>
            <a:chOff x="3235325" y="4238625"/>
            <a:chExt cx="2673350" cy="1457325"/>
          </a:xfrm>
        </p:grpSpPr>
        <p:sp>
          <p:nvSpPr>
            <p:cNvPr id="36" name="Rectangle 36"/>
            <p:cNvSpPr/>
            <p:nvPr/>
          </p:nvSpPr>
          <p:spPr>
            <a:xfrm>
              <a:off x="323532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323532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7494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⑤ 结果解释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7609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联系设备台数组合、建设节点与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分项费用，解释地区差异及各措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施的替代关系。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5" name="v2-method-4-5"/>
          <p:cNvGrpSpPr/>
          <p:nvPr/>
        </p:nvGrpSpPr>
        <p:grpSpPr>
          <a:xfrm>
            <a:off x="6137275" y="4238625"/>
            <a:ext cx="2673350" cy="1457325"/>
            <a:chOff x="6137275" y="4238625"/>
            <a:chExt cx="2673350" cy="1457325"/>
          </a:xfrm>
        </p:grpSpPr>
        <p:sp>
          <p:nvSpPr>
            <p:cNvPr id="41" name="Rectangle 41"/>
            <p:cNvSpPr/>
            <p:nvPr/>
          </p:nvSpPr>
          <p:spPr>
            <a:xfrm>
              <a:off x="613727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613727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7689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⑥ 条件推荐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7804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由十三项候选指标筛选五项参数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，按片区条件组织推荐矩阵，再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落实具体工程方案。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9" name="v2-closing-4"/>
          <p:cNvGrpSpPr/>
          <p:nvPr/>
        </p:nvGrpSpPr>
        <p:grpSpPr>
          <a:xfrm>
            <a:off x="333375" y="5867400"/>
            <a:ext cx="8477250" cy="419100"/>
            <a:chOff x="333375" y="5867400"/>
            <a:chExt cx="8477250" cy="419100"/>
          </a:xfrm>
        </p:grpSpPr>
        <p:sp>
          <p:nvSpPr>
            <p:cNvPr id="46" name="Rectangle 46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40817" y="5892800"/>
              <a:ext cx="7065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研究输出：</a:t>
              </a: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由运行特征、费用与设备结果形成五参数推荐范围，服务分片区容量规划。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/>
              <p:nvPr/>
            </p:nvSpPr>
            <p:spPr>
              <a:xfrm>
                <a:off x="2169033" y="36416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32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33"/>
            <p:cNvSpPr txBox="1"/>
            <p:nvPr/>
          </p:nvSpPr>
          <p:spPr>
            <a:xfrm>
              <a:off x="8957615" y="65385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3.1 研究对象与数据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邳州与市区分别体现高光伏县域和负荷集中城区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依据：研究报告3.1、表3-12、表5-1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gional-baseline"/>
          <p:cNvGraphicFramePr>
            <a:graphicFrameLocks noGrp="1"/>
          </p:cNvGraphicFramePr>
          <p:nvPr/>
        </p:nvGraphicFramePr>
        <p:xfrm>
          <a:off x="333375" y="2571750"/>
          <a:ext cx="847725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6"/>
                <a:gridCol w="2354792"/>
                <a:gridCol w="2354792"/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2025年指标</a:t>
                      </a:r>
                      <a:endParaRPr lang="zh-CN" sz="15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邳州</a:t>
                      </a:r>
                      <a:endParaRPr lang="zh-CN" sz="15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市区</a:t>
                      </a:r>
                      <a:endParaRPr lang="zh-CN" sz="15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站级分析范围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20座110 kV站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26座110 kV站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实际主变容量 / MVA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2139.50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3701.00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年网供最大负荷 / MW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956.45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1528.82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装机渗透率估计值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0.32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电量渗透率估计值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40%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9%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1" name="v2-data-notes"/>
          <p:cNvGrpSpPr/>
          <p:nvPr/>
        </p:nvGrpSpPr>
        <p:grpSpPr>
          <a:xfrm>
            <a:off x="333375" y="5143500"/>
            <a:ext cx="8477250" cy="1123950"/>
            <a:chOff x="333375" y="5143500"/>
            <a:chExt cx="8477250" cy="1123950"/>
          </a:xfrm>
        </p:grpSpPr>
        <p:sp>
          <p:nvSpPr>
            <p:cNvPr id="22" name="Rectangle 16"/>
            <p:cNvSpPr/>
            <p:nvPr/>
          </p:nvSpPr>
          <p:spPr>
            <a:xfrm>
              <a:off x="333375" y="5143500"/>
              <a:ext cx="8477250" cy="1123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18"/>
            <p:cNvSpPr/>
            <p:nvPr/>
          </p:nvSpPr>
          <p:spPr>
            <a:xfrm>
              <a:off x="440817" y="5156168"/>
              <a:ext cx="755751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 marL="153019" indent="-153019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统计与仿真：</a:t>
              </a:r>
              <a:r>
                <a:rPr lang="zh-CN" sz="135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现状统计描述实际容量与源荷；逐年方案以2021年实际容量为共同起点，2022—2025</a:t>
              </a:r>
              <a:br>
                <a:rPr lang="zh-CN" sz="135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年为历史回算，2026—2030年为预测条件规划。</a:t>
              </a:r>
            </a:p>
          </p:txBody>
        </p:sp>
        <p:sp>
          <p:nvSpPr>
            <p:cNvPr id="24" name="TextBox 19"/>
            <p:cNvSpPr txBox="1"/>
            <p:nvPr/>
          </p:nvSpPr>
          <p:spPr>
            <a:xfrm>
              <a:off x="440817" y="5670550"/>
              <a:ext cx="753179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指标含义：</a:t>
              </a: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装机渗透率为光伏装机与用户最大负荷之比，电量渗透率为光伏年发电量占用户年用电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量的比例；本页两项均为报告估计值。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3.2 历史容量与负荷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两地区容载比变化反映不同的建设与负荷发展过程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18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依据：研究报告表3-1、表3-2、表3-24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6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7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66"/>
              <a:ext cx="8477250" cy="2561844"/>
            </a:xfrm>
            <a:prstGeom prst="rect">
              <a:avLst/>
            </a:prstGeom>
          </p:spPr>
        </p:pic>
      </p:grpSp>
      <p:grpSp>
        <p:nvGrpSpPr>
          <p:cNvPr id="22" name="v2-analysis-6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66673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2021—2025年容量增加112.50 MVA、负荷增加224.68 MW，负荷增长快于容量增长，容载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比由2.77降至2.24。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649020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市区：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同期容量增加587.50 MVA，负荷增加79.05 MW，容载比由2.15升至2.42；年度比值需结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合容量投放与负荷回落共同解释。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7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3.3 光伏发展与渗透率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光伏规模及供能水平差异形成不同的双向运行任务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依据：研究报告3.3、表3-6、表3-12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7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7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569581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地区差异：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2025年邳州光伏装机1559.64 MW、市区491.18 MW，装机与电量渗透水平均为邳州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较高，日间反送任务更突出。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7840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规划作用：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光伏出力改变正反向净负荷，容量校核需同时覆盖日间反送和晚间供电；未来装机按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报告预测情景输入，并与负荷预测共同作用。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8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3.4 净负荷与近峰特征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正反向峰值及持续过程共同决定容量与支撑需求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8424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依据：研究报告3.4、表3-10；保留补值标识的区域8760小时序列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8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8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58723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近峰过程：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以区域净负荷绝对峰值的95%为阈值，邳州最长连续2 h、累计7 h，市区分别为6 h、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11 h，反映两地区持续支撑任务的差异。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61371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计算关系：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先按同一小时汇总站级净负荷再取区域峰值，统计使用补齐后的8760小时序列；年度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容载比继续采用年度统计峰值。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9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3.5 站级容量压力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区域容量储备与少数站点的局部压力可以同时存在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依据：研究报告表3-8、表3-22、表3-23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9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9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1371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空间差异：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46座站分别呈现正向与反向容量任务，邳州4座、市区1座站反向幅值较大，区域容量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储备与少数站局部压力可以同时存在。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16622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设备判断：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本站可用能力取决于主变结构及N-1剩余容量，邻站支援还受路径和受端余量限制；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应把站级净负荷、设备与转供条件共同纳入比选。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10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3.6 核心指标筛选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十三项指标经组内筛选与高相关归并形成五项参数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0679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依据：研究报告3.5、表3-14—3-20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71750"/>
            <a:ext cx="5619750" cy="3095625"/>
            <a:chOff x="333375" y="2571750"/>
            <a:chExt cx="5619750" cy="3095625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56197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91451" y="2571750"/>
              <a:ext cx="5103598" cy="3095625"/>
            </a:xfrm>
            <a:prstGeom prst="rect">
              <a:avLst/>
            </a:prstGeom>
          </p:spPr>
        </p:pic>
      </p:grpSp>
      <p:grpSp>
        <p:nvGrpSpPr>
          <p:cNvPr id="36" name="v2-screen-0"/>
          <p:cNvGrpSpPr/>
          <p:nvPr/>
        </p:nvGrpSpPr>
        <p:grpSpPr>
          <a:xfrm>
            <a:off x="6191250" y="2619375"/>
            <a:ext cx="2619375" cy="1005999"/>
            <a:chOff x="6191250" y="2619375"/>
            <a:chExt cx="2619375" cy="1005999"/>
          </a:xfrm>
        </p:grpSpPr>
        <p:sp>
          <p:nvSpPr>
            <p:cNvPr id="37" name="Rectangle 16"/>
            <p:cNvSpPr/>
            <p:nvPr/>
          </p:nvSpPr>
          <p:spPr>
            <a:xfrm>
              <a:off x="6191250" y="2619375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18"/>
            <p:cNvSpPr/>
            <p:nvPr/>
          </p:nvSpPr>
          <p:spPr>
            <a:xfrm>
              <a:off x="6191250" y="263842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9" name="TextBox 19"/>
            <p:cNvSpPr txBox="1"/>
            <p:nvPr/>
          </p:nvSpPr>
          <p:spPr>
            <a:xfrm>
              <a:off x="6230874" y="2667000"/>
              <a:ext cx="12693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① 十三项候选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0" name="TextBox 20"/>
            <p:cNvSpPr txBox="1"/>
            <p:nvPr/>
          </p:nvSpPr>
          <p:spPr>
            <a:xfrm>
              <a:off x="6232208" y="2930525"/>
              <a:ext cx="2342515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覆盖源荷、网络、峰段与工程价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格，先明确各指标的定义和取值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7" name="v2-screen-1"/>
          <p:cNvGrpSpPr/>
          <p:nvPr/>
        </p:nvGrpSpPr>
        <p:grpSpPr>
          <a:xfrm>
            <a:off x="6191250" y="3619500"/>
            <a:ext cx="2619375" cy="971550"/>
            <a:chOff x="6191250" y="3619500"/>
            <a:chExt cx="2619375" cy="971550"/>
          </a:xfrm>
        </p:grpSpPr>
        <p:sp>
          <p:nvSpPr>
            <p:cNvPr id="23" name="Rectangle 23"/>
            <p:cNvSpPr/>
            <p:nvPr/>
          </p:nvSpPr>
          <p:spPr>
            <a:xfrm>
              <a:off x="6191250" y="3619500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191250" y="36385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30874" y="3667125"/>
              <a:ext cx="14820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② 九项关联指标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32208" y="3930650"/>
              <a:ext cx="2342515" cy="4757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组内相关绝对值达到0.40，保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留能够反映容载比变化的信息。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2" name="v2-screen-2"/>
          <p:cNvGrpSpPr/>
          <p:nvPr/>
        </p:nvGrpSpPr>
        <p:grpSpPr>
          <a:xfrm>
            <a:off x="6191250" y="4619625"/>
            <a:ext cx="2619375" cy="1005999"/>
            <a:chOff x="6191250" y="4619625"/>
            <a:chExt cx="2619375" cy="1005999"/>
          </a:xfrm>
        </p:grpSpPr>
        <p:sp>
          <p:nvSpPr>
            <p:cNvPr id="28" name="Rectangle 28"/>
            <p:cNvSpPr/>
            <p:nvPr/>
          </p:nvSpPr>
          <p:spPr>
            <a:xfrm>
              <a:off x="6191250" y="4619625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191250" y="463867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30874" y="4667250"/>
              <a:ext cx="14820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③ 五项基础参数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32208" y="4930775"/>
              <a:ext cx="2342515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按0.70高相关阈值归并，优先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采用具有明确规划含义的基础输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入。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5" name="v2-screen-note"/>
          <p:cNvGrpSpPr/>
          <p:nvPr/>
        </p:nvGrpSpPr>
        <p:grpSpPr>
          <a:xfrm>
            <a:off x="333375" y="5734050"/>
            <a:ext cx="8477250" cy="542925"/>
            <a:chOff x="333375" y="5734050"/>
            <a:chExt cx="8477250" cy="542925"/>
          </a:xfrm>
        </p:grpSpPr>
        <p:sp>
          <p:nvSpPr>
            <p:cNvPr id="33" name="Rectangle 33"/>
            <p:cNvSpPr/>
            <p:nvPr/>
          </p:nvSpPr>
          <p:spPr>
            <a:xfrm>
              <a:off x="333375" y="5734050"/>
              <a:ext cx="8477250" cy="5429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1008" y="5759450"/>
              <a:ext cx="7516622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1605" indent="-141605" algn="l">
                <a:lnSpc>
                  <a:spcPts val="165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1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统计说明：</a:t>
              </a: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采用受控组内Pearson相关、节点等权并保留零响应组。0.40与0.70用于本研究参数归纳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，筛选结果结合计算关系和规划含义解释。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3.7 参数核验与分档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五项参数分别保留不同规划条件的信息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096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依据：研究报告表3-19、表3-21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609850"/>
            <a:ext cx="4476750" cy="3048000"/>
            <a:chOff x="333375" y="2609850"/>
            <a:chExt cx="4476750" cy="30480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09850"/>
              <a:ext cx="44767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7534" y="2609850"/>
              <a:ext cx="4448432" cy="3048000"/>
            </a:xfrm>
            <a:prstGeom prst="rect">
              <a:avLst/>
            </a:prstGeom>
          </p:spPr>
        </p:pic>
      </p:grpSp>
      <p:graphicFrame>
        <p:nvGraphicFramePr>
          <p:cNvPr id="23" name="parameter-classes"/>
          <p:cNvGraphicFramePr>
            <a:graphicFrameLocks noGrp="1"/>
          </p:cNvGraphicFramePr>
          <p:nvPr/>
        </p:nvGraphicFramePr>
        <p:xfrm>
          <a:off x="5048250" y="2619375"/>
          <a:ext cx="3762375" cy="295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445"/>
                <a:gridCol w="2099930"/>
              </a:tblGrid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参数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矩阵分类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≤1；(1,2]；&gt;2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≤2%；(2%,4%]；(4%,7%]；&gt;7%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电缆长度占比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≤10%；(10%,30%]；&gt;30%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初始转供率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≤30%；(30%,50%]；(50%,70%]；&gt;70%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负荷分散系数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≤1.15；&gt;1.15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v2-parameter-meaning"/>
          <p:cNvGrpSpPr/>
          <p:nvPr/>
        </p:nvGrpSpPr>
        <p:grpSpPr>
          <a:xfrm>
            <a:off x="333375" y="5705475"/>
            <a:ext cx="8477250" cy="571500"/>
            <a:chOff x="333375" y="5705475"/>
            <a:chExt cx="8477250" cy="571500"/>
          </a:xfrm>
        </p:grpSpPr>
        <p:sp>
          <p:nvSpPr>
            <p:cNvPr id="25" name="Rectangle 18"/>
            <p:cNvSpPr/>
            <p:nvPr/>
          </p:nvSpPr>
          <p:spPr>
            <a:xfrm>
              <a:off x="333375" y="5705475"/>
              <a:ext cx="8477250" cy="571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TextBox 19"/>
            <p:cNvSpPr txBox="1"/>
            <p:nvPr/>
          </p:nvSpPr>
          <p:spPr>
            <a:xfrm>
              <a:off x="440817" y="5730875"/>
              <a:ext cx="7531798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lnSpc>
                  <a:spcPts val="172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五项参数分别保留电源规模、负荷发展、联络造价、既有支援和局部峰值分布的信息。有效情景库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内最大参数间Pearson绝对值为0.29，结合计算关系核验后用于推广分档。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12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3.8 主变工程投资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按新购整台容量计费，容量净增另行统计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7408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依据：研究报告4.1—4.2，式（4-1）—（4-3）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6" name="transformer-basis"/>
          <p:cNvGrpSpPr/>
          <p:nvPr/>
        </p:nvGrpSpPr>
        <p:grpSpPr>
          <a:xfrm>
            <a:off x="333375" y="2609850"/>
            <a:ext cx="4048125" cy="356616"/>
            <a:chOff x="333375" y="2609850"/>
            <a:chExt cx="4048125" cy="356616"/>
          </a:xfrm>
        </p:grpSpPr>
        <p:sp>
          <p:nvSpPr>
            <p:cNvPr id="23" name="Rectangle 23"/>
            <p:cNvSpPr/>
            <p:nvPr/>
          </p:nvSpPr>
          <p:spPr>
            <a:xfrm>
              <a:off x="333375" y="2609850"/>
              <a:ext cx="4048125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333375" y="2609850"/>
              <a:ext cx="4048125" cy="9525"/>
            </a:xfrm>
            <a:custGeom>
              <a:avLst/>
              <a:gdLst/>
              <a:ahLst/>
              <a:cxnLst/>
              <a:rect l="l" t="t" r="r" b="b"/>
              <a:pathLst>
                <a:path w="4048125" h="9525">
                  <a:moveTo>
                    <a:pt x="0" y="0"/>
                  </a:moveTo>
                  <a:lnTo>
                    <a:pt x="4048125" y="0"/>
                  </a:lnTo>
                </a:path>
              </a:pathLst>
            </a:custGeom>
            <a:noFill/>
            <a:ln w="12382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3474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工程案例与加权系数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ransformer-rate"/>
              <p:cNvSpPr txBox="1">
                <a:spLocks noGrp="1"/>
              </p:cNvSpPr>
              <p:nvPr/>
            </p:nvSpPr>
            <p:spPr>
              <a:xfrm>
                <a:off x="333375" y="2952750"/>
                <a:ext cx="4048125" cy="752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</m:sub>
                      </m:sSub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1151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1335</m:t>
                          </m:r>
                        </m:num>
                        <m:den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50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100</m:t>
                          </m:r>
                        </m:den>
                      </m:f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≈</m:t>
                      </m:r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16</m:t>
                      </m:r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.</m:t>
                      </m:r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57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7" name="transformer-r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952750"/>
                <a:ext cx="4048125" cy="7524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rate-unit"/>
          <p:cNvGrpSpPr/>
          <p:nvPr/>
        </p:nvGrpSpPr>
        <p:grpSpPr>
          <a:xfrm>
            <a:off x="333375" y="3705225"/>
            <a:ext cx="4048125" cy="277336"/>
            <a:chOff x="333375" y="3705225"/>
            <a:chExt cx="4048125" cy="277336"/>
          </a:xfrm>
        </p:grpSpPr>
        <p:sp>
          <p:nvSpPr>
            <p:cNvPr id="28" name="Rectangle 28"/>
            <p:cNvSpPr/>
            <p:nvPr/>
          </p:nvSpPr>
          <p:spPr>
            <a:xfrm>
              <a:off x="333375" y="3705225"/>
              <a:ext cx="4048125" cy="2667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3382" y="3725862"/>
              <a:ext cx="292946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单位：万元/MVA；按采购容量加权。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31" name="transformer-cases"/>
          <p:cNvGraphicFramePr>
            <a:graphicFrameLocks noGrp="1"/>
          </p:cNvGraphicFramePr>
          <p:nvPr/>
        </p:nvGraphicFramePr>
        <p:xfrm>
          <a:off x="333375" y="4048125"/>
          <a:ext cx="4048125" cy="102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1190625"/>
                <a:gridCol w="1047750"/>
                <a:gridCol w="104775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工程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投资/万元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新购/MVA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净增/MVA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王庄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1151.00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50.00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30.00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鲁庙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1335.00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100.00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34" name="purchase-boundary"/>
          <p:cNvGrpSpPr/>
          <p:nvPr/>
        </p:nvGrpSpPr>
        <p:grpSpPr>
          <a:xfrm>
            <a:off x="333375" y="5162550"/>
            <a:ext cx="4048125" cy="581025"/>
            <a:chOff x="333375" y="5162550"/>
            <a:chExt cx="4048125" cy="581025"/>
          </a:xfrm>
        </p:grpSpPr>
        <p:sp>
          <p:nvSpPr>
            <p:cNvPr id="32" name="Rectangle 32"/>
            <p:cNvSpPr/>
            <p:nvPr/>
          </p:nvSpPr>
          <p:spPr>
            <a:xfrm>
              <a:off x="333375" y="5162550"/>
              <a:ext cx="4048125" cy="5810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93192" y="5187950"/>
              <a:ext cx="3614166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更换费用按整台新购容量计取，容量净增扣除被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替换容量；参考系数包含配套工程。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8" name="transformer-projects"/>
          <p:cNvGrpSpPr/>
          <p:nvPr/>
        </p:nvGrpSpPr>
        <p:grpSpPr>
          <a:xfrm>
            <a:off x="4686300" y="2609850"/>
            <a:ext cx="4124325" cy="356616"/>
            <a:chOff x="4686300" y="2609850"/>
            <a:chExt cx="4124325" cy="356616"/>
          </a:xfrm>
        </p:grpSpPr>
        <p:sp>
          <p:nvSpPr>
            <p:cNvPr id="35" name="Rectangle 35"/>
            <p:cNvSpPr/>
            <p:nvPr/>
          </p:nvSpPr>
          <p:spPr>
            <a:xfrm>
              <a:off x="4686300" y="2609850"/>
              <a:ext cx="4124325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4686300" y="260985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2382">
              <a:solidFill>
                <a:srgbClr val="007C7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16399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更换与扩建分别计价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placement-investment"/>
              <p:cNvSpPr txBox="1">
                <a:spLocks noGrp="1"/>
              </p:cNvSpPr>
              <p:nvPr/>
            </p:nvSpPr>
            <p:spPr>
              <a:xfrm>
                <a:off x="4686300" y="2952750"/>
                <a:ext cx="412432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</m:sub>
                      </m:sSub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𝑆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new</m:t>
                          </m:r>
                        </m:sup>
                      </m:sSubSup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𝑧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9" name="replacement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2952750"/>
                <a:ext cx="4124325" cy="6286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net-capacity"/>
              <p:cNvSpPr txBox="1">
                <a:spLocks noGrp="1"/>
              </p:cNvSpPr>
              <p:nvPr/>
            </p:nvSpPr>
            <p:spPr>
              <a:xfrm>
                <a:off x="4686300" y="3648075"/>
                <a:ext cx="4124325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Δ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𝑆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d>
                        <m:dPr>
                          <m:sepChr m:val=""/>
                          <m:ctrl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𝑖𝑘𝑦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new</m:t>
                              </m:r>
                            </m:sup>
                          </m:sSubSup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−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𝑖𝑘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,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𝑦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−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old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𝑧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0" name="net-capacit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3648075"/>
                <a:ext cx="4124325" cy="6477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xtension-investment"/>
              <p:cNvSpPr txBox="1">
                <a:spLocks noGrp="1"/>
              </p:cNvSpPr>
              <p:nvPr/>
            </p:nvSpPr>
            <p:spPr>
              <a:xfrm>
                <a:off x="4686300" y="4429125"/>
                <a:ext cx="4124325" cy="581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exp</m:t>
                          </m:r>
                        </m:sub>
                      </m:sSub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1206</m:t>
                          </m:r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1240</m:t>
                          </m:r>
                        </m:num>
                        <m:den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2</m:t>
                          </m:r>
                        </m:den>
                      </m:f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1223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1" name="extension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4429125"/>
                <a:ext cx="4124325" cy="58102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extension-boundary"/>
          <p:cNvGrpSpPr/>
          <p:nvPr/>
        </p:nvGrpSpPr>
        <p:grpSpPr>
          <a:xfrm>
            <a:off x="4686300" y="5124450"/>
            <a:ext cx="4124325" cy="696437"/>
            <a:chOff x="4686300" y="5124450"/>
            <a:chExt cx="4124325" cy="696437"/>
          </a:xfrm>
        </p:grpSpPr>
        <p:sp>
          <p:nvSpPr>
            <p:cNvPr id="42" name="Rectangle 42"/>
            <p:cNvSpPr/>
            <p:nvPr/>
          </p:nvSpPr>
          <p:spPr>
            <a:xfrm>
              <a:off x="4686300" y="5124450"/>
              <a:ext cx="4124325" cy="666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746308" y="5145088"/>
              <a:ext cx="3715067" cy="6757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更换状态取0或1，新旧容量以MVA计。扩建为50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MVA整项，1223.00万元/项，限具备预留位置的站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点。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8" name="shared-security"/>
          <p:cNvGrpSpPr/>
          <p:nvPr/>
        </p:nvGrpSpPr>
        <p:grpSpPr>
          <a:xfrm>
            <a:off x="333375" y="5838825"/>
            <a:ext cx="8477250" cy="486886"/>
            <a:chOff x="333375" y="5838825"/>
            <a:chExt cx="8477250" cy="486886"/>
          </a:xfrm>
        </p:grpSpPr>
        <p:sp>
          <p:nvSpPr>
            <p:cNvPr id="45" name="Rectangle 45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93382" y="5859462"/>
              <a:ext cx="7774495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共同条件：正常负载率≤80%、主变N-1短时≤130%。刚性保留2.0新增容量控制，弹性放宽该上限；同一主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变位置全期最多更换一次。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3.9 10 kV联络投资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电缆占比决定造价，接入费单独计取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3780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依据：研究报告4.3，式（4-4）、表4-3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line-investment"/>
              <p:cNvSpPr txBox="1">
                <a:spLocks noGrp="1"/>
              </p:cNvSpPr>
              <p:nvPr/>
            </p:nvSpPr>
            <p:spPr>
              <a:xfrm>
                <a:off x="333375" y="2590800"/>
                <a:ext cx="847725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24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𝐿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+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6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,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  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1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+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6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.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5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𝛼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3" name="line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590800"/>
                <a:ext cx="8477250" cy="7143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line-cost-curve"/>
          <p:cNvGrpSpPr/>
          <p:nvPr/>
        </p:nvGrpSpPr>
        <p:grpSpPr>
          <a:xfrm>
            <a:off x="333375" y="3457575"/>
            <a:ext cx="4953000" cy="2781300"/>
            <a:chOff x="333375" y="3457575"/>
            <a:chExt cx="4953000" cy="2781300"/>
          </a:xfrm>
        </p:grpSpPr>
        <p:sp>
          <p:nvSpPr>
            <p:cNvPr id="24" name="Rectangle 24"/>
            <p:cNvSpPr/>
            <p:nvPr/>
          </p:nvSpPr>
          <p:spPr>
            <a:xfrm>
              <a:off x="333375" y="3457575"/>
              <a:ext cx="4953000" cy="27813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266" y="3457575"/>
              <a:ext cx="4551218" cy="2781300"/>
            </a:xfrm>
            <a:prstGeom prst="rect">
              <a:avLst/>
            </a:prstGeom>
          </p:spPr>
        </p:pic>
      </p:grpSp>
      <p:grpSp>
        <p:nvGrpSpPr>
          <p:cNvPr id="29" name="line-definitions"/>
          <p:cNvGrpSpPr/>
          <p:nvPr/>
        </p:nvGrpSpPr>
        <p:grpSpPr>
          <a:xfrm>
            <a:off x="5524500" y="3457575"/>
            <a:ext cx="3286125" cy="904875"/>
            <a:chOff x="5524500" y="3457575"/>
            <a:chExt cx="3286125" cy="904875"/>
          </a:xfrm>
        </p:grpSpPr>
        <p:sp>
          <p:nvSpPr>
            <p:cNvPr id="27" name="Rectangle 27"/>
            <p:cNvSpPr/>
            <p:nvPr/>
          </p:nvSpPr>
          <p:spPr>
            <a:xfrm>
              <a:off x="5524500" y="3457575"/>
              <a:ext cx="3286125" cy="904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84317" y="3482975"/>
              <a:ext cx="2851213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计价参数：投资单位万元，线路长度L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以km计；电缆长度占比α取0—1。架空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24万元/km，电缆综合180万元/km。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2" name="fixed-connection"/>
          <p:cNvGrpSpPr/>
          <p:nvPr/>
        </p:nvGrpSpPr>
        <p:grpSpPr>
          <a:xfrm>
            <a:off x="5524500" y="4448175"/>
            <a:ext cx="3286125" cy="733425"/>
            <a:chOff x="5524500" y="4448175"/>
            <a:chExt cx="3286125" cy="733425"/>
          </a:xfrm>
        </p:grpSpPr>
        <p:sp>
          <p:nvSpPr>
            <p:cNvPr id="30" name="Rectangle 30"/>
            <p:cNvSpPr/>
            <p:nvPr/>
          </p:nvSpPr>
          <p:spPr>
            <a:xfrm>
              <a:off x="5524500" y="4448175"/>
              <a:ext cx="3286125" cy="7334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84317" y="4473575"/>
              <a:ext cx="279120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项目边界：基准长度3 km，另加两台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等效开关6.00万元；固定接入费保持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独立。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5" name="regional-line-fee"/>
          <p:cNvGrpSpPr/>
          <p:nvPr/>
        </p:nvGrpSpPr>
        <p:grpSpPr>
          <a:xfrm>
            <a:off x="5524500" y="5267325"/>
            <a:ext cx="3286125" cy="1000125"/>
            <a:chOff x="5524500" y="5267325"/>
            <a:chExt cx="3286125" cy="1000125"/>
          </a:xfrm>
        </p:grpSpPr>
        <p:sp>
          <p:nvSpPr>
            <p:cNvPr id="33" name="Rectangle 33"/>
            <p:cNvSpPr/>
            <p:nvPr/>
          </p:nvSpPr>
          <p:spPr>
            <a:xfrm>
              <a:off x="5524500" y="5267325"/>
              <a:ext cx="3286125" cy="1000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584317" y="5292725"/>
              <a:ext cx="2928366" cy="921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地区单价：邳州128.38、市区452.40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万元/项。既有工程不重复计建设费，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新增按投运条数计费；校核源端、共享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通道及受端余量。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14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3.10 储能采购与有效支撑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新增整数柜决定投资，功率与可用电量共同限制支撑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9321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依据：研究报告4.4，式（4-5）—（4-6）、表4-5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5" name="storage-package"/>
          <p:cNvGrpSpPr/>
          <p:nvPr/>
        </p:nvGrpSpPr>
        <p:grpSpPr>
          <a:xfrm>
            <a:off x="333375" y="2571750"/>
            <a:ext cx="8477250" cy="300927"/>
            <a:chOff x="333375" y="2571750"/>
            <a:chExt cx="8477250" cy="300927"/>
          </a:xfrm>
        </p:grpSpPr>
        <p:sp>
          <p:nvSpPr>
            <p:cNvPr id="23" name="Rectangle 23"/>
            <p:cNvSpPr/>
            <p:nvPr/>
          </p:nvSpPr>
          <p:spPr>
            <a:xfrm>
              <a:off x="333375" y="2571750"/>
              <a:ext cx="8477250" cy="295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2811" y="2593975"/>
              <a:ext cx="61645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柜型100 kW/215 kWh；10柜成套成交210.46万元，按新增整数柜采购。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storage-investment"/>
              <p:cNvSpPr txBox="1">
                <a:spLocks noGrp="1"/>
              </p:cNvSpPr>
              <p:nvPr/>
            </p:nvSpPr>
            <p:spPr>
              <a:xfrm>
                <a:off x="333375" y="2924175"/>
                <a:ext cx="847725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</m:sub>
                      </m:sSub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2104562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.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62</m:t>
                          </m:r>
                        </m:num>
                        <m:den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10000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×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10</m:t>
                          </m:r>
                        </m:den>
                      </m:f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≈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21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.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05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,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  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𝑖𝑦</m:t>
                          </m:r>
                        </m:sub>
                      </m:sSub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Δ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𝑛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𝑖𝑦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6" name="storage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924175"/>
                <a:ext cx="8477250" cy="7143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storage-effective-power"/>
              <p:cNvSpPr txBox="1">
                <a:spLocks noGrp="1"/>
              </p:cNvSpPr>
              <p:nvPr/>
            </p:nvSpPr>
            <p:spPr>
              <a:xfrm>
                <a:off x="333375" y="3676650"/>
                <a:ext cx="8477250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𝐵</m:t>
                      </m:r>
                      <m:d>
                        <m:dPr>
                          <m:sepChr m:val=""/>
                          <m:ctrlP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dPr>
                        <m:e>
                          <m: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𝑛</m:t>
                          </m:r>
                          <m: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𝐻</m:t>
                          </m:r>
                        </m:e>
                      </m:d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unc>
                        <m:funcPr>
                          <m:ctrlPr>
                            <a:rPr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ctrlP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dPr>
                            <m:e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0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.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10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𝑛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fPr>
                                <m:num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0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.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215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×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0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.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76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𝐻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,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  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𝐻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&gt;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7" name="storage-effective-powe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3676650"/>
                <a:ext cx="8477250" cy="8191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storage-definitions"/>
          <p:cNvGrpSpPr/>
          <p:nvPr/>
        </p:nvGrpSpPr>
        <p:grpSpPr>
          <a:xfrm>
            <a:off x="333375" y="4524375"/>
            <a:ext cx="8477250" cy="438150"/>
            <a:chOff x="333375" y="4524375"/>
            <a:chExt cx="8477250" cy="438150"/>
          </a:xfrm>
        </p:grpSpPr>
        <p:sp>
          <p:nvSpPr>
            <p:cNvPr id="28" name="Rectangle 28"/>
            <p:cNvSpPr/>
            <p:nvPr/>
          </p:nvSpPr>
          <p:spPr>
            <a:xfrm>
              <a:off x="333375" y="4524375"/>
              <a:ext cx="847725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3382" y="4545012"/>
              <a:ext cx="7748043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单柜参考21.05万元；n为在役柜数，Δn为当年新增整数柜数，H为支撑时长/h，B为有效功率/MW。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31" name="storage-duration-comparison"/>
          <p:cNvGraphicFramePr>
            <a:graphicFrameLocks noGrp="1"/>
          </p:cNvGraphicFramePr>
          <p:nvPr/>
        </p:nvGraphicFramePr>
        <p:xfrm>
          <a:off x="333375" y="5010150"/>
          <a:ext cx="8477250" cy="80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/>
                <a:gridCol w="1847850"/>
                <a:gridCol w="1847850"/>
                <a:gridCol w="1847850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支撑时长 / h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10柜有效功率 / MW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0.82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0.41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0.27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1.00 MW所需柜数 / 柜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13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35" name="storage-boundary"/>
          <p:cNvGrpSpPr/>
          <p:nvPr/>
        </p:nvGrpSpPr>
        <p:grpSpPr>
          <a:xfrm>
            <a:off x="333375" y="5838825"/>
            <a:ext cx="8477250" cy="486886"/>
            <a:chOff x="333375" y="5838825"/>
            <a:chExt cx="8477250" cy="486886"/>
          </a:xfrm>
        </p:grpSpPr>
        <p:sp>
          <p:nvSpPr>
            <p:cNvPr id="32" name="Rectangle 32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93382" y="5859462"/>
              <a:ext cx="7674673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正向支撑与反向吸收分别采用对应时长；0.76包含SOC可用窗口与单向放电效率，按静态功率折算，实际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运行再核定充电、恢复及连续SOC。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15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3.11 现金流现值与评价边界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同一截止年下比较完整建设路径费用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9980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依据：研究报告4.6，单项工程现值及方案汇总公式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>
        <mc:Choice Requires="a14">
          <p:sp>
            <p:nvSpPr>
              <p:cNvPr id="12" name="cash-flow-present-value"/>
              <p:cNvSpPr txBox="1">
                <a:spLocks noGrp="1"/>
              </p:cNvSpPr>
              <p:nvPr/>
            </p:nvSpPr>
            <p:spPr>
              <a:xfrm>
                <a:off x="333375" y="2486025"/>
                <a:ext cx="847725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𝐶</m:t>
                      </m:r>
                      <m:d>
                        <m:dPr>
                          <m:sepChr m:val=""/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𝑦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𝐿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𝑞</m:t>
                          </m:r>
                        </m:e>
                      </m:d>
                      <m:r>
                        <a:rPr lang="zh-CN" sz="18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num>
                        <m:den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d>
                                <m:dPr>
                                  <m:sepChr m:val=""/>
                                  <m:ctrlP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1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+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𝑦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2021</m:t>
                              </m:r>
                            </m:sup>
                          </m:sSup>
                        </m:den>
                      </m:f>
                      <m:r>
                        <a:rPr lang="zh-CN" sz="18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≥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 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𝑦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𝑘𝐿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&lt;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𝑇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𝐼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/>
                                  </m:ctrlPr>
                                </m:sSupPr>
                                <m:e>
                                  <m:d>
                                    <m:dPr>
                                      <m:sepChr m:val=""/>
                                      <m:ctrlP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1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𝑦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+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𝑘𝐿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2021</m:t>
                                  </m:r>
                                </m:sup>
                              </m:sSup>
                            </m:den>
                          </m:f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naryPr>
                            <m:sub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𝑡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𝑦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𝑇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fPr>
                                <m:num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𝑞𝐼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/>
                                      </m:ctrlPr>
                                    </m:sSupPr>
                                    <m:e>
                                      <m:d>
                                        <m:dPr>
                                          <m:sepChr m:val=""/>
                                          <m:ctrlP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  <m:t>1</m:t>
                                          </m:r>
                                          <m: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  <m:t>𝑟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𝑡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−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2021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12" name="cash-flow-present-valu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486025"/>
                <a:ext cx="8477250" cy="762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>
        <mc:Choice Requires="a14">
          <p:sp>
            <p:nvSpPr>
              <p:cNvPr id="16" name="plan-present-value"/>
              <p:cNvSpPr txBox="1">
                <a:spLocks noGrp="1"/>
              </p:cNvSpPr>
              <p:nvPr/>
            </p:nvSpPr>
            <p:spPr>
              <a:xfrm>
                <a:off x="333375" y="3276600"/>
                <a:ext cx="847725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plan</m:t>
                          </m:r>
                        </m:sub>
                      </m:sSub>
                      <m:r>
                        <a:rPr lang="zh-CN" sz="17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𝑒</m:t>
                          </m:r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∈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ℰ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T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𝑒</m:t>
                              </m:r>
                            </m:sub>
                          </m:sSub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naryPr>
                            <m: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𝑒</m:t>
                              </m:r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ℰ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B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𝑒</m:t>
                                  </m:r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/>
                                      </m:ctrlPr>
                                    </m:sSub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ℰ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L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/>
                                      </m:ctrlPr>
                                    </m:sSub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𝑒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16" name="plan-present-valu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3276600"/>
                <a:ext cx="8477250" cy="438150"/>
              </a:xfrm>
              <a:prstGeom prst="rect">
                <a:avLst/>
              </a:prstGeom>
              <a:blipFill rotWithShape="1">
                <a:blip r:embed="rId2"/>
                <a:stretch>
                  <a:fillRect t="-14058" b="-143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cash-flow-definitions"/>
          <p:cNvGrpSpPr/>
          <p:nvPr/>
        </p:nvGrpSpPr>
        <p:grpSpPr>
          <a:xfrm>
            <a:off x="333375" y="4276725"/>
            <a:ext cx="8477250" cy="490061"/>
            <a:chOff x="333375" y="4276725"/>
            <a:chExt cx="8477250" cy="490061"/>
          </a:xfrm>
        </p:grpSpPr>
        <p:sp>
          <p:nvSpPr>
            <p:cNvPr id="25" name="Rectangle 25"/>
            <p:cNvSpPr/>
            <p:nvPr/>
          </p:nvSpPr>
          <p:spPr>
            <a:xfrm>
              <a:off x="333375" y="4276725"/>
              <a:ext cx="847725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3382" y="4310062"/>
              <a:ext cx="7691310" cy="456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I为初始投资/万元，y为投运年，L为寿命/年，q为固定运维率；基准为2021年末，r=6.00%，T=2041，C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为费用现值/万元。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8" name="economic-parameters"/>
          <p:cNvGraphicFramePr>
            <a:graphicFrameLocks noGrp="1"/>
          </p:cNvGraphicFramePr>
          <p:nvPr/>
        </p:nvGraphicFramePr>
        <p:xfrm>
          <a:off x="333375" y="4739640"/>
          <a:ext cx="8477250" cy="57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/>
                <a:gridCol w="2000250"/>
                <a:gridCol w="2000250"/>
                <a:gridCol w="2000250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共同参数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主变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联络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储能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寿命 / 固定运维率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40年 / 4.20%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40年 / 2.20%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25年 / 3.00%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2" name="cash-flow-boundaries"/>
          <p:cNvGrpSpPr/>
          <p:nvPr/>
        </p:nvGrpSpPr>
        <p:grpSpPr>
          <a:xfrm>
            <a:off x="333375" y="5400675"/>
            <a:ext cx="8477250" cy="906018"/>
            <a:chOff x="333375" y="5400675"/>
            <a:chExt cx="8477250" cy="906018"/>
          </a:xfrm>
        </p:grpSpPr>
        <p:sp>
          <p:nvSpPr>
            <p:cNvPr id="29" name="Rectangle 29"/>
            <p:cNvSpPr/>
            <p:nvPr/>
          </p:nvSpPr>
          <p:spPr>
            <a:xfrm>
              <a:off x="333375" y="5400675"/>
              <a:ext cx="8477250" cy="8763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3375" y="5400675"/>
              <a:ext cx="8477250" cy="876300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31" name="TextBox 31"/>
            <p:cNvSpPr/>
            <p:nvPr/>
          </p:nvSpPr>
          <p:spPr>
            <a:xfrm>
              <a:off x="393382" y="5421344"/>
              <a:ext cx="7691342" cy="885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投运与更新：初始投资在投运年发生，固定运维从次年计至2041年；更新年严格早于2041年，本期2022—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2030年投运设备的更新支出为零。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费用范围：纳入新增建设及固定运维；既有建设费、期末残值、被替换设备运维变化、储能购电与损耗及</a:t>
              </a:r>
              <a:b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收益抵扣不纳入。</a:t>
              </a:r>
            </a:p>
          </p:txBody>
        </p:sp>
      </p:grpSp>
      <p:grpSp>
        <p:nvGrpSpPr>
          <p:cNvPr id="33" name="plan-cost-symbol-definitions"/>
          <p:cNvGrpSpPr/>
          <p:nvPr/>
        </p:nvGrpSpPr>
        <p:grpSpPr>
          <a:xfrm>
            <a:off x="333375" y="3714750"/>
            <a:ext cx="8477250" cy="552450"/>
            <a:chOff x="333375" y="3714750"/>
            <a:chExt cx="8477250" cy="552450"/>
          </a:xfrm>
        </p:grpSpPr>
        <p:sp>
          <p:nvSpPr>
            <p:cNvPr id="34" name="Rectangle 20"/>
            <p:cNvSpPr/>
            <p:nvPr/>
          </p:nvSpPr>
          <p:spPr>
            <a:xfrm>
              <a:off x="333375" y="3714750"/>
              <a:ext cx="8477250" cy="552450"/>
            </a:xfrm>
            <a:prstGeom prst="rect">
              <a:avLst/>
            </a:prstGeom>
            <a:noFill/>
            <a:ln>
              <a:noFill/>
            </a:ln>
          </p:spPr>
        </p:sp>
        <mc:AlternateContent>
          <mc:Choice Requires="a14">
            <p:sp>
              <p:nvSpPr>
                <p:cNvPr id="35" name="TextBox 21"/>
                <p:cNvSpPr txBox="1"/>
                <p:nvPr/>
              </p:nvSpPr>
              <p:spPr>
                <a:xfrm>
                  <a:off x="393065" y="3725545"/>
                  <a:ext cx="8307070" cy="5092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式中，</a:t>
                  </a:r>
                  <a14:m>
                    <m:oMath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plan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为方案费用现值，</a:t>
                  </a:r>
                  <a14:m>
                    <m:oMath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𝐶</m:t>
                          </m:r>
                        </m:e>
                        <m:sub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𝑒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为建设改造项目</a:t>
                  </a:r>
                  <a14:m>
                    <m:oMath>
                      <m:r>
                        <a:rPr lang="zh-CN" sz="131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𝑒</m:t>
                      </m:r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的费用现值，单位万元；</a:t>
                  </a:r>
                  <a14:m>
                    <m:oMath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、</a:t>
                  </a:r>
                  <a14:m>
                    <m:oMath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、</a:t>
                  </a:r>
                  <a14:m>
                    <m:oMath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分别为主变、储能和线路投运项目集合。</a:t>
                  </a:r>
                  <a:endParaRPr lang="zh-CN" sz="131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endParaRPr>
                </a:p>
              </p:txBody>
            </p:sp>
          </mc:Choice>
          <mc:Fallback>
            <p:sp>
              <p:nvSpPr>
                <p:cNvPr id="35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065" y="3725545"/>
                  <a:ext cx="8307070" cy="50927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/>
              <p:nvPr/>
            </p:nvSpPr>
            <p:spPr>
              <a:xfrm>
                <a:off x="2169033" y="457514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24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25"/>
            <p:cNvSpPr txBox="1"/>
            <p:nvPr/>
          </p:nvSpPr>
          <p:spPr>
            <a:xfrm>
              <a:off x="8868766" y="653859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16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17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4.1 邳州逐年方案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邳州弹性方案增加站内容量并减少部分配套需求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依据：研究报告表5-4、表5-5、表5-9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16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7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66"/>
              <a:ext cx="8477250" cy="2561844"/>
            </a:xfrm>
            <a:prstGeom prst="rect">
              <a:avLst/>
            </a:prstGeom>
          </p:spPr>
        </p:pic>
      </p:grpSp>
      <p:grpSp>
        <p:nvGrpSpPr>
          <p:cNvPr id="22" name="v2-analysis-16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/>
            <p:nvPr/>
          </p:nvSpPr>
          <p:spPr>
            <a:xfrm>
              <a:off x="440626" y="5184743"/>
              <a:ext cx="7649051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容量路径：弹性方案2030年主变2388.50 MVA、容载比2.04；刚性分别为2125.50 MVA、</a:t>
              </a:r>
              <a:b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1.81。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440626" y="5699093"/>
              <a:ext cx="7710773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措施替代：期末弹性储能69.66 MWh、累计新增联络6条，均低于刚性。评价期费用</a:t>
              </a:r>
              <a:b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19668.62万元，较刚性减少1882.68万元。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18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4.2 市区逐年方案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市区2030年弹性费用高于刚性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依据：研究报告表5-6、表5-7、表5-9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17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66"/>
              <a:ext cx="8477250" cy="2561844"/>
            </a:xfrm>
            <a:prstGeom prst="rect">
              <a:avLst/>
            </a:prstGeom>
          </p:spPr>
        </p:pic>
      </p:grpSp>
      <p:graphicFrame>
        <p:nvGraphicFramePr>
          <p:cNvPr id="26" name="city-path-comparison"/>
          <p:cNvGraphicFramePr>
            <a:graphicFrameLocks noGrp="1"/>
          </p:cNvGraphicFramePr>
          <p:nvPr/>
        </p:nvGraphicFramePr>
        <p:xfrm>
          <a:off x="333375" y="5143500"/>
          <a:ext cx="847725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375"/>
                <a:gridCol w="1238251"/>
                <a:gridCol w="1238250"/>
                <a:gridCol w="3762374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比较项目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刚性方案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弹性方案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工程含义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2030累计费用 / 万元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14819.77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16806.54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弹性增加1986.77万元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2030储能 / MWh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12.04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弹性未新增储能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2030新增联络累计 / 条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弹性未新增联络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2030主变 / MVA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3140.50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3413.00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站内补强增加272.50 MVA</a:t>
                      </a:r>
                    </a:p>
                  </a:txBody>
                  <a:tcPr anchor="ctr" marL="57150" marR="57150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19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4.3 评价期费用分解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新增主变支出由其他措施费用下降部分抵消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837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依据：研究报告表5-9、表5-11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4" name="v2-cost-delta"/>
          <p:cNvGrpSpPr/>
          <p:nvPr/>
        </p:nvGrpSpPr>
        <p:grpSpPr>
          <a:xfrm>
            <a:off x="333375" y="2533650"/>
            <a:ext cx="8477250" cy="2257425"/>
            <a:chOff x="333375" y="2533650"/>
            <a:chExt cx="8477250" cy="2257425"/>
          </a:xfrm>
        </p:grpSpPr>
        <p:sp>
          <p:nvSpPr>
            <p:cNvPr id="25" name="Rectangle 16"/>
            <p:cNvSpPr/>
            <p:nvPr/>
          </p:nvSpPr>
          <p:spPr>
            <a:xfrm>
              <a:off x="333375" y="2533650"/>
              <a:ext cx="8477250" cy="22574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8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614" y="2544508"/>
              <a:ext cx="8466772" cy="2235803"/>
            </a:xfrm>
            <a:prstGeom prst="rect">
              <a:avLst/>
            </a:prstGeom>
          </p:spPr>
        </p:pic>
      </p:grpSp>
      <p:graphicFrame>
        <p:nvGraphicFramePr>
          <p:cNvPr id="27" name="regional-cost-comparison"/>
          <p:cNvGraphicFramePr>
            <a:graphicFrameLocks noGrp="1"/>
          </p:cNvGraphicFramePr>
          <p:nvPr/>
        </p:nvGraphicFramePr>
        <p:xfrm>
          <a:off x="333375" y="4895850"/>
          <a:ext cx="8477250" cy="1009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6"/>
                <a:gridCol w="1381125"/>
                <a:gridCol w="1381125"/>
                <a:gridCol w="1285875"/>
                <a:gridCol w="3524249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地区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 / 万元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 / 万元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弹性费用变化 / 万元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主要费用变化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邳州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21551.31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19668.62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减少1882.68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配套节省额超过主变投入增加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市区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14819.77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16806.54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增加1986.77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主变投入增加超过配套节省额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4.4 2030年设备组合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两类片区通过不同措施组合满足局部供电任务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依据：研究报告表5-10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19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375" y="2543366"/>
              <a:ext cx="8477250" cy="2561844"/>
            </a:xfrm>
            <a:prstGeom prst="rect">
              <a:avLst/>
            </a:prstGeom>
          </p:spPr>
        </p:pic>
      </p:grpSp>
      <p:grpSp>
        <p:nvGrpSpPr>
          <p:cNvPr id="22" name="v2-analysis-19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/>
            <p:nvPr/>
          </p:nvSpPr>
          <p:spPr>
            <a:xfrm>
              <a:off x="440626" y="5184743"/>
              <a:ext cx="7631335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邳州组合：弹性主变容量较大，期末储能由刚性153.94 MWh减至69.66 MWh，累计新增联络由</a:t>
              </a:r>
              <a:b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25条减至6条，站内容量与配套支撑共同调整。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440626" y="5699093"/>
              <a:ext cx="756075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市区组合：弹性主变较刚性多272.50 MVA，未新增储能和联络。刚性配储12.04 MWh，</a:t>
              </a:r>
              <a:b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9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累计新增联络32条。站内补强与配套工程的投入在2030年前形成不同费用。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4.5 代表站设备分析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4880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主变台数组合改变N-1剩余能力及局部支撑需求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3872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依据：研究报告表5-13、表5-15、表5-31及对应逐站分析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station-examples"/>
          <p:cNvGraphicFramePr>
            <a:graphicFrameLocks noGrp="1"/>
          </p:cNvGraphicFramePr>
          <p:nvPr/>
        </p:nvGraphicFramePr>
        <p:xfrm>
          <a:off x="333375" y="2619375"/>
          <a:ext cx="8477250" cy="2143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484"/>
                <a:gridCol w="1759427"/>
                <a:gridCol w="1919381"/>
                <a:gridCol w="3198958"/>
              </a:tblGrid>
              <a:tr h="399212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2030年站点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刚性主变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弹性主变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差异对应的任务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99212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戴圩变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两方案均保留两台主变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2351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兴塘变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20+40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31.5+40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N-1剩余容量20.00→31.50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67235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八义集变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容量相同，两方案均未新增储能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station-mechanism-comparison"/>
          <p:cNvGraphicFramePr>
            <a:graphicFrameLocks noGrp="1"/>
          </p:cNvGraphicFramePr>
          <p:nvPr/>
        </p:nvGraphicFramePr>
        <p:xfrm>
          <a:off x="333375" y="4943475"/>
          <a:ext cx="8477250" cy="1314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6"/>
                <a:gridCol w="3190875"/>
                <a:gridCol w="4286249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代表站与结果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工程含义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设备结构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兴塘变：N-1剩余容量20.00→31.50 MVA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更换较小主变提高故障后剩余能力。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007C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局部支撑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八义集变：主变容量相同，储能均0.00 MW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本地设备规模相同，转接任务按年度方案校核。</a:t>
                      </a:r>
                    </a:p>
                  </a:txBody>
                  <a:tcPr anchor="ctr" marL="57150" marR="57150" marT="9525" marB="952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22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4.6 联络与共享资源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转供支援由源端、路径及接收侧能力共同决定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4175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依据：研究报告3.6、5.5、表5-59—5-61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0" name="v2-transfer-network"/>
          <p:cNvGrpSpPr/>
          <p:nvPr/>
        </p:nvGrpSpPr>
        <p:grpSpPr>
          <a:xfrm>
            <a:off x="333375" y="2609850"/>
            <a:ext cx="8477250" cy="2133600"/>
            <a:chOff x="333375" y="2609850"/>
            <a:chExt cx="8477250" cy="2133600"/>
          </a:xfrm>
        </p:grpSpPr>
        <p:sp>
          <p:nvSpPr>
            <p:cNvPr id="45" name="Rectangle 12"/>
            <p:cNvSpPr/>
            <p:nvPr/>
          </p:nvSpPr>
          <p:spPr>
            <a:xfrm>
              <a:off x="333375" y="2609850"/>
              <a:ext cx="8477250" cy="2133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16"/>
            <p:cNvSpPr txBox="1"/>
            <p:nvPr/>
          </p:nvSpPr>
          <p:spPr>
            <a:xfrm>
              <a:off x="2348672" y="2619375"/>
              <a:ext cx="444665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正常方式与主变N-1分别安排年度固定转供方案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2" name="v2-transfer-node-55"/>
            <p:cNvGrpSpPr/>
            <p:nvPr/>
          </p:nvGrpSpPr>
          <p:grpSpPr>
            <a:xfrm>
              <a:off x="523875" y="3028950"/>
              <a:ext cx="2095500" cy="828675"/>
              <a:chOff x="523875" y="3028950"/>
              <a:chExt cx="2095500" cy="828675"/>
            </a:xfrm>
          </p:grpSpPr>
          <p:sp>
            <p:nvSpPr>
              <p:cNvPr id="47" name="Rectangle 18"/>
              <p:cNvSpPr/>
              <p:nvPr/>
            </p:nvSpPr>
            <p:spPr>
              <a:xfrm>
                <a:off x="523875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8" name="Rectangle 19"/>
              <p:cNvSpPr/>
              <p:nvPr/>
            </p:nvSpPr>
            <p:spPr>
              <a:xfrm>
                <a:off x="523875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30058" y="3130550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源端站</a:t>
                </a:r>
                <a:endParaRPr lang="zh-CN" sz="16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28688" y="3482975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可切换源荷区段</a:t>
                </a:r>
                <a:endPara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grpSp>
          <p:nvGrpSpPr>
            <p:cNvPr id="27" name="v2-transfer-node-360"/>
            <p:cNvGrpSpPr/>
            <p:nvPr/>
          </p:nvGrpSpPr>
          <p:grpSpPr>
            <a:xfrm>
              <a:off x="3429000" y="3028950"/>
              <a:ext cx="2095500" cy="828675"/>
              <a:chOff x="3429000" y="3028950"/>
              <a:chExt cx="2095500" cy="8286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429000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3429000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690938" y="3130550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共享馈线与联络</a:t>
                </a:r>
                <a:endParaRPr lang="zh-CN" sz="16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08057" y="3482975"/>
                <a:ext cx="19373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既有MW额度及通道热限</a:t>
                </a:r>
                <a:endPara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grpSp>
          <p:nvGrpSpPr>
            <p:cNvPr id="32" name="v2-transfer-node-680"/>
            <p:cNvGrpSpPr/>
            <p:nvPr/>
          </p:nvGrpSpPr>
          <p:grpSpPr>
            <a:xfrm>
              <a:off x="6477000" y="3028950"/>
              <a:ext cx="2095500" cy="828675"/>
              <a:chOff x="6477000" y="3028950"/>
              <a:chExt cx="2095500" cy="8286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477000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477000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183184" y="3130550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受端站</a:t>
                </a:r>
                <a:endParaRPr lang="zh-CN" sz="16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700076" y="3482975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馈线余量与主变容量</a:t>
                </a:r>
                <a:endPara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2667000" y="3429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3239452" y="3383471"/>
              <a:ext cx="94297" cy="91059"/>
            </a:xfrm>
            <a:custGeom>
              <a:avLst/>
              <a:gdLst/>
              <a:ahLst/>
              <a:cxnLst/>
              <a:rect l="l" t="t" r="r" b="b"/>
              <a:pathLst>
                <a:path w="94297" h="91059">
                  <a:moveTo>
                    <a:pt x="94297" y="45529"/>
                  </a:moveTo>
                  <a:lnTo>
                    <a:pt x="0" y="91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5572125" y="3429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287452" y="3383471"/>
              <a:ext cx="94297" cy="91059"/>
            </a:xfrm>
            <a:custGeom>
              <a:avLst/>
              <a:gdLst/>
              <a:ahLst/>
              <a:cxnLst/>
              <a:rect l="l" t="t" r="r" b="b"/>
              <a:pathLst>
                <a:path w="94297" h="91059">
                  <a:moveTo>
                    <a:pt x="94297" y="45529"/>
                  </a:moveTo>
                  <a:lnTo>
                    <a:pt x="0" y="91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4505325" y="3857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905125" y="4143375"/>
              <a:ext cx="3190875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175635" y="42513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多条联络共用馈线与区段预算</a:t>
              </a:r>
              <a:endParaRPr lang="zh-CN" sz="150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4" name="v2-transfer-analysis"/>
          <p:cNvGrpSpPr/>
          <p:nvPr/>
        </p:nvGrpSpPr>
        <p:grpSpPr>
          <a:xfrm>
            <a:off x="333375" y="4924425"/>
            <a:ext cx="8477250" cy="1333500"/>
            <a:chOff x="333375" y="4924425"/>
            <a:chExt cx="8477250" cy="1333500"/>
          </a:xfrm>
        </p:grpSpPr>
        <p:sp>
          <p:nvSpPr>
            <p:cNvPr id="41" name="Rectangle 41"/>
            <p:cNvSpPr/>
            <p:nvPr/>
          </p:nvSpPr>
          <p:spPr>
            <a:xfrm>
              <a:off x="333375" y="4924425"/>
              <a:ext cx="8477250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0436" y="4937125"/>
              <a:ext cx="7561707" cy="516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3035" indent="-153035" algn="l">
                <a:lnSpc>
                  <a:spcPts val="187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共同校核：</a:t>
              </a: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区段内负荷与光伏一同切换，源端可切负荷、路径共享和受端主变余量共同限制转</a:t>
              </a:r>
              <a:b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供；正常与N-1分别采用年度固定方案。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0436" y="5470525"/>
              <a:ext cx="7597775" cy="516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3035" indent="-153035" algn="l">
                <a:lnSpc>
                  <a:spcPts val="187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工程取值：</a:t>
              </a: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10 kV、485 A及功率因数0.95折算有功7.98 MW，工程上限取8.00 MW；示例区段</a:t>
              </a:r>
              <a:b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有效转供7.49 MW，新增项目按投运年计费。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4.7 五参数推荐范围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按片区条件定位推荐带，再核定具体设备方案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592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依据：研究报告5.6、表3-21、表5-63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4" name="lookup-step-0"/>
          <p:cNvGrpSpPr/>
          <p:nvPr/>
        </p:nvGrpSpPr>
        <p:grpSpPr>
          <a:xfrm>
            <a:off x="333375" y="2647950"/>
            <a:ext cx="2028825" cy="981075"/>
            <a:chOff x="333375" y="2647950"/>
            <a:chExt cx="2028825" cy="981075"/>
          </a:xfrm>
        </p:grpSpPr>
        <p:sp>
          <p:nvSpPr>
            <p:cNvPr id="20" name="Rectangle 20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891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① 电缆占比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198" y="317182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确定三类造价分区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9" name="lookup-step-1"/>
          <p:cNvGrpSpPr/>
          <p:nvPr/>
        </p:nvGrpSpPr>
        <p:grpSpPr>
          <a:xfrm>
            <a:off x="2476500" y="2647950"/>
            <a:ext cx="2028825" cy="981075"/>
            <a:chOff x="2476500" y="2647950"/>
            <a:chExt cx="2028825" cy="981075"/>
          </a:xfrm>
        </p:grpSpPr>
        <p:sp>
          <p:nvSpPr>
            <p:cNvPr id="25" name="Rectangle 25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8203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② 负荷分散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4323" y="3171825"/>
              <a:ext cx="12536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按1.15划分两档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4" name="lookup-step-2"/>
          <p:cNvGrpSpPr/>
          <p:nvPr/>
        </p:nvGrpSpPr>
        <p:grpSpPr>
          <a:xfrm>
            <a:off x="4619625" y="2647950"/>
            <a:ext cx="2028825" cy="981075"/>
            <a:chOff x="4619625" y="2647950"/>
            <a:chExt cx="2028825" cy="981075"/>
          </a:xfrm>
        </p:grpSpPr>
        <p:sp>
          <p:nvSpPr>
            <p:cNvPr id="30" name="Rectangle 30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2516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③ 源荷条件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27448" y="3159125"/>
              <a:ext cx="1638554" cy="460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60"/>
                </a:lnSpc>
              </a:pPr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增长率与装机渗透率选</a:t>
              </a:r>
              <a:b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行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9" name="lookup-step-3"/>
          <p:cNvGrpSpPr/>
          <p:nvPr/>
        </p:nvGrpSpPr>
        <p:grpSpPr>
          <a:xfrm>
            <a:off x="6762750" y="2647950"/>
            <a:ext cx="2028825" cy="981075"/>
            <a:chOff x="6762750" y="2647950"/>
            <a:chExt cx="2028825" cy="981075"/>
          </a:xfrm>
        </p:grpSpPr>
        <p:sp>
          <p:nvSpPr>
            <p:cNvPr id="35" name="Rectangle 35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6828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④ 初始转供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0573" y="317182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定位推荐区间列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40" name="lookup-example"/>
          <p:cNvGraphicFramePr>
            <a:graphicFrameLocks noGrp="1"/>
          </p:cNvGraphicFramePr>
          <p:nvPr/>
        </p:nvGraphicFramePr>
        <p:xfrm>
          <a:off x="333375" y="3990975"/>
          <a:ext cx="8477250" cy="97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288"/>
                <a:gridCol w="1630241"/>
                <a:gridCol w="1630241"/>
                <a:gridCol w="1630240"/>
                <a:gridCol w="1630240"/>
              </a:tblGrid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初始转供率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推荐容载比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1.63～1.69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1.57～1.63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44" name="lookup-condition"/>
          <p:cNvGrpSpPr/>
          <p:nvPr/>
        </p:nvGrpSpPr>
        <p:grpSpPr>
          <a:xfrm>
            <a:off x="325755" y="5143500"/>
            <a:ext cx="8484870" cy="620395"/>
            <a:chOff x="325755" y="5143500"/>
            <a:chExt cx="8484870" cy="620395"/>
          </a:xfrm>
        </p:grpSpPr>
        <p:sp>
          <p:nvSpPr>
            <p:cNvPr id="41" name="Rectangle 41"/>
            <p:cNvSpPr/>
            <p:nvPr/>
          </p:nvSpPr>
          <p:spPr>
            <a:xfrm>
              <a:off x="333375" y="5143500"/>
              <a:ext cx="847725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5755" y="5203825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示例条件：电缆长度占比≤10%，负荷分散系数≤1.15，</a:t>
              </a:r>
              <a:endParaRPr lang="zh-CN" sz="150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5755" y="5470525"/>
              <a:ext cx="457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年最大净负荷平均增长率&gt;7%，装机渗透率(1,2]。</a:t>
              </a:r>
              <a:endParaRPr lang="zh-CN" sz="150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8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5" name="Rectangle 4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0055" y="5899150"/>
              <a:ext cx="6890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六表288单元；基准宽0.10、定位网格0.02，接近容量水平按中点共用界值。</a:t>
              </a:r>
              <a:endParaRPr lang="zh-CN" sz="1500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9" name="v2-lookup-purpose"/>
          <p:cNvGrpSpPr/>
          <p:nvPr/>
        </p:nvGrpSpPr>
        <p:grpSpPr>
          <a:xfrm>
            <a:off x="333375" y="3648075"/>
            <a:ext cx="8477250" cy="323850"/>
            <a:chOff x="333375" y="3648075"/>
            <a:chExt cx="8477250" cy="323850"/>
          </a:xfrm>
        </p:grpSpPr>
        <p:sp>
          <p:nvSpPr>
            <p:cNvPr id="50" name="Rectangle 23"/>
            <p:cNvSpPr/>
            <p:nvPr/>
          </p:nvSpPr>
          <p:spPr>
            <a:xfrm>
              <a:off x="333375" y="3648075"/>
              <a:ext cx="847725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TextBox 25"/>
            <p:cNvSpPr txBox="1"/>
            <p:nvPr/>
          </p:nvSpPr>
          <p:spPr>
            <a:xfrm>
              <a:off x="441008" y="3673475"/>
              <a:ext cx="597437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1605" indent="-141605" algn="l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窗口用于容量初选，再按站级缺口、主变结构与可实施措施落实设备方案。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24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4.8 参数响应与设备切换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网络支援改善体现为分档推荐带和设备组合变化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7183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依据：研究报告表5-69—5-75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23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23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70197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受控对照：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两组均固定装机渗透率50%、电缆长度占比50%，采用设备重新选配条件，保留初始转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供率10%—90%的九个细节点。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7840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响应机制：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转供改善总体降低容量需求，平台与局部回升对应真实设备组合。其他参数分别改变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反向任务、负荷规模、线路造价和局部高峰，触发不同措施替代。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/>
              <p:nvPr/>
            </p:nvSpPr>
            <p:spPr>
              <a:xfrm>
                <a:off x="2169033" y="55085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24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25"/>
            <p:cNvSpPr txBox="1"/>
            <p:nvPr/>
          </p:nvSpPr>
          <p:spPr>
            <a:xfrm>
              <a:off x="8868766" y="653859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25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项目成效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26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5.1 规划应用相关工作建议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以五参数矩阵推进“一片一策”规划应用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/>
            <p:nvPr/>
          </p:nvSpPr>
          <p:spPr>
            <a:xfrm>
              <a:off x="328422" y="6353175"/>
              <a:ext cx="167878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依据：研究报告5.7、6.2</a:t>
              </a:r>
            </a:p>
          </p:txBody>
        </p:sp>
      </p:grpSp>
      <p:grpSp>
        <p:nvGrpSpPr>
          <p:cNvPr id="20" name="v2-method-24-0"/>
          <p:cNvGrpSpPr/>
          <p:nvPr/>
        </p:nvGrpSpPr>
        <p:grpSpPr>
          <a:xfrm>
            <a:off x="333375" y="2609850"/>
            <a:ext cx="4124325" cy="1438275"/>
            <a:chOff x="333375" y="2609850"/>
            <a:chExt cx="4124325" cy="1438275"/>
          </a:xfrm>
        </p:grpSpPr>
        <p:sp>
          <p:nvSpPr>
            <p:cNvPr id="40" name="Rectangle 12"/>
            <p:cNvSpPr/>
            <p:nvPr/>
          </p:nvSpPr>
          <p:spPr>
            <a:xfrm>
              <a:off x="333375" y="2609850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16"/>
            <p:cNvSpPr/>
            <p:nvPr/>
          </p:nvSpPr>
          <p:spPr>
            <a:xfrm>
              <a:off x="333375" y="26289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2" name="TextBox 18"/>
            <p:cNvSpPr/>
            <p:nvPr/>
          </p:nvSpPr>
          <p:spPr>
            <a:xfrm>
              <a:off x="372999" y="2657475"/>
              <a:ext cx="150485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矩阵应用</a:t>
              </a:r>
            </a:p>
          </p:txBody>
        </p:sp>
        <p:sp>
          <p:nvSpPr>
            <p:cNvPr id="43" name="TextBox 19"/>
            <p:cNvSpPr/>
            <p:nvPr/>
          </p:nvSpPr>
          <p:spPr>
            <a:xfrm>
              <a:off x="374142" y="2921032"/>
              <a:ext cx="3631311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目标：查表初选与设备校核衔接。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措施：统一五项参数口径，分区查表，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折算主变容量并落实到具体站点。</a:t>
              </a:r>
            </a:p>
          </p:txBody>
        </p:sp>
      </p:grpSp>
      <p:grpSp>
        <p:nvGrpSpPr>
          <p:cNvPr id="25" name="v2-method-24-1"/>
          <p:cNvGrpSpPr/>
          <p:nvPr/>
        </p:nvGrpSpPr>
        <p:grpSpPr>
          <a:xfrm>
            <a:off x="4686300" y="2609850"/>
            <a:ext cx="4124325" cy="1438275"/>
            <a:chOff x="4686300" y="2609850"/>
            <a:chExt cx="4124325" cy="1438275"/>
          </a:xfrm>
        </p:grpSpPr>
        <p:sp>
          <p:nvSpPr>
            <p:cNvPr id="21" name="Rectangle 21"/>
            <p:cNvSpPr/>
            <p:nvPr/>
          </p:nvSpPr>
          <p:spPr>
            <a:xfrm>
              <a:off x="4686300" y="2609850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686300" y="26289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/>
            <p:nvPr/>
          </p:nvSpPr>
          <p:spPr>
            <a:xfrm>
              <a:off x="4725924" y="2657475"/>
              <a:ext cx="193033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站级论证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4727067" y="2921032"/>
              <a:ext cx="3725608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目标：衔接区域储备与站级供电能力。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措施：核定转供能力，按缺口配置储能，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统一约束比选主变增容与中压联络。</a:t>
              </a:r>
            </a:p>
          </p:txBody>
        </p:sp>
      </p:grpSp>
      <p:grpSp>
        <p:nvGrpSpPr>
          <p:cNvPr id="30" name="v2-method-24-2"/>
          <p:cNvGrpSpPr/>
          <p:nvPr/>
        </p:nvGrpSpPr>
        <p:grpSpPr>
          <a:xfrm>
            <a:off x="333375" y="4219575"/>
            <a:ext cx="4124325" cy="1438275"/>
            <a:chOff x="333375" y="4219575"/>
            <a:chExt cx="4124325" cy="1438275"/>
          </a:xfrm>
        </p:grpSpPr>
        <p:sp>
          <p:nvSpPr>
            <p:cNvPr id="26" name="Rectangle 26"/>
            <p:cNvSpPr/>
            <p:nvPr/>
          </p:nvSpPr>
          <p:spPr>
            <a:xfrm>
              <a:off x="333375" y="4219575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333375" y="42386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/>
            <p:nvPr/>
          </p:nvSpPr>
          <p:spPr>
            <a:xfrm>
              <a:off x="372999" y="4267200"/>
              <a:ext cx="193033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滚动完善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374142" y="4530757"/>
              <a:ext cx="3759898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目标：容量安排与建设进度同步。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措施：逐年更新参数与建设时序，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价格或条件变化后重算并反馈校核。</a:t>
              </a:r>
            </a:p>
          </p:txBody>
        </p:sp>
      </p:grpSp>
      <p:grpSp>
        <p:nvGrpSpPr>
          <p:cNvPr id="35" name="v2-method-24-3"/>
          <p:cNvGrpSpPr/>
          <p:nvPr/>
        </p:nvGrpSpPr>
        <p:grpSpPr>
          <a:xfrm>
            <a:off x="4686300" y="4219575"/>
            <a:ext cx="4124325" cy="1438275"/>
            <a:chOff x="4686300" y="4219575"/>
            <a:chExt cx="4124325" cy="1438275"/>
          </a:xfrm>
        </p:grpSpPr>
        <p:sp>
          <p:nvSpPr>
            <p:cNvPr id="31" name="Rectangle 31"/>
            <p:cNvSpPr/>
            <p:nvPr/>
          </p:nvSpPr>
          <p:spPr>
            <a:xfrm>
              <a:off x="4686300" y="4219575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686300" y="42386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/>
            <p:nvPr/>
          </p:nvSpPr>
          <p:spPr>
            <a:xfrm>
              <a:off x="4725924" y="4267200"/>
              <a:ext cx="129216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试用推广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4727067" y="4530757"/>
              <a:ext cx="361416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先在徐州开展查表、论证、校核试用，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验证参数口径与应用流程后，</a:t>
              </a:r>
              <a:b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向其他高渗透率片区推广。</a:t>
              </a:r>
            </a:p>
          </p:txBody>
        </p:sp>
      </p:grpSp>
      <p:grpSp>
        <p:nvGrpSpPr>
          <p:cNvPr id="39" name="v2-closing-24"/>
          <p:cNvGrpSpPr/>
          <p:nvPr/>
        </p:nvGrpSpPr>
        <p:grpSpPr>
          <a:xfrm>
            <a:off x="333375" y="5867400"/>
            <a:ext cx="8477250" cy="419100"/>
            <a:chOff x="333375" y="5867400"/>
            <a:chExt cx="8477250" cy="419100"/>
          </a:xfrm>
        </p:grpSpPr>
        <p:sp>
          <p:nvSpPr>
            <p:cNvPr id="36" name="Rectangle 36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8" name="TextBox 38"/>
            <p:cNvSpPr/>
            <p:nvPr/>
          </p:nvSpPr>
          <p:spPr>
            <a:xfrm>
              <a:off x="440817" y="5892832"/>
              <a:ext cx="7239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 marL="153019" indent="-153019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工作安排：查表定容、站级论证、滚动校核；先在徐州试用，再推广至其他高渗透率片区。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27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82388" y="44537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854388" y="445376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72652" y="3129694"/>
            <a:ext cx="3563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rgbClr val="017977"/>
                </a:solidFill>
              </a:rPr>
              <a:t>谢 谢！</a:t>
            </a:r>
            <a:endParaRPr lang="zh-CN" altLang="en-US" sz="9600" dirty="0">
              <a:solidFill>
                <a:srgbClr val="01797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28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备查：逐年配置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邳州逐年主变、储能及累计新增联络对照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依据：研究报告表5-4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2291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100"/>
                <a:gridCol w="1103545"/>
                <a:gridCol w="902901"/>
                <a:gridCol w="1053386"/>
                <a:gridCol w="852743"/>
                <a:gridCol w="1103545"/>
                <a:gridCol w="902901"/>
                <a:gridCol w="1053386"/>
                <a:gridCol w="852743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2091.50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2057.00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2078.50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2320.00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2338.50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2125.50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2388.50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单位：容量MVA，储能为在役额定功率MW；新线为累计新增联络条数。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29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备查：逐年配置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市区逐年主变、储能及累计新增联络对照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2291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100"/>
                <a:gridCol w="1103545"/>
                <a:gridCol w="902901"/>
                <a:gridCol w="1053386"/>
                <a:gridCol w="852743"/>
                <a:gridCol w="1103545"/>
                <a:gridCol w="902901"/>
                <a:gridCol w="1053386"/>
                <a:gridCol w="852743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3190.50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3253.00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3313.00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单位：容量MVA，储能为在役额定功率MW；新线为累计新增联络条数。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30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备查：方法与经济参数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采样设计、有效样本和共同经济条件分别登记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依据：研究报告表3-14、表3-15、表4-1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sampling-details"/>
          <p:cNvGraphicFramePr>
            <a:graphicFrameLocks noGrp="1"/>
          </p:cNvGraphicFramePr>
          <p:nvPr/>
        </p:nvGraphicFramePr>
        <p:xfrm>
          <a:off x="333375" y="2562225"/>
          <a:ext cx="847725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372"/>
                <a:gridCol w="1867869"/>
                <a:gridCol w="1436822"/>
                <a:gridCol w="1724187"/>
              </a:tblGrid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候选指标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取点/计算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有效组数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有效节点数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2484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电量渗透率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19880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60798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站级负载率最大值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由源荷节点计算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19880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60798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最大正向净负荷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由源荷节点计算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11988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88781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最大反向净负荷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由源荷节点计算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19880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60798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4329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95%峰值持续时间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5140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41118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负荷分散系数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10608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31473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初始转供率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4680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32058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主变/线路投资比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7个价格节点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2466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17262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主变/储能投资比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7个价格节点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2466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17262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电缆长度占比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7584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储能支撑持续时间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10704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economic-parameters"/>
          <p:cNvGrpSpPr/>
          <p:nvPr/>
        </p:nvGrpSpPr>
        <p:grpSpPr>
          <a:xfrm>
            <a:off x="326898" y="5791200"/>
            <a:ext cx="8483727" cy="514350"/>
            <a:chOff x="326898" y="5791200"/>
            <a:chExt cx="8483727" cy="514350"/>
          </a:xfrm>
        </p:grpSpPr>
        <p:sp>
          <p:nvSpPr>
            <p:cNvPr id="21" name="Rectangle 21"/>
            <p:cNvSpPr/>
            <p:nvPr/>
          </p:nvSpPr>
          <p:spPr>
            <a:xfrm>
              <a:off x="333375" y="5791200"/>
              <a:ext cx="8477250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5848350"/>
              <a:ext cx="587161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寿命：主变/线路/储能40/40/25年；维护费率4.2%/2.2%/3%；折现率6%。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6898" y="6048375"/>
              <a:ext cx="54580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评价基准2021年、截止2041年；采样实际取值节点保留于报告表3-14。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电缆长度占比≤10%，负荷分散系数≤1.15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依据：研究报告表5-63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2.65～2.75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1.88～1.97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1.43～1.53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1.63～1.69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2.35～2.41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32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电缆长度占比≤10%，负荷分散系数&gt;1.15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依据：研究报告表5-64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1.91～2.01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2.52～2.59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2.33～2.43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1.45～1.55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2.07～2.13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1.87～1.97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2.46～2.55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电缆长度占比(10%,30%]，负荷分散系数≤1.15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依据：研究报告表5-65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2.65～2.75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1.88～1.97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1.43～1.53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1.63～1.69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2.35～2.41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34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电缆长度占比(10%,30%]，负荷分散系数&gt;1.15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依据：研究报告表5-66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1.91～2.01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2.52～2.59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2.34～2.43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2.25～2.34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1.45～1.55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2.07～2.13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2.46～2.55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35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电缆长度占比&gt;30%，负荷分散系数≤1.15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依据：研究报告表5-67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2.65～2.75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1.65～1.73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1.88～1.97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1.43～1.53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2.35～2.41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36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电缆长度占比&gt;30%，负荷分散系数&gt;1.15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依据：研究报告表5-68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2.63～2.69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2.52～2.59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2.48～2.52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1.87～1.95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1.45～1.55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2.07～2.13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2.46～2.55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2.28～2.37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ds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12192</Words>
  <Application>WPS 演示</Application>
  <PresentationFormat>全屏显示(4:3)</PresentationFormat>
  <Paragraphs>2608</Paragraphs>
  <Slides>38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8" baseType="lpstr">
      <vt:lpstr>Arial</vt:lpstr>
      <vt:lpstr>宋体</vt:lpstr>
      <vt:lpstr>Wingdings</vt:lpstr>
      <vt:lpstr>黑体</vt:lpstr>
      <vt:lpstr>Calibri</vt:lpstr>
      <vt:lpstr>微软雅黑</vt:lpstr>
      <vt:lpstr>方正书宋_GBK</vt:lpstr>
      <vt:lpstr>汉仪大宋简</vt:lpstr>
      <vt:lpstr>Microsoft YaHei</vt:lpstr>
      <vt:lpstr>Franklin Gothic Book</vt:lpstr>
      <vt:lpstr>宋体</vt:lpstr>
      <vt:lpstr>Arial Unicode MS</vt:lpstr>
      <vt:lpstr>方正黑体_GBK</vt:lpstr>
      <vt:lpstr>等线</vt:lpstr>
      <vt:lpstr>Gubbi</vt:lpstr>
      <vt:lpstr>Times New Roman</vt:lpstr>
      <vt:lpstr>DejaVu Math TeX Gyre</vt:lpstr>
      <vt:lpstr>FreeSans</vt:lpstr>
      <vt:lpstr>OpenSymbol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关于开展电网投资项目协同管理工作的汇报</dc:title>
  <dc:creator>蔡武俊</dc:creator>
  <cp:lastModifiedBy>许恒</cp:lastModifiedBy>
  <cp:revision>2739</cp:revision>
  <cp:lastPrinted>2026-10-23T02:34:41Z</cp:lastPrinted>
  <dcterms:created xsi:type="dcterms:W3CDTF">2026-10-23T02:34:41Z</dcterms:created>
  <dcterms:modified xsi:type="dcterms:W3CDTF">2026-10-23T02:34:41Z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2052-12.1.2.23578</vt:lpwstr>
  </property>
  <property fmtid="{D5CDD505-2E9C-101B-9397-08002B2CF9AE}" pid="3" name="ICV">
    <vt:lpwstr>7D948C038C9C676E6CB0D96A6D834D86_42</vt:lpwstr>
  </property>
</Properties>
</file>