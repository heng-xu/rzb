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微软雅黑" panose="020B0503020204020204" pitchFamily="34" charset="-122"/>
      <p:regular r:id="rId52"/>
    </p:embeddedFont>
    <p:embeddedFont>
      <p:font typeface="华文细黑" panose="02010600040101010101" pitchFamily="2" charset="-122"/>
      <p:regular r:id="rId53"/>
    </p:embeddedFont>
    <p:embeddedFont>
      <p:font typeface="等线" panose="02010600030101010101" charset="-122"/>
      <p:regular r:id="rId5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832" userDrawn="1">
          <p15:clr>
            <a:srgbClr val="A4A3A4"/>
          </p15:clr>
        </p15:guide>
        <p15:guide id="3" orient="horz" pos="2442" userDrawn="1">
          <p15:clr>
            <a:srgbClr val="A4A3A4"/>
          </p15:clr>
        </p15:guide>
        <p15:guide id="4" pos="5647" userDrawn="1">
          <p15:clr>
            <a:srgbClr val="A4A3A4"/>
          </p15:clr>
        </p15:guide>
        <p15:guide id="5" pos="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font" Target="fonts/font8.fntdata"/><Relationship Id="rId53" Type="http://schemas.openxmlformats.org/officeDocument/2006/relationships/font" Target="fonts/font7.fntdata"/><Relationship Id="rId52" Type="http://schemas.openxmlformats.org/officeDocument/2006/relationships/font" Target="fonts/font6.fntdata"/><Relationship Id="rId51" Type="http://schemas.openxmlformats.org/officeDocument/2006/relationships/font" Target="fonts/font5.fntdata"/><Relationship Id="rId50" Type="http://schemas.openxmlformats.org/officeDocument/2006/relationships/font" Target="fonts/font4.fntdata"/><Relationship Id="rId5" Type="http://schemas.openxmlformats.org/officeDocument/2006/relationships/slide" Target="slides/slide2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下面进入研究目标和思路部分。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下面进入研究内容部分。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主变更换按整台新购容量计价，净增容量扣除原有被替换设备。王庄与鲁庙工程形成16.57万元每MVA的采购容量加权参考系数。扩建按50 MVA完整项目1223万元计取，限具备预留位置的站点。刚性与弹性方案采用相同供电安全要求，只对新增容量控制作区别。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联络投资由线路敷设与固定接入两部分构成。电缆长度占比通过成本系数进入线路造价，3 km基准工程另计6万元等效开关接入费。邳州和市区单项投资分别为128.38万元和452.40万元，按实际新增投运条数计算。支援还需满足送端可转负荷、共享通道与受端容量条件。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储能采购按100 kW、215 kWh整柜计费，成套项目折算参考单柜21.05万元。有效功率取额定功率和可用电量除以时长的较小值，0.76综合反映SOC可用窗口与单向放电效率。承担1 MW连续支撑任务，2、4、6小时分别需要13、25、37柜。正反向分别采用相应时长，运行应用继续核定充电、恢复和连续SOC。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投运批次的初始投资、更新和固定运维统一折算至2021年末，再按主变、储能和线路项目集合汇总。固定运维从投运次年计至2041年，更新要求投运年加整倍寿命严格早于2041年。本期2022至2035年投运设备均未触发更新，因此现值比较覆盖新增建设和固定运维。期末残值、替换存量设备运维变化、储能购电和损耗、收益抵扣等尚未纳入，费用降幅按这一共同范围解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其中，方案费用现值由建设改造项目的费用现值相加得到，三类投运项目集合分别对应主变、储能和线路，费用单位均为万元。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下面进入实证分析部分。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下面进入项目成效部分。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汇报完毕，敬请各位专家批评指正。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徐州地区分布式新能源高渗透率地区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110 kV电网容载比弹性指标优化研究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成果汇报</a:t>
            </a:r>
            <a:endParaRPr lang="zh-CN" sz="2320" b="1" dirty="0">
              <a:solidFill>
                <a:srgbClr val="007C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国网江苏电力设计咨询有限公司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徐州勘测设计分公司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2026年10月</a:t>
            </a:r>
            <a:endParaRPr lang="zh-CN" sz="1720" b="1" dirty="0">
              <a:solidFill>
                <a:srgbClr val="20393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1.1 背景与规划问题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光伏接入使主变同时承担正向供电与反向输送任务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依据：研究报告1.1—1.2；《配电网规划设计技术导则（修订稿，2025年4月）》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日间：本地消纳与余电反送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晚间：上级电网供电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反向容量校核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正向峰值与主变N-1校核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双向运行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区域与站级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援影响。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kV联络，形成分片区的容量规划建议。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2169033" y="2708243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研究目标和思路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2.1 研究目标与思路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把片区推荐值落实为满足供电任务的工程配置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依据：研究报告1.4—1.5、图1-1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运行资料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荷与既有转供资料。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运行任务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确站级容量需求。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工程费用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折算投运批次费用。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联合比选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储能和联络措施。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⑤ 结果解释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施的替代关系。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⑥ 条件推荐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落实具体工程方案。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由运行特征、费用与设备结果形成五参数推荐范围，服务分片区容量规划。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/>
              <p:nvPr/>
            </p:nvSpPr>
            <p:spPr>
              <a:xfrm>
                <a:off x="2169033" y="36416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 研究对象与数据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邳州与市区分别体现高光伏县域和负荷集中城区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依据：研究报告3.1、表3-12、表5-1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2025年指标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站级分析范围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实际主变容量 / MVA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2139.50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3701.00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年网供最大负荷 / MW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956.45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1528.82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0.32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 txBox="1"/>
            <p:nvPr/>
          </p:nvSpPr>
          <p:spPr>
            <a:xfrm>
              <a:off x="440817" y="5156200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统计与仿真：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现状统计描述实际容量与源荷；逐年方案以2021年实际容量为共同起点，2022—2025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年为历史回算，2026—2035年为预测条件规划。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量的比例；本页两项均为报告估计值。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3.2 历史容量与负荷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两地区容载比变化反映不同的建设与负荷发展过程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依据：研究报告表3-1、表3-2、表3-24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比由2.77降至2.24。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合容量投放与负荷回落共同解释。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3.3 光伏发展与渗透率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光伏规模及供能水平差异形成不同的双向运行任务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依据：研究报告3.3、表3-6、表3-12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较高，日间反送任务更突出。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报告预测情景输入，并与负荷预测共同作用。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3.4 净负荷与近峰特征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正反向峰值及持续过程共同决定容量与支撑需求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依据：研究报告3.4、表3-10；保留补值标识的区域8760小时序列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11 h，反映两地区持续支撑任务的差异。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容载比继续采用年度统计峰值。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3.5 站级容量压力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区域容量储备与少数站点的局部压力可以同时存在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依据：研究报告表3-8、表3-22、表3-23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储备与少数站局部压力可以同时存在。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应把站级净负荷、设备与转供条件共同纳入比选。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3.6 核心指标筛选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十三项指标经组内筛选与高相关归并形成五项参数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依据：研究报告3.5、表3-14—3-20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十三项候选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九项关联指标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留能够反映容载比变化的信息。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五项基础参数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，筛选结果结合计算关系和规划含义解释。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3.7 参数核验与分档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五项参数分别保留不同规划条件的信息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依据：研究报告表3-19、表3-21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参数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矩阵分类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≤1；(1,2]；&gt;2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≤2%；(2%,4%]；(4%,7%]；&gt;7%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≤10%；(10%,30%]；&gt;30%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≤30%；(30%,50%]；(50%,70%]；&gt;70%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≤1.15；&gt;1.15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内最大参数间Pearson绝对值为0.29，结合计算关系核验后用于推广分档。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3.8 主变工程投资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按新购整台容量计费，容量净增另行统计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7408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依据：研究报告4.1—4.2，式（4-1）—（4-3）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6" name="transformer-basis"/>
          <p:cNvGrpSpPr/>
          <p:nvPr/>
        </p:nvGrpSpPr>
        <p:grpSpPr>
          <a:xfrm>
            <a:off x="333375" y="2609850"/>
            <a:ext cx="4048125" cy="356616"/>
            <a:chOff x="333375" y="2609850"/>
            <a:chExt cx="4048125" cy="356616"/>
          </a:xfrm>
        </p:grpSpPr>
        <p:sp>
          <p:nvSpPr>
            <p:cNvPr id="23" name="Rectangle 23"/>
            <p:cNvSpPr/>
            <p:nvPr/>
          </p:nvSpPr>
          <p:spPr>
            <a:xfrm>
              <a:off x="333375" y="2609850"/>
              <a:ext cx="40481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33375" y="26098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347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工程案例与加权系数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ransformer-rate"/>
              <p:cNvSpPr txBox="1">
                <a:spLocks noGrp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1151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1335</m:t>
                          </m:r>
                        </m:num>
                        <m:den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50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</m:t>
                          </m:r>
                        </m:den>
                      </m:f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16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transformer-r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rate-unit"/>
          <p:cNvGrpSpPr/>
          <p:nvPr/>
        </p:nvGrpSpPr>
        <p:grpSpPr>
          <a:xfrm>
            <a:off x="333375" y="3705225"/>
            <a:ext cx="4048125" cy="277336"/>
            <a:chOff x="333375" y="3705225"/>
            <a:chExt cx="4048125" cy="277336"/>
          </a:xfrm>
        </p:grpSpPr>
        <p:sp>
          <p:nvSpPr>
            <p:cNvPr id="28" name="Rectangle 28"/>
            <p:cNvSpPr/>
            <p:nvPr/>
          </p:nvSpPr>
          <p:spPr>
            <a:xfrm>
              <a:off x="333375" y="3705225"/>
              <a:ext cx="4048125" cy="2667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3725862"/>
              <a:ext cx="29294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单位：万元/MVA；按采购容量加权。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transformer-cases"/>
          <p:cNvGraphicFramePr>
            <a:graphicFrameLocks noGrp="1"/>
          </p:cNvGraphicFramePr>
          <p:nvPr/>
        </p:nvGraphicFramePr>
        <p:xfrm>
          <a:off x="333375" y="4048125"/>
          <a:ext cx="4048125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190625"/>
                <a:gridCol w="1047750"/>
                <a:gridCol w="1047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投资/万元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新购/MVA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净增/MVA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王庄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1151.00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鲁庙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1335.00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4" name="purchase-boundary"/>
          <p:cNvGrpSpPr/>
          <p:nvPr/>
        </p:nvGrpSpPr>
        <p:grpSpPr>
          <a:xfrm>
            <a:off x="333375" y="5162550"/>
            <a:ext cx="4048125" cy="581025"/>
            <a:chOff x="333375" y="5162550"/>
            <a:chExt cx="4048125" cy="581025"/>
          </a:xfrm>
        </p:grpSpPr>
        <p:sp>
          <p:nvSpPr>
            <p:cNvPr id="32" name="Rectangle 32"/>
            <p:cNvSpPr/>
            <p:nvPr/>
          </p:nvSpPr>
          <p:spPr>
            <a:xfrm>
              <a:off x="333375" y="5162550"/>
              <a:ext cx="4048125" cy="5810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3192" y="5187950"/>
              <a:ext cx="361416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更换费用按整台新购容量计取，容量净增扣除被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替换容量；参考系数包含配套工程。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transformer-projects"/>
          <p:cNvGrpSpPr/>
          <p:nvPr/>
        </p:nvGrpSpPr>
        <p:grpSpPr>
          <a:xfrm>
            <a:off x="4686300" y="2609850"/>
            <a:ext cx="4124325" cy="356616"/>
            <a:chOff x="4686300" y="2609850"/>
            <a:chExt cx="4124325" cy="356616"/>
          </a:xfrm>
        </p:grpSpPr>
        <p:sp>
          <p:nvSpPr>
            <p:cNvPr id="35" name="Rectangle 35"/>
            <p:cNvSpPr/>
            <p:nvPr/>
          </p:nvSpPr>
          <p:spPr>
            <a:xfrm>
              <a:off x="4686300" y="2609850"/>
              <a:ext cx="41243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6098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16399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更换与扩建分别计价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placement-investment"/>
              <p:cNvSpPr txBox="1">
                <a:spLocks noGrp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new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" name="replacement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net-capacity"/>
              <p:cNvSpPr txBox="1">
                <a:spLocks noGrp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d>
                        <m:dPr>
                          <m:sepChr m:val="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𝑖𝑘𝑦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new</m:t>
                              </m:r>
                            </m:sup>
                          </m:sSubSup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−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old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" name="net-capacit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xtension-investment"/>
              <p:cNvSpPr txBox="1">
                <a:spLocks noGrp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exp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1206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1240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</m:t>
                          </m:r>
                        </m:den>
                      </m:f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1223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xtension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extension-boundary"/>
          <p:cNvGrpSpPr/>
          <p:nvPr/>
        </p:nvGrpSpPr>
        <p:grpSpPr>
          <a:xfrm>
            <a:off x="4686300" y="5124450"/>
            <a:ext cx="4124325" cy="696437"/>
            <a:chOff x="4686300" y="5124450"/>
            <a:chExt cx="4124325" cy="696437"/>
          </a:xfrm>
        </p:grpSpPr>
        <p:sp>
          <p:nvSpPr>
            <p:cNvPr id="42" name="Rectangle 42"/>
            <p:cNvSpPr/>
            <p:nvPr/>
          </p:nvSpPr>
          <p:spPr>
            <a:xfrm>
              <a:off x="4686300" y="5124450"/>
              <a:ext cx="4124325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46308" y="5145088"/>
              <a:ext cx="3715067" cy="675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更换状态取0或1，新旧容量以MVA计。扩建为50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MVA整项，1223.00万元/项，限具备预留位置的站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点。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shared-securit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45" name="Rectangle 45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3382" y="5859462"/>
              <a:ext cx="7774495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共同条件：正常负载率≤80%、主变N-1短时≤130%。刚性保留2.0新增容量控制，弹性放宽该上限；同一主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变位置全期最多更换一次。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3.9 10 kV联络投资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电缆占比决定造价，接入费单独计取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3780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依据：研究报告4.3，式（4-4）、表4-3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line-investment"/>
              <p:cNvSpPr txBox="1">
                <a:spLocks noGrp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24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𝐿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𝛼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lin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line-cost-curve"/>
          <p:cNvGrpSpPr/>
          <p:nvPr/>
        </p:nvGrpSpPr>
        <p:grpSpPr>
          <a:xfrm>
            <a:off x="333375" y="3457575"/>
            <a:ext cx="4953000" cy="2781300"/>
            <a:chOff x="333375" y="3457575"/>
            <a:chExt cx="4953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333375" y="3457575"/>
              <a:ext cx="4953000" cy="27813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266" y="3457575"/>
              <a:ext cx="4551218" cy="2781300"/>
            </a:xfrm>
            <a:prstGeom prst="rect">
              <a:avLst/>
            </a:prstGeom>
          </p:spPr>
        </p:pic>
      </p:grpSp>
      <p:grpSp>
        <p:nvGrpSpPr>
          <p:cNvPr id="29" name="line-definitions"/>
          <p:cNvGrpSpPr/>
          <p:nvPr/>
        </p:nvGrpSpPr>
        <p:grpSpPr>
          <a:xfrm>
            <a:off x="5524500" y="3457575"/>
            <a:ext cx="3286125" cy="904875"/>
            <a:chOff x="5524500" y="3457575"/>
            <a:chExt cx="3286125" cy="904875"/>
          </a:xfrm>
        </p:grpSpPr>
        <p:sp>
          <p:nvSpPr>
            <p:cNvPr id="27" name="Rectangle 27"/>
            <p:cNvSpPr/>
            <p:nvPr/>
          </p:nvSpPr>
          <p:spPr>
            <a:xfrm>
              <a:off x="5524500" y="3457575"/>
              <a:ext cx="3286125" cy="904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317" y="3482975"/>
              <a:ext cx="285121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计价参数：投资单位万元，线路长度L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以km计；电缆长度占比α取0—1。架空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24万元/km，电缆综合180万元/km。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fixed-connection"/>
          <p:cNvGrpSpPr/>
          <p:nvPr/>
        </p:nvGrpSpPr>
        <p:grpSpPr>
          <a:xfrm>
            <a:off x="5524500" y="4448175"/>
            <a:ext cx="3286125" cy="733425"/>
            <a:chOff x="5524500" y="4448175"/>
            <a:chExt cx="3286125" cy="733425"/>
          </a:xfrm>
        </p:grpSpPr>
        <p:sp>
          <p:nvSpPr>
            <p:cNvPr id="30" name="Rectangle 30"/>
            <p:cNvSpPr/>
            <p:nvPr/>
          </p:nvSpPr>
          <p:spPr>
            <a:xfrm>
              <a:off x="5524500" y="4448175"/>
              <a:ext cx="3286125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4317" y="4473575"/>
              <a:ext cx="279120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项目边界：基准长度3 km，另加两台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等效开关6.00万元；固定接入费保持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独立。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regional-line-fee"/>
          <p:cNvGrpSpPr/>
          <p:nvPr/>
        </p:nvGrpSpPr>
        <p:grpSpPr>
          <a:xfrm>
            <a:off x="5524500" y="5267325"/>
            <a:ext cx="3286125" cy="1000125"/>
            <a:chOff x="5524500" y="5267325"/>
            <a:chExt cx="3286125" cy="1000125"/>
          </a:xfrm>
        </p:grpSpPr>
        <p:sp>
          <p:nvSpPr>
            <p:cNvPr id="33" name="Rectangle 33"/>
            <p:cNvSpPr/>
            <p:nvPr/>
          </p:nvSpPr>
          <p:spPr>
            <a:xfrm>
              <a:off x="5524500" y="5267325"/>
              <a:ext cx="328612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84317" y="5292725"/>
              <a:ext cx="2928366" cy="921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地区单价：邳州128.38、市区452.40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万元/项。既有工程不重复计建设费，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新增按投运条数计费；校核源端、共享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通道及受端余量。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3.10 储能采购与有效支撑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新增整数柜决定投资，功率与可用电量共同限制支撑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依据：研究报告4.4，式（4-5）—（4-6）、表4-5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storage-package"/>
          <p:cNvGrpSpPr/>
          <p:nvPr/>
        </p:nvGrpSpPr>
        <p:grpSpPr>
          <a:xfrm>
            <a:off x="333375" y="2571750"/>
            <a:ext cx="8477250" cy="300927"/>
            <a:chOff x="333375" y="2571750"/>
            <a:chExt cx="8477250" cy="300927"/>
          </a:xfrm>
        </p:grpSpPr>
        <p:sp>
          <p:nvSpPr>
            <p:cNvPr id="23" name="Rectangle 23"/>
            <p:cNvSpPr/>
            <p:nvPr/>
          </p:nvSpPr>
          <p:spPr>
            <a:xfrm>
              <a:off x="333375" y="2571750"/>
              <a:ext cx="847725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811" y="2593975"/>
              <a:ext cx="6164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柜型100 kW/215 kWh；10柜成套成交210.46万元，按新增整数柜采购。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storage-investment"/>
              <p:cNvSpPr txBox="1">
                <a:spLocks noGrp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2104562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.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62</m:t>
                          </m:r>
                        </m:num>
                        <m:den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10000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×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</m:t>
                          </m:r>
                        </m:den>
                      </m:f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21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05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storag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storage-effective-power"/>
              <p:cNvSpPr txBox="1">
                <a:spLocks noGrp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𝐵</m:t>
                      </m:r>
                      <m:d>
                        <m:dPr>
                          <m:sepChr m:val=""/>
                          <m:ctrl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𝐻</m:t>
                          </m:r>
                        </m:e>
                      </m:d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ctrl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dPr>
                            <m:e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.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215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×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76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𝐻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&gt;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storage-effective-po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storage-definitions"/>
          <p:cNvGrpSpPr/>
          <p:nvPr/>
        </p:nvGrpSpPr>
        <p:grpSpPr>
          <a:xfrm>
            <a:off x="333375" y="4524375"/>
            <a:ext cx="8477250" cy="438150"/>
            <a:chOff x="333375" y="4524375"/>
            <a:chExt cx="8477250" cy="438150"/>
          </a:xfrm>
        </p:grpSpPr>
        <p:sp>
          <p:nvSpPr>
            <p:cNvPr id="28" name="Rectangle 28"/>
            <p:cNvSpPr/>
            <p:nvPr/>
          </p:nvSpPr>
          <p:spPr>
            <a:xfrm>
              <a:off x="333375" y="452437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4545012"/>
              <a:ext cx="77480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单柜参考21.05万元；n为在役柜数，Δn为当年新增整数柜数，H为支撑时长/h，B为有效功率/MW。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storage-duration-comparison"/>
          <p:cNvGraphicFramePr>
            <a:graphicFrameLocks noGrp="1"/>
          </p:cNvGraphicFramePr>
          <p:nvPr/>
        </p:nvGraphicFramePr>
        <p:xfrm>
          <a:off x="333375" y="5010150"/>
          <a:ext cx="847725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847850"/>
                <a:gridCol w="1847850"/>
                <a:gridCol w="184785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支撑时长 / h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10柜有效功率 / MW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0.82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0.41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0.27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1.00 MW所需柜数 / 柜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5" name="storage-boundar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32" name="Rectangle 32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382" y="5859462"/>
              <a:ext cx="7674673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正向支撑与反向吸收分别采用对应时长；0.76包含SOC可用窗口与单向放电效率，按静态功率折算，实际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运行再核定充电、恢复及连续SOC。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3.11 现金流现值与评价边界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同一截止年下比较完整建设路径费用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980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依据：研究报告4.6，单项工程现值及方案汇总公式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h-flow-present-value"/>
              <p:cNvSpPr txBox="1">
                <a:spLocks noGrp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𝐶</m:t>
                      </m:r>
                      <m:d>
                        <m:dPr>
                          <m:sepChr m:val="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d>
                                <m:dPr>
                                  <m:sepChr m:val=""/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1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2021</m:t>
                              </m:r>
                            </m:sup>
                          </m:sSup>
                        </m:den>
                      </m:f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 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𝑇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d>
                                    <m:dPr>
                                      <m:sepChr m:val="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1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𝑦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𝑘𝐿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𝑡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𝑞𝐼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sepChr m:val=""/>
                                          <m:ctrlP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1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𝑡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2021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2" name="cash-flow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plan-present-value"/>
              <p:cNvSpPr txBox="1">
                <a:spLocks noGrp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  <m:r>
                        <a:rPr lang="zh-CN" sz="17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∈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B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ℰ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L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6" name="plan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blipFill rotWithShape="1">
                <a:blip r:embed="rId2"/>
                <a:stretch>
                  <a:fillRect t="-14058" b="-1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cash-flow-definitions"/>
          <p:cNvGrpSpPr/>
          <p:nvPr/>
        </p:nvGrpSpPr>
        <p:grpSpPr>
          <a:xfrm>
            <a:off x="333375" y="4276725"/>
            <a:ext cx="8477250" cy="490061"/>
            <a:chOff x="333375" y="4276725"/>
            <a:chExt cx="8477250" cy="490061"/>
          </a:xfrm>
        </p:grpSpPr>
        <p:sp>
          <p:nvSpPr>
            <p:cNvPr id="25" name="Rectangle 25"/>
            <p:cNvSpPr/>
            <p:nvPr/>
          </p:nvSpPr>
          <p:spPr>
            <a:xfrm>
              <a:off x="333375" y="427672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382" y="4310062"/>
              <a:ext cx="7691310" cy="456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I为初始投资/万元，y为投运年，L为寿命/年，q为固定运维率；基准为2021年末，r=6.00%，T=2041，C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为费用现值/万元。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8" name="economic-parameters"/>
          <p:cNvGraphicFramePr>
            <a:graphicFrameLocks noGrp="1"/>
          </p:cNvGraphicFramePr>
          <p:nvPr/>
        </p:nvGraphicFramePr>
        <p:xfrm>
          <a:off x="333375" y="4739640"/>
          <a:ext cx="8477250" cy="57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000250"/>
                <a:gridCol w="2000250"/>
                <a:gridCol w="200025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共同参数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寿命 / 固定运维率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4.20%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2.20%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25年 / 3.00%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cash-flow-boundaries"/>
          <p:cNvGrpSpPr/>
          <p:nvPr/>
        </p:nvGrpSpPr>
        <p:grpSpPr>
          <a:xfrm>
            <a:off x="333375" y="5400675"/>
            <a:ext cx="8477250" cy="905986"/>
            <a:chOff x="333375" y="5400675"/>
            <a:chExt cx="8477250" cy="905986"/>
          </a:xfrm>
        </p:grpSpPr>
        <p:sp>
          <p:nvSpPr>
            <p:cNvPr id="29" name="Rectangle 29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3382" y="5421312"/>
              <a:ext cx="7691310" cy="88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投运与更新：初始投资在投运年发生，固定运维从次年计至2041年；更新年严格早于2041年，本期2022—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2035年投运设备的更新支出为零。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费用范围：纳入新增建设及固定运维；既有建设费、期末残值、被替换设备运维变化、储能购电与损耗及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收益抵扣不纳入。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plan-cost-symbol-definitions"/>
          <p:cNvGrpSpPr/>
          <p:nvPr/>
        </p:nvGrpSpPr>
        <p:grpSpPr>
          <a:xfrm>
            <a:off x="333375" y="3714750"/>
            <a:ext cx="8477250" cy="552450"/>
            <a:chOff x="333375" y="3714750"/>
            <a:chExt cx="8477250" cy="552450"/>
          </a:xfrm>
        </p:grpSpPr>
        <p:sp>
          <p:nvSpPr>
            <p:cNvPr id="34" name="Rectangle 20"/>
            <p:cNvSpPr/>
            <p:nvPr/>
          </p:nvSpPr>
          <p:spPr>
            <a:xfrm>
              <a:off x="333375" y="3714750"/>
              <a:ext cx="8477250" cy="552450"/>
            </a:xfrm>
            <a:prstGeom prst="rect">
              <a:avLst/>
            </a:prstGeom>
            <a:noFill/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21"/>
                <p:cNvSpPr txBox="1"/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式中，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为方案费用现值，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为建设改造项目</a:t>
                  </a:r>
                  <a14:m>
                    <m:oMath xmlns:m="http://schemas.openxmlformats.org/officeDocument/2006/math">
                      <m:r>
                        <a:rPr lang="zh-CN" sz="131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𝑒</m:t>
                      </m:r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的费用现值，单位万元；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分别为主变、储能和线路投运项目集合。</a:t>
                  </a:r>
                  <a:endParaRPr lang="zh-CN" sz="131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</mc:Choice>
          <mc:Fallback>
            <p:sp>
              <p:nvSpPr>
                <p:cNvPr id="35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/>
              <p:nvPr/>
            </p:nvSpPr>
            <p:spPr>
              <a:xfrm>
                <a:off x="2169033" y="45751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16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4.1 邳州逐年方案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邳州弹性方案增加站内容量并减少部分配套需求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依据：研究报告表5-4、表5-5、表5-9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容量路径：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弹性方案在局部需求出现时增加站内容量，2035年达到2901.00 MVA、容载比2.06；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刚性分别为2678.00 MVA、1.90。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71080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措施替代：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期末弹性储能545.67 MWh、累计新增联络21条，均低于刚性。储能及联络支出下降抵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消较多主变投入，全期费用减少848.32万元。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4.2 市区逐年方案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市区费用优势由建设时序和联络替代逐步形成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依据：研究报告表5-6、表5-7、表5-9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aphicFrame>
        <p:nvGraphicFramePr>
          <p:cNvPr id="26" name="city-path-comparison"/>
          <p:cNvGraphicFramePr>
            <a:graphicFrameLocks noGrp="1"/>
          </p:cNvGraphicFramePr>
          <p:nvPr/>
        </p:nvGraphicFramePr>
        <p:xfrm>
          <a:off x="333375" y="5143500"/>
          <a:ext cx="84772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/>
                <a:gridCol w="1238251"/>
                <a:gridCol w="1238250"/>
                <a:gridCol w="3762374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比较项目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刚性方案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弹性方案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工程含义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2030累计费用 / 万元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14819.77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16806.54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弹性前期站内补强投入较多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2035储能 / MWh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92.88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109.65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期末储能配置高于刚性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2035新增联络累计 / 条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66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联络建设减少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全期费用现值 / 万元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39636.85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37586.50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联络费用下降，合计减少2050.35万元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4.3 评价期费用分解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新增主变支出由其他措施费用下降部分抵消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依据：研究报告表5-9、表5-11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8612" y="2544483"/>
              <a:ext cx="8466777" cy="2235758"/>
            </a:xfrm>
            <a:prstGeom prst="rect">
              <a:avLst/>
            </a:prstGeom>
          </p:spPr>
        </p:pic>
      </p:grpSp>
      <p:graphicFrame>
        <p:nvGraphicFramePr>
          <p:cNvPr id="27" name="regional-cost-comparison"/>
          <p:cNvGraphicFramePr>
            <a:graphicFrameLocks noGrp="1"/>
          </p:cNvGraphicFramePr>
          <p:nvPr/>
        </p:nvGraphicFramePr>
        <p:xfrm>
          <a:off x="333375" y="4895850"/>
          <a:ext cx="8477250" cy="135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6"/>
                <a:gridCol w="1381125"/>
                <a:gridCol w="1381125"/>
                <a:gridCol w="1285875"/>
                <a:gridCol w="3524249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地区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减少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主要费用变化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42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58369.68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57521.36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848.32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储能及联络支出下降，抵消较多主变投入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42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39636.85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37586.50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2050.35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主要由联络费用下降形成优势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合计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98006.53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95107.86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2898.67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总费用降幅2.96%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4.4 2035年设备组合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两类片区通过不同措施组合满足局部供电任务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31367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邳州组合：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弹性主变容量较大，期末储能由刚性568.25 MWh减至545.67 MWh，累计新增联络由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58条减至21条，站内容量与配套支撑共同调整。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6075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市区组合：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弹性主变仅较刚性多21.50 MVA，储能增加而联络减少。区域容量接近时，各站缺口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和建设时点仍会形成不同的支撑配置与费用。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4.5 代表站设备分析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主变台数组合改变N-1剩余能力及局部支撑需求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依据：研究报告表5-13、表5-15、表5-31及对应逐站分析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2035年站点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刚性主变 / MVA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弹性主变 / MVA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差异对应的任务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戴圩变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弹性扩建第三台，减少本地配储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兴塘变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31.5+40+50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31.5+50+50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故障后剩余容量71.50→81.50 MVA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八义集变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容量相同，储能功率3.10→0.30 MW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tation-mechanism-comparison"/>
          <p:cNvGraphicFramePr>
            <a:graphicFrameLocks noGrp="1"/>
          </p:cNvGraphicFramePr>
          <p:nvPr/>
        </p:nvGraphicFramePr>
        <p:xfrm>
          <a:off x="333375" y="4943475"/>
          <a:ext cx="8477250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6"/>
                <a:gridCol w="3190875"/>
                <a:gridCol w="4286249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比较维度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代表站与结果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工程含义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设备结构</a:t>
                      </a:r>
                      <a:endParaRPr lang="zh-CN" sz="139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兴塘变：N-1剩余容量71.50→81.50 MVA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扩建第三台与更换已有主变，对故障后剩余能力的改善不同。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局部支撑</a:t>
                      </a:r>
                      <a:endParaRPr lang="zh-CN" sz="139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八义集变：主变容量相同，储能功率3.10→0.30 MW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年度转接任务与配储需求存在差异，需结合源荷、受端及设备状态判断。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4.6 联络与共享资源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转供支援由源端、路径及接收侧能力共同决定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依据：研究报告3.6、5.5、表5-59—5-61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正常方式与主变N-1分别安排年度固定转供方案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源端站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可切换源荷区段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共享馈线与联络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既有MW额度及通道热限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受端站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馈线余量与主变容量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多条联络共用馈线与区段预算</a:t>
              </a:r>
              <a:endParaRPr lang="zh-CN" sz="150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供；正常与N-1分别采用年度固定方案。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有效转供7.49 MW，新增项目按投运年计费。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4.7 五参数推荐范围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按片区条件定位推荐带，再核定具体设备方案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依据：研究报告5.6、表3-21、表5-63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电缆占比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确定三类造价分区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负荷分散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按1.15划分两档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源荷条件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0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行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初始转供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定位推荐区间列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推荐容载比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示例条件：电缆长度占比≤10%，负荷分散系数≤1.15，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年最大净负荷平均增长率&gt;7%，装机渗透率(1,2]。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六表288单元；基准宽0.10、定位网格0.02，接近容量水平按中点共用界值。</a:t>
              </a:r>
              <a:endParaRPr lang="zh-CN" sz="1500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窗口用于容量初选，再按站级缺口、主变结构与可实施措施落实设备方案。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4.8 参数响应与设备切换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网络支援改善体现为分档推荐带和设备组合变化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依据：研究报告表5-69—5-75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供率10%—90%的九个细节点。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反向任务、负荷规模、线路造价和局部高峰，触发不同措施替代。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/>
              <p:nvPr/>
            </p:nvSpPr>
            <p:spPr>
              <a:xfrm>
                <a:off x="2169033" y="5508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25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项目成效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5.1 研究成果与规划应用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形成从运行特征到片区工程建议的完整研究链条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依据：研究报告第六章、5.7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运行特征与参数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完成46站正反向任务分析，经两层筛选形成五项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参数，把电源、负荷、网络和局部峰值条件与容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量规划联系起来。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工程费用与联合配置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建立主变更换、扩建、储能柜和联络项目的统一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费用关系，在正常与N-1条件下逐年承接设备，解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释措施替代。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地区方案与推荐矩阵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142" y="4530725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两地区弹性方案费用现值合计减少2898.67万元、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降幅2.96%。六表288单元提供有条件的容量初选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一片一策落地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先核定同范围源荷与网络参数，再查表并落实设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备、间隔和投运时点；结合真实馈线与储能运行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资料滚动更新。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23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应用条件：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工程实施继续核定连续SOC、电压与保护条件，并补充运行费用和资产价值。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2091.50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49.10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2120.00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2057.00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56.00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2078.50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59.10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2320.00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2097.00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63.60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2338.50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2125.50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71.60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2388.50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2187.00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2475.50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2302.50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126.60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2562.50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2352.50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177.80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2741.00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147.40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2589.50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2891.00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192.20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2678.00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264.30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2901.00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253.80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3190.50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3253.00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3313.00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3413.00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3160.50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3447.00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3240.50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3473.00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3426.00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3558.50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3453.00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3558.50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3587.00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3608.50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备查：方法与经济参数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采样设计、有效样本和共同经济条件分别登记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依据：研究报告表3-14、表3-15、表4-1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候选指标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取点/计算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有效组数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有效节点数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站级负载率最大值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最大正向净负荷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11988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88781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最大反向净负荷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95%峰值持续时间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41118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10608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31473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4680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32058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主变/线路投资比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主变/储能投资比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7584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储能支撑持续时间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10704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寿命：主变/线路/储能40/40/25年；维护费率4.2%/2.2%/3%；折现率6%。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评价基准2021年、截止2041年；采样实际取值节点保留于报告表3-14。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2.33～2.43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2.34～2.43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2.25～2.34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1.65～1.73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依据：研究报告表5-68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2.63～2.69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2.48～2.52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2.28～2.37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12192</Words>
  <Application>WPS 演示</Application>
  <PresentationFormat>全屏显示(4:3)</PresentationFormat>
  <Paragraphs>2608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黑体</vt:lpstr>
      <vt:lpstr>Calibri</vt:lpstr>
      <vt:lpstr>微软雅黑</vt:lpstr>
      <vt:lpstr>方正书宋_GBK</vt:lpstr>
      <vt:lpstr>汉仪大宋简</vt:lpstr>
      <vt:lpstr>Microsoft YaHei</vt:lpstr>
      <vt:lpstr>Franklin Gothic Book</vt:lpstr>
      <vt:lpstr>宋体</vt:lpstr>
      <vt:lpstr>Arial Unicode MS</vt:lpstr>
      <vt:lpstr>方正黑体_GBK</vt:lpstr>
      <vt:lpstr>等线</vt:lpstr>
      <vt:lpstr>Gubbi</vt:lpstr>
      <vt:lpstr>Times New Roman</vt:lpstr>
      <vt:lpstr>DejaVu Math TeX Gyre</vt:lpstr>
      <vt:lpstr>FreeSans</vt:lpstr>
      <vt:lpstr>黑体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许恒</cp:lastModifiedBy>
  <cp:revision>2735</cp:revision>
  <cp:lastPrinted>2026-10-22T06:42:52Z</cp:lastPrinted>
  <dcterms:created xsi:type="dcterms:W3CDTF">2026-10-22T06:42:52Z</dcterms:created>
  <dcterms:modified xsi:type="dcterms:W3CDTF">2026-10-22T06:42:52Z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7D948C038C9C676E6CB0D96A6D834D86_42</vt:lpwstr>
  </property>
</Properties>
</file>