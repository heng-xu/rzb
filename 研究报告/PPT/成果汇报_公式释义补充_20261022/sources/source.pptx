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Slides/notesSlide1_tf1_tf1_tf1_tf1.xml" ContentType="application/vnd.openxmlformats-officedocument.presentationml.notesSlide+xml"/>
  <Override PartName="/ppt/notesSlides/notesSlide2_tf1_tf1_tf1_tf1.xml" ContentType="application/vnd.openxmlformats-officedocument.presentationml.notesSlide+xml"/>
  <Override PartName="/ppt/notesSlides/notesSlide3_tf1_tf1_tf1.xml" ContentType="application/vnd.openxmlformats-officedocument.presentationml.notesSlide+xml"/>
  <Override PartName="/ppt/notesSlides/notesSlide2_tf1_tf1_tf1_tf2.xml" ContentType="application/vnd.openxmlformats-officedocument.presentationml.notesSlide+xml"/>
  <Override PartName="/ppt/notesSlides/notesSlide4_tf1_tf1_tf1.xml" ContentType="application/vnd.openxmlformats-officedocument.presentationml.notesSlide+xml"/>
  <Override PartName="/ppt/notesSlides/notesSlide2_tf1_tf1_tf1_tf3.xml" ContentType="application/vnd.openxmlformats-officedocument.presentationml.notesSlide+xml"/>
  <Override PartName="/ppt/notesSlides/notesSlide5_tf1_tf1_tf1.xml" ContentType="application/vnd.openxmlformats-officedocument.presentationml.notesSlide+xml"/>
  <Override PartName="/ppt/notesSlides/notesSlide6_tf1_tf1_tf1.xml" ContentType="application/vnd.openxmlformats-officedocument.presentationml.notesSlide+xml"/>
  <Override PartName="/ppt/notesSlides/notesSlide7_tf1_tf1_tf1.xml" ContentType="application/vnd.openxmlformats-officedocument.presentationml.notesSlide+xml"/>
  <Override PartName="/ppt/notesSlides/notesSlide8_tf1_tf1_tf1.xml" ContentType="application/vnd.openxmlformats-officedocument.presentationml.notesSlide+xml"/>
  <Override PartName="/ppt/notesSlides/notesSlide9_tf1_tf1_tf1.xml" ContentType="application/vnd.openxmlformats-officedocument.presentationml.notesSlide+xml"/>
  <Override PartName="/ppt/notesSlides/notesSlide10_tf1_tf1_tf1.xml" ContentType="application/vnd.openxmlformats-officedocument.presentationml.notesSlide+xml"/>
  <Override PartName="/ppt/notesSlides/notesSlide11_tf1_tf1_tf1.xml" ContentType="application/vnd.openxmlformats-officedocument.presentationml.notesSlide+xml"/>
  <Override PartName="/ppt/notesSlides/notesSlide12_tf1_tf1_tf1.xml" ContentType="application/vnd.openxmlformats-officedocument.presentationml.notesSlide+xml"/>
  <Override PartName="/ppt/notesSlides/notesSlide13_tf1_tf1_tf1.xml" ContentType="application/vnd.openxmlformats-officedocument.presentationml.notesSlide+xml"/>
  <Override PartName="/ppt/notesSlides/notesSlide14_tf1_tf1_tf1.xml" ContentType="application/vnd.openxmlformats-officedocument.presentationml.notesSlide+xml"/>
  <Override PartName="/ppt/notesSlides/notesSlide15_tf1_tf1_tf1.xml" ContentType="application/vnd.openxmlformats-officedocument.presentationml.notesSlide+xml"/>
  <Override PartName="/ppt/notesSlides/notesSlide2_tf1_tf1_tf1_tf4.xml" ContentType="application/vnd.openxmlformats-officedocument.presentationml.notesSlide+xml"/>
  <Override PartName="/ppt/notesSlides/notesSlide16_tf1_tf1_tf1.xml" ContentType="application/vnd.openxmlformats-officedocument.presentationml.notesSlide+xml"/>
  <Override PartName="/ppt/notesSlides/notesSlide17_tf1_tf1_tf1.xml" ContentType="application/vnd.openxmlformats-officedocument.presentationml.notesSlide+xml"/>
  <Override PartName="/ppt/notesSlides/notesSlide18_tf1_tf1_tf1.xml" ContentType="application/vnd.openxmlformats-officedocument.presentationml.notesSlide+xml"/>
  <Override PartName="/ppt/notesSlides/notesSlide19_tf1_tf1_tf1.xml" ContentType="application/vnd.openxmlformats-officedocument.presentationml.notesSlide+xml"/>
  <Override PartName="/ppt/notesSlides/notesSlide20_tf1_tf1_tf1.xml" ContentType="application/vnd.openxmlformats-officedocument.presentationml.notesSlide+xml"/>
  <Override PartName="/ppt/notesSlides/notesSlide21_tf1_tf1_tf1.xml" ContentType="application/vnd.openxmlformats-officedocument.presentationml.notesSlide+xml"/>
  <Override PartName="/ppt/notesSlides/notesSlide22_tf1_tf1_tf1.xml" ContentType="application/vnd.openxmlformats-officedocument.presentationml.notesSlide+xml"/>
  <Override PartName="/ppt/notesSlides/notesSlide23_tf1_tf1_tf1.xml" ContentType="application/vnd.openxmlformats-officedocument.presentationml.notesSlide+xml"/>
  <Override PartName="/ppt/notesSlides/notesSlide2_tf1_tf1_tf1_tf5.xml" ContentType="application/vnd.openxmlformats-officedocument.presentationml.notesSlide+xml"/>
  <Override PartName="/ppt/notesSlides/notesSlide24_tf1_tf1_tf1.xml" ContentType="application/vnd.openxmlformats-officedocument.presentationml.notesSlide+xml"/>
  <Override PartName="/ppt/notesSlides/notesSlide25_tf1_tf1_tf1.xml" ContentType="application/vnd.openxmlformats-officedocument.presentationml.notesSlide+xml"/>
  <Override PartName="/ppt/notesSlides/notesSlide26_tf1_tf1_tf1.xml" ContentType="application/vnd.openxmlformats-officedocument.presentationml.notesSlide+xml"/>
  <Override PartName="/ppt/notesSlides/notesSlide27_tf1_tf1_tf1.xml" ContentType="application/vnd.openxmlformats-officedocument.presentationml.notesSlide+xml"/>
  <Override PartName="/ppt/notesSlides/notesSlide28_tf1_tf1_tf1.xml" ContentType="application/vnd.openxmlformats-officedocument.presentationml.notesSlide+xml"/>
  <Override PartName="/ppt/notesSlides/notesSlide29_tf1_tf1_tf1.xml" ContentType="application/vnd.openxmlformats-officedocument.presentationml.notesSlide+xml"/>
  <Override PartName="/ppt/notesSlides/notesSlide30_tf1_tf1_tf1.xml" ContentType="application/vnd.openxmlformats-officedocument.presentationml.notesSlide+xml"/>
  <Override PartName="/ppt/notesSlides/notesSlide31_tf1_tf1_tf1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2_tf1_tf1_tf1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3_tf1_tf1_tf1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4_tf1_tf1_tf1.xml" ContentType="application/vnd.openxmlformats-officedocument.presentationml.notesSlide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289" r:id="rId54"/>
    <p:sldId id="290" r:id="rId55"/>
    <p:sldId id="291" r:id="rId56"/>
    <p:sldId id="292" r:id="rId57"/>
    <p:sldId id="293" r:id="rId58"/>
  </p:sldIdLst>
  <p:sldSz cx="9144000" cy="6858000" type="screen4x3"/>
  <p:notesSz cx="6797675" cy="9928225"/>
  <p:embeddedFontLst>
    <p:embeddedFont>
      <p:font typeface="黑体" panose="02010609060101010101" pitchFamily="49" charset="-12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微软雅黑" panose="020B0503020204020204" pitchFamily="34" charset="-122"/>
      <p:regular r:id="rId18"/>
    </p:embeddedFont>
    <p:embeddedFont>
      <p:font typeface="华文细黑" panose="02010600040101010101" pitchFamily="2" charset="-122"/>
      <p:regular r:id="rId19"/>
    </p:embeddedFont>
    <p:embeddedFont>
      <p:font typeface="等线" panose="02010600030101010101" charset="-122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家波" initials="王家波" lastIdx="1" clrIdx="0"/>
  <p:cmAuthor id="1" name="Xianing Jin" initials="X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F2F2F2"/>
    <a:srgbClr val="009595"/>
    <a:srgbClr val="FFFFFF"/>
    <a:srgbClr val="009191"/>
    <a:srgbClr val="009393"/>
    <a:srgbClr val="009797"/>
    <a:srgbClr val="009999"/>
    <a:srgbClr val="038D80"/>
    <a:srgbClr val="017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9217" autoAdjust="0"/>
  </p:normalViewPr>
  <p:slideViewPr>
    <p:cSldViewPr snapToGrid="0">
      <p:cViewPr varScale="1">
        <p:scale>
          <a:sx n="95" d="100"/>
          <a:sy n="95" d="100"/>
        </p:scale>
        <p:origin x="932" y="80"/>
      </p:cViewPr>
      <p:guideLst>
        <p:guide orient="horz" pos="550"/>
        <p:guide orient="horz" pos="832"/>
        <p:guide orient="horz" pos="2442"/>
        <p:guide pos="5647"/>
        <p:guide pos="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presProps" Target="presProps.xml" /><Relationship Id="rId8" Type="http://schemas.openxmlformats.org/officeDocument/2006/relationships/handoutMaster" Target="handoutMasters/handoutMaster1.xml" /><Relationship Id="rId4" Type="http://schemas.openxmlformats.org/officeDocument/2006/relationships/notesMaster" Target="notesMasters/notesMaster1.xml" /><Relationship Id="rId20" Type="http://schemas.openxmlformats.org/officeDocument/2006/relationships/font" Target="fonts/font8.fntdata" /><Relationship Id="rId2" Type="http://schemas.openxmlformats.org/officeDocument/2006/relationships/theme" Target="theme/theme1.xml" /><Relationship Id="rId19" Type="http://schemas.openxmlformats.org/officeDocument/2006/relationships/font" Target="fonts/font7.fntdata" /><Relationship Id="rId18" Type="http://schemas.openxmlformats.org/officeDocument/2006/relationships/font" Target="fonts/font6.fntdata" /><Relationship Id="rId17" Type="http://schemas.openxmlformats.org/officeDocument/2006/relationships/font" Target="fonts/font5.fntdata" /><Relationship Id="rId16" Type="http://schemas.openxmlformats.org/officeDocument/2006/relationships/font" Target="fonts/font4.fntdata" /><Relationship Id="rId15" Type="http://schemas.openxmlformats.org/officeDocument/2006/relationships/font" Target="fonts/font3.fntdata" /><Relationship Id="rId14" Type="http://schemas.openxmlformats.org/officeDocument/2006/relationships/font" Target="fonts/font2.fntdata" /><Relationship Id="rId13" Type="http://schemas.openxmlformats.org/officeDocument/2006/relationships/font" Target="fonts/font1.fntdata" /><Relationship Id="rId12" Type="http://schemas.openxmlformats.org/officeDocument/2006/relationships/commentAuthors" Target="commentAuthors.xml" /><Relationship Id="rId11" Type="http://schemas.openxmlformats.org/officeDocument/2006/relationships/tableStyles" Target="tableStyles.xml" /><Relationship Id="rId1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1" Type="http://schemas.openxmlformats.org/officeDocument/2006/relationships/slide" Target="slides/slide1.xml" /><Relationship Id="rId22" Type="http://schemas.openxmlformats.org/officeDocument/2006/relationships/slide" Target="slides/slide2.xml" /><Relationship Id="rId23" Type="http://schemas.openxmlformats.org/officeDocument/2006/relationships/slide" Target="slides/slide3.xml" /><Relationship Id="rId24" Type="http://schemas.openxmlformats.org/officeDocument/2006/relationships/slide" Target="slides/slide4.xml" /><Relationship Id="rId25" Type="http://schemas.openxmlformats.org/officeDocument/2006/relationships/slide" Target="slides/slide5.xml" /><Relationship Id="rId26" Type="http://schemas.openxmlformats.org/officeDocument/2006/relationships/slide" Target="slides/slide6.xml" /><Relationship Id="rId27" Type="http://schemas.openxmlformats.org/officeDocument/2006/relationships/slide" Target="slides/slide7.xml" /><Relationship Id="rId28" Type="http://schemas.openxmlformats.org/officeDocument/2006/relationships/slide" Target="slides/slide8.xml" /><Relationship Id="rId29" Type="http://schemas.openxmlformats.org/officeDocument/2006/relationships/slide" Target="slides/slide9.xml" /><Relationship Id="rId30" Type="http://schemas.openxmlformats.org/officeDocument/2006/relationships/slide" Target="slides/slide10.xml" /><Relationship Id="rId31" Type="http://schemas.openxmlformats.org/officeDocument/2006/relationships/slide" Target="slides/slide11.xml" /><Relationship Id="rId32" Type="http://schemas.openxmlformats.org/officeDocument/2006/relationships/slide" Target="slides/slide12.xml" /><Relationship Id="rId33" Type="http://schemas.openxmlformats.org/officeDocument/2006/relationships/slide" Target="slides/slide13.xml" /><Relationship Id="rId34" Type="http://schemas.openxmlformats.org/officeDocument/2006/relationships/slide" Target="slides/slide14.xml" /><Relationship Id="rId35" Type="http://schemas.openxmlformats.org/officeDocument/2006/relationships/slide" Target="slides/slide15.xml" /><Relationship Id="rId36" Type="http://schemas.openxmlformats.org/officeDocument/2006/relationships/slide" Target="slides/slide16.xml" /><Relationship Id="rId37" Type="http://schemas.openxmlformats.org/officeDocument/2006/relationships/slide" Target="slides/slide17.xml" /><Relationship Id="rId38" Type="http://schemas.openxmlformats.org/officeDocument/2006/relationships/slide" Target="slides/slide18.xml" /><Relationship Id="rId39" Type="http://schemas.openxmlformats.org/officeDocument/2006/relationships/slide" Target="slides/slide19.xml" /><Relationship Id="rId40" Type="http://schemas.openxmlformats.org/officeDocument/2006/relationships/slide" Target="slides/slide20.xml" /><Relationship Id="rId41" Type="http://schemas.openxmlformats.org/officeDocument/2006/relationships/slide" Target="slides/slide21.xml" /><Relationship Id="rId42" Type="http://schemas.openxmlformats.org/officeDocument/2006/relationships/slide" Target="slides/slide22.xml" /><Relationship Id="rId43" Type="http://schemas.openxmlformats.org/officeDocument/2006/relationships/slide" Target="slides/slide23.xml" /><Relationship Id="rId44" Type="http://schemas.openxmlformats.org/officeDocument/2006/relationships/slide" Target="slides/slide24.xml" /><Relationship Id="rId45" Type="http://schemas.openxmlformats.org/officeDocument/2006/relationships/slide" Target="slides/slide25.xml" /><Relationship Id="rId46" Type="http://schemas.openxmlformats.org/officeDocument/2006/relationships/slide" Target="slides/slide26.xml" /><Relationship Id="rId47" Type="http://schemas.openxmlformats.org/officeDocument/2006/relationships/slide" Target="slides/slide27.xml" /><Relationship Id="rId48" Type="http://schemas.openxmlformats.org/officeDocument/2006/relationships/slide" Target="slides/slide28.xml" /><Relationship Id="rId49" Type="http://schemas.openxmlformats.org/officeDocument/2006/relationships/slide" Target="slides/slide29.xml" /><Relationship Id="rId50" Type="http://schemas.openxmlformats.org/officeDocument/2006/relationships/slide" Target="slides/slide30.xml" /><Relationship Id="rId51" Type="http://schemas.openxmlformats.org/officeDocument/2006/relationships/slide" Target="slides/slide31.xml" /><Relationship Id="rId52" Type="http://schemas.openxmlformats.org/officeDocument/2006/relationships/slide" Target="slides/slide32.xml" /><Relationship Id="rId53" Type="http://schemas.openxmlformats.org/officeDocument/2006/relationships/slide" Target="slides/slide33.xml" /><Relationship Id="rId54" Type="http://schemas.openxmlformats.org/officeDocument/2006/relationships/slide" Target="slides/slide34.xml" /><Relationship Id="rId55" Type="http://schemas.openxmlformats.org/officeDocument/2006/relationships/slide" Target="slides/slide35.xml" /><Relationship Id="rId56" Type="http://schemas.openxmlformats.org/officeDocument/2006/relationships/slide" Target="slides/slide36.xml" /><Relationship Id="rId57" Type="http://schemas.openxmlformats.org/officeDocument/2006/relationships/slide" Target="slides/slide37.xml" /><Relationship Id="rId58" Type="http://schemas.openxmlformats.org/officeDocument/2006/relationships/slide" Target="slides/slide38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2B93EAEC-2161-4609-AE92-2EDD2607CF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2FDF2F26-35DF-4761-A9C8-96DA3B3B93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D4C542F9-1364-44B9-8533-A926207E4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1" tIns="47780" rIns="95561" bIns="4778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5561" tIns="47780" rIns="95561" bIns="4778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5A583F09-9D4B-4288-9E4A-F5D4C0754C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_tf1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.xml" />
</Relationships>
</file>

<file path=ppt/notesSlides/_rels/notesSlide2_tf1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.xml" />
</Relationships>
</file>

<file path=ppt/notesSlides/_rels/notesSlide2_tf1_tf1_tf1_tf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2_tf1_tf1_tf1_tf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2_tf1_tf1_tf1_tf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2_tf1_tf1_tf1_tf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3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.xml" />
</Relationships>
</file>

<file path=ppt/notesSlides/_rels/notesSlide4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5.xml" />
</Relationships>
</file>

<file path=ppt/notesSlides/_rels/notesSlide5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7.xml" />
</Relationships>
</file>

<file path=ppt/notesSlides/_rels/notesSlide6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8.xml" />
</Relationships>
</file>

<file path=ppt/notesSlides/_rels/notesSlide7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9.xml" />
</Relationships>
</file>

<file path=ppt/notesSlides/_rels/notesSlide8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0.xml" />
</Relationships>
</file>

<file path=ppt/notesSlides/_rels/notesSlide9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1.xml" />
</Relationships>
</file>

<file path=ppt/notesSlides/_rels/notesSlide10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2.xml" />
</Relationships>
</file>

<file path=ppt/notesSlides/_rels/notesSlide11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3.xml" />
</Relationships>
</file>

<file path=ppt/notesSlides/_rels/notesSlide12_tf1_tf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3_tf1_tf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4_tf1_tf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5_tf1_tf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6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9.xml" />
</Relationships>
</file>

<file path=ppt/notesSlides/_rels/notesSlide17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0.xml" />
</Relationships>
</file>

<file path=ppt/notesSlides/_rels/notesSlide18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1.xml" />
</Relationships>
</file>

<file path=ppt/notesSlides/_rels/notesSlide19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2.xml" />
</Relationships>
</file>

<file path=ppt/notesSlides/_rels/notesSlide20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3.xml" />
</Relationships>
</file>

<file path=ppt/notesSlides/_rels/notesSlide21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4.xml" />
</Relationships>
</file>

<file path=ppt/notesSlides/_rels/notesSlide22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5.xml" />
</Relationships>
</file>

<file path=ppt/notesSlides/_rels/notesSlide23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6.xml" />
</Relationships>
</file>

<file path=ppt/notesSlides/_rels/notesSlide24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8.xml" />
</Relationships>
</file>

<file path=ppt/notesSlides/_rels/notesSlide25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9.xml" />
</Relationships>
</file>

<file path=ppt/notesSlides/_rels/notesSlide26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0.xml" />
</Relationships>
</file>

<file path=ppt/notesSlides/_rels/notesSlide27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1.xml" />
</Relationships>
</file>

<file path=ppt/notesSlides/_rels/notesSlide28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2.xml" />
</Relationships>
</file>

<file path=ppt/notesSlides/_rels/notesSlide29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3.xml" />
</Relationships>
</file>

<file path=ppt/notesSlides/_rels/notesSlide30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4.xml" />
</Relationships>
</file>

<file path=ppt/notesSlides/_rels/notesSlide31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5.xml" />
</Relationships>
</file>

<file path=ppt/notesSlides/_rels/notesSlide32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6.xml" />
</Relationships>
</file>

<file path=ppt/notesSlides/_rels/notesSlide33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7.xml" />
</Relationships>
</file>

<file path=ppt/notesSlides/_rels/notesSlide34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8.xml" />
</Relationships>
</file>

<file path=ppt/notesSlides/notesSlide1_tf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本次汇报围绕分布式新能源高渗透率下110 kV电网容载比与双向容量需求的协调问题，介绍运行特征、工程成本、联合配置结果及规划应用建议。</a:t>
            </a:r>
          </a:p>
        </p:txBody>
      </p:sp>
    </p:spTree>
  </p:cSld>
  <p:clrMapOvr>
    <a:masterClrMapping/>
  </p:clrMapOvr>
</p:notes>
</file>

<file path=ppt/notesSlides/notesSlide2_tf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汇报分为五部分。首先说明规划问题和研究思路，然后介绍运行分析与成本模型，重点报告两地区逐年方案及五参数推荐范围，最后说明成果和应用条件。</a:t>
            </a:r>
          </a:p>
        </p:txBody>
      </p:sp>
    </p:spTree>
  </p:cSld>
  <p:clrMapOvr>
    <a:masterClrMapping/>
  </p:clrMapOvr>
</p:notes>
</file>

<file path=ppt/notesSlides/notesSlide2_tf1_tf1_tf1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下面进入研究目标和思路部分。</a:t>
            </a:r>
          </a:p>
        </p:txBody>
      </p:sp>
    </p:spTree>
  </p:cSld>
  <p:clrMapOvr>
    <a:masterClrMapping/>
  </p:clrMapOvr>
</p:notes>
</file>

<file path=ppt/notesSlides/notesSlide2_tf1_tf1_tf1_tf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下面进入研究内容部分。</a:t>
            </a:r>
          </a:p>
        </p:txBody>
      </p:sp>
    </p:spTree>
  </p:cSld>
  <p:clrMapOvr>
    <a:masterClrMapping/>
  </p:clrMapOvr>
</p:notes>
</file>

<file path=ppt/notesSlides/notesSlide2_tf1_tf1_tf1_tf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下面进入实证分析部分。</a:t>
            </a:r>
          </a:p>
        </p:txBody>
      </p:sp>
    </p:spTree>
  </p:cSld>
  <p:clrMapOvr>
    <a:masterClrMapping/>
  </p:clrMapOvr>
</p:notes>
</file>

<file path=ppt/notesSlides/notesSlide2_tf1_tf1_tf1_tf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下面进入项目成效部分。</a:t>
            </a:r>
          </a:p>
        </p:txBody>
      </p:sp>
    </p:spTree>
  </p:cSld>
  <p:clrMapOvr>
    <a:masterClrMapping/>
  </p:clrMapOvr>
</p:notes>
</file>

<file path=ppt/notesSlides/notesSlide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光伏出力较高时，本地负荷由分布式电源供给，剩余功率可能通过主变向上级电网反送。晚间光伏退出后，主变仍承担正向供电。研究据此把区域容载比与逐站正反向容量、主变N-1和站间支援联系起来。</a:t>
            </a:r>
          </a:p>
        </p:txBody>
      </p:sp>
    </p:spTree>
  </p:cSld>
  <p:clrMapOvr>
    <a:masterClrMapping/>
  </p:clrMapOvr>
</p:notes>
</file>

<file path=ppt/notesSlides/notesSlide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研究先从年度统计和站级资料识别运行任务，再用真实工程造价建立统一费用模型。在相同供电条件下联合选择主变、联络和储能，通过逐年设备与费用结果解释弹性容量的作用，并归纳五参数推荐范围。</a:t>
            </a:r>
          </a:p>
        </p:txBody>
      </p:sp>
    </p:spTree>
  </p:cSld>
  <p:clrMapOvr>
    <a:masterClrMapping/>
  </p:clrMapOvr>
</p:notes>
</file>

<file path=ppt/notesSlides/notesSlide5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两地区保留各自源荷与设备特征，站级分析覆盖邳州20座和市区26座110 kV变电站。历史统计用于描述现状，逐年方案以2021年实际容量为共同起点。时序样本按报告方法补齐为8760小时，装机和电量渗透率中相应估计范围保留。</a:t>
            </a:r>
          </a:p>
        </p:txBody>
      </p:sp>
    </p:spTree>
  </p:cSld>
  <p:clrMapOvr>
    <a:masterClrMapping/>
  </p:clrMapOvr>
</p:notes>
</file>

<file path=ppt/notesSlides/notesSlide6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2021—2025年邳州主变容量增加112.50 MVA，年网供最大负荷增加224.68 MW，容载比由2.77降至2.24。市区同期容量增加587.50 MVA，负荷增加79.05 MW，容载比由2.15升至2.42。比值需同时联系容量和负荷，而年度回落年份还应保留已投运设备的作用。</a:t>
            </a:r>
          </a:p>
        </p:txBody>
      </p:sp>
    </p:spTree>
  </p:cSld>
  <p:clrMapOvr>
    <a:masterClrMapping/>
  </p:clrMapOvr>
</p:notes>
</file>

<file path=ppt/notesSlides/notesSlide7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邳州2025年末光伏装机为1559.64 MW，市区为491.18 MW。两地区的装机和电量渗透率表明，邳州更需关注日间反送。未来光伏按报告的全市相对发展比例形成情景，并与负荷预测分别输入。</a:t>
            </a:r>
          </a:p>
        </p:txBody>
      </p:sp>
    </p:spTree>
  </p:cSld>
  <p:clrMapOvr>
    <a:masterClrMapping/>
  </p:clrMapOvr>
</p:notes>
</file>

<file path=ppt/notesSlides/notesSlide8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净负荷受入为正、反送为负，图中保留补齐后的全年序列。近峰阈值为区域净负荷绝对峰值的95%，邳州最长连续2小时、市区6小时。该统计描述运行过程，年度容载比仍使用年度统计峰值。</a:t>
            </a:r>
          </a:p>
        </p:txBody>
      </p:sp>
    </p:spTree>
  </p:cSld>
  <p:clrMapOvr>
    <a:masterClrMapping/>
  </p:clrMapOvr>
</p:notes>
</file>

<file path=ppt/notesSlides/notesSlide9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46座站的正反向极值展示了容量任务在空间上的差异。邳州有4座站反向幅值较大，市区有1座，其他站以正向任务为主。站级负载率是按容量和功率因数折算的计算指标，与逐台设备实测年最大负载率分别使用。</a:t>
            </a:r>
          </a:p>
        </p:txBody>
      </p:sp>
    </p:spTree>
  </p:cSld>
  <p:clrMapOvr>
    <a:masterClrMapping/>
  </p:clrMapOvr>
</p:notes>
</file>

<file path=ppt/notesSlides/notesSlide10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先在固定其他条件的受控组内，计算候选指标与容载比的Pearson相关，保留零容量响应组。十三项中九项达到绝对值0.40，再以参数间绝对值0.70归并信息重叠较多的组，优先采用具有明确规划含义的基础输入，形成五项推广参数。</a:t>
            </a:r>
          </a:p>
        </p:txBody>
      </p:sp>
    </p:spTree>
  </p:cSld>
  <p:clrMapOvr>
    <a:masterClrMapping/>
  </p:clrMapOvr>
</p:notes>
</file>

<file path=ppt/notesSlides/notesSlide1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项参数为装机渗透率、年最大净负荷平均增长率、电缆长度占比、初始转供率和负荷分散系数。有效情景库中最大参数间相关绝对值为0.29，五项保留电源规模、负荷发展、线路经济条件、既有支援和局部峰值分布的信息。</a:t>
            </a:r>
          </a:p>
        </p:txBody>
      </p:sp>
    </p:spTree>
  </p:cSld>
  <p:clrMapOvr>
    <a:masterClrMapping/>
  </p:clrMapOvr>
</p:notes>
</file>

<file path=ppt/notesSlides/notesSlide1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主变更换按整台新购容量计价，净增容量扣除原有被替换设备。王庄与鲁庙工程形成16.57万元每MVA的采购容量加权参考系数。扩建按50 MVA完整项目1223万元计取，限具备预留位置的站点。刚性与弹性方案采用相同供电安全要求，只对新增容量控制作区别。</a:t>
            </a:r>
          </a:p>
        </p:txBody>
      </p:sp>
    </p:spTree>
  </p:cSld>
  <p:clrMapOvr>
    <a:masterClrMapping/>
  </p:clrMapOvr>
</p:notes>
</file>

<file path=ppt/notesSlides/notesSlide1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联络投资由线路敷设与固定接入两部分构成。电缆长度占比通过成本系数进入线路造价，3 km基准工程另计6万元等效开关接入费。邳州和市区单项投资分别为128.38万元和452.40万元，按实际新增投运条数计算。支援还需满足送端可转负荷、共享通道与受端容量条件。</a:t>
            </a:r>
          </a:p>
        </p:txBody>
      </p:sp>
    </p:spTree>
  </p:cSld>
  <p:clrMapOvr>
    <a:masterClrMapping/>
  </p:clrMapOvr>
</p:notes>
</file>

<file path=ppt/notesSlides/notesSlide1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储能采购按100 kW、215 kWh整柜计费，成套项目折算参考单柜21.05万元。有效功率取额定功率和可用电量除以时长的较小值，0.76综合反映SOC可用窗口与单向放电效率。承担1 MW连续支撑任务，2、4、6小时分别需要13、25、37柜。正反向分别采用相应时长，运行应用继续核定充电、恢复和连续SOC。</a:t>
            </a:r>
          </a:p>
        </p:txBody>
      </p:sp>
    </p:spTree>
  </p:cSld>
  <p:clrMapOvr>
    <a:masterClrMapping/>
  </p:clrMapOvr>
</p:notes>
</file>

<file path=ppt/notesSlides/notesSlide15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投运批次的初始投资、更新和固定运维统一折算至2021年末，再按主变、储能和线路项目集合汇总。固定运维从投运次年计至2041年，更新要求投运年加整倍寿命严格早于2041年。本期2022至2035年投运设备均未触发更新，因此现值比较覆盖新增建设和固定运维。期末残值、替换存量设备运维变化、储能购电和损耗、收益抵扣等尚未纳入，费用降幅按这一共同范围解释。</a:t>
            </a:r>
          </a:p>
        </p:txBody>
      </p:sp>
    </p:spTree>
  </p:cSld>
  <p:clrMapOvr>
    <a:masterClrMapping/>
  </p:clrMapOvr>
</p:notes>
</file>

<file path=ppt/notesSlides/notesSlide16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邳州弹性方案在若干建设节点形成更多站内容量，后期储能和联络需求相应改变。2035年弹性主变2901.00 MVA、容载比2.06，刚性分别为2678.00 MVA、1.90。全期弹性费用57521.36万元，比刚性减少848.32万元。</a:t>
            </a:r>
          </a:p>
        </p:txBody>
      </p:sp>
    </p:spTree>
  </p:cSld>
  <p:clrMapOvr>
    <a:masterClrMapping/>
  </p:clrMapOvr>
</p:notes>
</file>

<file path=ppt/notesSlides/notesSlide17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市区2022年两方案相同，2030年弹性累计费用仍高于刚性，后续建设共同形成全期费用优势。2035年弹性主变3608.50 MVA、容载比1.62，储能额定能量109.65 MWh高于刚性92.88 MWh，累计新增联络则从66条降至35条。全期费用减少2050.35万元。</a:t>
            </a:r>
          </a:p>
        </p:txBody>
      </p:sp>
    </p:spTree>
  </p:cSld>
  <p:clrMapOvr>
    <a:masterClrMapping/>
  </p:clrMapOvr>
</p:notes>
</file>

<file path=ppt/notesSlides/notesSlide18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地区弹性方案的主变费用均增加，但储能及联络费用变化不同。邳州储能和联络费用下降共同抵消新增主变支出；市区主要由联络费用下降形成优势，储能费用略增。两地区合计费用现值减少2898.67万元，降幅2.96%。</a:t>
            </a:r>
          </a:p>
        </p:txBody>
      </p:sp>
    </p:spTree>
  </p:cSld>
  <p:clrMapOvr>
    <a:masterClrMapping/>
  </p:clrMapOvr>
</p:notes>
</file>

<file path=ppt/notesSlides/notesSlide19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2035年邳州弹性储能545.67 MWh、累计新增联络21条，刚性分别为568.25 MWh、58条。市区弹性储能109.65 MWh高于刚性，但累计新增联络35条低于刚性66条。容量、储能和联络必须作为同一配置组合比较。</a:t>
            </a:r>
          </a:p>
        </p:txBody>
      </p:sp>
    </p:spTree>
  </p:cSld>
  <p:clrMapOvr>
    <a:masterClrMapping/>
  </p:clrMapOvr>
</p:notes>
</file>

<file path=ppt/notesSlides/notesSlide20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戴圩变弹性方案扩建第三台50 MVA主变，2035年总容量由刚性113.00 MVA提高到163.00 MVA，配储需求改变。兴塘变通过不同主变组合提高N-1剩余容量；八义集变则在总容量相同条件下，储能和年度固定转接任务不同。逐站解释均对应本站实际配置。</a:t>
            </a:r>
          </a:p>
        </p:txBody>
      </p:sp>
    </p:spTree>
  </p:cSld>
  <p:clrMapOvr>
    <a:masterClrMapping/>
  </p:clrMapOvr>
</p:notes>
</file>

<file path=ppt/notesSlides/notesSlide2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联络将具体源荷区段切换至有余量的受端，负荷和区段内光伏共同切换。既有转供能力以逐站MW封顶，正常与事故追加共同占用路径和共享馈线预算。10 kV、485 A和功率因数0.95按三相有功关系折算为7.98 MW，工程取8.00 MW，示例区段有效转供7.49 MW。新增工程按实际项目计费，支撑作用通过源端可切负荷、通道和受端主变校核。</a:t>
            </a:r>
          </a:p>
        </p:txBody>
      </p:sp>
    </p:spTree>
  </p:cSld>
  <p:clrMapOvr>
    <a:masterClrMapping/>
  </p:clrMapOvr>
</p:notes>
</file>

<file path=ppt/notesSlides/notesSlide2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矩阵先按三档电缆占比和两档负荷分散系数选表，再以增长率和装机渗透率选行、初始转供率选列。示例四档推荐窗口为1.96至2.03、1.89至1.96、1.63至1.69、1.57至1.63。各格由最接近中位数的真实节点定位基准宽0.10窗口，同距取较大值，定位网格为0.02，相近容量水平按中点共用界值并局部缩窄。查表后按实际主变、扩建位置和网络条件形成设备方案。</a:t>
            </a:r>
          </a:p>
        </p:txBody>
      </p:sp>
    </p:spTree>
  </p:cSld>
  <p:clrMapOvr>
    <a:masterClrMapping/>
  </p:clrMapOvr>
</p:notes>
</file>

<file path=ppt/notesSlides/notesSlide2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组典型转供场景在设备重新选配条件下保留10%至90%的九个细节点，容量随转供改善总体降低，同时存在真实平台和局部回升。装机渗透率提高影响反向任务，增长率同时改变负荷分母与建设需求，电缆造价和局部峰值分散则在部分节点触发措施替代。推荐范围与具体设备响应共同使用。</a:t>
            </a:r>
          </a:p>
        </p:txBody>
      </p:sp>
    </p:spTree>
  </p:cSld>
  <p:clrMapOvr>
    <a:masterClrMapping/>
  </p:clrMapOvr>
</p:notes>
</file>

<file path=ppt/notesSlides/notesSlide2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形成运行特征、工程费用、地区逐年方案和五参数推荐矩阵四类成果。两地区所设条件下弹性费用现值合计降低2.96%，具体建设路径随片区源荷和网络条件变化。工程采用时还需核定连续储能运行、实际网络及相关费用条件，滚动更新设备与推荐范围。</a:t>
            </a:r>
          </a:p>
        </p:txBody>
      </p:sp>
    </p:spTree>
  </p:cSld>
  <p:clrMapOvr>
    <a:masterClrMapping/>
  </p:clrMapOvr>
</p:notes>
</file>

<file path=ppt/notesSlides/notesSlide25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汇报完毕，敬请各位专家批评指正。</a:t>
            </a:r>
          </a:p>
        </p:txBody>
      </p:sp>
    </p:spTree>
  </p:cSld>
  <p:clrMapOvr>
    <a:masterClrMapping/>
  </p:clrMapOvr>
</p:notes>
</file>

<file path=ppt/notesSlides/notesSlide26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</a:p>
        </p:txBody>
      </p:sp>
    </p:spTree>
  </p:cSld>
  <p:clrMapOvr>
    <a:masterClrMapping/>
  </p:clrMapOvr>
</p:notes>
</file>

<file path=ppt/notesSlides/notesSlide27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</a:p>
        </p:txBody>
      </p:sp>
    </p:spTree>
  </p:cSld>
  <p:clrMapOvr>
    <a:masterClrMapping/>
  </p:clrMapOvr>
</p:notes>
</file>

<file path=ppt/notesSlides/notesSlide28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候选参数的取点与有效统计样本分别列示，参数间相关阈值仅用于本研究维度归纳。所有地区方案采用相同寿命、维护费率、折现率与共同评价期。</a:t>
            </a:r>
          </a:p>
        </p:txBody>
      </p:sp>
    </p:spTree>
  </p:cSld>
  <p:clrMapOvr>
    <a:masterClrMapping/>
  </p:clrMapOvr>
</p:notes>
</file>

<file path=ppt/notesSlides/notesSlide29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0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27225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4B57AF-16D0-4473-BA39-9DBA4F1BA4A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35FA06F-73F4-43B1-9180-37F105F7069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623CCD2-957F-4D25-A49B-38B14FE747D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77036B-235D-4D28-BF62-4F9DE70CF38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B2C882-851A-4969-87EE-84A661D0EF3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906D2-9CD4-493A-B3A1-F7BBACC104B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C2D0605-C913-4AF0-80A1-168CF4A527BA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F3A8A7-C69F-4728-B77E-4B58DDD99ABF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D04195-C942-43EA-83A2-B8062C38B78C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4BC10B9-8B20-433E-9FDA-BB052076CA73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F8AE16A-DC68-474B-BB08-BDCA7A29B7A1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754259-B361-4FED-9CBC-19B280397A5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1"/>
          <p:cNvSpPr>
            <a:spLocks noGrp="1"/>
          </p:cNvSpPr>
          <p:nvPr>
            <p:ph type="title"/>
          </p:nvPr>
        </p:nvSpPr>
        <p:spPr bwMode="auto">
          <a:xfrm>
            <a:off x="468314" y="3"/>
            <a:ext cx="8203443" cy="105273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0" tIns="0" rIns="0" bIns="72000" numCol="1" anchor="b" anchorCtr="0" compatLnSpc="1"/>
          <a:lstStyle>
            <a:lvl1pPr algn="l">
              <a:defRPr sz="1800">
                <a:latin typeface="+mn-ea"/>
                <a:ea typeface="+mn-ea"/>
              </a:defRPr>
            </a:lvl1pPr>
          </a:lstStyle>
          <a:p>
            <a:endParaRPr lang="en-US" noProof="0" dirty="0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0" y="1052736"/>
            <a:ext cx="914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33293"/>
            <a:ext cx="1379913" cy="51538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2337" y="143949"/>
            <a:ext cx="5765426" cy="115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3303F3-3285-4B02-863F-EAD8120BEBD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cxnSp>
        <p:nvCxnSpPr>
          <p:cNvPr id="9" name="直接连接符 6"/>
          <p:cNvCxnSpPr/>
          <p:nvPr userDrawn="1"/>
        </p:nvCxnSpPr>
        <p:spPr>
          <a:xfrm>
            <a:off x="0" y="1335917"/>
            <a:ext cx="9144000" cy="0"/>
          </a:xfrm>
          <a:prstGeom prst="line">
            <a:avLst/>
          </a:prstGeom>
          <a:ln w="19050">
            <a:solidFill>
              <a:srgbClr val="1C979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图片 4" descr="nbwz_banner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54293" y="121323"/>
            <a:ext cx="3034955" cy="11491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image" Target="../media/image5.png" /><Relationship Id="rId1" Type="http://schemas.openxmlformats.org/officeDocument/2006/relationships/image" Target="../media/image4.jpeg" />  <Relationship Id="rId4" Type="http://schemas.openxmlformats.org/officeDocument/2006/relationships/notesSlide" Target="../notesSlides/notesSlide1_tf1_tf1_tf1_tf1.xml" />
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  <Relationship Id="rId2" Type="http://schemas.openxmlformats.org/officeDocument/2006/relationships/notesSlide" Target="../notesSlides/notesSlide2_tf1_tf1_tf1_tf1.xml" />
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a6d703104f17ea2a.png" />  <Relationship Id="rId3" Type="http://schemas.openxmlformats.org/officeDocument/2006/relationships/notesSlide" Target="../notesSlides/notesSlide3_tf1_tf1_tf1.xml" />
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    <Relationship Id="rId2" Type="http://schemas.openxmlformats.org/officeDocument/2006/relationships/notesSlide" Target="../notesSlides/notesSlide2_tf1_tf1_tf1_tf2.xml"/>
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4_tf1_tf1_tf1.xml" />
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    <Relationship Id="rId2" Type="http://schemas.openxmlformats.org/officeDocument/2006/relationships/notesSlide" Target="../notesSlides/notesSlide2_tf1_tf1_tf1_tf3.xml"/>
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5_tf1_tf1_tf1.xml" />
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6_tf1_tf1_tf1.xml" />
<Relationship Id="rId4" Type="http://schemas.openxmlformats.org/officeDocument/2006/relationships/image" Target="../media/image_ea664b76921f4795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7_tf1_tf1_tf1.xml" />
<Relationship Id="rId4" Type="http://schemas.openxmlformats.org/officeDocument/2006/relationships/image" Target="../media/image_6f1f3130ee9ed91c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8_tf1_tf1_tf1.xml" />
<Relationship Id="rId4" Type="http://schemas.openxmlformats.org/officeDocument/2006/relationships/image" Target="../media/image_588eadc4eeeab195.pn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9_tf1_tf1_tf1.xml" />
<Relationship Id="rId4" Type="http://schemas.openxmlformats.org/officeDocument/2006/relationships/image" Target="../media/image_f1e6229dd6598447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2bf8fb2b8862fba8.png" />  <Relationship Id="rId3" Type="http://schemas.openxmlformats.org/officeDocument/2006/relationships/notesSlide" Target="../notesSlides/notesSlide10_tf1_tf1_tf1.xml" />
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63e5f99ec502ec3d.png" />  <Relationship Id="rId3" Type="http://schemas.openxmlformats.org/officeDocument/2006/relationships/notesSlide" Target="../notesSlides/notesSlide11_tf1_tf1_tf1.xml" />
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12_tf1_tf1_tf1.xml" />
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3" Type="http://schemas.openxmlformats.org/officeDocument/2006/relationships/image" Target="../media/image_3c620f68386a67fa.png" />  <Relationship Id="rId4" Type="http://schemas.openxmlformats.org/officeDocument/2006/relationships/notesSlide" Target="../notesSlides/notesSlide13_tf1_tf1_tf1.xml"/>
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14_tf1_tf1_tf1.xml" />
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  <Relationship Id="rId2" Type="http://schemas.openxmlformats.org/officeDocument/2006/relationships/notesSlide" Target="../notesSlides/notesSlide15_tf1_tf1_tf1.xml"/>
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    <Relationship Id="rId2" Type="http://schemas.openxmlformats.org/officeDocument/2006/relationships/notesSlide" Target="../notesSlides/notesSlide2_tf1_tf1_tf1_tf4.xml"/>
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16_tf1_tf1_tf1.xml" />
<Relationship Id="rId4" Type="http://schemas.openxmlformats.org/officeDocument/2006/relationships/image" Target="../media/image_ff89f419e8c9174d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17_tf1_tf1_tf1.xml" />
<Relationship Id="rId4" Type="http://schemas.openxmlformats.org/officeDocument/2006/relationships/image" Target="../media/image_62b515396907a348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18_tf1_tf1_tf1.xml" />
<Relationship Id="rId4" Type="http://schemas.openxmlformats.org/officeDocument/2006/relationships/image" Target="../media/image_6fc08cc98c2c012a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19_tf1_tf1_tf1.xml" />
<Relationship Id="rId4" Type="http://schemas.openxmlformats.org/officeDocument/2006/relationships/image" Target="../media/image_62688b4550adbdbf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0_tf1_tf1_tf1.xml" />
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1_tf1_tf1_tf1.xml" />
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2_tf1_tf1_tf1.xml" />
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23_tf1_tf1_tf1.xml" />
<Relationship Id="rId4" Type="http://schemas.openxmlformats.org/officeDocument/2006/relationships/image" Target="../media/image_67f54dba2725b3e4.pn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    <Relationship Id="rId2" Type="http://schemas.openxmlformats.org/officeDocument/2006/relationships/notesSlide" Target="../notesSlides/notesSlide2_tf1_tf1_tf1_tf5.xml"/>
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4_tf1_tf1_tf1.xml" />
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5_tf1_tf1_tf1.xml" />
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6_tf1_tf1_tf1.xml" />
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7_tf1_tf1_tf1.xml" />
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8_tf1_tf1_tf1.xml" />
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9_tf1_tf1_tf1.xml" />
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0_tf1_tf1_tf1.xml" />
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1_tf1_tf1_tf1.xml" />
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2_tf1_tf1_tf1.xml" />
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3_tf1_tf1_tf1.xml" />
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4_tf1_tf1_tf1.xml" />
</Relationships>
</file>

<file path=ppt/slides/slide1.xml><?xml version="1.0" encoding="utf-8"?>
<p:sld xmlns:a="http://schemas.openxmlformats.org/drawingml/2006/main" xmlns:a1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</p:sp>
      <p:pic>
        <p:nvPicPr>
          <p:cNvPr id="3" name="Picture 16" descr="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val="0"/>
              </a:ext>
            </a:extLst>
          </a:blip>
          <a:srcRect r="766"/>
          <a:stretch>
            <a:fillRect/>
          </a:stretch>
        </p:blipFill>
        <p:spPr bwMode="auto">
          <a:xfrm>
            <a:off x="0" y="0"/>
            <a:ext cx="91440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8"/>
          <p:cNvSpPr>
            <a:spLocks noChangeArrowheads="1"/>
          </p:cNvSpPr>
          <p:nvPr/>
        </p:nvSpPr>
        <p:spPr bwMode="auto">
          <a:xfrm>
            <a:off x="0" y="3357563"/>
            <a:ext cx="4284663" cy="344487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汉仪大宋简"/>
              <a:cs typeface="汉仪大宋简"/>
            </a:endParaRPr>
          </a:p>
        </p:txBody>
      </p:sp>
      <p:sp>
        <p:nvSpPr>
          <p:cNvPr id="8" name="标题 4"/>
          <p:cNvSpPr/>
          <p:nvPr/>
        </p:nvSpPr>
        <p:spPr>
          <a:xfrm>
            <a:off x="0" y="3757136"/>
            <a:ext cx="8964454" cy="1728216"/>
          </a:xfrm>
          <a:prstGeom prst="rect">
            <a:avLst/>
          </a:prstGeom>
          <a:noFill/>
          <a:ln>
            <a:noFill/>
          </a:ln>
        </p:spPr>
        <p:txBody>
          <a:bodyPr wrap="none" lIns="179546" tIns="249555" rIns="0" bIns="0" anchor="t" anchorCtr="0">
            <a:noAutofit/>
          </a:bodyPr>
          <a:lstStyle/>
          <a:p>
            <a:pPr algn="ctr">
              <a:lnSpc>
                <a:spcPts val="3600"/>
              </a:lnSpc>
            </a:pPr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徐州地区分布式新能源高渗透率地区</a:t>
            </a:r>
            <a:br/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110 kV电网容载比弹性指标优化研究</a:t>
            </a:r>
            <a:br/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成果汇报</a:t>
            </a:r>
          </a:p>
        </p:txBody>
      </p:sp>
      <p:sp>
        <p:nvSpPr>
          <p:cNvPr id="9" name="标题 4"/>
          <p:cNvSpPr/>
          <p:nvPr/>
        </p:nvSpPr>
        <p:spPr>
          <a:xfrm>
            <a:off x="2087690" y="5570411"/>
            <a:ext cx="4968526" cy="922401"/>
          </a:xfrm>
          <a:prstGeom prst="rect">
            <a:avLst/>
          </a:prstGeom>
          <a:noFill/>
          <a:ln>
            <a:noFill/>
          </a:ln>
        </p:spPr>
        <p:txBody>
          <a:bodyPr wrap="none" lIns="95" tIns="44101" rIns="0" bIns="0" anchor="t" anchorCtr="0">
            <a:noAutofit/>
          </a:bodyPr>
          <a:lstStyle/>
          <a:p>
            <a:pPr algn="ctr">
              <a:lnSpc>
                <a:spcPts val="2400"/>
              </a:lnSpc>
            </a:pPr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国网江苏电力设计咨询有限公司</a:t>
            </a:r>
            <a:br/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徐州勘测设计分公司</a:t>
            </a:r>
            <a:br/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  <p:pic>
        <p:nvPicPr>
          <p:cNvPr id="10" name="Picture 10" descr="F:\省公司logo\省公司logo\国网江苏省电力有限公司logo.png"/>
          <p:cNvPicPr>
            <a:picLocks noChangeAspect="1"/>
          </p:cNvPicPr>
          <p:nvPr/>
        </p:nvPicPr>
        <p:blipFill>
          <a:blip r:embed="rId2" cstate="print">
            <a:lum bright="100000"/>
          </a:blip>
          <a:stretch>
            <a:fillRect/>
          </a:stretch>
        </p:blipFill>
        <p:spPr>
          <a:xfrm>
            <a:off x="183357" y="1372699"/>
            <a:ext cx="5361536" cy="161988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一</a:t>
              </a: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169033" y="17748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研究背景</a:t>
                </a: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二</a:t>
              </a: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研究目标和思路</a:t>
                </a: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三</a:t>
              </a: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研究内容</a:t>
                </a: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四</a:t>
              </a: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实证分析</a:t>
                </a: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五</a:t>
              </a: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项目成效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1.1 背景与规划问题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光伏接入使主变同时承担正向供电与反向输送任务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47065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依据：研究报告1.1—1.2；《配电网规划设计技术导则（修订稿，2025年4月）》</a:t>
              </a:r>
            </a:p>
          </p:txBody>
        </p:sp>
      </p:grpSp>
      <p:grpSp>
        <p:nvGrpSpPr>
          <p:cNvPr id="42" name="v2-concept-plate"/>
          <p:cNvGrpSpPr/>
          <p:nvPr/>
        </p:nvGrpSpPr>
        <p:grpSpPr>
          <a:xfrm>
            <a:off x="333375" y="2895600"/>
            <a:ext cx="5619750" cy="2343150"/>
            <a:chOff x="333375" y="2895600"/>
            <a:chExt cx="5619750" cy="2343150"/>
          </a:xfrm>
        </p:grpSpPr>
        <p:sp>
          <p:nvSpPr>
            <p:cNvPr id="43" name="Rectangle 12"/>
            <p:cNvSpPr/>
            <p:nvPr/>
          </p:nvSpPr>
          <p:spPr>
            <a:xfrm>
              <a:off x="333375" y="2895600"/>
              <a:ext cx="5619750" cy="23431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44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3375" y="2896635"/>
              <a:ext cx="5619750" cy="2341080"/>
            </a:xfrm>
            <a:prstGeom prst="rect">
              <a:avLst/>
            </a:prstGeom>
          </p:spPr>
        </p:pic>
      </p:grpSp>
      <p:grpSp>
        <p:nvGrpSpPr>
          <p:cNvPr id="28" name="v2-concept-labels"/>
          <p:cNvGrpSpPr/>
          <p:nvPr/>
        </p:nvGrpSpPr>
        <p:grpSpPr>
          <a:xfrm>
            <a:off x="333375" y="2571750"/>
            <a:ext cx="5619750" cy="2823083"/>
            <a:chOff x="333375" y="2571750"/>
            <a:chExt cx="5619750" cy="2823083"/>
          </a:xfrm>
        </p:grpSpPr>
        <p:sp>
          <p:nvSpPr>
            <p:cNvPr id="45" name="Rectangle 19"/>
            <p:cNvSpPr/>
            <p:nvPr/>
          </p:nvSpPr>
          <p:spPr>
            <a:xfrm>
              <a:off x="333375" y="2571750"/>
              <a:ext cx="5619750" cy="2800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6270" y="26066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日间：本地消纳与余电反送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8275" y="26066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76382"/>
                  </a:solidFill>
                  <a:latin typeface="Microsoft YaHei"/>
                  <a:ea typeface="Microsoft YaHei"/>
                  <a:cs typeface="Microsoft YaHei"/>
                </a:rPr>
                <a:t>晚间：上级电网供电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733550" y="3514725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688020" y="3514725"/>
              <a:ext cx="91059" cy="94297"/>
            </a:xfrm>
            <a:custGeom>
              <a:avLst/>
              <a:gdLst/>
              <a:ahLst/>
              <a:cxnLst/>
              <a:rect l="l" t="t" r="r" b="b"/>
              <a:pathLst>
                <a:path w="91059" h="94297">
                  <a:moveTo>
                    <a:pt x="45530" y="0"/>
                  </a:moveTo>
                  <a:lnTo>
                    <a:pt x="91059" y="94297"/>
                  </a:lnTo>
                  <a:lnTo>
                    <a:pt x="0" y="94297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552950" y="3514725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4507420" y="4077652"/>
              <a:ext cx="91059" cy="94297"/>
            </a:xfrm>
            <a:custGeom>
              <a:avLst/>
              <a:gdLst/>
              <a:ahLst/>
              <a:cxnLst/>
              <a:rect l="l" t="t" r="r" b="b"/>
              <a:pathLst>
                <a:path w="91059" h="94297">
                  <a:moveTo>
                    <a:pt x="45529" y="94297"/>
                  </a:moveTo>
                  <a:lnTo>
                    <a:pt x="0" y="0"/>
                  </a:lnTo>
                  <a:lnTo>
                    <a:pt x="91059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81481" y="51308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反向容量校核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61935" y="5130800"/>
              <a:ext cx="19820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76382"/>
                  </a:solidFill>
                  <a:latin typeface="Microsoft YaHei"/>
                  <a:ea typeface="Microsoft YaHei"/>
                  <a:cs typeface="Microsoft YaHei"/>
                </a:rPr>
                <a:t>正向峰值与主变N-1校核</a:t>
              </a:r>
            </a:p>
          </p:txBody>
        </p:sp>
      </p:grpSp>
      <p:grpSp>
        <p:nvGrpSpPr>
          <p:cNvPr id="33" name="v2-background-day"/>
          <p:cNvGrpSpPr/>
          <p:nvPr/>
        </p:nvGrpSpPr>
        <p:grpSpPr>
          <a:xfrm>
            <a:off x="6096000" y="2638425"/>
            <a:ext cx="2714625" cy="1285875"/>
            <a:chOff x="6096000" y="2638425"/>
            <a:chExt cx="2714625" cy="1285875"/>
          </a:xfrm>
        </p:grpSpPr>
        <p:sp>
          <p:nvSpPr>
            <p:cNvPr id="29" name="Rectangle 29"/>
            <p:cNvSpPr/>
            <p:nvPr/>
          </p:nvSpPr>
          <p:spPr>
            <a:xfrm>
              <a:off x="6096000" y="2638425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6096000" y="2657475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35624" y="26860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双向运行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6958" y="2949575"/>
              <a:ext cx="2342515" cy="913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日间光伏优先供应本地负荷，剩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余电力经主变反送；晚间光伏退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出，主变继续承担正向供电任务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38" name="v2-background-plan"/>
          <p:cNvGrpSpPr/>
          <p:nvPr/>
        </p:nvGrpSpPr>
        <p:grpSpPr>
          <a:xfrm>
            <a:off x="6096000" y="4000500"/>
            <a:ext cx="2714625" cy="1285875"/>
            <a:chOff x="6096000" y="4000500"/>
            <a:chExt cx="2714625" cy="1285875"/>
          </a:xfrm>
        </p:grpSpPr>
        <p:sp>
          <p:nvSpPr>
            <p:cNvPr id="34" name="Rectangle 34"/>
            <p:cNvSpPr/>
            <p:nvPr/>
          </p:nvSpPr>
          <p:spPr>
            <a:xfrm>
              <a:off x="6096000" y="4000500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6096000" y="401955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35624" y="4048125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区域与站级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36958" y="4311650"/>
              <a:ext cx="2342515" cy="913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区域容载比由主变容量和年网供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最大负荷共同决定，站级需求还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受主变台数、局部峰值和邻站支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援影响。</a:t>
              </a:r>
            </a:p>
          </p:txBody>
        </p:sp>
      </p:grpSp>
      <p:grpSp>
        <p:nvGrpSpPr>
          <p:cNvPr id="41" name="v2-background-task"/>
          <p:cNvGrpSpPr/>
          <p:nvPr/>
        </p:nvGrpSpPr>
        <p:grpSpPr>
          <a:xfrm>
            <a:off x="333375" y="5353050"/>
            <a:ext cx="8477250" cy="885825"/>
            <a:chOff x="333375" y="5353050"/>
            <a:chExt cx="8477250" cy="885825"/>
          </a:xfrm>
        </p:grpSpPr>
        <p:sp>
          <p:nvSpPr>
            <p:cNvPr id="39" name="Rectangle 39"/>
            <p:cNvSpPr/>
            <p:nvPr/>
          </p:nvSpPr>
          <p:spPr>
            <a:xfrm>
              <a:off x="333375" y="5353050"/>
              <a:ext cx="8477250" cy="8858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40436" y="5365750"/>
              <a:ext cx="7516622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研究任务：</a:t>
              </a: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结合邳州与市区源荷特征，在正常运行和主变N-1条件下联合比选主变、储能与10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kV联络，形成分片区的容量规划建议。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一</a:t>
              </a: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研究背景</a:t>
                </a: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二</a:t>
              </a: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/>
              <p:nvPr/>
            </p:nvSpPr>
            <p:spPr>
              <a:xfrm>
                <a:off x="2169033" y="2708243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研究目标和思路</a:t>
                </a: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三</a:t>
              </a: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研究内容</a:t>
                </a: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四</a:t>
              </a: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实证分析</a:t>
                </a: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五</a:t>
              </a: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项目成效</a:t>
                </a: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32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33"/>
            <p:cNvSpPr txBox="1"/>
            <p:nvPr/>
          </p:nvSpPr>
          <p:spPr>
            <a:xfrm>
              <a:off x="8957615" y="65385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研究目标和思路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2.1 研究目标与思路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把片区推荐值落实为满足供电任务的工程配置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228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依据：研究报告1.4—1.5、图1-1</a:t>
              </a:r>
            </a:p>
          </p:txBody>
        </p:sp>
      </p:grpSp>
      <p:grpSp>
        <p:nvGrpSpPr>
          <p:cNvPr id="20" name="v2-method-4-0"/>
          <p:cNvGrpSpPr/>
          <p:nvPr/>
        </p:nvGrpSpPr>
        <p:grpSpPr>
          <a:xfrm>
            <a:off x="333375" y="2609850"/>
            <a:ext cx="2673350" cy="1457325"/>
            <a:chOff x="333375" y="2609850"/>
            <a:chExt cx="2673350" cy="1457325"/>
          </a:xfrm>
        </p:grpSpPr>
        <p:sp>
          <p:nvSpPr>
            <p:cNvPr id="50" name="Rectangle 12"/>
            <p:cNvSpPr/>
            <p:nvPr/>
          </p:nvSpPr>
          <p:spPr>
            <a:xfrm>
              <a:off x="33337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Line 16"/>
            <p:cNvSpPr/>
            <p:nvPr/>
          </p:nvSpPr>
          <p:spPr>
            <a:xfrm>
              <a:off x="33337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52" name="TextBox 18"/>
            <p:cNvSpPr txBox="1"/>
            <p:nvPr/>
          </p:nvSpPr>
          <p:spPr>
            <a:xfrm>
              <a:off x="37299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① 运行资料</a:t>
              </a:r>
            </a:p>
          </p:txBody>
        </p:sp>
        <p:sp>
          <p:nvSpPr>
            <p:cNvPr id="53" name="TextBox 19"/>
            <p:cNvSpPr txBox="1"/>
            <p:nvPr/>
          </p:nvSpPr>
          <p:spPr>
            <a:xfrm>
              <a:off x="37414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整理年度容量、同范围负荷和光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伏，匹配46座站的设备、净负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荷与既有转供资料。</a:t>
              </a:r>
            </a:p>
          </p:txBody>
        </p:sp>
      </p:grpSp>
      <p:grpSp>
        <p:nvGrpSpPr>
          <p:cNvPr id="25" name="v2-method-4-1"/>
          <p:cNvGrpSpPr/>
          <p:nvPr/>
        </p:nvGrpSpPr>
        <p:grpSpPr>
          <a:xfrm>
            <a:off x="3235325" y="2609850"/>
            <a:ext cx="2673350" cy="1457325"/>
            <a:chOff x="3235325" y="2609850"/>
            <a:chExt cx="2673350" cy="1457325"/>
          </a:xfrm>
        </p:grpSpPr>
        <p:sp>
          <p:nvSpPr>
            <p:cNvPr id="21" name="Rectangle 21"/>
            <p:cNvSpPr/>
            <p:nvPr/>
          </p:nvSpPr>
          <p:spPr>
            <a:xfrm>
              <a:off x="323532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23532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7494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② 运行任务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7609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按同小时功率关系识别正向供电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、日间反送及局部近峰过程，明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确站级容量需求。</a:t>
              </a:r>
            </a:p>
          </p:txBody>
        </p:sp>
      </p:grpSp>
      <p:grpSp>
        <p:nvGrpSpPr>
          <p:cNvPr id="30" name="v2-method-4-2"/>
          <p:cNvGrpSpPr/>
          <p:nvPr/>
        </p:nvGrpSpPr>
        <p:grpSpPr>
          <a:xfrm>
            <a:off x="6137275" y="2609850"/>
            <a:ext cx="2673350" cy="1457325"/>
            <a:chOff x="6137275" y="2609850"/>
            <a:chExt cx="2673350" cy="1457325"/>
          </a:xfrm>
        </p:grpSpPr>
        <p:sp>
          <p:nvSpPr>
            <p:cNvPr id="26" name="Rectangle 26"/>
            <p:cNvSpPr/>
            <p:nvPr/>
          </p:nvSpPr>
          <p:spPr>
            <a:xfrm>
              <a:off x="613727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613727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7689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③ 工程费用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7804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区分主变更换与扩建，按储能柜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数和新增联络项目计费，并统一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折算投运批次费用。</a:t>
              </a:r>
            </a:p>
          </p:txBody>
        </p:sp>
      </p:grpSp>
      <p:grpSp>
        <p:nvGrpSpPr>
          <p:cNvPr id="35" name="v2-method-4-3"/>
          <p:cNvGrpSpPr/>
          <p:nvPr/>
        </p:nvGrpSpPr>
        <p:grpSpPr>
          <a:xfrm>
            <a:off x="333375" y="4238625"/>
            <a:ext cx="2673350" cy="1457325"/>
            <a:chOff x="333375" y="4238625"/>
            <a:chExt cx="2673350" cy="1457325"/>
          </a:xfrm>
        </p:grpSpPr>
        <p:sp>
          <p:nvSpPr>
            <p:cNvPr id="31" name="Rectangle 31"/>
            <p:cNvSpPr/>
            <p:nvPr/>
          </p:nvSpPr>
          <p:spPr>
            <a:xfrm>
              <a:off x="33337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3337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299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④ 联合比选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414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逐年承接已投运设备，在正常与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主变N-1约束下共同选择主变、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储能和联络措施。</a:t>
              </a:r>
            </a:p>
          </p:txBody>
        </p:sp>
      </p:grpSp>
      <p:grpSp>
        <p:nvGrpSpPr>
          <p:cNvPr id="40" name="v2-method-4-4"/>
          <p:cNvGrpSpPr/>
          <p:nvPr/>
        </p:nvGrpSpPr>
        <p:grpSpPr>
          <a:xfrm>
            <a:off x="3235325" y="4238625"/>
            <a:ext cx="2673350" cy="1457325"/>
            <a:chOff x="3235325" y="4238625"/>
            <a:chExt cx="2673350" cy="1457325"/>
          </a:xfrm>
        </p:grpSpPr>
        <p:sp>
          <p:nvSpPr>
            <p:cNvPr id="36" name="Rectangle 36"/>
            <p:cNvSpPr/>
            <p:nvPr/>
          </p:nvSpPr>
          <p:spPr>
            <a:xfrm>
              <a:off x="323532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323532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7494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⑤ 结果解释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7609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联系设备台数组合、建设节点与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分项费用，解释地区差异及各措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施的替代关系。</a:t>
              </a:r>
            </a:p>
          </p:txBody>
        </p:sp>
      </p:grpSp>
      <p:grpSp>
        <p:nvGrpSpPr>
          <p:cNvPr id="45" name="v2-method-4-5"/>
          <p:cNvGrpSpPr/>
          <p:nvPr/>
        </p:nvGrpSpPr>
        <p:grpSpPr>
          <a:xfrm>
            <a:off x="6137275" y="4238625"/>
            <a:ext cx="2673350" cy="1457325"/>
            <a:chOff x="6137275" y="4238625"/>
            <a:chExt cx="2673350" cy="1457325"/>
          </a:xfrm>
        </p:grpSpPr>
        <p:sp>
          <p:nvSpPr>
            <p:cNvPr id="41" name="Rectangle 41"/>
            <p:cNvSpPr/>
            <p:nvPr/>
          </p:nvSpPr>
          <p:spPr>
            <a:xfrm>
              <a:off x="613727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613727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7689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⑥ 条件推荐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7804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由十三项候选指标筛选五项参数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，按片区条件组织推荐矩阵，再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落实具体工程方案。</a:t>
              </a:r>
            </a:p>
          </p:txBody>
        </p:sp>
      </p:grpSp>
      <p:grpSp>
        <p:nvGrpSpPr>
          <p:cNvPr id="49" name="v2-closing-4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46" name="Rectangle 4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40817" y="5892800"/>
              <a:ext cx="7065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研究输出：</a:t>
              </a: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由运行特征、费用与设备结果形成五参数推荐范围，服务分片区容量规划。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一</a:t>
              </a: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研究背景</a:t>
                </a: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二</a:t>
              </a: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研究目标和思路</a:t>
                </a: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三</a:t>
              </a: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/>
              <p:nvPr/>
            </p:nvSpPr>
            <p:spPr>
              <a:xfrm>
                <a:off x="2169033" y="36416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研究内容</a:t>
                </a: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四</a:t>
              </a: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实证分析</a:t>
                </a: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五</a:t>
              </a: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项目成效</a:t>
                </a: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32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33"/>
            <p:cNvSpPr txBox="1"/>
            <p:nvPr/>
          </p:nvSpPr>
          <p:spPr>
            <a:xfrm>
              <a:off x="8957615" y="65385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 研究对象与数据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邳州与市区分别体现高光伏县域和负荷集中城区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依据：研究报告3.1、表3-12、表5-1</a:t>
              </a:r>
            </a:p>
          </p:txBody>
        </p:sp>
      </p:grpSp>
      <p:graphicFrame>
        <p:nvGraphicFramePr>
          <p:cNvPr id="20" name="regional-baseline"/>
          <p:cNvGraphicFramePr>
            <a:graphicFrameLocks noGrp="1"/>
          </p:cNvGraphicFramePr>
          <p:nvPr/>
        </p:nvGraphicFramePr>
        <p:xfrm>
          <a:off x="333375" y="2571750"/>
          <a:ext cx="84772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6"/>
                <a:gridCol w="2354792"/>
                <a:gridCol w="2354792"/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2025年指标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邳州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市区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站级分析范围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20座110 kV站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26座110 kV站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实际主变容量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2139.50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3701.00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年网供最大负荷 /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956.45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1528.82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装机渗透率估计值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电量渗透率估计值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1" name="v2-data-notes"/>
          <p:cNvGrpSpPr/>
          <p:nvPr/>
        </p:nvGrpSpPr>
        <p:grpSpPr>
          <a:xfrm>
            <a:off x="333375" y="5143500"/>
            <a:ext cx="8477250" cy="1123950"/>
            <a:chOff x="333375" y="5143500"/>
            <a:chExt cx="8477250" cy="1123950"/>
          </a:xfrm>
        </p:grpSpPr>
        <p:sp>
          <p:nvSpPr>
            <p:cNvPr id="22" name="Rectangle 16"/>
            <p:cNvSpPr/>
            <p:nvPr/>
          </p:nvSpPr>
          <p:spPr>
            <a:xfrm>
              <a:off x="333375" y="5143500"/>
              <a:ext cx="8477250" cy="1123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18"/>
            <p:cNvSpPr txBox="1"/>
            <p:nvPr/>
          </p:nvSpPr>
          <p:spPr>
            <a:xfrm>
              <a:off x="440817" y="5156200"/>
              <a:ext cx="755751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统计与仿真：</a:t>
              </a: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现状统计描述实际容量与源荷；逐年方案以2021年实际容量为共同起点，2022—2025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年为历史回算，2026—2035年为预测条件规划。</a:t>
              </a:r>
            </a:p>
          </p:txBody>
        </p:sp>
        <p:sp>
          <p:nvSpPr>
            <p:cNvPr id="24" name="TextBox 19"/>
            <p:cNvSpPr txBox="1"/>
            <p:nvPr/>
          </p:nvSpPr>
          <p:spPr>
            <a:xfrm>
              <a:off x="440817" y="5670550"/>
              <a:ext cx="753179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指标含义：</a:t>
              </a: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装机渗透率为光伏装机与用户最大负荷之比，电量渗透率为光伏年发电量占用户年用电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量的比例；本页两项均为报告估计值。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3.2 历史容量与负荷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两地区容载比变化反映不同的建设与负荷发展过程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18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依据：研究报告表3-1、表3-2、表3-24</a:t>
              </a:r>
            </a:p>
          </p:txBody>
        </p:sp>
      </p:grpSp>
      <p:grpSp>
        <p:nvGrpSpPr>
          <p:cNvPr id="23" name="v2-figure-6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6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66673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2021—2025年容量增加112.50 MVA、负荷增加224.68 MW，负荷增长快于容量增长，容载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比由2.77降至2.24。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49020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同期容量增加587.50 MVA，负荷增加79.05 MW，容载比由2.15升至2.42；年度比值需结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合容量投放与负荷回落共同解释。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3.3 光伏发展与渗透率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光伏规模及供能水平差异形成不同的双向运行任务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依据：研究报告3.3、表3-6、表3-12</a:t>
              </a:r>
            </a:p>
          </p:txBody>
        </p:sp>
      </p:grpSp>
      <p:grpSp>
        <p:nvGrpSpPr>
          <p:cNvPr id="23" name="v2-figure-7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7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569581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地区差异：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2025年邳州光伏装机1559.64 MW、市区491.18 MW，装机与电量渗透水平均为邳州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较高，日间反送任务更突出。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7840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规划作用：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光伏出力改变正反向净负荷，容量校核需同时覆盖日间反送和晚间供电；未来装机按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报告预测情景输入，并与负荷预测共同作用。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3.4 净负荷与近峰特征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正反向峰值及持续过程共同决定容量与支撑需求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8424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依据：研究报告3.4、表3-10；保留补值标识的区域8760小时序列</a:t>
              </a:r>
            </a:p>
          </p:txBody>
        </p:sp>
      </p:grpSp>
      <p:grpSp>
        <p:nvGrpSpPr>
          <p:cNvPr id="23" name="v2-figure-8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8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58723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近峰过程：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以区域净负荷绝对峰值的95%为阈值，邳州最长连续2 h、累计7 h，市区分别为6 h、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11 h，反映两地区持续支撑任务的差异。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1371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计算关系：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先按同一小时汇总站级净负荷再取区域峰值，统计使用补齐后的8760小时序列；年度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容载比继续采用年度统计峰值。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3.5 站级容量压力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区域容量储备与少数站点的局部压力可以同时存在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依据：研究报告表3-8、表3-22、表3-23</a:t>
              </a:r>
            </a:p>
          </p:txBody>
        </p:sp>
      </p:grpSp>
      <p:grpSp>
        <p:nvGrpSpPr>
          <p:cNvPr id="23" name="v2-figure-9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9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1371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空间差异：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46座站分别呈现正向与反向容量任务，邳州4座、市区1座站反向幅值较大，区域容量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储备与少数站局部压力可以同时存在。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16622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设备判断：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本站可用能力取决于主变结构及N-1剩余容量，邻站支援还受路径和受端余量限制；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应把站级净负荷、设备与转供条件共同纳入比选。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3.6 核心指标筛选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十三项指标经组内筛选与高相关归并形成五项参数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0679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依据：研究报告3.5、表3-14—3-20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5619750" cy="3095625"/>
            <a:chOff x="333375" y="2571750"/>
            <a:chExt cx="56197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56197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1451" y="2571750"/>
              <a:ext cx="5103598" cy="3095625"/>
            </a:xfrm>
            <a:prstGeom prst="rect">
              <a:avLst/>
            </a:prstGeom>
          </p:spPr>
        </p:pic>
      </p:grpSp>
      <p:grpSp>
        <p:nvGrpSpPr>
          <p:cNvPr id="36" name="v2-screen-0"/>
          <p:cNvGrpSpPr/>
          <p:nvPr/>
        </p:nvGrpSpPr>
        <p:grpSpPr>
          <a:xfrm>
            <a:off x="6191250" y="2619375"/>
            <a:ext cx="2619375" cy="1005999"/>
            <a:chOff x="6191250" y="2619375"/>
            <a:chExt cx="2619375" cy="1005999"/>
          </a:xfrm>
        </p:grpSpPr>
        <p:sp>
          <p:nvSpPr>
            <p:cNvPr id="37" name="Rectangle 16"/>
            <p:cNvSpPr/>
            <p:nvPr/>
          </p:nvSpPr>
          <p:spPr>
            <a:xfrm>
              <a:off x="6191250" y="2619375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18"/>
            <p:cNvSpPr/>
            <p:nvPr/>
          </p:nvSpPr>
          <p:spPr>
            <a:xfrm>
              <a:off x="6191250" y="26384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9" name="TextBox 19"/>
            <p:cNvSpPr txBox="1"/>
            <p:nvPr/>
          </p:nvSpPr>
          <p:spPr>
            <a:xfrm>
              <a:off x="6230874" y="2667000"/>
              <a:ext cx="12693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① 十三项候选</a:t>
              </a:r>
            </a:p>
          </p:txBody>
        </p:sp>
        <p:sp>
          <p:nvSpPr>
            <p:cNvPr id="40" name="TextBox 20"/>
            <p:cNvSpPr txBox="1"/>
            <p:nvPr/>
          </p:nvSpPr>
          <p:spPr>
            <a:xfrm>
              <a:off x="6232208" y="2930525"/>
              <a:ext cx="234251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覆盖源荷、网络、峰段与工程价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格，先明确各指标的定义和取值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27" name="v2-screen-1"/>
          <p:cNvGrpSpPr/>
          <p:nvPr/>
        </p:nvGrpSpPr>
        <p:grpSpPr>
          <a:xfrm>
            <a:off x="6191250" y="3619500"/>
            <a:ext cx="2619375" cy="971550"/>
            <a:chOff x="6191250" y="3619500"/>
            <a:chExt cx="2619375" cy="971550"/>
          </a:xfrm>
        </p:grpSpPr>
        <p:sp>
          <p:nvSpPr>
            <p:cNvPr id="23" name="Rectangle 23"/>
            <p:cNvSpPr/>
            <p:nvPr/>
          </p:nvSpPr>
          <p:spPr>
            <a:xfrm>
              <a:off x="6191250" y="3619500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191250" y="36385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30874" y="3667125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② 九项关联指标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32208" y="3930650"/>
              <a:ext cx="2342515" cy="4757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组内相关绝对值达到0.40，保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留能够反映容载比变化的信息。</a:t>
              </a:r>
            </a:p>
          </p:txBody>
        </p:sp>
      </p:grpSp>
      <p:grpSp>
        <p:nvGrpSpPr>
          <p:cNvPr id="32" name="v2-screen-2"/>
          <p:cNvGrpSpPr/>
          <p:nvPr/>
        </p:nvGrpSpPr>
        <p:grpSpPr>
          <a:xfrm>
            <a:off x="6191250" y="4619625"/>
            <a:ext cx="2619375" cy="1005999"/>
            <a:chOff x="6191250" y="4619625"/>
            <a:chExt cx="2619375" cy="1005999"/>
          </a:xfrm>
        </p:grpSpPr>
        <p:sp>
          <p:nvSpPr>
            <p:cNvPr id="28" name="Rectangle 28"/>
            <p:cNvSpPr/>
            <p:nvPr/>
          </p:nvSpPr>
          <p:spPr>
            <a:xfrm>
              <a:off x="6191250" y="4619625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191250" y="463867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30874" y="4667250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③ 五项基础参数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32208" y="4930775"/>
              <a:ext cx="234251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按0.70高相关阈值归并，优先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采用具有明确规划含义的基础输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入。</a:t>
              </a:r>
            </a:p>
          </p:txBody>
        </p:sp>
      </p:grpSp>
      <p:grpSp>
        <p:nvGrpSpPr>
          <p:cNvPr id="35" name="v2-screen-note"/>
          <p:cNvGrpSpPr/>
          <p:nvPr/>
        </p:nvGrpSpPr>
        <p:grpSpPr>
          <a:xfrm>
            <a:off x="333375" y="5734050"/>
            <a:ext cx="8477250" cy="542925"/>
            <a:chOff x="333375" y="5734050"/>
            <a:chExt cx="8477250" cy="542925"/>
          </a:xfrm>
        </p:grpSpPr>
        <p:sp>
          <p:nvSpPr>
            <p:cNvPr id="33" name="Rectangle 33"/>
            <p:cNvSpPr/>
            <p:nvPr/>
          </p:nvSpPr>
          <p:spPr>
            <a:xfrm>
              <a:off x="333375" y="5734050"/>
              <a:ext cx="8477250" cy="5429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1008" y="5759450"/>
              <a:ext cx="7516622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1414" indent="-141414">
                <a:lnSpc>
                  <a:spcPts val="165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1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统计说明：</a:t>
              </a: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采用受控组内Pearson相关、节点等权并保留零响应组。0.40与0.70用于本研究参数归纳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，筛选结果结合计算关系和规划含义解释。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3.7 参数核验与分档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五项参数分别保留不同规划条件的信息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096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依据：研究报告表3-19、表3-21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09850"/>
            <a:ext cx="4476750" cy="3048000"/>
            <a:chOff x="333375" y="2609850"/>
            <a:chExt cx="4476750" cy="3048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09850"/>
              <a:ext cx="44767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534" y="2609850"/>
              <a:ext cx="4448432" cy="3048000"/>
            </a:xfrm>
            <a:prstGeom prst="rect">
              <a:avLst/>
            </a:prstGeom>
          </p:spPr>
        </p:pic>
      </p:grpSp>
      <p:graphicFrame>
        <p:nvGraphicFramePr>
          <p:cNvPr id="23" name="parameter-classes"/>
          <p:cNvGraphicFramePr>
            <a:graphicFrameLocks noGrp="1"/>
          </p:cNvGraphicFramePr>
          <p:nvPr/>
        </p:nvGraphicFramePr>
        <p:xfrm>
          <a:off x="5048250" y="2619375"/>
          <a:ext cx="3762375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445"/>
                <a:gridCol w="2099930"/>
              </a:tblGrid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矩阵分类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≤1；(1,2]；&gt;2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≤2%；(2%,4%]；(4%,7%]；&gt;7%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电缆长度占比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≤10%；(10%,30%]；&gt;30%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≤30%；(30%,50%]；(50%,70%]；&gt;70%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负荷分散系数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≤1.15；&gt;1.15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v2-parameter-meaning"/>
          <p:cNvGrpSpPr/>
          <p:nvPr/>
        </p:nvGrpSpPr>
        <p:grpSpPr>
          <a:xfrm>
            <a:off x="333375" y="5705475"/>
            <a:ext cx="8477250" cy="571500"/>
            <a:chOff x="333375" y="5705475"/>
            <a:chExt cx="8477250" cy="571500"/>
          </a:xfrm>
        </p:grpSpPr>
        <p:sp>
          <p:nvSpPr>
            <p:cNvPr id="25" name="Rectangle 18"/>
            <p:cNvSpPr/>
            <p:nvPr/>
          </p:nvSpPr>
          <p:spPr>
            <a:xfrm>
              <a:off x="333375" y="5705475"/>
              <a:ext cx="8477250" cy="571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19"/>
            <p:cNvSpPr txBox="1"/>
            <p:nvPr/>
          </p:nvSpPr>
          <p:spPr>
            <a:xfrm>
              <a:off x="440817" y="5730875"/>
              <a:ext cx="7531798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172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五项参数分别保留电源规模、负荷发展、联络造价、既有支援和局部峰值分布的信息。有效情景库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内最大参数间Pearson绝对值为0.29，结合计算关系核验后用于推广分档。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3.8 主变工程投资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按新购整台容量计费，容量净增另行统计</a:t>
              </a: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7408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依据：研究报告4.1—4.2，式（4-1）—（4-3）</a:t>
              </a:r>
            </a:p>
          </p:txBody>
        </p:sp>
      </p:grpSp>
      <p:grpSp>
        <p:nvGrpSpPr>
          <p:cNvPr id="26" name="transformer-basis"/>
          <p:cNvGrpSpPr/>
          <p:nvPr/>
        </p:nvGrpSpPr>
        <p:grpSpPr>
          <a:xfrm>
            <a:off x="333375" y="2609850"/>
            <a:ext cx="4048125" cy="356616"/>
            <a:chOff x="333375" y="2609850"/>
            <a:chExt cx="4048125" cy="356616"/>
          </a:xfrm>
        </p:grpSpPr>
        <p:sp>
          <p:nvSpPr>
            <p:cNvPr id="23" name="Rectangle 23"/>
            <p:cNvSpPr/>
            <p:nvPr/>
          </p:nvSpPr>
          <p:spPr>
            <a:xfrm>
              <a:off x="333375" y="2609850"/>
              <a:ext cx="4048125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33375" y="2609850"/>
              <a:ext cx="4048125" cy="9525"/>
            </a:xfrm>
            <a:custGeom>
              <a:avLst/>
              <a:gdLst/>
              <a:ahLst/>
              <a:cxnLst/>
              <a:rect l="l" t="t" r="r" b="b"/>
              <a:pathLst>
                <a:path w="4048125" h="9525">
                  <a:moveTo>
                    <a:pt x="0" y="0"/>
                  </a:moveTo>
                  <a:lnTo>
                    <a:pt x="4048125" y="0"/>
                  </a:lnTo>
                </a:path>
              </a:pathLst>
            </a:custGeom>
            <a:noFill/>
            <a:ln w="12382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3474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工程案例与加权系数</a:t>
              </a:r>
            </a:p>
          </p:txBody>
        </p:sp>
      </p:grpSp>
      <mc:AlternateContent>
        <mc:Choice Requires="a14">
          <p:sp>
            <p:nvSpPr>
              <p:cNvPr id="27" name="transformer-rate"/>
              <p:cNvSpPr txBox="1">
                <a:spLocks noGrp="1"/>
              </p:cNvSpPr>
              <p:nvPr/>
            </p:nvSpPr>
            <p:spPr>
              <a:xfrm>
                <a:off x="333375" y="2952750"/>
                <a:ext cx="4048125" cy="752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1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1151</m:t>
                          </m:r>
                          <m: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+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1335</m:t>
                          </m:r>
                        </m:num>
                        <m:den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50</m:t>
                          </m:r>
                          <m: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+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100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21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≈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16.57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0" name="rate-unit"/>
          <p:cNvGrpSpPr/>
          <p:nvPr/>
        </p:nvGrpSpPr>
        <p:grpSpPr>
          <a:xfrm>
            <a:off x="333375" y="3705225"/>
            <a:ext cx="4048125" cy="277336"/>
            <a:chOff x="333375" y="3705225"/>
            <a:chExt cx="4048125" cy="277336"/>
          </a:xfrm>
        </p:grpSpPr>
        <p:sp>
          <p:nvSpPr>
            <p:cNvPr id="28" name="Rectangle 28"/>
            <p:cNvSpPr/>
            <p:nvPr/>
          </p:nvSpPr>
          <p:spPr>
            <a:xfrm>
              <a:off x="333375" y="3705225"/>
              <a:ext cx="4048125" cy="2667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3382" y="3725862"/>
              <a:ext cx="292946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单位：万元/MVA；按采购容量加权。</a:t>
              </a:r>
            </a:p>
          </p:txBody>
        </p:sp>
      </p:grpSp>
      <p:graphicFrame>
        <p:nvGraphicFramePr>
          <p:cNvPr id="31" name="transformer-cases"/>
          <p:cNvGraphicFramePr>
            <a:graphicFrameLocks noGrp="1"/>
          </p:cNvGraphicFramePr>
          <p:nvPr/>
        </p:nvGraphicFramePr>
        <p:xfrm>
          <a:off x="333375" y="4048125"/>
          <a:ext cx="4048125" cy="102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1190625"/>
                <a:gridCol w="1047750"/>
                <a:gridCol w="104775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投资/万元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新购/MVA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净增/MVA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王庄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1151.00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50.00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30.00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鲁庙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1335.00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37.00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34" name="purchase-boundary"/>
          <p:cNvGrpSpPr/>
          <p:nvPr/>
        </p:nvGrpSpPr>
        <p:grpSpPr>
          <a:xfrm>
            <a:off x="333375" y="5162550"/>
            <a:ext cx="4048125" cy="581025"/>
            <a:chOff x="333375" y="5162550"/>
            <a:chExt cx="4048125" cy="581025"/>
          </a:xfrm>
        </p:grpSpPr>
        <p:sp>
          <p:nvSpPr>
            <p:cNvPr id="32" name="Rectangle 32"/>
            <p:cNvSpPr/>
            <p:nvPr/>
          </p:nvSpPr>
          <p:spPr>
            <a:xfrm>
              <a:off x="333375" y="5162550"/>
              <a:ext cx="4048125" cy="5810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93192" y="5187950"/>
              <a:ext cx="3614166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更换费用按整台新购容量计取，容量净增扣除被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替换容量；参考系数包含配套工程。</a:t>
              </a:r>
            </a:p>
          </p:txBody>
        </p:sp>
      </p:grpSp>
      <p:grpSp>
        <p:nvGrpSpPr>
          <p:cNvPr id="38" name="transformer-projects"/>
          <p:cNvGrpSpPr/>
          <p:nvPr/>
        </p:nvGrpSpPr>
        <p:grpSpPr>
          <a:xfrm>
            <a:off x="4686300" y="2609850"/>
            <a:ext cx="4124325" cy="356616"/>
            <a:chOff x="4686300" y="2609850"/>
            <a:chExt cx="4124325" cy="356616"/>
          </a:xfrm>
        </p:grpSpPr>
        <p:sp>
          <p:nvSpPr>
            <p:cNvPr id="35" name="Rectangle 35"/>
            <p:cNvSpPr/>
            <p:nvPr/>
          </p:nvSpPr>
          <p:spPr>
            <a:xfrm>
              <a:off x="4686300" y="2609850"/>
              <a:ext cx="4124325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4686300" y="260985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2382">
              <a:solidFill>
                <a:srgbClr val="007C7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16399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更换与扩建分别计价</a:t>
              </a:r>
            </a:p>
          </p:txBody>
        </p:sp>
      </p:grpSp>
      <mc:AlternateContent>
        <mc:Choice Requires="a14">
          <p:sp>
            <p:nvSpPr>
              <p:cNvPr id="39" name="replacement-investment"/>
              <p:cNvSpPr txBox="1">
                <a:spLocks noGrp="1"/>
              </p:cNvSpPr>
              <p:nvPr/>
            </p:nvSpPr>
            <p:spPr>
              <a:xfrm>
                <a:off x="4686300" y="2952750"/>
                <a:ext cx="412432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iky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1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sSub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</m:sub>
                      </m:sSub>
                      <m:sSubSup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S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iky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new</m:t>
                          </m:r>
                        </m:sup>
                      </m:sSubSup>
                      <m:sSub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z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iky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mc:AlternateContent>
        <mc:Choice Requires="a14">
          <p:sp>
            <p:nvSpPr>
              <p:cNvPr id="40" name="net-capacity"/>
              <p:cNvSpPr txBox="1">
                <a:spLocks noGrp="1"/>
              </p:cNvSpPr>
              <p:nvPr/>
            </p:nvSpPr>
            <p:spPr>
              <a:xfrm>
                <a:off x="4686300" y="3648075"/>
                <a:ext cx="4124325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Δ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S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iky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sSubSup>
                            <m:e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iky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new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−</m:t>
                          </m:r>
                          <m:sSubSup>
                            <m:e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ik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−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old</m:t>
                              </m:r>
                            </m:sup>
                          </m:sSubSup>
                        </m:e>
                      </m:d>
                      <m:sSub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z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iky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mc:AlternateContent>
        <mc:Choice Requires="a14">
          <p:sp>
            <p:nvSpPr>
              <p:cNvPr id="41" name="extension-investment"/>
              <p:cNvSpPr txBox="1">
                <a:spLocks noGrp="1"/>
              </p:cNvSpPr>
              <p:nvPr/>
            </p:nvSpPr>
            <p:spPr>
              <a:xfrm>
                <a:off x="4686300" y="4429125"/>
                <a:ext cx="4124325" cy="581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exp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1206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1240</m:t>
                          </m:r>
                        </m:num>
                        <m:den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1223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4" name="extension-boundary"/>
          <p:cNvGrpSpPr/>
          <p:nvPr/>
        </p:nvGrpSpPr>
        <p:grpSpPr>
          <a:xfrm>
            <a:off x="4686300" y="5124450"/>
            <a:ext cx="4124325" cy="696437"/>
            <a:chOff x="4686300" y="5124450"/>
            <a:chExt cx="4124325" cy="696437"/>
          </a:xfrm>
        </p:grpSpPr>
        <p:sp>
          <p:nvSpPr>
            <p:cNvPr id="42" name="Rectangle 42"/>
            <p:cNvSpPr/>
            <p:nvPr/>
          </p:nvSpPr>
          <p:spPr>
            <a:xfrm>
              <a:off x="4686300" y="5124450"/>
              <a:ext cx="4124325" cy="666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46308" y="5145088"/>
              <a:ext cx="3715067" cy="6757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更换状态取0或1，新旧容量以MVA计。扩建为50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MVA整项，1223.00万元/项，限具备预留位置的站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点。</a:t>
              </a:r>
            </a:p>
          </p:txBody>
        </p:sp>
      </p:grpSp>
      <p:grpSp>
        <p:nvGrpSpPr>
          <p:cNvPr id="48" name="shared-security"/>
          <p:cNvGrpSpPr/>
          <p:nvPr/>
        </p:nvGrpSpPr>
        <p:grpSpPr>
          <a:xfrm>
            <a:off x="333375" y="5838825"/>
            <a:ext cx="8477250" cy="486886"/>
            <a:chOff x="333375" y="5838825"/>
            <a:chExt cx="8477250" cy="486886"/>
          </a:xfrm>
        </p:grpSpPr>
        <p:sp>
          <p:nvSpPr>
            <p:cNvPr id="45" name="Rectangle 45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93382" y="5859462"/>
              <a:ext cx="7774495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共同条件：正常负载率≤80%、主变N-1短时≤130%。刚性保留2.0新增容量控制，弹性放宽该上限；同一主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变位置全期最多更换一次。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3.9 10 kV联络投资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电缆占比决定造价，接入费单独计取</a:t>
              </a: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3780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依据：研究报告4.3，式（4-4）、表4-3</a:t>
              </a:r>
            </a:p>
          </p:txBody>
        </p:sp>
      </p:grpSp>
      <mc:AlternateContent>
        <mc:Choice Requires="a14">
          <p:sp>
            <p:nvSpPr>
              <p:cNvPr id="23" name="line-investment"/>
              <p:cNvSpPr txBox="1">
                <a:spLocks noGrp="1"/>
              </p:cNvSpPr>
              <p:nvPr/>
            </p:nvSpPr>
            <p:spPr>
              <a:xfrm>
                <a:off x="333375" y="2590800"/>
                <a:ext cx="84772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4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24L</m:t>
                      </m:r>
                      <m:sSub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4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+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6</m:t>
                      </m:r>
                      <m:r>
                        <m:rPr>
                          <m:sty m:val="p"/>
                        </m:rPr>
                        <a:rPr lang="zh-CN" sz="24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 xml:space="preserve">  </m:t>
                      </m:r>
                      <m:sSub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4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24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+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6.5α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6" name="line-cost-curve"/>
          <p:cNvGrpSpPr/>
          <p:nvPr/>
        </p:nvGrpSpPr>
        <p:grpSpPr>
          <a:xfrm>
            <a:off x="333375" y="3457575"/>
            <a:ext cx="4953000" cy="2781300"/>
            <a:chOff x="333375" y="3457575"/>
            <a:chExt cx="4953000" cy="2781300"/>
          </a:xfrm>
        </p:grpSpPr>
        <p:sp>
          <p:nvSpPr>
            <p:cNvPr id="24" name="Rectangle 24"/>
            <p:cNvSpPr/>
            <p:nvPr/>
          </p:nvSpPr>
          <p:spPr>
            <a:xfrm>
              <a:off x="333375" y="3457575"/>
              <a:ext cx="4953000" cy="27813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266" y="3457575"/>
              <a:ext cx="4551218" cy="2781300"/>
            </a:xfrm>
            <a:prstGeom prst="rect">
              <a:avLst/>
            </a:prstGeom>
          </p:spPr>
        </p:pic>
      </p:grpSp>
      <p:grpSp>
        <p:nvGrpSpPr>
          <p:cNvPr id="29" name="line-definitions"/>
          <p:cNvGrpSpPr/>
          <p:nvPr/>
        </p:nvGrpSpPr>
        <p:grpSpPr>
          <a:xfrm>
            <a:off x="5524500" y="3457575"/>
            <a:ext cx="3286125" cy="904875"/>
            <a:chOff x="5524500" y="3457575"/>
            <a:chExt cx="3286125" cy="904875"/>
          </a:xfrm>
        </p:grpSpPr>
        <p:sp>
          <p:nvSpPr>
            <p:cNvPr id="27" name="Rectangle 27"/>
            <p:cNvSpPr/>
            <p:nvPr/>
          </p:nvSpPr>
          <p:spPr>
            <a:xfrm>
              <a:off x="5524500" y="3457575"/>
              <a:ext cx="3286125" cy="904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84317" y="3482975"/>
              <a:ext cx="2851213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计价参数：投资单位万元，线路长度L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以km计；电缆长度占比α取0—1。架空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24万元/km，电缆综合180万元/km。</a:t>
              </a:r>
            </a:p>
          </p:txBody>
        </p:sp>
      </p:grpSp>
      <p:grpSp>
        <p:nvGrpSpPr>
          <p:cNvPr id="32" name="fixed-connection"/>
          <p:cNvGrpSpPr/>
          <p:nvPr/>
        </p:nvGrpSpPr>
        <p:grpSpPr>
          <a:xfrm>
            <a:off x="5524500" y="4448175"/>
            <a:ext cx="3286125" cy="733425"/>
            <a:chOff x="5524500" y="4448175"/>
            <a:chExt cx="3286125" cy="733425"/>
          </a:xfrm>
        </p:grpSpPr>
        <p:sp>
          <p:nvSpPr>
            <p:cNvPr id="30" name="Rectangle 30"/>
            <p:cNvSpPr/>
            <p:nvPr/>
          </p:nvSpPr>
          <p:spPr>
            <a:xfrm>
              <a:off x="5524500" y="4448175"/>
              <a:ext cx="3286125" cy="733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84317" y="4473575"/>
              <a:ext cx="279120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项目边界：基准长度3 km，另加两台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等效开关6.00万元；固定接入费保持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独立。</a:t>
              </a:r>
            </a:p>
          </p:txBody>
        </p:sp>
      </p:grpSp>
      <p:grpSp>
        <p:nvGrpSpPr>
          <p:cNvPr id="35" name="regional-line-fee"/>
          <p:cNvGrpSpPr/>
          <p:nvPr/>
        </p:nvGrpSpPr>
        <p:grpSpPr>
          <a:xfrm>
            <a:off x="5524500" y="5267325"/>
            <a:ext cx="3286125" cy="1000125"/>
            <a:chOff x="5524500" y="5267325"/>
            <a:chExt cx="3286125" cy="1000125"/>
          </a:xfrm>
        </p:grpSpPr>
        <p:sp>
          <p:nvSpPr>
            <p:cNvPr id="33" name="Rectangle 33"/>
            <p:cNvSpPr/>
            <p:nvPr/>
          </p:nvSpPr>
          <p:spPr>
            <a:xfrm>
              <a:off x="5524500" y="5267325"/>
              <a:ext cx="3286125" cy="1000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84317" y="5292725"/>
              <a:ext cx="2928366" cy="921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地区单价：邳州128.38、市区452.40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万元/项。既有工程不重复计建设费，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新增按投运条数计费；校核源端、共享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通道及受端余量。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3.10 储能采购与有效支撑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新增整数柜决定投资，功率与可用电量共同限制支撑</a:t>
              </a: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9321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依据：研究报告4.4，式（4-5）—（4-6）、表4-5</a:t>
              </a:r>
            </a:p>
          </p:txBody>
        </p:sp>
      </p:grpSp>
      <p:grpSp>
        <p:nvGrpSpPr>
          <p:cNvPr id="25" name="storage-package"/>
          <p:cNvGrpSpPr/>
          <p:nvPr/>
        </p:nvGrpSpPr>
        <p:grpSpPr>
          <a:xfrm>
            <a:off x="333375" y="2571750"/>
            <a:ext cx="8477250" cy="300927"/>
            <a:chOff x="333375" y="2571750"/>
            <a:chExt cx="8477250" cy="300927"/>
          </a:xfrm>
        </p:grpSpPr>
        <p:sp>
          <p:nvSpPr>
            <p:cNvPr id="23" name="Rectangle 23"/>
            <p:cNvSpPr/>
            <p:nvPr/>
          </p:nvSpPr>
          <p:spPr>
            <a:xfrm>
              <a:off x="333375" y="2571750"/>
              <a:ext cx="8477250" cy="295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2811" y="2593975"/>
              <a:ext cx="61645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柜型100 kW/215 kWh；10柜成套成交210.46万元，按新增整数柜采购。</a:t>
              </a:r>
            </a:p>
          </p:txBody>
        </p:sp>
      </p:grpSp>
      <mc:AlternateContent>
        <mc:Choice Requires="a14">
          <p:sp>
            <p:nvSpPr>
              <p:cNvPr id="26" name="storage-investment"/>
              <p:cNvSpPr txBox="1">
                <a:spLocks noGrp="1"/>
              </p:cNvSpPr>
              <p:nvPr/>
            </p:nvSpPr>
            <p:spPr>
              <a:xfrm>
                <a:off x="333375" y="2924175"/>
                <a:ext cx="84772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1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2104562.62</m:t>
                          </m:r>
                        </m:num>
                        <m:den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10000</m:t>
                          </m:r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×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10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21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≈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21.05</m:t>
                      </m:r>
                      <m:r>
                        <m:rPr>
                          <m:sty m:val="p"/>
                        </m:rPr>
                        <a:rPr lang="zh-CN" sz="21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 xml:space="preserve">  </m:t>
                      </m:r>
                      <m:sSub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1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sSub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18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Δ</m:t>
                      </m:r>
                      <m:sSub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n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iy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mc:AlternateContent>
        <mc:Choice Requires="a14">
          <p:sp>
            <p:nvSpPr>
              <p:cNvPr id="27" name="storage-effective-power"/>
              <p:cNvSpPr txBox="1">
                <a:spLocks noGrp="1"/>
              </p:cNvSpPr>
              <p:nvPr/>
            </p:nvSpPr>
            <p:spPr>
              <a:xfrm>
                <a:off x="333375" y="3676650"/>
                <a:ext cx="8477250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H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32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0.10n</m:t>
                              </m:r>
                              <m:r>
                                <m:rPr>
                                  <m:sty m:val="p"/>
                                </m:rP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0.215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×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0.76n</m:t>
                                  </m:r>
                                </m:num>
                                <m:den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232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 xml:space="preserve">  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232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&gt;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0" name="storage-definitions"/>
          <p:cNvGrpSpPr/>
          <p:nvPr/>
        </p:nvGrpSpPr>
        <p:grpSpPr>
          <a:xfrm>
            <a:off x="333375" y="4524375"/>
            <a:ext cx="8477250" cy="438150"/>
            <a:chOff x="333375" y="4524375"/>
            <a:chExt cx="8477250" cy="438150"/>
          </a:xfrm>
        </p:grpSpPr>
        <p:sp>
          <p:nvSpPr>
            <p:cNvPr id="28" name="Rectangle 28"/>
            <p:cNvSpPr/>
            <p:nvPr/>
          </p:nvSpPr>
          <p:spPr>
            <a:xfrm>
              <a:off x="333375" y="4524375"/>
              <a:ext cx="847725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3382" y="4545012"/>
              <a:ext cx="7748043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单柜参考21.05万元；n为在役柜数，Δn为当年新增整数柜数，H为支撑时长/h，B为有效功率/MW。</a:t>
              </a:r>
            </a:p>
          </p:txBody>
        </p:sp>
      </p:grpSp>
      <p:graphicFrame>
        <p:nvGraphicFramePr>
          <p:cNvPr id="31" name="storage-duration-comparison"/>
          <p:cNvGraphicFramePr>
            <a:graphicFrameLocks noGrp="1"/>
          </p:cNvGraphicFramePr>
          <p:nvPr/>
        </p:nvGraphicFramePr>
        <p:xfrm>
          <a:off x="333375" y="5010150"/>
          <a:ext cx="8477250" cy="80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/>
                <a:gridCol w="1847850"/>
                <a:gridCol w="1847850"/>
                <a:gridCol w="1847850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支撑时长 / h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10柜有效功率 / MW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 MW所需柜数 / 柜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35" name="storage-boundary"/>
          <p:cNvGrpSpPr/>
          <p:nvPr/>
        </p:nvGrpSpPr>
        <p:grpSpPr>
          <a:xfrm>
            <a:off x="333375" y="5838825"/>
            <a:ext cx="8477250" cy="486886"/>
            <a:chOff x="333375" y="5838825"/>
            <a:chExt cx="8477250" cy="486886"/>
          </a:xfrm>
        </p:grpSpPr>
        <p:sp>
          <p:nvSpPr>
            <p:cNvPr id="32" name="Rectangle 32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93382" y="5859462"/>
              <a:ext cx="7674673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正向支撑与反向吸收分别采用对应时长；0.76包含SOC可用窗口与单向放电效率，按静态功率折算，实际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运行再核定充电、恢复及连续SOC。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3.11 现金流现值与评价边界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同一截止年下比较完整建设路径费用</a:t>
              </a: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9980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依据：研究报告4.6，单项工程现值及方案汇总公式</a:t>
              </a:r>
            </a:p>
          </p:txBody>
        </p:sp>
      </p:grpSp>
      <mc:AlternateContent>
        <mc:Choice Requires="a14">
          <p:sp>
            <p:nvSpPr>
              <p:cNvPr id="23" name="cash-flow-present-value"/>
              <p:cNvSpPr txBox="1">
                <a:spLocks noGrp="1"/>
              </p:cNvSpPr>
              <p:nvPr/>
            </p:nvSpPr>
            <p:spPr>
              <a:xfrm>
                <a:off x="333375" y="2600325"/>
                <a:ext cx="8477250" cy="1171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C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q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I</m:t>
                          </m:r>
                        </m:num>
                        <m:den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r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2021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≥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kL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&lt;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</m:sub>
                        <m:sup/>
                        <m:e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I</m:t>
                              </m:r>
                            </m:num>
                            <m:den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</a:rPr>
                                        <m:t>r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kL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2021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1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qI</m:t>
                              </m:r>
                            </m:num>
                            <m:den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</a:rPr>
                                        <m:t>r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2021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>
        <mc:Choice Requires="a14">
          <p:sp>
            <p:nvSpPr>
              <p:cNvPr id="24" name="plan-present-value"/>
              <p:cNvSpPr txBox="1">
                <a:spLocks noGrp="1"/>
              </p:cNvSpPr>
              <p:nvPr/>
            </p:nvSpPr>
            <p:spPr>
              <a:xfrm>
                <a:off x="333375" y="3800475"/>
                <a:ext cx="847725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plan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∈</m:t>
                          </m:r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T</m:t>
                              </m:r>
                            </m:sub>
                          </m:sSub>
                        </m:sub>
                        <m:sup/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e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∈</m:t>
                          </m:r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B</m:t>
                              </m:r>
                            </m:sub>
                          </m:sSub>
                        </m:sub>
                        <m:sup/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e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20393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m:t>∈</m:t>
                          </m:r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L</m:t>
                              </m:r>
                            </m:sub>
                          </m:sSub>
                        </m:sub>
                        <m:sup/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e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7" name="cash-flow-definitions"/>
          <p:cNvGrpSpPr/>
          <p:nvPr/>
        </p:nvGrpSpPr>
        <p:grpSpPr>
          <a:xfrm>
            <a:off x="333375" y="4276725"/>
            <a:ext cx="8477250" cy="490061"/>
            <a:chOff x="333375" y="4276725"/>
            <a:chExt cx="8477250" cy="490061"/>
          </a:xfrm>
        </p:grpSpPr>
        <p:sp>
          <p:nvSpPr>
            <p:cNvPr id="25" name="Rectangle 25"/>
            <p:cNvSpPr/>
            <p:nvPr/>
          </p:nvSpPr>
          <p:spPr>
            <a:xfrm>
              <a:off x="333375" y="4276725"/>
              <a:ext cx="847725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3382" y="4310062"/>
              <a:ext cx="7691310" cy="456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I为初始投资/万元，y为投运年，L为寿命/年，q为固定运维率；基准为2021年末，r=6.00%，T=2041，C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为费用现值/万元。</a:t>
              </a:r>
            </a:p>
          </p:txBody>
        </p:sp>
      </p:grpSp>
      <p:graphicFrame>
        <p:nvGraphicFramePr>
          <p:cNvPr id="28" name="economic-parameters"/>
          <p:cNvGraphicFramePr>
            <a:graphicFrameLocks noGrp="1"/>
          </p:cNvGraphicFramePr>
          <p:nvPr/>
        </p:nvGraphicFramePr>
        <p:xfrm>
          <a:off x="333375" y="4743450"/>
          <a:ext cx="8477250" cy="57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/>
                <a:gridCol w="2000250"/>
                <a:gridCol w="2000250"/>
                <a:gridCol w="200025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共同参数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联络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储能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寿命 / 固定运维率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40年 / 4.20%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40年 / 2.20%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25年 / 3.00%</a:t>
                      </a:r>
                    </a:p>
                  </a:txBody>
                  <a:tcPr anchor="ctr" marL="38100" marR="3810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2" name="cash-flow-boundaries"/>
          <p:cNvGrpSpPr/>
          <p:nvPr/>
        </p:nvGrpSpPr>
        <p:grpSpPr>
          <a:xfrm>
            <a:off x="333375" y="5400675"/>
            <a:ext cx="8477250" cy="905986"/>
            <a:chOff x="333375" y="5400675"/>
            <a:chExt cx="8477250" cy="905986"/>
          </a:xfrm>
        </p:grpSpPr>
        <p:sp>
          <p:nvSpPr>
            <p:cNvPr id="29" name="Rectangle 29"/>
            <p:cNvSpPr/>
            <p:nvPr/>
          </p:nvSpPr>
          <p:spPr>
            <a:xfrm>
              <a:off x="333375" y="5400675"/>
              <a:ext cx="8477250" cy="8763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3375" y="5400675"/>
              <a:ext cx="8477250" cy="876300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3382" y="5421312"/>
              <a:ext cx="7691310" cy="885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投运与更新：初始投资在投运年发生，固定运维从次年计至2041年；更新年严格早于2041年，本期2022—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2035年投运设备的更新支出为零。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费用范围：纳入新增建设及固定运维；既有建设费、期末残值、被替换设备运维变化、储能购电与损耗及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收益抵扣不纳入。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一</a:t>
              </a: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研究背景</a:t>
                </a: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二</a:t>
              </a: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研究目标和思路</a:t>
                </a: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三</a:t>
              </a: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研究内容</a:t>
                </a: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四</a:t>
              </a: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/>
              <p:nvPr/>
            </p:nvSpPr>
            <p:spPr>
              <a:xfrm>
                <a:off x="2169033" y="457514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实证分析</a:t>
                </a: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五</a:t>
              </a: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项目成效</a:t>
                </a: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24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25"/>
            <p:cNvSpPr txBox="1"/>
            <p:nvPr/>
          </p:nvSpPr>
          <p:spPr>
            <a:xfrm>
              <a:off x="8868766" y="65385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4.1 邳州逐年方案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邳州弹性方案增加站内容量并减少部分配套需求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依据：研究报告表5-4、表5-5、表5-9</a:t>
              </a:r>
            </a:p>
          </p:txBody>
        </p:sp>
      </p:grpSp>
      <p:grpSp>
        <p:nvGrpSpPr>
          <p:cNvPr id="23" name="v2-figure-16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16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49020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容量路径：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弹性方案在局部需求出现时增加站内容量，2035年达到2901.00 MVA、容载比2.06；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刚性分别为2678.00 MVA、1.90。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710805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措施替代：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期末弹性储能545.67 MWh、累计新增联络21条，均低于刚性。储能及联络支出下降抵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消较多主变投入，全期费用减少848.32万元。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4.2 市区逐年方案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市区费用优势由建设时序和联络替代逐步形成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依据：研究报告表5-6、表5-7、表5-9</a:t>
              </a:r>
            </a:p>
          </p:txBody>
        </p:sp>
      </p:grpSp>
      <p:grpSp>
        <p:nvGrpSpPr>
          <p:cNvPr id="23" name="v2-figure-17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aphicFrame>
        <p:nvGraphicFramePr>
          <p:cNvPr id="26" name="city-path-comparison"/>
          <p:cNvGraphicFramePr>
            <a:graphicFrameLocks noGrp="1"/>
          </p:cNvGraphicFramePr>
          <p:nvPr/>
        </p:nvGraphicFramePr>
        <p:xfrm>
          <a:off x="333375" y="5143500"/>
          <a:ext cx="847725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375"/>
                <a:gridCol w="1238251"/>
                <a:gridCol w="1238250"/>
                <a:gridCol w="3762374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比较项目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刚性方案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弹性方案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工程含义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2030累计费用 / 万元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14819.77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16806.54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弹性前期站内补强投入较多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2035储能 / MWh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92.88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109.65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期末储能配置高于刚性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2035新增联络累计 / 条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联络建设减少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全期费用现值 / 万元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39636.85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37586.50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联络费用下降，合计减少2050.35万元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4.3 评价期费用分解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新增主变支出由其他措施费用下降部分抵消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837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依据：研究报告表5-9、表5-11</a:t>
              </a:r>
            </a:p>
          </p:txBody>
        </p:sp>
      </p:grpSp>
      <p:grpSp>
        <p:nvGrpSpPr>
          <p:cNvPr id="24" name="v2-cost-delta"/>
          <p:cNvGrpSpPr/>
          <p:nvPr/>
        </p:nvGrpSpPr>
        <p:grpSpPr>
          <a:xfrm>
            <a:off x="333375" y="2533650"/>
            <a:ext cx="8477250" cy="2257425"/>
            <a:chOff x="333375" y="2533650"/>
            <a:chExt cx="8477250" cy="2257425"/>
          </a:xfrm>
        </p:grpSpPr>
        <p:sp>
          <p:nvSpPr>
            <p:cNvPr id="25" name="Rectangle 16"/>
            <p:cNvSpPr/>
            <p:nvPr/>
          </p:nvSpPr>
          <p:spPr>
            <a:xfrm>
              <a:off x="333375" y="2533650"/>
              <a:ext cx="8477250" cy="22574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6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612" y="2544483"/>
              <a:ext cx="8466777" cy="2235758"/>
            </a:xfrm>
            <a:prstGeom prst="rect">
              <a:avLst/>
            </a:prstGeom>
          </p:spPr>
        </p:pic>
      </p:grpSp>
      <p:graphicFrame>
        <p:nvGraphicFramePr>
          <p:cNvPr id="27" name="regional-cost-comparison"/>
          <p:cNvGraphicFramePr>
            <a:graphicFrameLocks noGrp="1"/>
          </p:cNvGraphicFramePr>
          <p:nvPr/>
        </p:nvGraphicFramePr>
        <p:xfrm>
          <a:off x="333375" y="4895850"/>
          <a:ext cx="8477250" cy="1352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6"/>
                <a:gridCol w="1381125"/>
                <a:gridCol w="1381125"/>
                <a:gridCol w="1285875"/>
                <a:gridCol w="3524249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地区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 / 万元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 / 万元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 / 万元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主要费用变化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邳州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58369.68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57521.36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848.32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储能及联络支出下降，抵消较多主变投入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市区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39636.85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37586.50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2050.35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主要由联络费用下降形成优势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98006.53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95107.86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2898.67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总费用降幅2.96%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4.4 2035年设备组合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两类片区通过不同措施组合满足局部供电任务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依据：研究报告表5-10</a:t>
              </a:r>
            </a:p>
          </p:txBody>
        </p:sp>
      </p:grpSp>
      <p:grpSp>
        <p:nvGrpSpPr>
          <p:cNvPr id="23" name="v2-figure-19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19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31367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邳州组合：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弹性主变容量较大，期末储能由刚性568.25 MWh减至545.67 MWh，累计新增联络由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58条减至21条，站内容量与配套支撑共同调整。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60755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市区组合：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弹性主变仅较刚性多21.50 MVA，储能增加而联络减少。区域容量接近时，各站缺口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和建设时点仍会形成不同的支撑配置与费用。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4.5 代表站设备分析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4880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主变台数组合改变N-1剩余能力及局部支撑需求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3872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依据：研究报告表5-13、表5-15、表5-31及对应逐站分析</a:t>
              </a:r>
            </a:p>
          </p:txBody>
        </p:sp>
      </p:grpSp>
      <p:graphicFrame>
        <p:nvGraphicFramePr>
          <p:cNvPr id="20" name="station-examples"/>
          <p:cNvGraphicFramePr>
            <a:graphicFrameLocks noGrp="1"/>
          </p:cNvGraphicFramePr>
          <p:nvPr/>
        </p:nvGraphicFramePr>
        <p:xfrm>
          <a:off x="333375" y="2619375"/>
          <a:ext cx="8477250" cy="214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481"/>
                <a:gridCol w="1759429"/>
                <a:gridCol w="1919378"/>
                <a:gridCol w="3198962"/>
              </a:tblGrid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2035年站点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差异对应的任务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戴圩变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弹性扩建第三台，减少本地配储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235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兴塘变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31.5+40+50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31.5+50+50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故障后剩余容量71.50→81.50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672352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八义集变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容量相同，储能功率3.10→0.30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station-mechanism-comparison"/>
          <p:cNvGraphicFramePr>
            <a:graphicFrameLocks noGrp="1"/>
          </p:cNvGraphicFramePr>
          <p:nvPr/>
        </p:nvGraphicFramePr>
        <p:xfrm>
          <a:off x="333375" y="4943475"/>
          <a:ext cx="8477250" cy="1314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6"/>
                <a:gridCol w="3190875"/>
                <a:gridCol w="4286249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代表站与结果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工程含义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设备结构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兴塘变：N-1剩余容量71.50→81.50 MVA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扩建第三台与更换已有主变，对故障后剩余能力的改善不同。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局部支撑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八义集变：主变容量相同，储能功率3.10→0.30 MW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年度转接任务与配储需求存在差异，需结合源荷、受端及设备状态判断。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4.6 联络与共享资源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转供支援由源端、路径及接收侧能力共同决定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175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依据：研究报告3.6、5.5、表5-59—5-61</a:t>
              </a:r>
            </a:p>
          </p:txBody>
        </p:sp>
      </p:grpSp>
      <p:grpSp>
        <p:nvGrpSpPr>
          <p:cNvPr id="40" name="v2-transfer-network"/>
          <p:cNvGrpSpPr/>
          <p:nvPr/>
        </p:nvGrpSpPr>
        <p:grpSpPr>
          <a:xfrm>
            <a:off x="333375" y="2609850"/>
            <a:ext cx="8477250" cy="2133600"/>
            <a:chOff x="333375" y="2609850"/>
            <a:chExt cx="8477250" cy="2133600"/>
          </a:xfrm>
        </p:grpSpPr>
        <p:sp>
          <p:nvSpPr>
            <p:cNvPr id="45" name="Rectangle 12"/>
            <p:cNvSpPr/>
            <p:nvPr/>
          </p:nvSpPr>
          <p:spPr>
            <a:xfrm>
              <a:off x="333375" y="2609850"/>
              <a:ext cx="8477250" cy="2133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16"/>
            <p:cNvSpPr txBox="1"/>
            <p:nvPr/>
          </p:nvSpPr>
          <p:spPr>
            <a:xfrm>
              <a:off x="2348672" y="2619375"/>
              <a:ext cx="444665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正常方式与主变N-1分别安排年度固定转供方案</a:t>
              </a:r>
            </a:p>
          </p:txBody>
        </p:sp>
        <p:grpSp>
          <p:nvGrpSpPr>
            <p:cNvPr id="22" name="v2-transfer-node-55"/>
            <p:cNvGrpSpPr/>
            <p:nvPr/>
          </p:nvGrpSpPr>
          <p:grpSpPr>
            <a:xfrm>
              <a:off x="523875" y="3028950"/>
              <a:ext cx="2095500" cy="828675"/>
              <a:chOff x="523875" y="3028950"/>
              <a:chExt cx="2095500" cy="828675"/>
            </a:xfrm>
          </p:grpSpPr>
          <p:sp>
            <p:nvSpPr>
              <p:cNvPr id="47" name="Rectangle 18"/>
              <p:cNvSpPr/>
              <p:nvPr/>
            </p:nvSpPr>
            <p:spPr>
              <a:xfrm>
                <a:off x="523875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8" name="Rectangle 19"/>
              <p:cNvSpPr/>
              <p:nvPr/>
            </p:nvSpPr>
            <p:spPr>
              <a:xfrm>
                <a:off x="523875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30058" y="313055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/>
                    <a:ea typeface="Microsoft YaHei"/>
                    <a:cs typeface="Microsoft YaHei"/>
                  </a:rPr>
                  <a:t>源端站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28688" y="3482975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可切换源荷区段</a:t>
                </a:r>
              </a:p>
            </p:txBody>
          </p:sp>
        </p:grpSp>
        <p:grpSp>
          <p:nvGrpSpPr>
            <p:cNvPr id="27" name="v2-transfer-node-360"/>
            <p:cNvGrpSpPr/>
            <p:nvPr/>
          </p:nvGrpSpPr>
          <p:grpSpPr>
            <a:xfrm>
              <a:off x="3429000" y="3028950"/>
              <a:ext cx="2095500" cy="828675"/>
              <a:chOff x="3429000" y="3028950"/>
              <a:chExt cx="2095500" cy="8286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429000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3429000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690938" y="3130550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/>
                    <a:ea typeface="Microsoft YaHei"/>
                    <a:cs typeface="Microsoft YaHei"/>
                  </a:rPr>
                  <a:t>共享馈线与联络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08057" y="3482975"/>
                <a:ext cx="19373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既有MW额度及通道热限</a:t>
                </a:r>
              </a:p>
            </p:txBody>
          </p:sp>
        </p:grpSp>
        <p:grpSp>
          <p:nvGrpSpPr>
            <p:cNvPr id="32" name="v2-transfer-node-680"/>
            <p:cNvGrpSpPr/>
            <p:nvPr/>
          </p:nvGrpSpPr>
          <p:grpSpPr>
            <a:xfrm>
              <a:off x="6477000" y="3028950"/>
              <a:ext cx="2095500" cy="828675"/>
              <a:chOff x="6477000" y="3028950"/>
              <a:chExt cx="2095500" cy="8286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477000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477000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183184" y="313055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/>
                    <a:ea typeface="Microsoft YaHei"/>
                    <a:cs typeface="Microsoft YaHei"/>
                  </a:rPr>
                  <a:t>受端站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00076" y="3482975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馈线余量与主变容量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2667000" y="3429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3239452" y="3383471"/>
              <a:ext cx="94297" cy="91059"/>
            </a:xfrm>
            <a:custGeom>
              <a:avLst/>
              <a:gdLst/>
              <a:ahLst/>
              <a:cxnLst/>
              <a:rect l="l" t="t" r="r" b="b"/>
              <a:pathLst>
                <a:path w="94297" h="91059">
                  <a:moveTo>
                    <a:pt x="94297" y="45529"/>
                  </a:moveTo>
                  <a:lnTo>
                    <a:pt x="0" y="91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5572125" y="3429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287452" y="3383471"/>
              <a:ext cx="94297" cy="91059"/>
            </a:xfrm>
            <a:custGeom>
              <a:avLst/>
              <a:gdLst/>
              <a:ahLst/>
              <a:cxnLst/>
              <a:rect l="l" t="t" r="r" b="b"/>
              <a:pathLst>
                <a:path w="94297" h="91059">
                  <a:moveTo>
                    <a:pt x="94297" y="45529"/>
                  </a:moveTo>
                  <a:lnTo>
                    <a:pt x="0" y="91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4505325" y="3857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905125" y="4143375"/>
              <a:ext cx="3190875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75635" y="42513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多条联络共用馈线与区段预算</a:t>
              </a:r>
            </a:p>
          </p:txBody>
        </p:sp>
      </p:grpSp>
      <p:grpSp>
        <p:nvGrpSpPr>
          <p:cNvPr id="44" name="v2-transfer-analysis"/>
          <p:cNvGrpSpPr/>
          <p:nvPr/>
        </p:nvGrpSpPr>
        <p:grpSpPr>
          <a:xfrm>
            <a:off x="333375" y="4924425"/>
            <a:ext cx="8477250" cy="1333500"/>
            <a:chOff x="333375" y="4924425"/>
            <a:chExt cx="8477250" cy="1333500"/>
          </a:xfrm>
        </p:grpSpPr>
        <p:sp>
          <p:nvSpPr>
            <p:cNvPr id="41" name="Rectangle 41"/>
            <p:cNvSpPr/>
            <p:nvPr/>
          </p:nvSpPr>
          <p:spPr>
            <a:xfrm>
              <a:off x="333375" y="4924425"/>
              <a:ext cx="8477250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0436" y="4937125"/>
              <a:ext cx="7561707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lnSpc>
                  <a:spcPts val="187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共同校核：</a:t>
              </a: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区段内负荷与光伏一同切换，源端可切负荷、路径共享和受端主变余量共同限制转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供；正常与N-1分别采用年度固定方案。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0436" y="5470525"/>
              <a:ext cx="7597775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lnSpc>
                  <a:spcPts val="187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工程取值：</a:t>
              </a: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10 kV、485 A及功率因数0.95折算有功7.98 MW，工程上限取8.00 MW；示例区段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有效转供7.49 MW，新增项目按投运年计费。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4.7 五参数推荐范围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按片区条件定位推荐带，再核定具体设备方案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592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依据：研究报告5.6、表3-21、表5-63</a:t>
              </a:r>
            </a:p>
          </p:txBody>
        </p:sp>
      </p:grpSp>
      <p:grpSp>
        <p:nvGrpSpPr>
          <p:cNvPr id="24" name="lookup-step-0"/>
          <p:cNvGrpSpPr/>
          <p:nvPr/>
        </p:nvGrpSpPr>
        <p:grpSpPr>
          <a:xfrm>
            <a:off x="333375" y="2647950"/>
            <a:ext cx="2028825" cy="981075"/>
            <a:chOff x="333375" y="2647950"/>
            <a:chExt cx="2028825" cy="981075"/>
          </a:xfrm>
        </p:grpSpPr>
        <p:sp>
          <p:nvSpPr>
            <p:cNvPr id="20" name="Rectangle 20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891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① 电缆占比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198" y="317182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确定三类造价分区</a:t>
              </a:r>
            </a:p>
          </p:txBody>
        </p:sp>
      </p:grpSp>
      <p:grpSp>
        <p:nvGrpSpPr>
          <p:cNvPr id="29" name="lookup-step-1"/>
          <p:cNvGrpSpPr/>
          <p:nvPr/>
        </p:nvGrpSpPr>
        <p:grpSpPr>
          <a:xfrm>
            <a:off x="2476500" y="2647950"/>
            <a:ext cx="2028825" cy="981075"/>
            <a:chOff x="2476500" y="2647950"/>
            <a:chExt cx="2028825" cy="981075"/>
          </a:xfrm>
        </p:grpSpPr>
        <p:sp>
          <p:nvSpPr>
            <p:cNvPr id="25" name="Rectangle 25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8203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② 负荷分散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4323" y="3171825"/>
              <a:ext cx="12536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按1.15划分两档</a:t>
              </a:r>
            </a:p>
          </p:txBody>
        </p:sp>
      </p:grpSp>
      <p:grpSp>
        <p:nvGrpSpPr>
          <p:cNvPr id="34" name="lookup-step-2"/>
          <p:cNvGrpSpPr/>
          <p:nvPr/>
        </p:nvGrpSpPr>
        <p:grpSpPr>
          <a:xfrm>
            <a:off x="4619625" y="2647950"/>
            <a:ext cx="2028825" cy="981075"/>
            <a:chOff x="4619625" y="2647950"/>
            <a:chExt cx="2028825" cy="981075"/>
          </a:xfrm>
        </p:grpSpPr>
        <p:sp>
          <p:nvSpPr>
            <p:cNvPr id="30" name="Rectangle 30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2516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③ 源荷条件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27448" y="3159125"/>
              <a:ext cx="1638554" cy="460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增长率与装机渗透率选</a:t>
              </a:r>
              <a:b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行</a:t>
              </a:r>
            </a:p>
          </p:txBody>
        </p:sp>
      </p:grpSp>
      <p:grpSp>
        <p:nvGrpSpPr>
          <p:cNvPr id="39" name="lookup-step-3"/>
          <p:cNvGrpSpPr/>
          <p:nvPr/>
        </p:nvGrpSpPr>
        <p:grpSpPr>
          <a:xfrm>
            <a:off x="6762750" y="2647950"/>
            <a:ext cx="2028825" cy="981075"/>
            <a:chOff x="6762750" y="2647950"/>
            <a:chExt cx="2028825" cy="981075"/>
          </a:xfrm>
        </p:grpSpPr>
        <p:sp>
          <p:nvSpPr>
            <p:cNvPr id="35" name="Rectangle 35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6828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④ 初始转供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0573" y="317182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定位推荐区间列</a:t>
              </a:r>
            </a:p>
          </p:txBody>
        </p:sp>
      </p:grpSp>
      <p:graphicFrame>
        <p:nvGraphicFramePr>
          <p:cNvPr id="40" name="lookup-example"/>
          <p:cNvGraphicFramePr>
            <a:graphicFrameLocks noGrp="1"/>
          </p:cNvGraphicFramePr>
          <p:nvPr/>
        </p:nvGraphicFramePr>
        <p:xfrm>
          <a:off x="333375" y="3990975"/>
          <a:ext cx="8477250" cy="97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288"/>
                <a:gridCol w="1630241"/>
                <a:gridCol w="1630241"/>
                <a:gridCol w="1630240"/>
                <a:gridCol w="1630240"/>
              </a:tblGrid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推荐容载比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1.96～2.03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1.89～1.96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1.63～1.69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4" name="lookup-condition"/>
          <p:cNvGrpSpPr/>
          <p:nvPr/>
        </p:nvGrpSpPr>
        <p:grpSpPr>
          <a:xfrm>
            <a:off x="325755" y="5143500"/>
            <a:ext cx="8484870" cy="620395"/>
            <a:chOff x="325755" y="5143500"/>
            <a:chExt cx="8484870" cy="620395"/>
          </a:xfrm>
        </p:grpSpPr>
        <p:sp>
          <p:nvSpPr>
            <p:cNvPr id="41" name="Rectangle 41"/>
            <p:cNvSpPr/>
            <p:nvPr/>
          </p:nvSpPr>
          <p:spPr>
            <a:xfrm>
              <a:off x="333375" y="5143500"/>
              <a:ext cx="847725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5755" y="520382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示例条件：电缆长度占比≤10%，负荷分散系数≤1.15，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5755" y="5470525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年最大净负荷平均增长率&gt;7%，装机渗透率(1,2]。</a:t>
              </a:r>
            </a:p>
          </p:txBody>
        </p:sp>
      </p:grpSp>
      <p:grpSp>
        <p:nvGrpSpPr>
          <p:cNvPr id="48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5" name="Rectangle 4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0055" y="5899150"/>
              <a:ext cx="6890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六表288单元；基准宽0.10、定位网格0.02，接近容量水平按中点共用界值。</a:t>
              </a:r>
            </a:p>
          </p:txBody>
        </p:sp>
      </p:grpSp>
      <p:grpSp>
        <p:nvGrpSpPr>
          <p:cNvPr id="49" name="v2-lookup-purpose"/>
          <p:cNvGrpSpPr/>
          <p:nvPr/>
        </p:nvGrpSpPr>
        <p:grpSpPr>
          <a:xfrm>
            <a:off x="333375" y="3648075"/>
            <a:ext cx="8477250" cy="323850"/>
            <a:chOff x="333375" y="3648075"/>
            <a:chExt cx="8477250" cy="323850"/>
          </a:xfrm>
        </p:grpSpPr>
        <p:sp>
          <p:nvSpPr>
            <p:cNvPr id="50" name="Rectangle 23"/>
            <p:cNvSpPr/>
            <p:nvPr/>
          </p:nvSpPr>
          <p:spPr>
            <a:xfrm>
              <a:off x="333375" y="3648075"/>
              <a:ext cx="847725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TextBox 25"/>
            <p:cNvSpPr txBox="1"/>
            <p:nvPr/>
          </p:nvSpPr>
          <p:spPr>
            <a:xfrm>
              <a:off x="441008" y="3673475"/>
              <a:ext cx="597437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1414" indent="-141414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窗口用于容量初选，再按站级缺口、主变结构与可实施措施落实设备方案。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4.8 参数响应与设备切换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网络支援改善体现为分档推荐带和设备组合变化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依据：研究报告表5-69—5-75</a:t>
              </a:r>
            </a:p>
          </p:txBody>
        </p:sp>
      </p:grpSp>
      <p:grpSp>
        <p:nvGrpSpPr>
          <p:cNvPr id="23" name="v2-figure-23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23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70197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受控对照：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两组均固定装机渗透率50%、电缆长度占比50%，采用设备重新选配条件，保留初始转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供率10%—90%的九个细节点。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7840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响应机制：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转供改善总体降低容量需求，平台与局部回升对应真实设备组合。其他参数分别改变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反向任务、负荷规模、线路造价和局部高峰，触发不同措施替代。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一</a:t>
              </a: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研究背景</a:t>
                </a: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二</a:t>
              </a: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研究目标和思路</a:t>
                </a: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三</a:t>
              </a: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研究内容</a:t>
                </a: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四</a:t>
              </a: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实证分析</a:t>
                </a: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五</a:t>
              </a: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/>
              <p:nvPr/>
            </p:nvSpPr>
            <p:spPr>
              <a:xfrm>
                <a:off x="2169033" y="55085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项目成效</a:t>
                </a: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24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25"/>
            <p:cNvSpPr txBox="1"/>
            <p:nvPr/>
          </p:nvSpPr>
          <p:spPr>
            <a:xfrm>
              <a:off x="8868766" y="65385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25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项目成效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5.1 研究成果与规划应用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形成从运行特征到片区工程建议的完整研究链条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678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依据：研究报告第六章、5.7</a:t>
              </a:r>
            </a:p>
          </p:txBody>
        </p:sp>
      </p:grpSp>
      <p:grpSp>
        <p:nvGrpSpPr>
          <p:cNvPr id="20" name="v2-method-24-0"/>
          <p:cNvGrpSpPr/>
          <p:nvPr/>
        </p:nvGrpSpPr>
        <p:grpSpPr>
          <a:xfrm>
            <a:off x="333375" y="2609850"/>
            <a:ext cx="4124325" cy="1438275"/>
            <a:chOff x="333375" y="2609850"/>
            <a:chExt cx="4124325" cy="1438275"/>
          </a:xfrm>
        </p:grpSpPr>
        <p:sp>
          <p:nvSpPr>
            <p:cNvPr id="40" name="Rectangle 12"/>
            <p:cNvSpPr/>
            <p:nvPr/>
          </p:nvSpPr>
          <p:spPr>
            <a:xfrm>
              <a:off x="333375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16"/>
            <p:cNvSpPr/>
            <p:nvPr/>
          </p:nvSpPr>
          <p:spPr>
            <a:xfrm>
              <a:off x="333375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2" name="TextBox 18"/>
            <p:cNvSpPr txBox="1"/>
            <p:nvPr/>
          </p:nvSpPr>
          <p:spPr>
            <a:xfrm>
              <a:off x="372999" y="2657475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运行特征与参数</a:t>
              </a:r>
            </a:p>
          </p:txBody>
        </p:sp>
        <p:sp>
          <p:nvSpPr>
            <p:cNvPr id="43" name="TextBox 19"/>
            <p:cNvSpPr txBox="1"/>
            <p:nvPr/>
          </p:nvSpPr>
          <p:spPr>
            <a:xfrm>
              <a:off x="374142" y="2921000"/>
              <a:ext cx="3631311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完成46站正反向任务分析，经两层筛选形成五项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参数，把电源、负荷、网络和局部峰值条件与容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量规划联系起来。</a:t>
              </a:r>
            </a:p>
          </p:txBody>
        </p:sp>
      </p:grpSp>
      <p:grpSp>
        <p:nvGrpSpPr>
          <p:cNvPr id="25" name="v2-method-24-1"/>
          <p:cNvGrpSpPr/>
          <p:nvPr/>
        </p:nvGrpSpPr>
        <p:grpSpPr>
          <a:xfrm>
            <a:off x="4686300" y="2609850"/>
            <a:ext cx="4124325" cy="1438275"/>
            <a:chOff x="4686300" y="2609850"/>
            <a:chExt cx="4124325" cy="1438275"/>
          </a:xfrm>
        </p:grpSpPr>
        <p:sp>
          <p:nvSpPr>
            <p:cNvPr id="21" name="Rectangle 21"/>
            <p:cNvSpPr/>
            <p:nvPr/>
          </p:nvSpPr>
          <p:spPr>
            <a:xfrm>
              <a:off x="4686300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686300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25924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工程费用与联合配置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27067" y="2921000"/>
              <a:ext cx="372560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建立主变更换、扩建、储能柜和联络项目的统一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费用关系，在正常与N-1条件下逐年承接设备，解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释措施替代。</a:t>
              </a:r>
            </a:p>
          </p:txBody>
        </p:sp>
      </p:grpSp>
      <p:grpSp>
        <p:nvGrpSpPr>
          <p:cNvPr id="30" name="v2-method-24-2"/>
          <p:cNvGrpSpPr/>
          <p:nvPr/>
        </p:nvGrpSpPr>
        <p:grpSpPr>
          <a:xfrm>
            <a:off x="333375" y="4219575"/>
            <a:ext cx="4124325" cy="1438275"/>
            <a:chOff x="333375" y="4219575"/>
            <a:chExt cx="4124325" cy="1438275"/>
          </a:xfrm>
        </p:grpSpPr>
        <p:sp>
          <p:nvSpPr>
            <p:cNvPr id="26" name="Rectangle 26"/>
            <p:cNvSpPr/>
            <p:nvPr/>
          </p:nvSpPr>
          <p:spPr>
            <a:xfrm>
              <a:off x="333375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33375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2999" y="426720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地区方案与推荐矩阵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4142" y="4530725"/>
              <a:ext cx="375989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两地区弹性方案费用现值合计减少2898.67万元、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降幅2.96%。六表288单元提供有条件的容量初选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窗口。</a:t>
              </a:r>
            </a:p>
          </p:txBody>
        </p:sp>
      </p:grpSp>
      <p:grpSp>
        <p:nvGrpSpPr>
          <p:cNvPr id="35" name="v2-method-24-3"/>
          <p:cNvGrpSpPr/>
          <p:nvPr/>
        </p:nvGrpSpPr>
        <p:grpSpPr>
          <a:xfrm>
            <a:off x="4686300" y="4219575"/>
            <a:ext cx="4124325" cy="1438275"/>
            <a:chOff x="4686300" y="4219575"/>
            <a:chExt cx="4124325" cy="1438275"/>
          </a:xfrm>
        </p:grpSpPr>
        <p:sp>
          <p:nvSpPr>
            <p:cNvPr id="31" name="Rectangle 31"/>
            <p:cNvSpPr/>
            <p:nvPr/>
          </p:nvSpPr>
          <p:spPr>
            <a:xfrm>
              <a:off x="4686300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686300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5924" y="426720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一片一策落地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27067" y="4530725"/>
              <a:ext cx="361416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先核定同范围源荷与网络参数，再查表并落实设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备、间隔和投运时点；结合真实馈线与储能运行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资料滚动更新。</a:t>
              </a:r>
            </a:p>
          </p:txBody>
        </p:sp>
      </p:grpSp>
      <p:grpSp>
        <p:nvGrpSpPr>
          <p:cNvPr id="39" name="v2-closing-24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36" name="Rectangle 3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0817" y="5892800"/>
              <a:ext cx="7238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应用条件：</a:t>
              </a: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工程实施继续核定连续SOC、电压与保护条件，并补充运行费用和资产价值。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2388" y="44537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>
                <a:solidFill>
                  <a:schemeClr val="accent1"/>
                </a:solidFill>
              </a14:hiddenFill>
            </a:ext>
            <a:ext uri="{91240B29-F687-4F45-9708-019B960494DF}">
              <a14:hiddenLine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54388" y="445376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>
                <a:solidFill>
                  <a:schemeClr val="accent1"/>
                </a:solidFill>
              </a14:hiddenFill>
            </a:ext>
            <a:ext uri="{91240B29-F687-4F45-9708-019B960494DF}">
              <a14:hiddenLine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72652" y="3129694"/>
            <a:ext cx="3563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017977"/>
                </a:solidFill>
              </a:rPr>
              <a:t>谢 谢！</a:t>
            </a:r>
            <a:endParaRPr lang="zh-CN" altLang="en-US" sz="9600" dirty="0">
              <a:solidFill>
                <a:srgbClr val="01797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备查：逐年配置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邳州逐年主变、储能及累计新增联络对照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依据：研究报告表5-4</a:t>
              </a: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2091.50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2057.00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2078.50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2338.50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2125.50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2388.50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2475.50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2302.50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126.60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2352.50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2741.00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147.40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2589.50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2891.00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2678.00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264.30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2901.00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253.80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单位：容量MVA，储能为在役额定功率MW；新线为累计新增联络条数。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备查：逐年配置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市区逐年主变、储能及累计新增联络对照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</a:t>
              </a: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3190.50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3253.00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3160.50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3240.50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3473.00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3426.00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3558.50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3453.00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3558.50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3587.00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单位：容量MVA，储能为在役额定功率MW；新线为累计新增联络条数。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备查：方法与经济参数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采样设计、有效样本和共同经济条件分别登记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依据：研究报告表3-14、表3-15、表4-1</a:t>
              </a:r>
            </a:p>
          </p:txBody>
        </p:sp>
      </p:grpSp>
      <p:graphicFrame>
        <p:nvGraphicFramePr>
          <p:cNvPr id="20" name="sampling-details"/>
          <p:cNvGraphicFramePr>
            <a:graphicFrameLocks noGrp="1"/>
          </p:cNvGraphicFramePr>
          <p:nvPr/>
        </p:nvGraphicFramePr>
        <p:xfrm>
          <a:off x="333375" y="2562225"/>
          <a:ext cx="847725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372"/>
                <a:gridCol w="1867869"/>
                <a:gridCol w="1436822"/>
                <a:gridCol w="1724187"/>
              </a:tblGrid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候选指标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取点/计算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有效组数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有效节点数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2484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电量渗透率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站级负载率最大值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最大正向净负荷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11988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88781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最大反向净负荷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4329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95%峰值持续时间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5140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41118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负荷分散系数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10608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31473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32058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主变/线路投资比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7个价格节点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2466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17262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主变/储能投资比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7个价格节点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2466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17262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电缆长度占比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7584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储能支撑持续时间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10704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economic-parameters"/>
          <p:cNvGrpSpPr/>
          <p:nvPr/>
        </p:nvGrpSpPr>
        <p:grpSpPr>
          <a:xfrm>
            <a:off x="326898" y="5791200"/>
            <a:ext cx="8483727" cy="514350"/>
            <a:chOff x="326898" y="5791200"/>
            <a:chExt cx="8483727" cy="514350"/>
          </a:xfrm>
        </p:grpSpPr>
        <p:sp>
          <p:nvSpPr>
            <p:cNvPr id="21" name="Rectangle 21"/>
            <p:cNvSpPr/>
            <p:nvPr/>
          </p:nvSpPr>
          <p:spPr>
            <a:xfrm>
              <a:off x="333375" y="5791200"/>
              <a:ext cx="8477250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5848350"/>
              <a:ext cx="58716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寿命：主变/线路/储能40/40/25年；维护费率4.2%/2.2%/3%；折现率6%。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6898" y="6048375"/>
              <a:ext cx="54580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评价基准2021年、截止2041年；采样实际取值节点保留于报告表3-14。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电缆长度占比≤10%，负荷分散系数≤1.15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依据：研究报告表5-63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2.65～2.75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1.81～1.89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1.88～1.97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1.43～1.53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1.63～1.69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2.35～2.41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电缆长度占比≤10%，负荷分散系数&gt;1.15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依据：研究报告表5-64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2.79～2.89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2.52～2.59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2.33～2.43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1.45～1.55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2.07～2.13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1.87～1.97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电缆长度占比(10%,30%]，负荷分散系数≤1.15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依据：研究报告表5-65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2.65～2.75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1.81～1.89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1.88～1.97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1.43～1.53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1.63～1.69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2.35～2.41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电缆长度占比(10%,30%]，负荷分散系数&gt;1.15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依据：研究报告表5-66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2.79～2.89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2.52～2.59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2.34～2.43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1.45～1.55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2.07～2.13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电缆长度占比&gt;30%，负荷分散系数≤1.15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依据：研究报告表5-67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2.79～2.89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2.65～2.75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1.79～1.89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1.65～1.73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1.88～1.97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1.43～1.53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2.35～2.41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电缆长度占比&gt;30%，负荷分散系数&gt;1.15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依据：研究报告表5-68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2.79～2.89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2.63～2.69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1.81～1.89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2.52～2.59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2.48～2.52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2.41～2.48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1.87～1.95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1.45～1.55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2.07～2.13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2.28～2.37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ds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96</ns0:Words>
  <ns0:Application>WPS 演示</ns0:Application>
  <ns0:PresentationFormat>全屏显示(4:3)</ns0:PresentationFormat>
  <ns0:Paragraphs>51</ns0:Paragraphs>
  <ns0:Slides>38</ns0:Slides>
  <ns0:Notes>11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15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4</ns1:i4>
      </ns1:variant>
    </ns1:vector>
  </ns0:HeadingPairs>
  <ns0:TitlesOfParts>
    <ns1:vector size="20" baseType="lpstr">
      <ns1:lpstr>Arial</ns1:lpstr>
      <ns1:lpstr>宋体</ns1:lpstr>
      <ns1:lpstr>Wingdings</ns1:lpstr>
      <ns1:lpstr>黑体</ns1:lpstr>
      <ns1:lpstr>Calibri</ns1:lpstr>
      <ns1:lpstr>汉仪大宋简</ns1:lpstr>
      <ns1:lpstr>微软雅黑</ns1:lpstr>
      <ns1:lpstr>华文细黑</ns1:lpstr>
      <ns1:lpstr>Hiragino Sans GB W3</ns1:lpstr>
      <ns1:lpstr>Segoe Print</ns1:lpstr>
      <ns1:lpstr>Franklin Gothic Book</ns1:lpstr>
      <ns1:lpstr>微软雅黑 Light</ns1:lpstr>
      <ns1:lpstr>Arial Unicode MS</ns1:lpstr>
      <ns1:lpstr>等线</ns1:lpstr>
      <ns1:lpstr>Times New Roman</ns1:lpstr>
      <ns1:lpstr>默认设计模板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关于开展电网投资项目协同管理工作的汇报</dc:title>
  <dc:creator>蔡武俊</dc:creator>
  <cp:lastModifiedBy>薛禾雨</cp:lastModifiedBy>
  <cp:revision>2734</cp:revision>
  <cp:lastPrinted>2016-12-01T05:46:00Z</cp:lastPrinted>
  <dcterms:created xsi:type="dcterms:W3CDTF">2015-06-16T03:37:00Z</dcterms:created>
  <dcterms:modified xsi:type="dcterms:W3CDTF">2023-07-09T10:49:26Z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2052-11.8.2.8696</vt:lpwstr>
  </property>
</Properties>
</file>