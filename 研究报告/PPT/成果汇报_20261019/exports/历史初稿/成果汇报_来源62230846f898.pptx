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</p:sldIdLst>
  <p:sldSz cx="9144000" cy="6858000" type="screen4x3"/>
  <p:notesSz cx="6797675" cy="9928225"/>
  <p:embeddedFontLst>
    <p:embeddedFont>
      <p:font typeface="黑体" panose="02010609060101010101" pitchFamily="49" charset="-12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微软雅黑" panose="020B0503020204020204" pitchFamily="34" charset="-122"/>
      <p:regular r:id="rId18"/>
    </p:embeddedFont>
    <p:embeddedFont>
      <p:font typeface="华文细黑" panose="02010600040101010101" pitchFamily="2" charset="-122"/>
      <p:regular r:id="rId19"/>
    </p:embeddedFont>
    <p:embeddedFont>
      <p:font typeface="等线" panose="02010600030101010101" charset="-122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家波" initials="王家波" lastIdx="1" clrIdx="0"/>
  <p:cmAuthor id="1" name="Xianing Jin" initials="XJ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66"/>
    <a:srgbClr val="F2F2F2"/>
    <a:srgbClr val="009595"/>
    <a:srgbClr val="FFFFFF"/>
    <a:srgbClr val="009191"/>
    <a:srgbClr val="009393"/>
    <a:srgbClr val="009797"/>
    <a:srgbClr val="009999"/>
    <a:srgbClr val="038D80"/>
    <a:srgbClr val="017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9217" autoAdjust="0"/>
  </p:normalViewPr>
  <p:slideViewPr>
    <p:cSldViewPr snapToGrid="0">
      <p:cViewPr varScale="1">
        <p:scale>
          <a:sx n="95" d="100"/>
          <a:sy n="95" d="100"/>
        </p:scale>
        <p:origin x="932" y="80"/>
      </p:cViewPr>
      <p:guideLst>
        <p:guide orient="horz" pos="550"/>
        <p:guide orient="horz" pos="832"/>
        <p:guide orient="horz" pos="2442"/>
        <p:guide pos="5647"/>
        <p:guide pos="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presProps" Target="presProps.xml" /><Relationship Id="rId8" Type="http://schemas.openxmlformats.org/officeDocument/2006/relationships/handoutMaster" Target="handoutMasters/handoutMaster1.xml" /><Relationship Id="rId4" Type="http://schemas.openxmlformats.org/officeDocument/2006/relationships/notesMaster" Target="notesMasters/notesMaster1.xml" /><Relationship Id="rId20" Type="http://schemas.openxmlformats.org/officeDocument/2006/relationships/font" Target="fonts/font8.fntdata" /><Relationship Id="rId2" Type="http://schemas.openxmlformats.org/officeDocument/2006/relationships/theme" Target="theme/theme1.xml" /><Relationship Id="rId19" Type="http://schemas.openxmlformats.org/officeDocument/2006/relationships/font" Target="fonts/font7.fntdata" /><Relationship Id="rId18" Type="http://schemas.openxmlformats.org/officeDocument/2006/relationships/font" Target="fonts/font6.fntdata" /><Relationship Id="rId17" Type="http://schemas.openxmlformats.org/officeDocument/2006/relationships/font" Target="fonts/font5.fntdata" /><Relationship Id="rId16" Type="http://schemas.openxmlformats.org/officeDocument/2006/relationships/font" Target="fonts/font4.fntdata" /><Relationship Id="rId15" Type="http://schemas.openxmlformats.org/officeDocument/2006/relationships/font" Target="fonts/font3.fntdata" /><Relationship Id="rId14" Type="http://schemas.openxmlformats.org/officeDocument/2006/relationships/font" Target="fonts/font2.fntdata" /><Relationship Id="rId13" Type="http://schemas.openxmlformats.org/officeDocument/2006/relationships/font" Target="fonts/font1.fntdata" /><Relationship Id="rId12" Type="http://schemas.openxmlformats.org/officeDocument/2006/relationships/commentAuthors" Target="commentAuthors.xml" /><Relationship Id="rId11" Type="http://schemas.openxmlformats.org/officeDocument/2006/relationships/tableStyles" Target="tableStyles.xml" /><Relationship Id="rId1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1" Type="http://schemas.openxmlformats.org/officeDocument/2006/relationships/slide" Target="slides/slide1.xml" /><Relationship Id="rId22" Type="http://schemas.openxmlformats.org/officeDocument/2006/relationships/slide" Target="slides/slide2.xml" /><Relationship Id="rId23" Type="http://schemas.openxmlformats.org/officeDocument/2006/relationships/slide" Target="slides/slide3.xml" /><Relationship Id="rId24" Type="http://schemas.openxmlformats.org/officeDocument/2006/relationships/slide" Target="slides/slide4.xml" /><Relationship Id="rId25" Type="http://schemas.openxmlformats.org/officeDocument/2006/relationships/slide" Target="slides/slide5.xml" /><Relationship Id="rId26" Type="http://schemas.openxmlformats.org/officeDocument/2006/relationships/slide" Target="slides/slide6.xml" /><Relationship Id="rId27" Type="http://schemas.openxmlformats.org/officeDocument/2006/relationships/slide" Target="slides/slide7.xml" /><Relationship Id="rId28" Type="http://schemas.openxmlformats.org/officeDocument/2006/relationships/slide" Target="slides/slide8.xml" /><Relationship Id="rId29" Type="http://schemas.openxmlformats.org/officeDocument/2006/relationships/slide" Target="slides/slide9.xml" /><Relationship Id="rId30" Type="http://schemas.openxmlformats.org/officeDocument/2006/relationships/slide" Target="slides/slide10.xml" /><Relationship Id="rId31" Type="http://schemas.openxmlformats.org/officeDocument/2006/relationships/slide" Target="slides/slide11.xml" /><Relationship Id="rId32" Type="http://schemas.openxmlformats.org/officeDocument/2006/relationships/slide" Target="slides/slide12.xml" /><Relationship Id="rId33" Type="http://schemas.openxmlformats.org/officeDocument/2006/relationships/slide" Target="slides/slide13.xml" /><Relationship Id="rId34" Type="http://schemas.openxmlformats.org/officeDocument/2006/relationships/slide" Target="slides/slide14.xml" /><Relationship Id="rId35" Type="http://schemas.openxmlformats.org/officeDocument/2006/relationships/slide" Target="slides/slide15.xml" /><Relationship Id="rId36" Type="http://schemas.openxmlformats.org/officeDocument/2006/relationships/slide" Target="slides/slide16.xml" /><Relationship Id="rId37" Type="http://schemas.openxmlformats.org/officeDocument/2006/relationships/slide" Target="slides/slide17.xml" /><Relationship Id="rId38" Type="http://schemas.openxmlformats.org/officeDocument/2006/relationships/slide" Target="slides/slide18.xml" /><Relationship Id="rId39" Type="http://schemas.openxmlformats.org/officeDocument/2006/relationships/slide" Target="slides/slide19.xml" /><Relationship Id="rId40" Type="http://schemas.openxmlformats.org/officeDocument/2006/relationships/slide" Target="slides/slide20.xml" /><Relationship Id="rId41" Type="http://schemas.openxmlformats.org/officeDocument/2006/relationships/slide" Target="slides/slide21.xml" /><Relationship Id="rId42" Type="http://schemas.openxmlformats.org/officeDocument/2006/relationships/slide" Target="slides/slide22.xml" /><Relationship Id="rId43" Type="http://schemas.openxmlformats.org/officeDocument/2006/relationships/slide" Target="slides/slide23.xml" /><Relationship Id="rId44" Type="http://schemas.openxmlformats.org/officeDocument/2006/relationships/slide" Target="slides/slide24.xml" /><Relationship Id="rId45" Type="http://schemas.openxmlformats.org/officeDocument/2006/relationships/slide" Target="slides/slide25.xml" /><Relationship Id="rId46" Type="http://schemas.openxmlformats.org/officeDocument/2006/relationships/slide" Target="slides/slide26.xml" /><Relationship Id="rId47" Type="http://schemas.openxmlformats.org/officeDocument/2006/relationships/slide" Target="slides/slide27.xml" /><Relationship Id="rId48" Type="http://schemas.openxmlformats.org/officeDocument/2006/relationships/slide" Target="slides/slide28.xml" /><Relationship Id="rId49" Type="http://schemas.openxmlformats.org/officeDocument/2006/relationships/slide" Target="slides/slide29.xml" /><Relationship Id="rId50" Type="http://schemas.openxmlformats.org/officeDocument/2006/relationships/slide" Target="slides/slide30.xml" /><Relationship Id="rId51" Type="http://schemas.openxmlformats.org/officeDocument/2006/relationships/slide" Target="slides/slide31.xml" /><Relationship Id="rId52" Type="http://schemas.openxmlformats.org/officeDocument/2006/relationships/slide" Target="slides/slide32.xml" /><Relationship Id="rId53" Type="http://schemas.openxmlformats.org/officeDocument/2006/relationships/slide" Target="slides/slide33.xml" /><Relationship Id="rId54" Type="http://schemas.openxmlformats.org/officeDocument/2006/relationships/slide" Target="slides/slide34.xml" /><Relationship Id="rId55" Type="http://schemas.openxmlformats.org/officeDocument/2006/relationships/slide" Target="slides/slide35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2B93EAEC-2161-4609-AE92-2EDD2607CF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30092"/>
            <a:ext cx="2945659" cy="496412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2FDF2F26-35DF-4761-A9C8-96DA3B3B93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135"/>
          </a:xfrm>
          <a:prstGeom prst="rect">
            <a:avLst/>
          </a:prstGeom>
        </p:spPr>
        <p:txBody>
          <a:bodyPr vert="horz" lIns="95561" tIns="47780" rIns="95561" bIns="47780" rtlCol="0"/>
          <a:lstStyle>
            <a:lvl1pPr algn="r">
              <a:defRPr sz="1300"/>
            </a:lvl1pPr>
          </a:lstStyle>
          <a:p>
            <a:fld id="{D4C542F9-1364-44B9-8533-A926207E437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0" rIns="95561" bIns="4778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5561" tIns="47780" rIns="95561" bIns="4778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30093"/>
            <a:ext cx="2945659" cy="498134"/>
          </a:xfrm>
          <a:prstGeom prst="rect">
            <a:avLst/>
          </a:prstGeom>
        </p:spPr>
        <p:txBody>
          <a:bodyPr vert="horz" lIns="95561" tIns="47780" rIns="95561" bIns="47780" rtlCol="0" anchor="b"/>
          <a:lstStyle>
            <a:lvl1pPr algn="r">
              <a:defRPr sz="1300"/>
            </a:lvl1pPr>
          </a:lstStyle>
          <a:p>
            <a:fld id="{5A583F09-9D4B-4288-9E4A-F5D4C0754C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1.xml"/>
</Relationships>
</file>

<file path=ppt/notesSlides/_rels/notesSlide3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2.xml"/>
</Relationships>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3.xml"/>
</Relationships>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4.xml"/>
</Relationships>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5.xml"/>
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本次汇报围绕分布式新能源高渗透率下110 kV电网容载比与双向容量需求的协调问题，介绍运行特征、工程成本、联合配置结果及规划应用建议。</a:t>
            </a:r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汇报分为五部分。首先说明规划问题和研究思路，然后介绍运行分析与成本模型，重点报告两地区逐年方案及五参数推荐范围，最后说明成果和应用条件。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光伏出力较高时，本地负荷由分布式电源供给，剩余功率可能通过主变向上级电网反送。晚间光伏退出后，主变仍承担正向供电。研究据此把区域容载比与逐站正反向容量、主变N-1和站间支援联系起来。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研究先从年度统计和站级资料识别运行任务，再用真实工程造价建立统一费用模型。在相同供电条件下联合选择主变、联络和储能，通过逐年设备与费用结果解释弹性容量的作用，并归纳五参数推荐范围。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两地区保留各自源荷与设备特征，站级分析覆盖邳州20座和市区26座110 kV变电站。历史统计用于描述现状，逐年方案以2021年实际容量为共同起点。时序样本按报告方法补齐为8760小时，装机和电量渗透率中相应估计范围保留。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2021—2025年邳州主变容量增加112.50 MVA，年网供最大负荷增加224.68 MW，容载比由2.77降至2.24。市区同期容量增加587.50 MVA，负荷增加79.05 MW，容载比由2.15升至2.42。比值需同时联系容量和负荷，而年度回落年份还应保留已投运设备的作用。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邳州2025年末光伏装机为1559.64 MW，市区为491.18 MW。两地区的装机和电量渗透率表明，邳州更需关注日间反送。未来光伏按报告的全市相对发展比例形成情景，并与负荷预测分别输入。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净负荷受入为正、反送为负，图中保留补齐后的全年序列。近峰阈值为区域净负荷绝对峰值的95%，邳州最长连续2小时、市区6小时。该统计描述运行过程，年度容载比仍使用年度统计峰值。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46座站的正反向极值展示了容量任务在空间上的差异。邳州有4座站反向幅值较大，市区有1座，其他站以正向任务为主。站级负载率是按容量和功率因数折算的计算指标，与逐台设备实测年最大负载率分别使用。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先在固定其他条件的受控组内，计算候选指标与容载比的Pearson相关，保留零容量响应组。十三项中九项达到绝对值0.40，再以参数间绝对值0.70归并信息重叠较多的组，优先采用具有明确规划含义的基础输入，形成五项推广参数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项参数为装机渗透率、年最大净负荷平均增长率、电缆长度占比、初始转供率和负荷分散系数。有效情景库中最大参数间相关绝对值为0.29，五项保留电源规模、负荷发展、线路经济条件、既有支援和局部峰值分布的信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主变更换按整台新购容量计价，扩建按完整项目投资计价，新购容量与净增容量分别反映采购费用和区域容量变化。联络按实际新建条数与地区综合造价计费。三类措施后续统一按投运批次计算评价期费用。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储能支撑同时受功率和可用电量约束，研究取可用电量系数0.76。对额定1 MW、2.15 MWh配置，2、4、6小时有效支撑分别为0.82、0.41、0.27 MW。时间条件改变可用支撑规模，工程投资仍按新增整数柜及统一单价计取。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三类措施在同一供电任务下联合选择，设备按可选额定容量、台数和整台投运，储能柜数及新增联络数量取整数。正常运行和最大单台主变N-1条件共同限制方案，储能与转供在同年设备状态下参与容量支撑。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类方案使用相同2021年实际容量和各年源荷，后续承接已投运设备。刚性基准对新增扩容实行容量控制，弹性方案在相同正常和故障约束下比较主变、储能与联络费用。比较统一评价期内新增措施费用现值，不将求解可行结果称为已证明全局最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邳州弹性方案在若干建设节点形成更多站内容量，后期储能和联络需求相应改变。2035年弹性主变2901.00 MVA、容载比2.06，刚性分别为2678.00 MVA、1.90。全期弹性费用57521.36万元，比刚性减少848.32万元。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市区2022年两方案相同，2030年弹性累计费用仍高于刚性，后续建设共同形成全期费用优势。2035年弹性主变3608.50 MVA、容载比1.62，储能额定能量109.65 MWh高于刚性92.88 MWh，累计新增联络则从66条降至35条。全期费用减少2050.35万元。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地区弹性方案的主变费用均增加，但储能及联络费用变化不同。邳州储能和联络费用下降共同抵消新增主变支出；市区主要由联络费用下降形成优势，储能费用略增。两地区合计费用现值减少2898.67万元，降幅2.96%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2035年邳州弹性储能545.67 MWh、累计新增联络21条，刚性分别为568.25 MWh、58条。市区弹性储能109.65 MWh高于刚性，但累计新增联络35条低于刚性66条。容量、储能和联络必须作为同一配置组合比较。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戴圩变弹性方案扩建第三台50 MVA主变，2035年总容量由刚性113.00 MVA提高到163.00 MVA，配储需求改变。兴塘变通过不同主变组合提高N-1剩余容量；八义集变则在总容量相同条件下，储能和年度固定转接任务不同。逐站解释均对应本站实际配置。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联络将具体源荷区段切换至有余量的受端，负荷和区段内光伏共同切换。既有转供能力以逐站MW封顶，正常与事故追加共同占用路径和共享馈线预算。新增工程按实际项目计费，其支撑作用仍需通过源端可切负荷、通道和受端主变校核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矩阵先按三档电缆占比和两档负荷分散系数选表，再以增长率和装机渗透率选行、初始转供率选列。示例四档推荐窗口为1.90至2.10、1.85至2.05、1.55至1.75、1.50至1.70。每格由最接近中位数的真实节点定位宽0.20窗口，同距取较大值，中心按0.05网格取值。查表后按实际主变、扩建位置和网络条件形成设备方案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组典型转供场景在设备重新选配条件下保留10%至90%的九个细节点，容量随转供改善总体降低，同时存在真实平台和局部回升。装机渗透率提高影响反向任务，增长率同时改变负荷分母与建设需求，电缆造价和局部峰值分散则在部分节点触发措施替代。推荐范围与具体设备响应共同使用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形成运行特征、工程费用、地区逐年方案和五参数推荐矩阵四类成果。两地区所设条件下弹性费用现值合计降低2.96%，具体建设路径随片区源荷和网络条件变化。工程采用时还需核定连续储能运行、实际网络及相关费用条件，滚动更新设备与推荐范围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汇报完毕，敬请各位专家批评指正。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本页逐年列示刚性和弹性方案的在役容量、容载比、储能额定功率和累计新增联络。历史年度为同一模型下的回算，未来为报告预测条件下的结果。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候选参数的取点与有效统计样本分别列示，参数间相关阈值仅用于本研究维度归纳。所有地区方案采用相同寿命、维护费率、折现率与共同评价期。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本页负荷分散系数≤1.15，完整列出相应电缆占比分区下的推荐窗口。读取行列时同时核对增长率、装机渗透率及初始转供率。系数仿真范围1.05至1.25，每0.02取点，窗口用于初步容量比选。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本页负荷分散系数&gt;1.15，完整列出相应电缆占比分区下的推荐窗口。读取行列时同时核对增长率、装机渗透率及初始转供率。系数仿真范围1.05至1.25，每0.02取点，窗口用于初步容量比选。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装机渗透率、增长率、电缆长度占比和负荷分散系数分别改变源荷任务、比值分母、线路造价和局部峰值条件。负荷分散系数完整11节点中，1.07和1.15补强主变，1.21转为10项联络，末三个节点设备及费用相同。图中保留报告归并的相同区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27225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54B57AF-16D0-4473-BA39-9DBA4F1BA4A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5FA06F-73F4-43B1-9180-37F105F7069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623CCD2-957F-4D25-A49B-38B14FE747D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77036B-235D-4D28-BF62-4F9DE70CF38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5B2C882-851A-4969-87EE-84A661D0EF3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6906D2-9CD4-493A-B3A1-F7BBACC104BB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C2D0605-C913-4AF0-80A1-168CF4A527BA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7F3A8A7-C69F-4728-B77E-4B58DDD99ABF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D04195-C942-43EA-83A2-B8062C38B78C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4BC10B9-8B20-433E-9FDA-BB052076CA73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F8AE16A-DC68-474B-BB08-BDCA7A29B7A1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754259-B361-4FED-9CBC-19B280397A5E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1"/>
          <p:cNvSpPr>
            <a:spLocks noGrp="1"/>
          </p:cNvSpPr>
          <p:nvPr>
            <p:ph type="title"/>
          </p:nvPr>
        </p:nvSpPr>
        <p:spPr bwMode="auto">
          <a:xfrm>
            <a:off x="468314" y="3"/>
            <a:ext cx="8203443" cy="105273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0" tIns="0" rIns="0" bIns="72000" numCol="1" anchor="b" anchorCtr="0" compatLnSpc="1"/>
          <a:lstStyle>
            <a:lvl1pPr algn="l">
              <a:defRPr sz="1800">
                <a:latin typeface="+mn-ea"/>
                <a:ea typeface="+mn-ea"/>
              </a:defRPr>
            </a:lvl1pPr>
          </a:lstStyle>
          <a:p>
            <a:endParaRPr lang="en-US" noProof="0" dirty="0"/>
          </a:p>
        </p:txBody>
      </p:sp>
      <p:cxnSp>
        <p:nvCxnSpPr>
          <p:cNvPr id="10" name="Straight Connector 9"/>
          <p:cNvCxnSpPr/>
          <p:nvPr userDrawn="1"/>
        </p:nvCxnSpPr>
        <p:spPr bwMode="auto">
          <a:xfrm>
            <a:off x="0" y="1052736"/>
            <a:ext cx="9144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33293"/>
            <a:ext cx="1379913" cy="51538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32337" y="143949"/>
            <a:ext cx="5765426" cy="115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3303F3-3285-4B02-863F-EAD8120BEBD5}" type="datetime1">
              <a:rPr lang="zh-CN" altLang="en-US" smtClean="0">
                <a:solidFill>
                  <a:srgbClr val="000000"/>
                </a:solidFill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9AE72A9-7A29-4278-BBB7-1A32BF7F50D0}" type="slidenum">
              <a:rPr lang="zh-CN" altLang="en-US" smtClean="0">
                <a:solidFill>
                  <a:srgbClr val="000000"/>
                </a:solidFill>
                <a:latin typeface="黑体" panose="02010609060101010101" pitchFamily="49" charset="-122"/>
              </a:rPr>
            </a:fld>
            <a:endParaRPr lang="en-US" altLang="zh-CN" sz="180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cxnSp>
        <p:nvCxnSpPr>
          <p:cNvPr id="9" name="直接连接符 6"/>
          <p:cNvCxnSpPr/>
          <p:nvPr userDrawn="1"/>
        </p:nvCxnSpPr>
        <p:spPr>
          <a:xfrm>
            <a:off x="0" y="1335917"/>
            <a:ext cx="9144000" cy="0"/>
          </a:xfrm>
          <a:prstGeom prst="line">
            <a:avLst/>
          </a:prstGeom>
          <a:ln w="19050">
            <a:solidFill>
              <a:srgbClr val="1C979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" name="图片 4" descr="nbwz_banner"/>
          <p:cNvPicPr>
            <a:picLocks noChangeAspect="1"/>
          </p:cNvPicPr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54293" y="121323"/>
            <a:ext cx="3034955" cy="11491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.xml" /><Relationship Id="rId2" Type="http://schemas.openxmlformats.org/officeDocument/2006/relationships/image" Target="../media/image5.png" /><Relationship Id="rId1" Type="http://schemas.openxmlformats.org/officeDocument/2006/relationships/image" Target="../media/image4.jpeg" />  <Relationship Id="rId4" Type="http://schemas.openxmlformats.org/officeDocument/2006/relationships/notesSlide" Target="../notesSlides/notesSlide1_tf1.xml"/>
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  <Relationship Id="rId2" Type="http://schemas.openxmlformats.org/officeDocument/2006/relationships/notesSlide" Target="../notesSlides/notesSlide2_tf1.xml"/>
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a6d703104f17ea2a.png" />  <Relationship Id="rId3" Type="http://schemas.openxmlformats.org/officeDocument/2006/relationships/notesSlide" Target="../notesSlides/notesSlide3.xml"/>
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4.xml"/>
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5.xml"/>
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5a2f474cebe1b360.png" />  <Relationship Id="rId3" Type="http://schemas.openxmlformats.org/officeDocument/2006/relationships/notesSlide" Target="../notesSlides/notesSlide6.xml"/>
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8c8955339bb37fe8.png" />  <Relationship Id="rId3" Type="http://schemas.openxmlformats.org/officeDocument/2006/relationships/notesSlide" Target="../notesSlides/notesSlide7.xml"/>
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a283ee6bc1e05b09.png" />  <Relationship Id="rId3" Type="http://schemas.openxmlformats.org/officeDocument/2006/relationships/notesSlide" Target="../notesSlides/notesSlide8.xml"/>
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965bcabb4e25d34f.png" />  <Relationship Id="rId3" Type="http://schemas.openxmlformats.org/officeDocument/2006/relationships/notesSlide" Target="../notesSlides/notesSlide9.xml"/>
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2bf8fb2b8862fba8.png" />  <Relationship Id="rId3" Type="http://schemas.openxmlformats.org/officeDocument/2006/relationships/notesSlide" Target="../notesSlides/notesSlide10.xml"/>
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002830d578fadff3.png" />  <Relationship Id="rId3" Type="http://schemas.openxmlformats.org/officeDocument/2006/relationships/notesSlide" Target="../notesSlides/notesSlide11.xml"/>
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3c620f68386a67fa.png" />  <Relationship Id="rId3" Type="http://schemas.openxmlformats.org/officeDocument/2006/relationships/notesSlide" Target="../notesSlides/notesSlide12.xml"/>
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3.xml"/>
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126670a2dd8df8c6.png" />  <Relationship Id="rId3" Type="http://schemas.openxmlformats.org/officeDocument/2006/relationships/notesSlide" Target="../notesSlides/notesSlide14.xml"/>
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15.xml"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1d284d55d8ef0eaa.png" />  <Relationship Id="rId3" Type="http://schemas.openxmlformats.org/officeDocument/2006/relationships/notesSlide" Target="../notesSlides/notesSlide16.xml"/>
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f7816b60915b0e9e.png" />  <Relationship Id="rId3" Type="http://schemas.openxmlformats.org/officeDocument/2006/relationships/notesSlide" Target="../notesSlides/notesSlide17.xml"/>
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8e1e3bb797d46e77.png" />  <Relationship Id="rId3" Type="http://schemas.openxmlformats.org/officeDocument/2006/relationships/notesSlide" Target="../notesSlides/notesSlide18.xml"/>
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39728a1b67ca412f.png" />  <Relationship Id="rId3" Type="http://schemas.openxmlformats.org/officeDocument/2006/relationships/notesSlide" Target="../notesSlides/notesSlide19.xml"/>
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0.xml"/>
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1.xml"/>
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2.xml"/>
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2dbad4f4dde85e53.png" />  <Relationship Id="rId3" Type="http://schemas.openxmlformats.org/officeDocument/2006/relationships/notesSlide" Target="../notesSlides/notesSlide23.xml"/>
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4.xml"/>
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5.xml"/>
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6.xml"/>
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7.xml"/>
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8.xml"/>
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29.xml"/>
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0.xml"/>
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1.xml"/>
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2.xml"/>
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3.xml"/>
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  <Relationship Id="rId2" Type="http://schemas.openxmlformats.org/officeDocument/2006/relationships/notesSlide" Target="../notesSlides/notesSlide34.xml"/>
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_b224a9626d8c0d0e.png" />  <Relationship Id="rId3" Type="http://schemas.openxmlformats.org/officeDocument/2006/relationships/notesSlide" Target="../notesSlides/notesSlide35.xml"/>
</Relationships>
</file>

<file path=ppt/slides/slide1.xml><?xml version="1.0" encoding="utf-8"?>
<p:sld xmlns:a="http://schemas.openxmlformats.org/drawingml/2006/main" xmlns:a1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</p:sp>
      <p:pic>
        <p:nvPicPr>
          <p:cNvPr id="3" name="Picture 16" descr="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val="0"/>
              </a:ext>
            </a:extLst>
          </a:blip>
          <a:srcRect r="766"/>
          <a:stretch>
            <a:fillRect/>
          </a:stretch>
        </p:blipFill>
        <p:spPr bwMode="auto">
          <a:xfrm>
            <a:off x="0" y="0"/>
            <a:ext cx="91440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>
                <a:solidFill>
                  <a:srgbClr val="FFFFFF"/>
                </a:solidFill>
              </a14:hiddenFill>
            </a:ext>
            <a:ext uri="{91240B29-F687-4F45-9708-019B960494DF}">
              <a14:hiddenLine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8"/>
          <p:cNvSpPr>
            <a:spLocks noChangeArrowheads="1"/>
          </p:cNvSpPr>
          <p:nvPr/>
        </p:nvSpPr>
        <p:spPr bwMode="auto">
          <a:xfrm>
            <a:off x="0" y="3357563"/>
            <a:ext cx="4284663" cy="344487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ea typeface="汉仪大宋简"/>
              <a:cs typeface="汉仪大宋简"/>
            </a:endParaRPr>
          </a:p>
        </p:txBody>
      </p:sp>
      <p:sp>
        <p:nvSpPr>
          <p:cNvPr id="8" name="标题 4"/>
          <p:cNvSpPr/>
          <p:nvPr/>
        </p:nvSpPr>
        <p:spPr>
          <a:xfrm>
            <a:off x="0" y="3757136"/>
            <a:ext cx="8964454" cy="1728216"/>
          </a:xfrm>
          <a:prstGeom prst="rect">
            <a:avLst/>
          </a:prstGeom>
          <a:noFill/>
          <a:ln>
            <a:noFill/>
          </a:ln>
        </p:spPr>
        <p:txBody>
          <a:bodyPr wrap="none" lIns="179546" tIns="249555" rIns="0" bIns="0" anchor="t" anchorCtr="0">
            <a:noAutofit/>
          </a:bodyPr>
          <a:lstStyle/>
          <a:p>
            <a:pPr algn="ctr">
              <a:lnSpc>
                <a:spcPts val="3600"/>
              </a:lnSpc>
            </a:pPr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徐州地区分布式新能源高渗透率地区</a:t>
            </a:r>
            <a:br/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110 kV电网容载比弹性指标优化研究</a:t>
            </a:r>
            <a:br/>
            <a:r>
              <a:rPr lang="zh-CN" sz="2320" b="1" dirty="0">
                <a:solidFill>
                  <a:srgbClr val="007C78"/>
                </a:solidFill>
                <a:latin typeface="Microsoft YaHei"/>
                <a:ea typeface="Microsoft YaHei"/>
                <a:cs typeface="Microsoft YaHei"/>
              </a:rPr>
              <a:t>成果汇报</a:t>
            </a:r>
          </a:p>
        </p:txBody>
      </p:sp>
      <p:sp>
        <p:nvSpPr>
          <p:cNvPr id="9" name="标题 4"/>
          <p:cNvSpPr/>
          <p:nvPr/>
        </p:nvSpPr>
        <p:spPr>
          <a:xfrm>
            <a:off x="2087690" y="5570411"/>
            <a:ext cx="4968526" cy="922401"/>
          </a:xfrm>
          <a:prstGeom prst="rect">
            <a:avLst/>
          </a:prstGeom>
          <a:noFill/>
          <a:ln>
            <a:noFill/>
          </a:ln>
        </p:spPr>
        <p:txBody>
          <a:bodyPr wrap="none" lIns="95" tIns="44101" rIns="0" bIns="0" anchor="t" anchorCtr="0">
            <a:noAutofit/>
          </a:bodyPr>
          <a:lstStyle/>
          <a:p>
            <a:pPr algn="ctr">
              <a:lnSpc>
                <a:spcPts val="2400"/>
              </a:lnSpc>
            </a:pPr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国网江苏电力设计咨询有限公司</a:t>
            </a:r>
            <a:br/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徐州勘测设计分公司</a:t>
            </a:r>
            <a:br/>
            <a:r>
              <a:rPr lang="zh-CN" sz="1720" b="1" dirty="0">
                <a:solidFill>
                  <a:srgbClr val="20393E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  <p:pic>
        <p:nvPicPr>
          <p:cNvPr id="10" name="Picture 10" descr="F:\省公司logo\省公司logo\国网江苏省电力有限公司logo.png"/>
          <p:cNvPicPr>
            <a:picLocks noChangeAspect="1"/>
          </p:cNvPicPr>
          <p:nvPr/>
        </p:nvPicPr>
        <p:blipFill>
          <a:blip r:embed="rId2" cstate="print">
            <a:lum bright="100000"/>
          </a:blip>
          <a:stretch>
            <a:fillRect/>
          </a:stretch>
        </p:blipFill>
        <p:spPr>
          <a:xfrm>
            <a:off x="183357" y="1372699"/>
            <a:ext cx="5361536" cy="161988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520148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743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grpSp>
        <p:nvGrpSpPr>
          <p:cNvPr id="9" name="agenda-row-1"/>
          <p:cNvGrpSpPr/>
          <p:nvPr/>
        </p:nvGrpSpPr>
        <p:grpSpPr>
          <a:xfrm>
            <a:off x="1504950" y="1666875"/>
            <a:ext cx="6286500" cy="590550"/>
            <a:chOff x="1504950" y="1666875"/>
            <a:chExt cx="6286500" cy="590550"/>
          </a:xfrm>
        </p:grpSpPr>
        <p:sp>
          <p:nvSpPr>
            <p:cNvPr id="4" name="Rectangle 4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504950" y="1666875"/>
              <a:ext cx="6286500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504950" y="16668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83626" y="17748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69033" y="17748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研究背景</a:t>
              </a:r>
            </a:p>
          </p:txBody>
        </p:sp>
      </p:grpSp>
      <p:grpSp>
        <p:nvGrpSpPr>
          <p:cNvPr id="15" name="agenda-row-2"/>
          <p:cNvGrpSpPr/>
          <p:nvPr/>
        </p:nvGrpSpPr>
        <p:grpSpPr>
          <a:xfrm>
            <a:off x="1504950" y="2600325"/>
            <a:ext cx="6286500" cy="590550"/>
            <a:chOff x="1504950" y="2600325"/>
            <a:chExt cx="6286500" cy="590550"/>
          </a:xfrm>
        </p:grpSpPr>
        <p:sp>
          <p:nvSpPr>
            <p:cNvPr id="10" name="Rectangle 10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504950" y="26003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504950" y="26003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83626" y="27082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69033" y="270827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研究目标和思路</a:t>
              </a:r>
            </a:p>
          </p:txBody>
        </p:sp>
      </p:grpSp>
      <p:grpSp>
        <p:nvGrpSpPr>
          <p:cNvPr id="21" name="agenda-row-3"/>
          <p:cNvGrpSpPr/>
          <p:nvPr/>
        </p:nvGrpSpPr>
        <p:grpSpPr>
          <a:xfrm>
            <a:off x="1504950" y="3533775"/>
            <a:ext cx="6286500" cy="590550"/>
            <a:chOff x="1504950" y="3533775"/>
            <a:chExt cx="6286500" cy="590550"/>
          </a:xfrm>
        </p:grpSpPr>
        <p:sp>
          <p:nvSpPr>
            <p:cNvPr id="16" name="Rectangle 16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504950" y="35337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504950" y="35337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83626" y="36417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69033" y="36417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研究内容</a:t>
              </a:r>
            </a:p>
          </p:txBody>
        </p:sp>
      </p:grpSp>
      <p:grpSp>
        <p:nvGrpSpPr>
          <p:cNvPr id="27" name="agenda-row-4"/>
          <p:cNvGrpSpPr/>
          <p:nvPr/>
        </p:nvGrpSpPr>
        <p:grpSpPr>
          <a:xfrm>
            <a:off x="1504950" y="4467225"/>
            <a:ext cx="6286500" cy="590550"/>
            <a:chOff x="1504950" y="4467225"/>
            <a:chExt cx="6286500" cy="590550"/>
          </a:xfrm>
        </p:grpSpPr>
        <p:sp>
          <p:nvSpPr>
            <p:cNvPr id="22" name="Rectangle 22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504950" y="446722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504950" y="446722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83626" y="457517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69033" y="457517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实证分析</a:t>
              </a:r>
            </a:p>
          </p:txBody>
        </p:sp>
      </p:grpSp>
      <p:grpSp>
        <p:nvGrpSpPr>
          <p:cNvPr id="33" name="agenda-row-5"/>
          <p:cNvGrpSpPr/>
          <p:nvPr/>
        </p:nvGrpSpPr>
        <p:grpSpPr>
          <a:xfrm>
            <a:off x="1504950" y="5400675"/>
            <a:ext cx="6286500" cy="590550"/>
            <a:chOff x="1504950" y="5400675"/>
            <a:chExt cx="6286500" cy="590550"/>
          </a:xfrm>
        </p:grpSpPr>
        <p:sp>
          <p:nvSpPr>
            <p:cNvPr id="28" name="Rectangle 28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504950" y="5400675"/>
              <a:ext cx="6286500" cy="59055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007C7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504950" y="5400675"/>
              <a:ext cx="504825" cy="590550"/>
            </a:xfrm>
            <a:prstGeom prst="rect">
              <a:avLst/>
            </a:prstGeom>
            <a:solidFill>
              <a:srgbClr val="007C78"/>
            </a:solidFill>
            <a:ln w="9525">
              <a:solidFill>
                <a:srgbClr val="007C7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83626" y="5508625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69033" y="55086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项目成效</a:t>
              </a:r>
            </a:p>
          </p:txBody>
        </p:sp>
      </p:grpSp>
    </p:spTree>
  </p:cSld>
  <p:clrMapOvr>
    <a:masterClrMapping/>
  </p:clrMapOvr>
  <p:transition advClick="0" advTm="1100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1.1 背景与规划问题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光伏接入使主变同时承担正向供电与反向输送任务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47065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依据：研究报告1.1—1.2；《配电网规划设计技术导则（修订稿，2025年4月）》</a:t>
              </a:r>
            </a:p>
          </p:txBody>
        </p:sp>
      </p:grpSp>
      <p:grpSp>
        <p:nvGrpSpPr>
          <p:cNvPr id="30" name="bidirectional-system"/>
          <p:cNvGrpSpPr/>
          <p:nvPr/>
        </p:nvGrpSpPr>
        <p:grpSpPr>
          <a:xfrm>
            <a:off x="333375" y="2571750"/>
            <a:ext cx="8477250" cy="3166491"/>
            <a:chOff x="333375" y="2571750"/>
            <a:chExt cx="8477250" cy="3166491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315277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2294" y="2638425"/>
              <a:ext cx="6859413" cy="28575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516380" y="257810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日间：本地消纳与余电反送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8564" y="25781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376382"/>
                  </a:solidFill>
                  <a:latin typeface="Microsoft YaHei"/>
                  <a:ea typeface="Microsoft YaHei"/>
                  <a:cs typeface="Microsoft YaHei"/>
                </a:rPr>
                <a:t>晚间：上级电网供电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2857500" y="3400425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79057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7C7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2810923" y="3400425"/>
              <a:ext cx="93154" cy="104394"/>
            </a:xfrm>
            <a:custGeom>
              <a:avLst/>
              <a:gdLst/>
              <a:ahLst/>
              <a:cxnLst/>
              <a:rect l="l" t="t" r="r" b="b"/>
              <a:pathLst>
                <a:path w="93154" h="104394">
                  <a:moveTo>
                    <a:pt x="46577" y="0"/>
                  </a:moveTo>
                  <a:lnTo>
                    <a:pt x="93154" y="104394"/>
                  </a:lnTo>
                  <a:lnTo>
                    <a:pt x="0" y="104394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286500" y="3400425"/>
              <a:ext cx="9525" cy="790575"/>
            </a:xfrm>
            <a:custGeom>
              <a:avLst/>
              <a:gdLst/>
              <a:ahLst/>
              <a:cxnLst/>
              <a:rect l="l" t="t" r="r" b="b"/>
              <a:pathLst>
                <a:path w="9525" h="790575">
                  <a:moveTo>
                    <a:pt x="0" y="0"/>
                  </a:moveTo>
                  <a:lnTo>
                    <a:pt x="0" y="790575"/>
                  </a:lnTo>
                </a:path>
              </a:pathLst>
            </a:custGeom>
            <a:noFill/>
            <a:ln w="38100">
              <a:solidFill>
                <a:srgbClr val="376382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239923" y="4086606"/>
              <a:ext cx="93154" cy="104394"/>
            </a:xfrm>
            <a:custGeom>
              <a:avLst/>
              <a:gdLst/>
              <a:ahLst/>
              <a:cxnLst/>
              <a:rect l="l" t="t" r="r" b="b"/>
              <a:pathLst>
                <a:path w="93154" h="104394">
                  <a:moveTo>
                    <a:pt x="46577" y="104394"/>
                  </a:moveTo>
                  <a:lnTo>
                    <a:pt x="0" y="0"/>
                  </a:lnTo>
                  <a:lnTo>
                    <a:pt x="93154" y="0"/>
                  </a:lnTo>
                  <a:close/>
                </a:path>
              </a:pathLst>
            </a:custGeom>
            <a:solidFill>
              <a:srgbClr val="37638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11400" y="5429250"/>
              <a:ext cx="12922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反向容量校核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26670" y="5429250"/>
              <a:ext cx="231965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376382"/>
                  </a:solidFill>
                  <a:latin typeface="Microsoft YaHei"/>
                  <a:ea typeface="Microsoft YaHei"/>
                  <a:cs typeface="Microsoft YaHei"/>
                </a:rPr>
                <a:t>正向峰值与主变N-1校核</a:t>
              </a:r>
            </a:p>
          </p:txBody>
        </p:sp>
      </p:grpSp>
      <p:grpSp>
        <p:nvGrpSpPr>
          <p:cNvPr id="34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31" name="Rectangle 3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容载比由区域容量与年网供最大负荷共同决定，具体增容需联系站级任务。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研究目标和思路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2.1 研究目标与思路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把片区推荐值落实为满足供电任务的工程配置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2285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依据：研究报告1.4—1.5、图1-1</a:t>
              </a:r>
            </a:p>
          </p:txBody>
        </p:sp>
      </p:grpSp>
      <p:grpSp>
        <p:nvGrpSpPr>
          <p:cNvPr id="24" name="explanation-1"/>
          <p:cNvGrpSpPr/>
          <p:nvPr/>
        </p:nvGrpSpPr>
        <p:grpSpPr>
          <a:xfrm>
            <a:off x="333375" y="2619375"/>
            <a:ext cx="2673350" cy="1404938"/>
            <a:chOff x="333375" y="2619375"/>
            <a:chExt cx="2673350" cy="1404938"/>
          </a:xfrm>
        </p:grpSpPr>
        <p:sp>
          <p:nvSpPr>
            <p:cNvPr id="20" name="Rectangle 20"/>
            <p:cNvSpPr/>
            <p:nvPr/>
          </p:nvSpPr>
          <p:spPr>
            <a:xfrm>
              <a:off x="333375" y="2619375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33375" y="263842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2618" y="26924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运行资料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761" y="2984500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年度容量、同范围负荷与光伏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，46座站设备和转供资料</a:t>
              </a:r>
            </a:p>
          </p:txBody>
        </p:sp>
      </p:grpSp>
      <p:grpSp>
        <p:nvGrpSpPr>
          <p:cNvPr id="29" name="explanation-2"/>
          <p:cNvGrpSpPr/>
          <p:nvPr/>
        </p:nvGrpSpPr>
        <p:grpSpPr>
          <a:xfrm>
            <a:off x="3235325" y="2619375"/>
            <a:ext cx="2673350" cy="1404938"/>
            <a:chOff x="3235325" y="2619375"/>
            <a:chExt cx="2673350" cy="1404938"/>
          </a:xfrm>
        </p:grpSpPr>
        <p:sp>
          <p:nvSpPr>
            <p:cNvPr id="25" name="Rectangle 25"/>
            <p:cNvSpPr/>
            <p:nvPr/>
          </p:nvSpPr>
          <p:spPr>
            <a:xfrm>
              <a:off x="3235325" y="2619375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3235325" y="263842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274568" y="26924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运行任务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75711" y="2984500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识别正向、反向及局部高峰，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保持同小时功率关系</a:t>
              </a:r>
            </a:p>
          </p:txBody>
        </p:sp>
      </p:grpSp>
      <p:grpSp>
        <p:nvGrpSpPr>
          <p:cNvPr id="34" name="explanation-3"/>
          <p:cNvGrpSpPr/>
          <p:nvPr/>
        </p:nvGrpSpPr>
        <p:grpSpPr>
          <a:xfrm>
            <a:off x="6137275" y="2619375"/>
            <a:ext cx="2673350" cy="1404938"/>
            <a:chOff x="6137275" y="2619375"/>
            <a:chExt cx="2673350" cy="1404938"/>
          </a:xfrm>
        </p:grpSpPr>
        <p:sp>
          <p:nvSpPr>
            <p:cNvPr id="30" name="Rectangle 30"/>
            <p:cNvSpPr/>
            <p:nvPr/>
          </p:nvSpPr>
          <p:spPr>
            <a:xfrm>
              <a:off x="6137275" y="2619375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6137275" y="2638425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76518" y="26924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工程费用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77661" y="2984500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主变、联络、储能按统一范围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及投运批次计费</a:t>
              </a:r>
            </a:p>
          </p:txBody>
        </p:sp>
      </p:grpSp>
      <p:grpSp>
        <p:nvGrpSpPr>
          <p:cNvPr id="39" name="explanation-4"/>
          <p:cNvGrpSpPr/>
          <p:nvPr/>
        </p:nvGrpSpPr>
        <p:grpSpPr>
          <a:xfrm>
            <a:off x="333375" y="4214812"/>
            <a:ext cx="2673350" cy="1404938"/>
            <a:chOff x="333375" y="4214812"/>
            <a:chExt cx="2673350" cy="1404938"/>
          </a:xfrm>
        </p:grpSpPr>
        <p:sp>
          <p:nvSpPr>
            <p:cNvPr id="35" name="Rectangle 35"/>
            <p:cNvSpPr/>
            <p:nvPr/>
          </p:nvSpPr>
          <p:spPr>
            <a:xfrm>
              <a:off x="333375" y="4214812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333375" y="4233862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261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联合比选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3761" y="4579938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逐年承接已投运设备，校核正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常与主变N-1条件</a:t>
              </a:r>
            </a:p>
          </p:txBody>
        </p:sp>
      </p:grpSp>
      <p:grpSp>
        <p:nvGrpSpPr>
          <p:cNvPr id="44" name="explanation-5"/>
          <p:cNvGrpSpPr/>
          <p:nvPr/>
        </p:nvGrpSpPr>
        <p:grpSpPr>
          <a:xfrm>
            <a:off x="3235325" y="4214812"/>
            <a:ext cx="2673350" cy="1404938"/>
            <a:chOff x="3235325" y="4214812"/>
            <a:chExt cx="2673350" cy="1404938"/>
          </a:xfrm>
        </p:grpSpPr>
        <p:sp>
          <p:nvSpPr>
            <p:cNvPr id="40" name="Rectangle 40"/>
            <p:cNvSpPr/>
            <p:nvPr/>
          </p:nvSpPr>
          <p:spPr>
            <a:xfrm>
              <a:off x="3235325" y="4214812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3235325" y="4233862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7456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结果解释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75711" y="4579938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用设备组合、投运时点和分项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费用解释差异</a:t>
              </a:r>
            </a:p>
          </p:txBody>
        </p:sp>
      </p:grpSp>
      <p:grpSp>
        <p:nvGrpSpPr>
          <p:cNvPr id="49" name="explanation-6"/>
          <p:cNvGrpSpPr/>
          <p:nvPr/>
        </p:nvGrpSpPr>
        <p:grpSpPr>
          <a:xfrm>
            <a:off x="6137275" y="4214812"/>
            <a:ext cx="2673350" cy="1404938"/>
            <a:chOff x="6137275" y="4214812"/>
            <a:chExt cx="2673350" cy="1404938"/>
          </a:xfrm>
        </p:grpSpPr>
        <p:sp>
          <p:nvSpPr>
            <p:cNvPr id="45" name="Rectangle 45"/>
            <p:cNvSpPr/>
            <p:nvPr/>
          </p:nvSpPr>
          <p:spPr>
            <a:xfrm>
              <a:off x="6137275" y="4214812"/>
              <a:ext cx="2673350" cy="140493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6137275" y="4233862"/>
              <a:ext cx="2673350" cy="9525"/>
            </a:xfrm>
            <a:custGeom>
              <a:avLst/>
              <a:gdLst/>
              <a:ahLst/>
              <a:cxnLst/>
              <a:rect l="l" t="t" r="r" b="b"/>
              <a:pathLst>
                <a:path w="2673350" h="9525">
                  <a:moveTo>
                    <a:pt x="0" y="0"/>
                  </a:moveTo>
                  <a:lnTo>
                    <a:pt x="2673350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7651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条件推荐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77661" y="4579938"/>
              <a:ext cx="235889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从十三项候选指标归纳五项参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数与查表范围</a:t>
              </a:r>
            </a:p>
          </p:txBody>
        </p:sp>
      </p:grpSp>
      <p:grpSp>
        <p:nvGrpSpPr>
          <p:cNvPr id="53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50" name="Rectangle 5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40055" y="5899150"/>
              <a:ext cx="66991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资料、约束、费用和建设安排逐项衔接，形成“一片一策”的容量规划依据。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 研究对象与数据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邳州与市区分别体现高光伏县域和负荷集中城区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依据：研究报告3.1、表3-12、表5-1</a:t>
              </a:r>
            </a:p>
          </p:txBody>
        </p:sp>
      </p:grpSp>
      <p:graphicFrame>
        <p:nvGraphicFramePr>
          <p:cNvPr id="20" name="regional-baseline"/>
          <p:cNvGraphicFramePr>
            <a:graphicFrameLocks noGrp="1"/>
          </p:cNvGraphicFramePr>
          <p:nvPr/>
        </p:nvGraphicFramePr>
        <p:xfrm>
          <a:off x="333375" y="2571750"/>
          <a:ext cx="8477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6"/>
                <a:gridCol w="2354792"/>
                <a:gridCol w="2354792"/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2025年指标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邳州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市区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站级分析范围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20座110 kV站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26座110 kV站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实际主变容量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2139.50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3701.00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年网供最大负荷 /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956.45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1528.82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装机渗透率估计值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电量渗透率估计值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study-timeline"/>
          <p:cNvGrpSpPr/>
          <p:nvPr/>
        </p:nvGrpSpPr>
        <p:grpSpPr>
          <a:xfrm>
            <a:off x="324993" y="5248275"/>
            <a:ext cx="8485632" cy="457200"/>
            <a:chOff x="324993" y="5248275"/>
            <a:chExt cx="8485632" cy="457200"/>
          </a:xfrm>
        </p:grpSpPr>
        <p:sp>
          <p:nvSpPr>
            <p:cNvPr id="21" name="Rectangle 21"/>
            <p:cNvSpPr/>
            <p:nvPr/>
          </p:nvSpPr>
          <p:spPr>
            <a:xfrm>
              <a:off x="333375" y="5248275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4993" y="5292725"/>
              <a:ext cx="60407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2021基期 → 2022—2025历史回算 → 2026—2035预测条件规划</a:t>
              </a:r>
            </a:p>
          </p:txBody>
        </p:sp>
      </p:grpSp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6719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时序样本补齐为8760小时；年度规划峰值沿用同范围年度统计与预测输入。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3.2 历史容量与负荷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两地区容载比变化反映不同的建设与负荷发展过程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186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依据：研究报告表3-1、表3-2、表3-24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43175"/>
            <a:ext cx="8477250" cy="3095625"/>
            <a:chOff x="333375" y="2543175"/>
            <a:chExt cx="84772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43175"/>
              <a:ext cx="84772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364" y="2543175"/>
              <a:ext cx="8165272" cy="3095625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邳州负荷增长快于容量增长；市区容量投放与负荷回落共同影响年度比值。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3.3 光伏发展与渗透率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光伏规模及供能水平差异形成不同的双向运行任务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1867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依据：研究报告3.3、表3-6、表3-12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43175"/>
            <a:ext cx="8477250" cy="3095625"/>
            <a:chOff x="333375" y="2543175"/>
            <a:chExt cx="84772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43175"/>
              <a:ext cx="84772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333" y="2553904"/>
              <a:ext cx="8471334" cy="3074168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830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邳州2025年装机渗透率约1.63、电量渗透率约40%；市区分别约0.32、9%。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3.4 净负荷与近峰特征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正反向峰值及持续过程共同决定容量与支撑需求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842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依据：研究报告3.4、表3-10；保留补值标识的区域8760小时序列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43175"/>
            <a:ext cx="8477250" cy="2952750"/>
            <a:chOff x="333375" y="2543175"/>
            <a:chExt cx="8477250" cy="2952750"/>
          </a:xfrm>
        </p:grpSpPr>
        <p:sp>
          <p:nvSpPr>
            <p:cNvPr id="20" name="Rectangle 20"/>
            <p:cNvSpPr/>
            <p:nvPr/>
          </p:nvSpPr>
          <p:spPr>
            <a:xfrm>
              <a:off x="333375" y="2543175"/>
              <a:ext cx="8477250" cy="29527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052" y="2543175"/>
              <a:ext cx="7463896" cy="2952750"/>
            </a:xfrm>
            <a:prstGeom prst="rect">
              <a:avLst/>
            </a:prstGeom>
          </p:spPr>
        </p:pic>
      </p:grpSp>
      <p:grpSp>
        <p:nvGrpSpPr>
          <p:cNvPr id="25" name="peak-statistics"/>
          <p:cNvGrpSpPr/>
          <p:nvPr/>
        </p:nvGrpSpPr>
        <p:grpSpPr>
          <a:xfrm>
            <a:off x="325755" y="5514975"/>
            <a:ext cx="8484870" cy="315595"/>
            <a:chOff x="325755" y="5514975"/>
            <a:chExt cx="8484870" cy="315595"/>
          </a:xfrm>
        </p:grpSpPr>
        <p:sp>
          <p:nvSpPr>
            <p:cNvPr id="23" name="Rectangle 23"/>
            <p:cNvSpPr/>
            <p:nvPr/>
          </p:nvSpPr>
          <p:spPr>
            <a:xfrm>
              <a:off x="333375" y="5514975"/>
              <a:ext cx="8477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5755" y="5537200"/>
              <a:ext cx="6355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95%峰值：邳州最长连续2 h、累计7 h；市区最长连续6 h、累计11 h。</a:t>
              </a:r>
            </a:p>
          </p:txBody>
        </p:sp>
      </p:grpSp>
      <p:grpSp>
        <p:nvGrpSpPr>
          <p:cNvPr id="29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6" name="Rectangle 2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0055" y="589915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区域峰值先同小时汇总站级功率，再取绝对值；近峰时长在补齐序列上统计。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3.5 站级容量压力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区域容量储备与少数站点的局部压力可以同时存在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依据：研究报告表3-8、表3-22、表3-23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43175"/>
            <a:ext cx="8477250" cy="3048000"/>
            <a:chOff x="333375" y="2543175"/>
            <a:chExt cx="84772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543175"/>
              <a:ext cx="84772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9667" y="2543175"/>
              <a:ext cx="7704667" cy="3048000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站级极值逐站比较，配置比选继续校核同期源荷、主变结构和邻站承接余量。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3.6 核心指标筛选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十三项指标经组内筛选与高相关归并形成五项参数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067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依据：研究报告3.5、表3-14—3-20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5619750" cy="3095625"/>
            <a:chOff x="333375" y="2571750"/>
            <a:chExt cx="56197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56197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451" y="2571750"/>
              <a:ext cx="5103598" cy="3095625"/>
            </a:xfrm>
            <a:prstGeom prst="rect">
              <a:avLst/>
            </a:prstGeom>
          </p:spPr>
        </p:pic>
      </p:grpSp>
      <p:grpSp>
        <p:nvGrpSpPr>
          <p:cNvPr id="33" name="selection-logic"/>
          <p:cNvGrpSpPr/>
          <p:nvPr/>
        </p:nvGrpSpPr>
        <p:grpSpPr>
          <a:xfrm>
            <a:off x="6191250" y="2619375"/>
            <a:ext cx="2619375" cy="3000375"/>
            <a:chOff x="6191250" y="2619375"/>
            <a:chExt cx="2619375" cy="3000375"/>
          </a:xfrm>
        </p:grpSpPr>
        <p:sp>
          <p:nvSpPr>
            <p:cNvPr id="23" name="Rectangle 23"/>
            <p:cNvSpPr/>
            <p:nvPr/>
          </p:nvSpPr>
          <p:spPr>
            <a:xfrm>
              <a:off x="6191250" y="2619375"/>
              <a:ext cx="2619375" cy="3000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14872" y="2714625"/>
              <a:ext cx="4720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13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2374" y="26574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候选指标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3517" y="3013075"/>
              <a:ext cx="17282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源荷、网络、时间及费</a:t>
              </a:r>
              <a:b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14872" y="3724275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2374" y="3667125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达到组内筛选要求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03517" y="4035425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相关绝对值不低于0.40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14872" y="4733925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02374" y="4676775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保留基础规划输入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03517" y="5045075"/>
              <a:ext cx="1685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高相关归并阈值0.70</a:t>
              </a:r>
            </a:p>
          </p:txBody>
        </p:sp>
      </p:grpSp>
      <p:grpSp>
        <p:nvGrpSpPr>
          <p:cNvPr id="3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34" name="Rectangle 3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0055" y="5899150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研究采用节点等权，保留零容量响应组；两个阈值用于推广维度归纳。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3.7 参数核验与分档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五项参数分别保留不同规划条件的信息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9096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依据：研究报告表3-19、表3-21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09850"/>
            <a:ext cx="4476750" cy="3048000"/>
            <a:chOff x="333375" y="2609850"/>
            <a:chExt cx="44767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09850"/>
              <a:ext cx="44767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7534" y="2609850"/>
              <a:ext cx="4448432" cy="3048000"/>
            </a:xfrm>
            <a:prstGeom prst="rect">
              <a:avLst/>
            </a:prstGeom>
          </p:spPr>
        </p:pic>
      </p:grpSp>
      <p:graphicFrame>
        <p:nvGraphicFramePr>
          <p:cNvPr id="23" name="parameter-classes"/>
          <p:cNvGraphicFramePr>
            <a:graphicFrameLocks noGrp="1"/>
          </p:cNvGraphicFramePr>
          <p:nvPr/>
        </p:nvGraphicFramePr>
        <p:xfrm>
          <a:off x="5048250" y="2619375"/>
          <a:ext cx="3762375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2445"/>
                <a:gridCol w="2099930"/>
              </a:tblGrid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矩阵分类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00731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≤1；(1,2]；&gt;2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≤2%；(2%,4%]；(4%,7%]；&gt;7%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电缆长度占比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≤10%；(10%,30%]；&gt;30%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914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≤30%；(30%,50%]；(50%,70%]；&gt;70%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400730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负荷分散系数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≤1.15；&gt;1.15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7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0055" y="5899150"/>
              <a:ext cx="68972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有效情景库内最大参数间Pearson绝对值为0.29，相关性结合计算关系解释。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3.8 工程费用模型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工程投资按采购规模、项目数量和投运时点计取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043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依据：研究报告4.2—4.3、表4-2、表4-3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619375"/>
            <a:ext cx="4953000" cy="2857500"/>
            <a:chOff x="333375" y="2619375"/>
            <a:chExt cx="49530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19375"/>
              <a:ext cx="4953000" cy="28575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1920" y="2619375"/>
              <a:ext cx="4675909" cy="2857500"/>
            </a:xfrm>
            <a:prstGeom prst="rect">
              <a:avLst/>
            </a:prstGeom>
          </p:spPr>
        </p:pic>
      </p:grpSp>
      <p:grpSp>
        <p:nvGrpSpPr>
          <p:cNvPr id="27" name="explanation-1"/>
          <p:cNvGrpSpPr/>
          <p:nvPr/>
        </p:nvGrpSpPr>
        <p:grpSpPr>
          <a:xfrm>
            <a:off x="5619750" y="2667000"/>
            <a:ext cx="3190875" cy="872427"/>
            <a:chOff x="5619750" y="2667000"/>
            <a:chExt cx="3190875" cy="872427"/>
          </a:xfrm>
        </p:grpSpPr>
        <p:sp>
          <p:nvSpPr>
            <p:cNvPr id="23" name="Rectangle 23"/>
            <p:cNvSpPr/>
            <p:nvPr/>
          </p:nvSpPr>
          <p:spPr>
            <a:xfrm>
              <a:off x="5619750" y="2667000"/>
              <a:ext cx="3190875" cy="841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5619750" y="2686050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58993" y="27400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主变更换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60136" y="3032125"/>
              <a:ext cx="27195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按整台新购铭牌容量计价；净增容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量扣除同期被替换容量</a:t>
              </a:r>
            </a:p>
          </p:txBody>
        </p:sp>
      </p:grpSp>
      <p:grpSp>
        <p:nvGrpSpPr>
          <p:cNvPr id="32" name="explanation-2"/>
          <p:cNvGrpSpPr/>
          <p:nvPr/>
        </p:nvGrpSpPr>
        <p:grpSpPr>
          <a:xfrm>
            <a:off x="5619750" y="3698875"/>
            <a:ext cx="3190875" cy="872427"/>
            <a:chOff x="5619750" y="3698875"/>
            <a:chExt cx="3190875" cy="872427"/>
          </a:xfrm>
        </p:grpSpPr>
        <p:sp>
          <p:nvSpPr>
            <p:cNvPr id="28" name="Rectangle 28"/>
            <p:cNvSpPr/>
            <p:nvPr/>
          </p:nvSpPr>
          <p:spPr>
            <a:xfrm>
              <a:off x="5619750" y="3698875"/>
              <a:ext cx="3190875" cy="841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619750" y="3717925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58993" y="37719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主变扩建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60136" y="4064000"/>
              <a:ext cx="273761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50 MVA扩建项目参考投资1223.00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万元</a:t>
              </a:r>
            </a:p>
          </p:txBody>
        </p:sp>
      </p:grpSp>
      <p:grpSp>
        <p:nvGrpSpPr>
          <p:cNvPr id="37" name="explanation-3"/>
          <p:cNvGrpSpPr/>
          <p:nvPr/>
        </p:nvGrpSpPr>
        <p:grpSpPr>
          <a:xfrm>
            <a:off x="5619750" y="4730750"/>
            <a:ext cx="3190875" cy="872427"/>
            <a:chOff x="5619750" y="4730750"/>
            <a:chExt cx="3190875" cy="872427"/>
          </a:xfrm>
        </p:grpSpPr>
        <p:sp>
          <p:nvSpPr>
            <p:cNvPr id="33" name="Rectangle 33"/>
            <p:cNvSpPr/>
            <p:nvPr/>
          </p:nvSpPr>
          <p:spPr>
            <a:xfrm>
              <a:off x="5619750" y="4730750"/>
              <a:ext cx="3190875" cy="841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5619750" y="4749800"/>
              <a:ext cx="3190875" cy="9525"/>
            </a:xfrm>
            <a:custGeom>
              <a:avLst/>
              <a:gdLst/>
              <a:ahLst/>
              <a:cxnLst/>
              <a:rect l="l" t="t" r="r" b="b"/>
              <a:pathLst>
                <a:path w="3190875" h="9525">
                  <a:moveTo>
                    <a:pt x="0" y="0"/>
                  </a:moveTo>
                  <a:lnTo>
                    <a:pt x="319087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58993" y="48037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新增联络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60136" y="5095875"/>
              <a:ext cx="2746629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按地区电缆长度占比折算3 km单项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费用，既有工程不重复计费</a:t>
              </a:r>
            </a:p>
          </p:txBody>
        </p:sp>
      </p:grpSp>
      <p:grpSp>
        <p:nvGrpSpPr>
          <p:cNvPr id="41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38" name="Rectangle 38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0055" y="5899150"/>
              <a:ext cx="57904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邳州、市区单项新增联络参考投资分别为128.38、452.40万元。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3.9 储能有效支撑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额定功率与可用电量共同限制持续支撑能力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043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依据：研究报告4.4—4.6、表4-4、表4-5</a:t>
              </a:r>
            </a:p>
          </p:txBody>
        </p:sp>
      </p:grpSp>
      <p:grpSp>
        <p:nvGrpSpPr>
          <p:cNvPr id="25" name="storage-relationship"/>
          <p:cNvGrpSpPr/>
          <p:nvPr/>
        </p:nvGrpSpPr>
        <p:grpSpPr>
          <a:xfrm>
            <a:off x="333375" y="2667000"/>
            <a:ext cx="8477250" cy="1476375"/>
            <a:chOff x="333375" y="2667000"/>
            <a:chExt cx="8477250" cy="14763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67000"/>
              <a:ext cx="8477250" cy="14763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67000"/>
              <a:ext cx="8477250" cy="14763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86883" y="2819400"/>
              <a:ext cx="637023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有效支撑功率 = min（额定功率，可用电量 ÷ 支撑时间）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95150" y="3248025"/>
              <a:ext cx="51537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可用电量系数0.76：结合SOC可用窗口与单向放电效率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68162" y="3616325"/>
              <a:ext cx="54076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柜型：100 kW / 215 kWh；参考投资：21.05万元/柜</a:t>
              </a:r>
            </a:p>
          </p:txBody>
        </p:sp>
      </p:grpSp>
      <p:graphicFrame>
        <p:nvGraphicFramePr>
          <p:cNvPr id="26" name="storage-duration"/>
          <p:cNvGraphicFramePr>
            <a:graphicFrameLocks noGrp="1"/>
          </p:cNvGraphicFramePr>
          <p:nvPr/>
        </p:nvGraphicFramePr>
        <p:xfrm>
          <a:off x="333375" y="4410075"/>
          <a:ext cx="8477250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306"/>
                <a:gridCol w="1926648"/>
                <a:gridCol w="1926648"/>
                <a:gridCol w="1926648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额定配置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h有效功率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 MW / 2.15 MWh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0.41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0.27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0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7" name="Rectangle 27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40055" y="5899150"/>
              <a:ext cx="6840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地区正向支撑取邳州2 h、市区6 h，反向吸收按对应可充电空间与持续要求。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3.10 三类措施联合配置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主变、联络与储能在相同安全约束下共同承担任务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4413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依据：研究报告5.2—5.3</a:t>
              </a:r>
            </a:p>
          </p:txBody>
        </p:sp>
      </p:grpSp>
      <p:grpSp>
        <p:nvGrpSpPr>
          <p:cNvPr id="28" name="planning-resources"/>
          <p:cNvGrpSpPr/>
          <p:nvPr/>
        </p:nvGrpSpPr>
        <p:grpSpPr>
          <a:xfrm>
            <a:off x="333375" y="2571750"/>
            <a:ext cx="8477250" cy="3048000"/>
            <a:chOff x="333375" y="2571750"/>
            <a:chExt cx="8477250" cy="3048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3048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235" y="2619375"/>
              <a:ext cx="5487530" cy="22860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220724" y="4908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主变补强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7230" y="5299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本站与故障后剩余能力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78224" y="4908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联络支援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4730" y="5299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区段、通道及受端余量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35724" y="49085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储能支撑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3195" y="52990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功率与可用电量条件</a:t>
              </a:r>
            </a:p>
          </p:txBody>
        </p:sp>
      </p:grpSp>
      <p:grpSp>
        <p:nvGrpSpPr>
          <p:cNvPr id="32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9" name="Rectangle 29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0055" y="5899150"/>
              <a:ext cx="6495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正常运行负载率≤80%；最大单台主变N-1时剩余设备短时负载率≤130%。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3.11 逐年比选与经济评价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相同基期和源荷输入下比较完整建设路径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8859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依据：研究报告5.1—5.3、表4-1、表5-1、表5-3</a:t>
              </a:r>
            </a:p>
          </p:txBody>
        </p:sp>
      </p:grpSp>
      <p:grpSp>
        <p:nvGrpSpPr>
          <p:cNvPr id="24" name="explanation-1"/>
          <p:cNvGrpSpPr/>
          <p:nvPr/>
        </p:nvGrpSpPr>
        <p:grpSpPr>
          <a:xfrm>
            <a:off x="333375" y="2667000"/>
            <a:ext cx="4124325" cy="1357312"/>
            <a:chOff x="333375" y="2667000"/>
            <a:chExt cx="4124325" cy="1357312"/>
          </a:xfrm>
        </p:grpSpPr>
        <p:sp>
          <p:nvSpPr>
            <p:cNvPr id="20" name="Rectangle 20"/>
            <p:cNvSpPr/>
            <p:nvPr/>
          </p:nvSpPr>
          <p:spPr>
            <a:xfrm>
              <a:off x="333375" y="2667000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33375" y="26860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2618" y="27400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共同起点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761" y="3032125"/>
              <a:ext cx="3477006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2021年实际主变容量：邳州2027.00 MVA，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市区3113.50 MVA</a:t>
              </a:r>
            </a:p>
          </p:txBody>
        </p:sp>
      </p:grpSp>
      <p:grpSp>
        <p:nvGrpSpPr>
          <p:cNvPr id="29" name="explanation-2"/>
          <p:cNvGrpSpPr/>
          <p:nvPr/>
        </p:nvGrpSpPr>
        <p:grpSpPr>
          <a:xfrm>
            <a:off x="4686300" y="2667000"/>
            <a:ext cx="4124325" cy="1357312"/>
            <a:chOff x="4686300" y="2667000"/>
            <a:chExt cx="4124325" cy="1357312"/>
          </a:xfrm>
        </p:grpSpPr>
        <p:sp>
          <p:nvSpPr>
            <p:cNvPr id="25" name="Rectangle 25"/>
            <p:cNvSpPr/>
            <p:nvPr/>
          </p:nvSpPr>
          <p:spPr>
            <a:xfrm>
              <a:off x="4686300" y="2667000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686300" y="268605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25543" y="27400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刚性基准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26686" y="3032125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新增扩容按当年负荷两倍控制，负荷回落时保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留上年在役容量</a:t>
              </a:r>
            </a:p>
          </p:txBody>
        </p:sp>
      </p:grpSp>
      <p:grpSp>
        <p:nvGrpSpPr>
          <p:cNvPr id="34" name="explanation-3"/>
          <p:cNvGrpSpPr/>
          <p:nvPr/>
        </p:nvGrpSpPr>
        <p:grpSpPr>
          <a:xfrm>
            <a:off x="333375" y="4214812"/>
            <a:ext cx="4124325" cy="1357312"/>
            <a:chOff x="333375" y="4214812"/>
            <a:chExt cx="4124325" cy="1357312"/>
          </a:xfrm>
        </p:grpSpPr>
        <p:sp>
          <p:nvSpPr>
            <p:cNvPr id="30" name="Rectangle 30"/>
            <p:cNvSpPr/>
            <p:nvPr/>
          </p:nvSpPr>
          <p:spPr>
            <a:xfrm>
              <a:off x="333375" y="4214812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33375" y="4233862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2618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弹性方案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3761" y="4579938"/>
              <a:ext cx="3558159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放宽2.0新增容量控制，在相同承载要求下比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较措施费用</a:t>
              </a:r>
            </a:p>
          </p:txBody>
        </p:sp>
      </p:grpSp>
      <p:grpSp>
        <p:nvGrpSpPr>
          <p:cNvPr id="39" name="explanation-4"/>
          <p:cNvGrpSpPr/>
          <p:nvPr/>
        </p:nvGrpSpPr>
        <p:grpSpPr>
          <a:xfrm>
            <a:off x="4686300" y="4214812"/>
            <a:ext cx="4124325" cy="1357312"/>
            <a:chOff x="4686300" y="4214812"/>
            <a:chExt cx="4124325" cy="1357312"/>
          </a:xfrm>
        </p:grpSpPr>
        <p:sp>
          <p:nvSpPr>
            <p:cNvPr id="35" name="Rectangle 35"/>
            <p:cNvSpPr/>
            <p:nvPr/>
          </p:nvSpPr>
          <p:spPr>
            <a:xfrm>
              <a:off x="4686300" y="4214812"/>
              <a:ext cx="4124325" cy="135731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686300" y="4233862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25543" y="428783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费用现值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26686" y="4579938"/>
              <a:ext cx="3513074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投运批次折算至2021年末，统一评价到2041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年，折现率6.00%</a:t>
              </a:r>
            </a:p>
          </p:txBody>
        </p:sp>
      </p:grpSp>
      <p:grpSp>
        <p:nvGrpSpPr>
          <p:cNvPr id="43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0" name="Rectangle 4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费用包括新增建设及固定运维；地区结果为满足所设条件的具体可行方案。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4.1 邳州逐年方案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邳州弹性方案增加站内容量并减少部分配套需求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依据：研究报告表5-4、表5-5、表5-9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62225"/>
            <a:ext cx="8477250" cy="3143250"/>
            <a:chOff x="333375" y="2562225"/>
            <a:chExt cx="8477250" cy="3143250"/>
          </a:xfrm>
        </p:grpSpPr>
        <p:sp>
          <p:nvSpPr>
            <p:cNvPr id="20" name="Rectangle 20"/>
            <p:cNvSpPr/>
            <p:nvPr/>
          </p:nvSpPr>
          <p:spPr>
            <a:xfrm>
              <a:off x="333375" y="2562225"/>
              <a:ext cx="8477250" cy="31432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7738" y="2562225"/>
              <a:ext cx="7328525" cy="3143250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72927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2035年弹性容载比2.06、主变2901.00 MVA；全期费用较刚性减少848.32万元。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4.2 市区逐年方案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市区费用优势由建设时序和联络替代逐步形成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460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依据：研究报告表5-6、表5-7、表5-9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62225"/>
            <a:ext cx="8477250" cy="3143250"/>
            <a:chOff x="333375" y="2562225"/>
            <a:chExt cx="8477250" cy="3143250"/>
          </a:xfrm>
        </p:grpSpPr>
        <p:sp>
          <p:nvSpPr>
            <p:cNvPr id="20" name="Rectangle 20"/>
            <p:cNvSpPr/>
            <p:nvPr/>
          </p:nvSpPr>
          <p:spPr>
            <a:xfrm>
              <a:off x="333375" y="2562225"/>
              <a:ext cx="8477250" cy="31432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7738" y="2562225"/>
              <a:ext cx="7328525" cy="3143250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71332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2022年两方案相同，2030年弹性累计费用仍较高；全期费用减少2050.35万元。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4.3 评价期费用分解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新增主变支出由其他措施费用下降部分抵消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8371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依据：研究报告表5-9、表5-11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8477250" cy="2667000"/>
            <a:chOff x="333375" y="2571750"/>
            <a:chExt cx="8477250" cy="2667000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266700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115" y="2571750"/>
              <a:ext cx="7461770" cy="2667000"/>
            </a:xfrm>
            <a:prstGeom prst="rect">
              <a:avLst/>
            </a:prstGeom>
          </p:spPr>
        </p:pic>
      </p:grpSp>
      <p:graphicFrame>
        <p:nvGraphicFramePr>
          <p:cNvPr id="23" name="total-cost"/>
          <p:cNvGraphicFramePr>
            <a:graphicFrameLocks noGrp="1"/>
          </p:cNvGraphicFramePr>
          <p:nvPr/>
        </p:nvGraphicFramePr>
        <p:xfrm>
          <a:off x="333375" y="5381625"/>
          <a:ext cx="8477250" cy="77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750"/>
                <a:gridCol w="1883834"/>
                <a:gridCol w="1883833"/>
                <a:gridCol w="1883833"/>
              </a:tblGrid>
              <a:tr h="385763"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方案费用现值 / 万元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85762">
                <a:tc>
                  <a:txBody>
                    <a:bodyPr/>
                    <a:lstStyle/>
                    <a:p>
                      <a:pPr algn="ct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两地区合计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98006.53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95107.86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5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2898.67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4.4 2035年设备组合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两类片区通过不同措施组合满足局部供电任务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依据：研究报告表5-10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43175"/>
            <a:ext cx="8477250" cy="3095625"/>
            <a:chOff x="333375" y="2543175"/>
            <a:chExt cx="8477250" cy="3095625"/>
          </a:xfrm>
        </p:grpSpPr>
        <p:sp>
          <p:nvSpPr>
            <p:cNvPr id="20" name="Rectangle 20"/>
            <p:cNvSpPr/>
            <p:nvPr/>
          </p:nvSpPr>
          <p:spPr>
            <a:xfrm>
              <a:off x="333375" y="2543175"/>
              <a:ext cx="8477250" cy="309562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684" y="2577193"/>
              <a:ext cx="8470632" cy="3027589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邳州弹性储能与联络均减少；市区弹性储能增加、联络减少，需分别解释。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4.5 代表站设备分析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4880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主变台数组合改变N-1剩余能力及局部支撑需求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338725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依据：研究报告表5-13、表5-15、表5-31及对应逐站分析</a:t>
              </a:r>
            </a:p>
          </p:txBody>
        </p:sp>
      </p:grpSp>
      <p:graphicFrame>
        <p:nvGraphicFramePr>
          <p:cNvPr id="20" name="station-examples"/>
          <p:cNvGraphicFramePr>
            <a:graphicFrameLocks noGrp="1"/>
          </p:cNvGraphicFramePr>
          <p:nvPr/>
        </p:nvGraphicFramePr>
        <p:xfrm>
          <a:off x="333375" y="2619375"/>
          <a:ext cx="8477250" cy="2143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481"/>
                <a:gridCol w="1759429"/>
                <a:gridCol w="1919378"/>
                <a:gridCol w="3198962"/>
              </a:tblGrid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2035年站点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弹性主变 /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差异对应的任务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399210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戴圩变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弹性扩建第三台，减少本地配储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2353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兴塘变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31.5+40+50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31.5+50+50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故障后剩余容量71.50→81.50 MVA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672352"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八义集变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50+63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容量相同，储能功率3.10→0.30 MW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5" name="explanation-1"/>
          <p:cNvGrpSpPr/>
          <p:nvPr/>
        </p:nvGrpSpPr>
        <p:grpSpPr>
          <a:xfrm>
            <a:off x="333375" y="5048250"/>
            <a:ext cx="4124325" cy="952500"/>
            <a:chOff x="333375" y="5048250"/>
            <a:chExt cx="4124325" cy="952500"/>
          </a:xfrm>
        </p:grpSpPr>
        <p:sp>
          <p:nvSpPr>
            <p:cNvPr id="21" name="Rectangle 21"/>
            <p:cNvSpPr/>
            <p:nvPr/>
          </p:nvSpPr>
          <p:spPr>
            <a:xfrm>
              <a:off x="333375" y="5048250"/>
              <a:ext cx="4124325" cy="952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333375" y="50673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2618" y="51212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设备位置与台数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761" y="5413375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增容效果取决于最大单台停运后剩余的实际设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备组合</a:t>
              </a:r>
            </a:p>
          </p:txBody>
        </p:sp>
      </p:grpSp>
      <p:grpSp>
        <p:nvGrpSpPr>
          <p:cNvPr id="30" name="explanation-2"/>
          <p:cNvGrpSpPr/>
          <p:nvPr/>
        </p:nvGrpSpPr>
        <p:grpSpPr>
          <a:xfrm>
            <a:off x="4686300" y="5048250"/>
            <a:ext cx="4124325" cy="952500"/>
            <a:chOff x="4686300" y="5048250"/>
            <a:chExt cx="4124325" cy="952500"/>
          </a:xfrm>
        </p:grpSpPr>
        <p:sp>
          <p:nvSpPr>
            <p:cNvPr id="26" name="Rectangle 26"/>
            <p:cNvSpPr/>
            <p:nvPr/>
          </p:nvSpPr>
          <p:spPr>
            <a:xfrm>
              <a:off x="4686300" y="5048250"/>
              <a:ext cx="4124325" cy="952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686300" y="5067300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25543" y="51212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年度转接与本地储能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26686" y="5413375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相同区域容量可对应不同转供任务及支撑规模</a:t>
              </a:r>
            </a:p>
          </p:txBody>
        </p:sp>
      </p:grpSp>
    </p:spTree>
  </p:cSld>
  <p:clrMapOvr>
    <a:masterClrMapping/>
  </p:clrMapOvr>
  <p:transition advClick="0" advTm="5000"/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4.6 联络与共享资源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转供支援由源端、路径及接收侧能力共同决定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4175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依据：研究报告3.6、5.5、表5-59—5-61</a:t>
              </a:r>
            </a:p>
          </p:txBody>
        </p:sp>
      </p:grpSp>
      <p:grpSp>
        <p:nvGrpSpPr>
          <p:cNvPr id="39" name="transfer-topology"/>
          <p:cNvGrpSpPr/>
          <p:nvPr/>
        </p:nvGrpSpPr>
        <p:grpSpPr>
          <a:xfrm>
            <a:off x="333375" y="2619375"/>
            <a:ext cx="8477250" cy="2857500"/>
            <a:chOff x="333375" y="2619375"/>
            <a:chExt cx="8477250" cy="28575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19375"/>
              <a:ext cx="8477250" cy="2857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23875" y="3048000"/>
              <a:ext cx="2095500" cy="1095375"/>
            </a:xfrm>
            <a:prstGeom prst="rect">
              <a:avLst/>
            </a:prstGeom>
            <a:solidFill>
              <a:srgbClr val="EAF3F1"/>
            </a:solidFill>
            <a:ln w="9525">
              <a:solidFill>
                <a:srgbClr val="007C7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15542" y="31940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源端站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5325" y="363220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可切换源荷区段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429000" y="3048000"/>
              <a:ext cx="2095500" cy="1095375"/>
            </a:xfrm>
            <a:prstGeom prst="rect">
              <a:avLst/>
            </a:prstGeom>
            <a:solidFill>
              <a:srgbClr val="EAF3F1"/>
            </a:solidFill>
            <a:ln w="9525">
              <a:solidFill>
                <a:srgbClr val="007C7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57575" y="319405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共享馈线与联络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57804" y="3632200"/>
              <a:ext cx="2037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既有MW额度及通道热限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77000" y="3048000"/>
              <a:ext cx="2095500" cy="1095375"/>
            </a:xfrm>
            <a:prstGeom prst="rect">
              <a:avLst/>
            </a:prstGeom>
            <a:solidFill>
              <a:srgbClr val="EAF3F1"/>
            </a:solidFill>
            <a:ln w="9525">
              <a:solidFill>
                <a:srgbClr val="007C7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68667" y="31940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受端站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7289" y="36322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馈线余量与主变容量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667000" y="36004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38100">
              <a:solidFill>
                <a:srgbClr val="007C78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3229356" y="3553873"/>
              <a:ext cx="104394" cy="93154"/>
            </a:xfrm>
            <a:custGeom>
              <a:avLst/>
              <a:gdLst/>
              <a:ahLst/>
              <a:cxnLst/>
              <a:rect l="l" t="t" r="r" b="b"/>
              <a:pathLst>
                <a:path w="104394" h="93154">
                  <a:moveTo>
                    <a:pt x="104394" y="46577"/>
                  </a:moveTo>
                  <a:lnTo>
                    <a:pt x="0" y="93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5572125" y="360045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38100">
              <a:solidFill>
                <a:srgbClr val="007C78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6277356" y="3553873"/>
              <a:ext cx="104394" cy="93154"/>
            </a:xfrm>
            <a:custGeom>
              <a:avLst/>
              <a:gdLst/>
              <a:ahLst/>
              <a:cxnLst/>
              <a:rect l="l" t="t" r="r" b="b"/>
              <a:pathLst>
                <a:path w="104394" h="93154">
                  <a:moveTo>
                    <a:pt x="104394" y="46577"/>
                  </a:moveTo>
                  <a:lnTo>
                    <a:pt x="0" y="93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78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4505325" y="4152900"/>
              <a:ext cx="9525" cy="561975"/>
            </a:xfrm>
            <a:custGeom>
              <a:avLst/>
              <a:gdLst/>
              <a:ahLst/>
              <a:cxnLst/>
              <a:rect l="l" t="t" r="r" b="b"/>
              <a:pathLst>
                <a:path w="9525" h="561975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05125" y="4714875"/>
              <a:ext cx="3190875" cy="6000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7C7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05252" y="4905375"/>
              <a:ext cx="27810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多条联络共用馈线与区段预算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500" y="2619375"/>
              <a:ext cx="7239000" cy="3810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50144" y="2635250"/>
              <a:ext cx="46437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正常方式与主变N-1分别安排年度固定转供方案</a:t>
              </a:r>
            </a:p>
          </p:txBody>
        </p:sp>
      </p:grpSp>
      <p:grpSp>
        <p:nvGrpSpPr>
          <p:cNvPr id="43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0" name="Rectangle 4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055" y="5899150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区段内负荷与光伏共同切换，区域内同小时转出与承接保持平衡。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4.7 五参数推荐范围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按片区条件定位推荐带，再核定具体设备方案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2592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依据：研究报告5.6、表3-21、表5-63</a:t>
              </a:r>
            </a:p>
          </p:txBody>
        </p:sp>
      </p:grpSp>
      <p:grpSp>
        <p:nvGrpSpPr>
          <p:cNvPr id="24" name="lookup-step-0"/>
          <p:cNvGrpSpPr/>
          <p:nvPr/>
        </p:nvGrpSpPr>
        <p:grpSpPr>
          <a:xfrm>
            <a:off x="333375" y="2647950"/>
            <a:ext cx="2028825" cy="981075"/>
            <a:chOff x="333375" y="2647950"/>
            <a:chExt cx="2028825" cy="981075"/>
          </a:xfrm>
        </p:grpSpPr>
        <p:sp>
          <p:nvSpPr>
            <p:cNvPr id="20" name="Rectangle 20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337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891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① 电缆占比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1198" y="31718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确定三类造价分区</a:t>
              </a:r>
            </a:p>
          </p:txBody>
        </p:sp>
      </p:grpSp>
      <p:grpSp>
        <p:nvGrpSpPr>
          <p:cNvPr id="29" name="lookup-step-1"/>
          <p:cNvGrpSpPr/>
          <p:nvPr/>
        </p:nvGrpSpPr>
        <p:grpSpPr>
          <a:xfrm>
            <a:off x="2476500" y="2647950"/>
            <a:ext cx="2028825" cy="981075"/>
            <a:chOff x="2476500" y="2647950"/>
            <a:chExt cx="2028825" cy="981075"/>
          </a:xfrm>
        </p:grpSpPr>
        <p:sp>
          <p:nvSpPr>
            <p:cNvPr id="25" name="Rectangle 25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7650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8203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② 负荷分散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4323" y="3171825"/>
              <a:ext cx="12536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按1.15划分两档</a:t>
              </a:r>
            </a:p>
          </p:txBody>
        </p:sp>
      </p:grpSp>
      <p:grpSp>
        <p:nvGrpSpPr>
          <p:cNvPr id="34" name="lookup-step-2"/>
          <p:cNvGrpSpPr/>
          <p:nvPr/>
        </p:nvGrpSpPr>
        <p:grpSpPr>
          <a:xfrm>
            <a:off x="4619625" y="2647950"/>
            <a:ext cx="2028825" cy="981075"/>
            <a:chOff x="4619625" y="2647950"/>
            <a:chExt cx="2028825" cy="981075"/>
          </a:xfrm>
        </p:grpSpPr>
        <p:sp>
          <p:nvSpPr>
            <p:cNvPr id="30" name="Rectangle 30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619625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725162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③ 源荷条件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27448" y="3159125"/>
              <a:ext cx="1638554" cy="460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增长率与装机渗透率选</a:t>
              </a:r>
              <a:b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行</a:t>
              </a:r>
            </a:p>
          </p:txBody>
        </p:sp>
      </p:grpSp>
      <p:grpSp>
        <p:nvGrpSpPr>
          <p:cNvPr id="39" name="lookup-step-3"/>
          <p:cNvGrpSpPr/>
          <p:nvPr/>
        </p:nvGrpSpPr>
        <p:grpSpPr>
          <a:xfrm>
            <a:off x="6762750" y="2647950"/>
            <a:ext cx="2028825" cy="981075"/>
            <a:chOff x="6762750" y="2647950"/>
            <a:chExt cx="2028825" cy="981075"/>
          </a:xfrm>
        </p:grpSpPr>
        <p:sp>
          <p:nvSpPr>
            <p:cNvPr id="35" name="Rectangle 35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62750" y="2647950"/>
              <a:ext cx="2028825" cy="981075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68287" y="2765425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④ 初始转供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0573" y="3171825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定位推荐区间列</a:t>
              </a:r>
            </a:p>
          </p:txBody>
        </p:sp>
      </p:grpSp>
      <p:graphicFrame>
        <p:nvGraphicFramePr>
          <p:cNvPr id="40" name="lookup-example"/>
          <p:cNvGraphicFramePr>
            <a:graphicFrameLocks noGrp="1"/>
          </p:cNvGraphicFramePr>
          <p:nvPr/>
        </p:nvGraphicFramePr>
        <p:xfrm>
          <a:off x="333375" y="3990975"/>
          <a:ext cx="8477250" cy="97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288"/>
                <a:gridCol w="1630241"/>
                <a:gridCol w="1630241"/>
                <a:gridCol w="1630240"/>
                <a:gridCol w="1630240"/>
              </a:tblGrid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推荐容载比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1.55～1.75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2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4" name="lookup-condition"/>
          <p:cNvGrpSpPr/>
          <p:nvPr/>
        </p:nvGrpSpPr>
        <p:grpSpPr>
          <a:xfrm>
            <a:off x="325755" y="5143500"/>
            <a:ext cx="8484870" cy="620395"/>
            <a:chOff x="325755" y="5143500"/>
            <a:chExt cx="8484870" cy="620395"/>
          </a:xfrm>
        </p:grpSpPr>
        <p:sp>
          <p:nvSpPr>
            <p:cNvPr id="41" name="Rectangle 41"/>
            <p:cNvSpPr/>
            <p:nvPr/>
          </p:nvSpPr>
          <p:spPr>
            <a:xfrm>
              <a:off x="333375" y="5143500"/>
              <a:ext cx="8477250" cy="5905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5755" y="520382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示例条件：电缆长度占比≤10%，负荷分散系数≤1.15，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5755" y="5470525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年最大净负荷平均增长率&gt;7%，装机渗透率(1,2]。</a:t>
              </a:r>
            </a:p>
          </p:txBody>
        </p:sp>
      </p:grpSp>
      <p:grpSp>
        <p:nvGrpSpPr>
          <p:cNvPr id="48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5" name="Rectangle 45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0055" y="5899150"/>
              <a:ext cx="6890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六表288单元；中位代表节点定位宽0.20的窗口，窗口中心按0.05步长取值。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实证分析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4.8 参数响应与设备切换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网络支援改善体现为分档推荐带和设备组合变化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依据：研究报告表5-69—5-75</a:t>
              </a:r>
            </a:p>
          </p:txBody>
        </p:sp>
      </p:grpSp>
      <p:grpSp>
        <p:nvGrpSpPr>
          <p:cNvPr id="22" name="transfer-response"/>
          <p:cNvGrpSpPr/>
          <p:nvPr/>
        </p:nvGrpSpPr>
        <p:grpSpPr>
          <a:xfrm>
            <a:off x="333375" y="2571750"/>
            <a:ext cx="8477250" cy="2571750"/>
            <a:chOff x="333375" y="2571750"/>
            <a:chExt cx="8477250" cy="2571750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2571750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4361" y="2571750"/>
              <a:ext cx="7195279" cy="2571750"/>
            </a:xfrm>
            <a:prstGeom prst="rect">
              <a:avLst/>
            </a:prstGeom>
          </p:spPr>
        </p:pic>
      </p:grpSp>
      <p:grpSp>
        <p:nvGrpSpPr>
          <p:cNvPr id="25" name="response-interpretation"/>
          <p:cNvGrpSpPr/>
          <p:nvPr/>
        </p:nvGrpSpPr>
        <p:grpSpPr>
          <a:xfrm>
            <a:off x="325755" y="5267325"/>
            <a:ext cx="8484870" cy="466725"/>
            <a:chOff x="325755" y="5267325"/>
            <a:chExt cx="8484870" cy="466725"/>
          </a:xfrm>
        </p:grpSpPr>
        <p:sp>
          <p:nvSpPr>
            <p:cNvPr id="23" name="Rectangle 23"/>
            <p:cNvSpPr/>
            <p:nvPr/>
          </p:nvSpPr>
          <p:spPr>
            <a:xfrm>
              <a:off x="333375" y="5267325"/>
              <a:ext cx="8477250" cy="4667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5755" y="52895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装机与负荷增长改变容量任务；电缆造价和局部峰值分布可触发措施替代。</a:t>
              </a:r>
            </a:p>
          </p:txBody>
        </p:sp>
      </p:grpSp>
      <p:grpSp>
        <p:nvGrpSpPr>
          <p:cNvPr id="29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6" name="Rectangle 26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0055" y="5899150"/>
              <a:ext cx="5578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两组均保留9个转供节点，平台与局部回升对应真实设备组合。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项目成效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5.1 研究成果与规划应用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形成从运行特征到片区工程建议的完整研究链条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678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依据：研究报告第六章、5.7</a:t>
              </a:r>
            </a:p>
          </p:txBody>
        </p:sp>
      </p:grpSp>
      <p:grpSp>
        <p:nvGrpSpPr>
          <p:cNvPr id="24" name="explanation-1"/>
          <p:cNvGrpSpPr/>
          <p:nvPr/>
        </p:nvGrpSpPr>
        <p:grpSpPr>
          <a:xfrm>
            <a:off x="333375" y="2619375"/>
            <a:ext cx="4124325" cy="1333500"/>
            <a:chOff x="333375" y="2619375"/>
            <a:chExt cx="4124325" cy="1333500"/>
          </a:xfrm>
        </p:grpSpPr>
        <p:sp>
          <p:nvSpPr>
            <p:cNvPr id="20" name="Rectangle 20"/>
            <p:cNvSpPr/>
            <p:nvPr/>
          </p:nvSpPr>
          <p:spPr>
            <a:xfrm>
              <a:off x="333375" y="2619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333375" y="2638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2618" y="26924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运行特征与参数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761" y="2984500"/>
              <a:ext cx="3639312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46站分析、两层筛选及五项参数，解释地区差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异</a:t>
              </a:r>
            </a:p>
          </p:txBody>
        </p:sp>
      </p:grpSp>
      <p:grpSp>
        <p:nvGrpSpPr>
          <p:cNvPr id="29" name="explanation-2"/>
          <p:cNvGrpSpPr/>
          <p:nvPr/>
        </p:nvGrpSpPr>
        <p:grpSpPr>
          <a:xfrm>
            <a:off x="4686300" y="2619375"/>
            <a:ext cx="4124325" cy="1333500"/>
            <a:chOff x="4686300" y="2619375"/>
            <a:chExt cx="4124325" cy="1333500"/>
          </a:xfrm>
        </p:grpSpPr>
        <p:sp>
          <p:nvSpPr>
            <p:cNvPr id="25" name="Rectangle 25"/>
            <p:cNvSpPr/>
            <p:nvPr/>
          </p:nvSpPr>
          <p:spPr>
            <a:xfrm>
              <a:off x="4686300" y="2619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686300" y="2638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25543" y="26924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工程成本与联合配置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26686" y="2984500"/>
              <a:ext cx="3558159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主变、储能和联络费用，逐年正常与N-1共同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校核</a:t>
              </a:r>
            </a:p>
          </p:txBody>
        </p:sp>
      </p:grpSp>
      <p:grpSp>
        <p:nvGrpSpPr>
          <p:cNvPr id="34" name="explanation-3"/>
          <p:cNvGrpSpPr/>
          <p:nvPr/>
        </p:nvGrpSpPr>
        <p:grpSpPr>
          <a:xfrm>
            <a:off x="333375" y="4143375"/>
            <a:ext cx="4124325" cy="1333500"/>
            <a:chOff x="333375" y="4143375"/>
            <a:chExt cx="4124325" cy="1333500"/>
          </a:xfrm>
        </p:grpSpPr>
        <p:sp>
          <p:nvSpPr>
            <p:cNvPr id="30" name="Rectangle 30"/>
            <p:cNvSpPr/>
            <p:nvPr/>
          </p:nvSpPr>
          <p:spPr>
            <a:xfrm>
              <a:off x="333375" y="4143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333375" y="4162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2618" y="42164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地区方案与推荐范围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3761" y="4508500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两地区建设路径、分项费用，六张条件推荐矩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阵</a:t>
              </a:r>
            </a:p>
          </p:txBody>
        </p:sp>
      </p:grpSp>
      <p:grpSp>
        <p:nvGrpSpPr>
          <p:cNvPr id="39" name="explanation-4"/>
          <p:cNvGrpSpPr/>
          <p:nvPr/>
        </p:nvGrpSpPr>
        <p:grpSpPr>
          <a:xfrm>
            <a:off x="4686300" y="4143375"/>
            <a:ext cx="4124325" cy="1333500"/>
            <a:chOff x="4686300" y="4143375"/>
            <a:chExt cx="4124325" cy="1333500"/>
          </a:xfrm>
        </p:grpSpPr>
        <p:sp>
          <p:nvSpPr>
            <p:cNvPr id="35" name="Rectangle 35"/>
            <p:cNvSpPr/>
            <p:nvPr/>
          </p:nvSpPr>
          <p:spPr>
            <a:xfrm>
              <a:off x="4686300" y="4143375"/>
              <a:ext cx="4124325" cy="13335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4686300" y="4162425"/>
              <a:ext cx="4124325" cy="9525"/>
            </a:xfrm>
            <a:custGeom>
              <a:avLst/>
              <a:gdLst/>
              <a:ahLst/>
              <a:cxnLst/>
              <a:rect l="l" t="t" r="r" b="b"/>
              <a:pathLst>
                <a:path w="4124325" h="9525">
                  <a:moveTo>
                    <a:pt x="0" y="0"/>
                  </a:moveTo>
                  <a:lnTo>
                    <a:pt x="4124325" y="0"/>
                  </a:lnTo>
                </a:path>
              </a:pathLst>
            </a:custGeom>
            <a:noFill/>
            <a:ln w="19050">
              <a:solidFill>
                <a:srgbClr val="007C7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25543" y="42164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一片一策应用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26686" y="4508500"/>
              <a:ext cx="3621278" cy="5073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先查表，再落实设备和投运时点，结合新增资</a:t>
              </a:r>
              <a:b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420" dirty="0">
                  <a:solidFill>
                    <a:srgbClr val="20393E"/>
                  </a:solidFill>
                  <a:latin typeface="Microsoft YaHei"/>
                  <a:ea typeface="Microsoft YaHei"/>
                  <a:cs typeface="Microsoft YaHei"/>
                </a:rPr>
                <a:t>料滚动更新</a:t>
              </a:r>
            </a:p>
          </p:txBody>
        </p:sp>
      </p:grpSp>
      <p:grpSp>
        <p:nvGrpSpPr>
          <p:cNvPr id="43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40" name="Rectangle 40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40055" y="5899150"/>
              <a:ext cx="7679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工程实施继续核实真实馈线、连续SOC、电压与保护条件，完善运行费用与资产价值。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5.xml><?xml version="1.0" encoding="utf-8"?>
<p:sld xmlns:a="http://schemas.openxmlformats.org/drawingml/2006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2388" y="44537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chemeClr val="accent1"/>
                </a:solidFill>
              </a14:hiddenFill>
            </a:ext>
            <a:ext uri="{91240B29-F687-4F45-9708-019B960494DF}">
              <a14:hiddenLine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854388" y="445376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>
                <a:solidFill>
                  <a:schemeClr val="accent1"/>
                </a:solidFill>
              </a14:hiddenFill>
            </a:ext>
            <a:ext uri="{91240B29-F687-4F45-9708-019B960494DF}">
              <a14:hiddenLine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72652" y="3129694"/>
            <a:ext cx="3563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rgbClr val="017977"/>
                </a:solidFill>
              </a:rPr>
              <a:t>谢 谢！</a:t>
            </a:r>
            <a:endParaRPr lang="zh-CN" altLang="en-US" sz="9600" dirty="0">
              <a:solidFill>
                <a:srgbClr val="017977"/>
              </a:solidFill>
            </a:endParaRPr>
          </a:p>
        </p:txBody>
      </p:sp>
    </p:spTree>
  </p:cSld>
  <p:clrMapOvr>
    <a:masterClrMapping/>
  </p:clrMapOvr>
  <p:transition advClick="0" advTm="5000"/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备查：逐年配置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邳州逐年主变、储能及累计新增联络对照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依据：研究报告表5-4</a:t>
              </a: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2068.50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2091.50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2057.00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2078.50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2320.00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2097.00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2338.50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2388.50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2475.50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2302.50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126.60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2352.50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2741.00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147.40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2589.50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2891.00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2678.00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264.30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2901.00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253.80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单位：容量MVA，储能为在役额定功率MW；新线为累计新增联络条数。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备查：逐年配置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市区逐年主变、储能及累计新增联络对照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2830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</a:t>
              </a:r>
            </a:p>
          </p:txBody>
        </p:sp>
      </p:grpSp>
      <p:graphicFrame>
        <p:nvGraphicFramePr>
          <p:cNvPr id="20" name="annual-comparison"/>
          <p:cNvGraphicFramePr>
            <a:graphicFrameLocks noGrp="1"/>
          </p:cNvGraphicFramePr>
          <p:nvPr/>
        </p:nvGraphicFramePr>
        <p:xfrm>
          <a:off x="333375" y="2562225"/>
          <a:ext cx="84772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097"/>
                <a:gridCol w="1103547"/>
                <a:gridCol w="902903"/>
                <a:gridCol w="1053386"/>
                <a:gridCol w="852741"/>
                <a:gridCol w="1103547"/>
                <a:gridCol w="902902"/>
                <a:gridCol w="1053386"/>
                <a:gridCol w="852741"/>
              </a:tblGrid>
              <a:tr h="20836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弹性容量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弹性比值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弹性储能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弹性新线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60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3150.50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3190.50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3113.50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3160.50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3447.00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3240.50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3473.00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2033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3426.00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3558.50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3453.00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30.30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3558.50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31.90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08359"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3587.00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1.61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43.20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3608.50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1.62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51.00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anchor="ctr" marL="28575" marR="28575" marT="0" marB="0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" name="annual-units"/>
          <p:cNvGrpSpPr/>
          <p:nvPr/>
        </p:nvGrpSpPr>
        <p:grpSpPr>
          <a:xfrm>
            <a:off x="326898" y="6019800"/>
            <a:ext cx="8483727" cy="278892"/>
            <a:chOff x="326898" y="6019800"/>
            <a:chExt cx="8483727" cy="278892"/>
          </a:xfrm>
        </p:grpSpPr>
        <p:sp>
          <p:nvSpPr>
            <p:cNvPr id="21" name="Rectangle 21"/>
            <p:cNvSpPr/>
            <p:nvPr/>
          </p:nvSpPr>
          <p:spPr>
            <a:xfrm>
              <a:off x="333375" y="6019800"/>
              <a:ext cx="8477250" cy="2476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6048375"/>
              <a:ext cx="5447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单位：容量MVA，储能为在役额定功率MW；新线为累计新增联络条数。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备查：方法与经济参数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采样设计、有效样本和共同经济条件分别登记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23911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依据：研究报告表3-14、表3-15、表4-1</a:t>
              </a:r>
            </a:p>
          </p:txBody>
        </p:sp>
      </p:grpSp>
      <p:graphicFrame>
        <p:nvGraphicFramePr>
          <p:cNvPr id="20" name="sampling-details"/>
          <p:cNvGraphicFramePr>
            <a:graphicFrameLocks noGrp="1"/>
          </p:cNvGraphicFramePr>
          <p:nvPr/>
        </p:nvGraphicFramePr>
        <p:xfrm>
          <a:off x="333375" y="2562225"/>
          <a:ext cx="84772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8372"/>
                <a:gridCol w="1867869"/>
                <a:gridCol w="1436822"/>
                <a:gridCol w="1724187"/>
              </a:tblGrid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候选指标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取点/计算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有效组数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有效节点数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2484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电量渗透率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站级负载率最大值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最大正向净负荷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11988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88781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最大反向净负荷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由源荷节点计算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19880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60798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4329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95%峰值持续时间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5140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41118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负荷分散系数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10608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31473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初始转供率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4680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32058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主变/线路投资比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7个价格节点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2466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17262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8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主变/储能投资比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7个价格节点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2466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17262</a:t>
                      </a:r>
                    </a:p>
                  </a:txBody>
                  <a:tcPr anchor="ctr" marL="28575" marR="28575" marT="5579" marB="5579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电缆长度占比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7584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24517">
                <a:tc>
                  <a:txBody>
                    <a:bodyPr/>
                    <a:lstStyle/>
                    <a:p>
                      <a:pPr algn="ct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储能支撑持续时间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10704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32112</a:t>
                      </a:r>
                    </a:p>
                  </a:txBody>
                  <a:tcPr anchor="ctr" marL="28575" marR="28575" marT="5578" marB="557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4" name="economic-parameters"/>
          <p:cNvGrpSpPr/>
          <p:nvPr/>
        </p:nvGrpSpPr>
        <p:grpSpPr>
          <a:xfrm>
            <a:off x="326898" y="5791200"/>
            <a:ext cx="8483727" cy="514350"/>
            <a:chOff x="326898" y="5791200"/>
            <a:chExt cx="8483727" cy="514350"/>
          </a:xfrm>
        </p:grpSpPr>
        <p:sp>
          <p:nvSpPr>
            <p:cNvPr id="21" name="Rectangle 21"/>
            <p:cNvSpPr/>
            <p:nvPr/>
          </p:nvSpPr>
          <p:spPr>
            <a:xfrm>
              <a:off x="333375" y="5791200"/>
              <a:ext cx="8477250" cy="5143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898" y="5848350"/>
              <a:ext cx="587161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寿命：主变/线路/储能40/40/25年；维护费率4.2%/2.2%/3%；折现率6%。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6898" y="6048375"/>
              <a:ext cx="54580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评价基准2021年、截止2041年；采样实际取值节点保留于报告表3-14。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电缆长度占比≤10%，负荷分散系数≤1.15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依据：研究报告表5-63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2.70～2.90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2.60～2.80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1.75～1.95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1.75～1.95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1.55～1.75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4775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列为初始转供率；中位代表节点定位推荐窗口，宽度0.20。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3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电缆长度占比≤10%，负荷分散系数&gt;1.15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依据：研究报告表5-64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2.70～2.90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2.45～2.65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1.40～1.60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4775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列为初始转供率；中位代表节点定位推荐窗口，宽度0.20。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3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电缆长度占比(10%,30%]，负荷分散系数≤1.15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依据：研究报告表5-65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2.70～2.90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2.60～2.80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1.75～1.95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1.75～1.95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1.55～1.75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4775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列为初始转供率；中位代表节点定位推荐窗口，宽度0.20。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3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5665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电缆长度占比(10%,30%]，负荷分散系数&gt;1.15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依据：研究报告表5-66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2.70～2.90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2.45～2.65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1.40～1.60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4775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列为初始转供率；中位代表节点定位推荐窗口，宽度0.20。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3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电缆长度占比&gt;30%，负荷分散系数≤1.15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依据：研究报告表5-67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2.05～2.25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2.60～2.80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1.75～1.95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1.60～1.80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1.75～1.95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1.35～1.55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4775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列为初始转供率；中位代表节点定位推荐窗口，宽度0.20。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3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备查：容载比推荐矩阵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851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电缆长度占比&gt;30%，负荷分散系数&gt;1.15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3555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依据：研究报告表5-68</a:t>
              </a:r>
            </a:p>
          </p:txBody>
        </p:sp>
      </p:grpSp>
      <p:graphicFrame>
        <p:nvGraphicFramePr>
          <p:cNvPr id="20" name="recommendation-matrix"/>
          <p:cNvGraphicFramePr>
            <a:graphicFrameLocks noGrp="1"/>
          </p:cNvGraphicFramePr>
          <p:nvPr/>
        </p:nvGraphicFramePr>
        <p:xfrm>
          <a:off x="333375" y="2571750"/>
          <a:ext cx="8477250" cy="3381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450"/>
                <a:gridCol w="1169276"/>
                <a:gridCol w="1403131"/>
                <a:gridCol w="1403131"/>
                <a:gridCol w="1403131"/>
                <a:gridCol w="1403131"/>
              </a:tblGrid>
              <a:tr h="416169"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年最大净负荷平均增长率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装机渗透率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≤30%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(30%,50%]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(50%,70%]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&gt;70%</a:t>
                      </a:r>
                    </a:p>
                  </a:txBody>
                  <a:tcPr anchor="ctr" marL="28575" marR="28575" marT="28575" marB="28575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007C78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≤2%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2.75～2.95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2.55～2.75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2.50～2.70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2.10～2.30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1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(2%,4%]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2.70～2.90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1.75～1.95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1.70～1.90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(4%,7%]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2.45～2.65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2.35～2.55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≤1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1.90～2.10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1.80～2.00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1.40～1.60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(1,2]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1.95～2.15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2.00～2.20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1.85～2.05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1.50～1.70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7100"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&gt;7%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2.40～2.60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2.30～2.50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2.20～2.40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80" b="0">
                          <a:solidFill>
                            <a:srgbClr val="20393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2.15～2.35</a:t>
                      </a:r>
                    </a:p>
                  </a:txBody>
                  <a:tcPr anchor="ctr" marL="28575" marR="28575" marT="9758" marB="9758">
                    <a:lnL w="5715">
                      <a:solidFill>
                        <a:srgbClr val="D0DEDB"/>
                      </a:solidFill>
                      <a:prstDash val="solid"/>
                    </a:lnL>
                    <a:lnR w="5715">
                      <a:solidFill>
                        <a:srgbClr val="D0DEDB"/>
                      </a:solidFill>
                      <a:prstDash val="solid"/>
                    </a:lnR>
                    <a:lnT w="5715">
                      <a:solidFill>
                        <a:srgbClr val="D0DEDB"/>
                      </a:solidFill>
                      <a:prstDash val="solid"/>
                    </a:lnT>
                    <a:lnB w="5715">
                      <a:solidFill>
                        <a:srgbClr val="D0DEDB"/>
                      </a:solidFill>
                      <a:prstDash val="solid"/>
                    </a:lnB>
                    <a:solidFill>
                      <a:srgbClr val="EFF5F4"/>
                    </a:solidFill>
                  </a:tcPr>
                </a:tc>
              </a:tr>
            </a:tbl>
          </a:graphicData>
        </a:graphic>
      </p:graphicFrame>
      <p:grpSp>
        <p:nvGrpSpPr>
          <p:cNvPr id="23" name="matrix-note"/>
          <p:cNvGrpSpPr/>
          <p:nvPr/>
        </p:nvGrpSpPr>
        <p:grpSpPr>
          <a:xfrm>
            <a:off x="326517" y="6057900"/>
            <a:ext cx="8484108" cy="270383"/>
            <a:chOff x="326517" y="6057900"/>
            <a:chExt cx="8484108" cy="270383"/>
          </a:xfrm>
        </p:grpSpPr>
        <p:sp>
          <p:nvSpPr>
            <p:cNvPr id="21" name="Rectangle 21"/>
            <p:cNvSpPr/>
            <p:nvPr/>
          </p:nvSpPr>
          <p:spPr>
            <a:xfrm>
              <a:off x="333375" y="6057900"/>
              <a:ext cx="8477250" cy="23812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6517" y="6064250"/>
              <a:ext cx="4775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列为初始转供率；中位代表节点定位推荐窗口，宽度0.20。</a:t>
              </a:r>
            </a:p>
          </p:txBody>
        </p:sp>
      </p:grpSp>
    </p:spTree>
  </p:cSld>
  <p:clrMapOvr>
    <a:masterClrMapping/>
  </p:clrMapOvr>
  <p:transition advClick="0" advTm="5000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43"/>
          <p:cNvSpPr/>
          <p:nvPr/>
        </p:nvSpPr>
        <p:spPr>
          <a:xfrm>
            <a:off x="8496110" y="161925"/>
            <a:ext cx="307943" cy="584168"/>
          </a:xfrm>
          <a:prstGeom prst="rect">
            <a:avLst/>
          </a:prstGeom>
          <a:noFill/>
          <a:ln>
            <a:noFill/>
          </a:ln>
        </p:spPr>
        <p:txBody>
          <a:bodyPr wrap="none" lIns="91440" tIns="45710" rIns="0" bIns="0" anchor="t" anchorCtr="0">
            <a:noAutofit/>
          </a:bodyPr>
          <a:lstStyle/>
          <a:p>
            <a:pPr algn="l"/>
            <a:r>
              <a:rPr lang="zh-CN" sz="3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44"/>
          <p:cNvSpPr/>
          <p:nvPr/>
        </p:nvSpPr>
        <p:spPr>
          <a:xfrm>
            <a:off x="4549712" y="491490"/>
            <a:ext cx="3913346" cy="523208"/>
          </a:xfrm>
          <a:prstGeom prst="rect">
            <a:avLst/>
          </a:prstGeom>
          <a:noFill/>
          <a:ln>
            <a:noFill/>
          </a:ln>
        </p:spPr>
        <p:txBody>
          <a:bodyPr wrap="none" lIns="0" tIns="45717" rIns="91535" bIns="0" anchor="t" anchorCtr="0">
            <a:noAutofit/>
          </a:bodyPr>
          <a:lstStyle/>
          <a:p>
            <a:pPr algn="r"/>
            <a:r>
              <a:rPr lang="zh-CN" sz="2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备查资料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7829679" y="45656"/>
            <a:ext cx="1264884" cy="1211659"/>
          </a:xfrm>
          <a:prstGeom prst="line">
            <a:avLst/>
          </a:prstGeom>
          <a:noFill/>
          <a:ln w="22225" cap="rnd" cmpd="sng" algn="ctr">
            <a:gradFill>
              <a:gsLst>
                <a:gs pos="9000">
                  <a:srgbClr val="00B0F0"/>
                </a:gs>
                <a:gs pos="100000">
                  <a:srgbClr val="0072C0"/>
                </a:gs>
              </a:gsLst>
              <a:lin ang="5400000" scaled="0"/>
            </a:gradFill>
            <a:prstDash val="sysDot"/>
          </a:ln>
          <a:effectLst/>
        </p:spPr>
      </p:cxnSp>
      <p:sp>
        <p:nvSpPr>
          <p:cNvPr id="2" name="灯片编号占位符 1"/>
          <p:cNvSpPr/>
          <p:nvPr>
            <p:ph type="sldNum" idx="12" sz="quarter"/>
          </p:nvPr>
        </p:nvSpPr>
        <p:spPr>
          <a:xfrm>
            <a:off x="7086600" y="6492907"/>
            <a:ext cx="2057400" cy="365093"/>
          </a:xfrm>
          <a:prstGeom prst="rect">
            <a:avLst/>
          </a:prstGeom>
          <a:noFill/>
          <a:ln>
            <a:noFill/>
          </a:ln>
        </p:spPr>
        <p:txBody>
          <a:bodyPr wrap="none" lIns="0" tIns="45688" rIns="91440" bIns="0" anchor="t" anchorCtr="0">
            <a:no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pSp>
        <p:nvGrpSpPr>
          <p:cNvPr id="11" name="组合 2"/>
          <p:cNvGrpSpPr/>
          <p:nvPr/>
        </p:nvGrpSpPr>
        <p:grpSpPr>
          <a:xfrm>
            <a:off x="0" y="1337120"/>
            <a:ext cx="3754469" cy="530447"/>
            <a:chOff x="0" y="1337120"/>
            <a:chExt cx="3754469" cy="530447"/>
          </a:xfrm>
        </p:grpSpPr>
        <p:sp>
          <p:nvSpPr>
            <p:cNvPr id="18" name="五边形 3"/>
            <p:cNvSpPr/>
            <p:nvPr/>
          </p:nvSpPr>
          <p:spPr>
            <a:xfrm>
              <a:off x="0" y="1337120"/>
              <a:ext cx="3754469" cy="530447"/>
            </a:xfrm>
            <a:prstGeom prst="homePlate">
              <a:avLst>
                <a:gd name="adj" fmla="val 50024"/>
              </a:avLst>
            </a:prstGeom>
            <a:solidFill>
              <a:srgbClr val="007C78"/>
            </a:solidFill>
            <a:ln w="6350">
              <a:solidFill>
                <a:srgbClr val="FFFFFF"/>
              </a:solidFill>
              <a:miter lim="800000"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2000" b="1">
                <a:solidFill>
                  <a:srgbClr val="FFFFFF"/>
                </a:solidFill>
                <a:latin typeface="Franklin Gothic Book" panose="020B0503020102020204" pitchFamily="2" charset="0"/>
                <a:ea typeface="黑体" panose="02010609060101010101" pitchFamily="49" charset="-122"/>
              </a:endParaRPr>
            </a:p>
          </p:txBody>
        </p:sp>
        <p:sp>
          <p:nvSpPr>
            <p:cNvPr id="19" name="矩形 3"/>
            <p:cNvSpPr/>
            <p:nvPr/>
          </p:nvSpPr>
          <p:spPr>
            <a:xfrm>
              <a:off x="34004" y="1390364"/>
              <a:ext cx="3471196" cy="4001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49" rIns="0" bIns="0" anchor="t" anchorCtr="0">
              <a:noAutofit/>
            </a:bodyPr>
            <a:lstStyle/>
            <a:p>
              <a:pPr algn="l"/>
              <a:r>
                <a:rPr lang="zh-CN" sz="2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备查：四类参数响应</a:t>
              </a:r>
            </a:p>
          </p:txBody>
        </p:sp>
      </p:grpSp>
      <p:grpSp>
        <p:nvGrpSpPr>
          <p:cNvPr id="10" name="page-claim"/>
          <p:cNvGrpSpPr/>
          <p:nvPr/>
        </p:nvGrpSpPr>
        <p:grpSpPr>
          <a:xfrm>
            <a:off x="323469" y="2019300"/>
            <a:ext cx="8487156" cy="457200"/>
            <a:chOff x="323469" y="2019300"/>
            <a:chExt cx="8487156" cy="457200"/>
          </a:xfrm>
        </p:grpSpPr>
        <p:sp>
          <p:nvSpPr>
            <p:cNvPr id="8" name="Rectangle 8"/>
            <p:cNvSpPr/>
            <p:nvPr/>
          </p:nvSpPr>
          <p:spPr>
            <a:xfrm>
              <a:off x="333375" y="201930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23469" y="207327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参数通过不同工程机制触发容量配置切换</a:t>
              </a:r>
            </a:p>
          </p:txBody>
        </p:sp>
      </p:grpSp>
      <p:grpSp>
        <p:nvGrpSpPr>
          <p:cNvPr id="17" name="source-note"/>
          <p:cNvGrpSpPr/>
          <p:nvPr/>
        </p:nvGrpSpPr>
        <p:grpSpPr>
          <a:xfrm>
            <a:off x="328422" y="6315075"/>
            <a:ext cx="8101203" cy="285750"/>
            <a:chOff x="328422" y="6315075"/>
            <a:chExt cx="8101203" cy="285750"/>
          </a:xfrm>
        </p:grpSpPr>
        <p:sp>
          <p:nvSpPr>
            <p:cNvPr id="12" name="Rectangle 12"/>
            <p:cNvSpPr/>
            <p:nvPr/>
          </p:nvSpPr>
          <p:spPr>
            <a:xfrm>
              <a:off x="333375" y="6315075"/>
              <a:ext cx="8096250" cy="28575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8422" y="6353175"/>
              <a:ext cx="17183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E7077"/>
                  </a:solidFill>
                  <a:latin typeface="Microsoft YaHei"/>
                  <a:ea typeface="Microsoft YaHei"/>
                  <a:cs typeface="Microsoft YaHei"/>
                </a:rPr>
                <a:t>依据：研究报告表5-72—5-75</a:t>
              </a:r>
            </a:p>
          </p:txBody>
        </p:sp>
      </p:grpSp>
      <p:grpSp>
        <p:nvGrpSpPr>
          <p:cNvPr id="22" name="evidence-figure"/>
          <p:cNvGrpSpPr/>
          <p:nvPr/>
        </p:nvGrpSpPr>
        <p:grpSpPr>
          <a:xfrm>
            <a:off x="333375" y="2571750"/>
            <a:ext cx="8477250" cy="3190875"/>
            <a:chOff x="333375" y="2571750"/>
            <a:chExt cx="8477250" cy="3190875"/>
          </a:xfrm>
        </p:grpSpPr>
        <p:sp>
          <p:nvSpPr>
            <p:cNvPr id="20" name="Rectangle 20"/>
            <p:cNvSpPr/>
            <p:nvPr/>
          </p:nvSpPr>
          <p:spPr>
            <a:xfrm>
              <a:off x="333375" y="2571750"/>
              <a:ext cx="8477250" cy="3190875"/>
            </a:xfrm>
            <a:prstGeom prst="rect">
              <a:avLst/>
            </a:prstGeom>
            <a:noFill/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4879" y="2571750"/>
              <a:ext cx="7634243" cy="3190875"/>
            </a:xfrm>
            <a:prstGeom prst="rect">
              <a:avLst/>
            </a:prstGeom>
          </p:spPr>
        </p:pic>
      </p:grpSp>
      <p:grpSp>
        <p:nvGrpSpPr>
          <p:cNvPr id="26" name="engineering-takeaway"/>
          <p:cNvGrpSpPr/>
          <p:nvPr/>
        </p:nvGrpSpPr>
        <p:grpSpPr>
          <a:xfrm>
            <a:off x="333375" y="5810250"/>
            <a:ext cx="8477250" cy="457200"/>
            <a:chOff x="333375" y="5810250"/>
            <a:chExt cx="8477250" cy="457200"/>
          </a:xfrm>
        </p:grpSpPr>
        <p:sp>
          <p:nvSpPr>
            <p:cNvPr id="23" name="Rectangle 23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" y="5810250"/>
              <a:ext cx="8477250" cy="457200"/>
            </a:xfrm>
            <a:prstGeom prst="rect">
              <a:avLst/>
            </a:prstGeom>
            <a:solidFill>
              <a:srgbClr val="EAF3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0055" y="5899150"/>
              <a:ext cx="68303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7C78"/>
                  </a:solidFill>
                  <a:latin typeface="Microsoft YaHei"/>
                  <a:ea typeface="Microsoft YaHei"/>
                  <a:cs typeface="Microsoft YaHei"/>
                </a:rPr>
                <a:t>分散系数1.05—1.25的11节点：1.07、1.15补强主变，1.21转为10项联络。</a:t>
              </a:r>
            </a:p>
          </p:txBody>
        </p:sp>
      </p:grpSp>
    </p:spTree>
  </p:cSld>
  <p:clrMapOvr>
    <a:masterClrMapping/>
  </p:clrMapOvr>
  <p:transition advClick="0" advTm="5000"/>
</p:sld>
</file>

<file path=ppt/theme/theme1.xml><?xml version="1.0" encoding="utf-8"?>
<a:theme xmlns:a="http://schemas.openxmlformats.org/drawingml/2006/main" name="默认设计模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s">
      <a:majorFont>
        <a:latin typeface="黑体"/>
        <a:ea typeface="黑体"/>
        <a:cs typeface=""/>
      </a:majorFont>
      <a:minorFont>
        <a:latin typeface="黑体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96</ns0:Words>
  <ns0:Application>WPS 演示</ns0:Application>
  <ns0:PresentationFormat>全屏显示(4:3)</ns0:PresentationFormat>
  <ns0:Paragraphs>51</ns0:Paragraphs>
  <ns0:Slides>35</ns0:Slides>
  <ns0:Notes>11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15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4</ns1:i4>
      </ns1:variant>
    </ns1:vector>
  </ns0:HeadingPairs>
  <ns0:TitlesOfParts>
    <ns1:vector size="20" baseType="lpstr">
      <ns1:lpstr>Arial</ns1:lpstr>
      <ns1:lpstr>宋体</ns1:lpstr>
      <ns1:lpstr>Wingdings</ns1:lpstr>
      <ns1:lpstr>黑体</ns1:lpstr>
      <ns1:lpstr>Calibri</ns1:lpstr>
      <ns1:lpstr>汉仪大宋简</ns1:lpstr>
      <ns1:lpstr>微软雅黑</ns1:lpstr>
      <ns1:lpstr>华文细黑</ns1:lpstr>
      <ns1:lpstr>Hiragino Sans GB W3</ns1:lpstr>
      <ns1:lpstr>Segoe Print</ns1:lpstr>
      <ns1:lpstr>Franklin Gothic Book</ns1:lpstr>
      <ns1:lpstr>微软雅黑 Light</ns1:lpstr>
      <ns1:lpstr>Arial Unicode MS</ns1:lpstr>
      <ns1:lpstr>等线</ns1:lpstr>
      <ns1:lpstr>Times New Roman</ns1:lpstr>
      <ns1:lpstr>默认设计模板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关于开展电网投资项目协同管理工作的汇报</dc:title>
  <dc:creator>蔡武俊</dc:creator>
  <cp:lastModifiedBy>薛禾雨</cp:lastModifiedBy>
  <cp:revision>2734</cp:revision>
  <cp:lastPrinted>2016-12-01T05:46:00Z</cp:lastPrinted>
  <dcterms:created xsi:type="dcterms:W3CDTF">2015-06-16T03:37:00Z</dcterms:created>
  <dcterms:modified xsi:type="dcterms:W3CDTF">2023-07-09T10:49:26Z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2052-11.8.2.8696</vt:lpwstr>
  </property>
</Properties>
</file>