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微软雅黑" panose="020B0503020204020204" pitchFamily="34" charset="-122"/>
      <p:regular r:id="rId18"/>
    </p:embeddedFont>
    <p:embeddedFont>
      <p:font typeface="华文细黑" panose="02010600040101010101" pitchFamily="2" charset="-122"/>
      <p:regular r:id="rId19"/>
    </p:embeddedFont>
    <p:embeddedFont>
      <p:font typeface="等线" panose="02010600030101010101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handoutMaster" Target="handoutMasters/handoutMaster1.xml" /><Relationship Id="rId4" Type="http://schemas.openxmlformats.org/officeDocument/2006/relationships/notesMaster" Target="notesMasters/notesMaster1.xml" /><Relationship Id="rId20" Type="http://schemas.openxmlformats.org/officeDocument/2006/relationships/font" Target="fonts/font8.fntdata" /><Relationship Id="rId2" Type="http://schemas.openxmlformats.org/officeDocument/2006/relationships/theme" Target="theme/theme1.xml" /><Relationship Id="rId19" Type="http://schemas.openxmlformats.org/officeDocument/2006/relationships/font" Target="fonts/font7.fntdata" /><Relationship Id="rId18" Type="http://schemas.openxmlformats.org/officeDocument/2006/relationships/font" Target="fonts/font6.fntdata" /><Relationship Id="rId17" Type="http://schemas.openxmlformats.org/officeDocument/2006/relationships/font" Target="fonts/font5.fntdata" /><Relationship Id="rId16" Type="http://schemas.openxmlformats.org/officeDocument/2006/relationships/font" Target="fonts/font4.fntdata" /><Relationship Id="rId15" Type="http://schemas.openxmlformats.org/officeDocument/2006/relationships/font" Target="fonts/font3.fntdata" /><Relationship Id="rId14" Type="http://schemas.openxmlformats.org/officeDocument/2006/relationships/font" Target="fonts/font2.fntdata" /><Relationship Id="rId13" Type="http://schemas.openxmlformats.org/officeDocument/2006/relationships/font" Target="fonts/font1.fntdata" /><Relationship Id="rId12" Type="http://schemas.openxmlformats.org/officeDocument/2006/relationships/commentAuthors" Target="commentAuthors.xml" /><Relationship Id="rId11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1" Type="http://schemas.openxmlformats.org/officeDocument/2006/relationships/slide" Target="slides/slide1.xml" /><Relationship Id="rId22" Type="http://schemas.openxmlformats.org/officeDocument/2006/relationships/slide" Target="slides/slide2.xml" /><Relationship Id="rId23" Type="http://schemas.openxmlformats.org/officeDocument/2006/relationships/slide" Target="slides/slide3.xml" /><Relationship Id="rId24" Type="http://schemas.openxmlformats.org/officeDocument/2006/relationships/slide" Target="slides/slide4.xml" /><Relationship Id="rId25" Type="http://schemas.openxmlformats.org/officeDocument/2006/relationships/slide" Target="slides/slide5.xml" /><Relationship Id="rId26" Type="http://schemas.openxmlformats.org/officeDocument/2006/relationships/slide" Target="slides/slide6.xml" /><Relationship Id="rId27" Type="http://schemas.openxmlformats.org/officeDocument/2006/relationships/slide" Target="slides/slide7.xml" /><Relationship Id="rId28" Type="http://schemas.openxmlformats.org/officeDocument/2006/relationships/slide" Target="slides/slide8.xml" /><Relationship Id="rId29" Type="http://schemas.openxmlformats.org/officeDocument/2006/relationships/slide" Target="slides/slide9.xml" /><Relationship Id="rId30" Type="http://schemas.openxmlformats.org/officeDocument/2006/relationships/slide" Target="slides/slide10.xml" /><Relationship Id="rId31" Type="http://schemas.openxmlformats.org/officeDocument/2006/relationships/slide" Target="slides/slide11.xml" /><Relationship Id="rId32" Type="http://schemas.openxmlformats.org/officeDocument/2006/relationships/slide" Target="slides/slide12.xml" /><Relationship Id="rId33" Type="http://schemas.openxmlformats.org/officeDocument/2006/relationships/slide" Target="slides/slide13.xml" /><Relationship Id="rId34" Type="http://schemas.openxmlformats.org/officeDocument/2006/relationships/slide" Target="slides/slide14.xml" /><Relationship Id="rId35" Type="http://schemas.openxmlformats.org/officeDocument/2006/relationships/slide" Target="slides/slide15.xml" /><Relationship Id="rId36" Type="http://schemas.openxmlformats.org/officeDocument/2006/relationships/slide" Target="slides/slide16.xml" /><Relationship Id="rId37" Type="http://schemas.openxmlformats.org/officeDocument/2006/relationships/slide" Target="slides/slide17.xml" /><Relationship Id="rId38" Type="http://schemas.openxmlformats.org/officeDocument/2006/relationships/slide" Target="slides/slide18.xml" /><Relationship Id="rId39" Type="http://schemas.openxmlformats.org/officeDocument/2006/relationships/slide" Target="slides/slide19.xml" /><Relationship Id="rId40" Type="http://schemas.openxmlformats.org/officeDocument/2006/relationships/slide" Target="slides/slide20.xml" /><Relationship Id="rId41" Type="http://schemas.openxmlformats.org/officeDocument/2006/relationships/slide" Target="slides/slide21.xml" /><Relationship Id="rId42" Type="http://schemas.openxmlformats.org/officeDocument/2006/relationships/slide" Target="slides/slide22.xml" /><Relationship Id="rId43" Type="http://schemas.openxmlformats.org/officeDocument/2006/relationships/slide" Target="slides/slide23.xml" /><Relationship Id="rId44" Type="http://schemas.openxmlformats.org/officeDocument/2006/relationships/slide" Target="slides/slide24.xml" /><Relationship Id="rId45" Type="http://schemas.openxmlformats.org/officeDocument/2006/relationships/slide" Target="slides/slide25.xml" /><Relationship Id="rId46" Type="http://schemas.openxmlformats.org/officeDocument/2006/relationships/slide" Target="slides/slide26.xml" /><Relationship Id="rId47" Type="http://schemas.openxmlformats.org/officeDocument/2006/relationships/slide" Target="slides/slide27.xml" /><Relationship Id="rId48" Type="http://schemas.openxmlformats.org/officeDocument/2006/relationships/slide" Target="slides/slide28.xml" /><Relationship Id="rId49" Type="http://schemas.openxmlformats.org/officeDocument/2006/relationships/slide" Target="slides/slide29.xml" /><Relationship Id="rId50" Type="http://schemas.openxmlformats.org/officeDocument/2006/relationships/slide" Target="slides/slide30.xml" /><Relationship Id="rId51" Type="http://schemas.openxmlformats.org/officeDocument/2006/relationships/slide" Target="slides/slide31.xml" /><Relationship Id="rId52" Type="http://schemas.openxmlformats.org/officeDocument/2006/relationships/slide" Target="slides/slide32.xml" /><Relationship Id="rId53" Type="http://schemas.openxmlformats.org/officeDocument/2006/relationships/slide" Target="slides/slide33.xml" /><Relationship Id="rId54" Type="http://schemas.openxmlformats.org/officeDocument/2006/relationships/slide" Target="slides/slide34.xml" /><Relationship Id="rId55" Type="http://schemas.openxmlformats.org/officeDocument/2006/relationships/slide" Target="slides/slide35.xml" /><Relationship Id="rId56" Type="http://schemas.openxmlformats.org/officeDocument/2006/relationships/slide" Target="slides/slide36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主变更换按整台新购容量计价，扩建按完整项目投资计价，新购容量与净增容量分别反映采购费用和区域容量变化。联络按实际新建条数与地区综合造价计费。三类措施后续统一按投运批次计算评价期费用。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储能支撑同时受功率和可用电量约束，研究取可用电量系数0.76。对额定1 MW、2.15 MWh配置，2、4、6小时有效支撑分别为0.82、0.41、0.27 MW。时间条件改变可用支撑规模，工程投资仍按新增整数柜及统一单价计取。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三类措施在同一供电任务下联合选择，设备按可选额定容量、台数和整台投运，储能柜数及新增联络数量取整数。正常运行和最大单台主变N-1条件共同限制方案，储能与转供在同年设备状态下参与容量支撑。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类方案使用相同2021年实际容量和各年源荷，后续承接已投运设备。刚性基准对新增扩容实行容量控制，弹性方案在相同正常和故障约束下比较主变、储能与联络费用。比较统一评价期内新增措施费用现值，不将求解可行结果称为已证明全局最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邳州弹性方案在若干建设节点形成更多站内容量，后期储能和联络需求相应改变。2035年弹性主变2901.00 MVA、容载比2.06，刚性分别为2678.00 MVA、1.90。全期弹性费用57521.36万元，比刚性减少848.32万元。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市区2022年两方案相同，2030年弹性累计费用仍高于刚性，后续建设共同形成全期费用优势。2035年弹性主变3608.50 MVA、容载比1.62，储能额定能量109.65 MWh高于刚性92.88 MWh，累计新增联络则从66条降至35条。全期费用减少2050.35万元。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弹性方案的主变费用均增加，但储能及联络费用变化不同。邳州储能和联络费用下降共同抵消新增主变支出；市区主要由联络费用下降形成优势，储能费用略增。两地区合计费用现值减少2898.67万元，降幅2.96%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2035年邳州弹性储能545.67 MWh、累计新增联络21条，刚性分别为568.25 MWh、58条。市区弹性储能109.65 MWh高于刚性，但累计新增联络35条低于刚性66条。容量、储能和联络必须作为同一配置组合比较。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戴圩变弹性方案扩建第三台50 MVA主变，2035年总容量由刚性113.00 MVA提高到163.00 MVA，配储需求改变。兴塘变通过不同主变组合提高N-1剩余容量；八义集变则在总容量相同条件下，储能和年度固定转接任务不同。逐站解释均对应本站实际配置。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联络将具体源荷区段切换至有余量的受端，负荷和区段内光伏共同切换。既有转供能力以逐站MW封顶，正常与事故追加共同占用路径和共享馈线预算。10 kV、485 A和功率因数0.95按三相有功关系折算为7.98 MW，工程取8.00 MW，示例区段有效转供7.49 MW。新增工程按实际项目计费，支撑作用通过源端可切负荷、通道和受端主变校核。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矩阵先按三档电缆占比和两档负荷分散系数选表，再以增长率和装机渗透率选行、初始转供率选列。示例四档推荐窗口为1.96至2.03、1.89至1.96、1.63至1.69、1.57至1.63。各格由最接近中位数的真实节点定位基准宽0.10窗口，同距取较大值，定位网格为0.02，相近容量水平按中点共用界值并局部缩窄。查表后按实际主变、扩建位置和网络条件形成设备方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形成运行特征、工程费用、地区逐年方案和五参数推荐矩阵四类成果。两地区所设条件下弹性费用现值合计降低2.96%，具体建设路径随片区源荷和网络条件变化。工程采用时还需核定连续储能运行、实际网络及相关费用条件，滚动更新设备与推荐范围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汇报完毕，敬请各位专家批评指正。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装机渗透率、增长率、电缆长度占比和负荷分散系数分别改变源荷任务、比值分母、线路造价和局部峰值条件。负荷分散系数完整11节点中，1.11、1.21和1.25触发增容，形成2.05、2.14、2.26、2.43四个容量平台。平台内仍需调整储能和联络，完整节点见下一页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完整保留1.05至1.25、间隔0.02的11个节点，其余源荷和网络条件相同。1.11增容26 MVA替代8.80 MW储能并减少一项联络；其后同一容量平台内继续调整配套措施。1.21再次增容并取消储能，1.25容量达到710 MVA、配10项联络。全序列费用现值从4310.32万元增至8339.97万元。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image" Target="../media/image5.png" /><Relationship Id="rId1" Type="http://schemas.openxmlformats.org/officeDocument/2006/relationships/image" Target="../media/image4.jpeg" />  <Relationship Id="rId4" Type="http://schemas.openxmlformats.org/officeDocument/2006/relationships/notesSlide" Target="../notesSlides/notesSlide1_tf1.xml"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<Relationship Id="rId2" Type="http://schemas.openxmlformats.org/officeDocument/2006/relationships/notesSlide" Target="../notesSlides/notesSlide2_tf1.xml"/>
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6d703104f17ea2a.png" />  <Relationship Id="rId3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5a2f474cebe1b360.png" />  <Relationship Id="rId3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8c8955339bb37fe8.png" />  <Relationship Id="rId3" Type="http://schemas.openxmlformats.org/officeDocument/2006/relationships/notesSlide" Target="../notesSlides/notesSlide7.xml"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283ee6bc1e05b09.png" />  <Relationship Id="rId3" Type="http://schemas.openxmlformats.org/officeDocument/2006/relationships/notesSlide" Target="../notesSlides/notesSlide8.xml"/>
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965bcabb4e25d34f.png" />  <Relationship Id="rId3" Type="http://schemas.openxmlformats.org/officeDocument/2006/relationships/notesSlide" Target="../notesSlides/notesSlide9.xml"/>
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bf8fb2b8862fba8.png" />  <Relationship Id="rId3" Type="http://schemas.openxmlformats.org/officeDocument/2006/relationships/notesSlide" Target="../notesSlides/notesSlide10.xml"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63e5f99ec502ec3d.png" />  <Relationship Id="rId3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c620f68386a67fa.png" />  <Relationship Id="rId3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26670a2dd8df8c6.png" />  <Relationship Id="rId3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5.xml"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d284d55d8ef0eaa.png" />  <Relationship Id="rId3" Type="http://schemas.openxmlformats.org/officeDocument/2006/relationships/notesSlide" Target="../notesSlides/notesSlide16.xml"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f7816b60915b0e9e.png" />  <Relationship Id="rId3" Type="http://schemas.openxmlformats.org/officeDocument/2006/relationships/notesSlide" Target="../notesSlides/notesSlide17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8e1e3bb797d46e77.png" />  <Relationship Id="rId3" Type="http://schemas.openxmlformats.org/officeDocument/2006/relationships/notesSlide" Target="../notesSlides/notesSlide18.xml"/>
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9728a1b67ca412f.png" />  <Relationship Id="rId3" Type="http://schemas.openxmlformats.org/officeDocument/2006/relationships/notesSlide" Target="../notesSlides/notesSlide19.xml"/>
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0.xml"/>
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1.xml"/>
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2.xml"/>
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dbad4f4dde85e53.png" />  <Relationship Id="rId3" Type="http://schemas.openxmlformats.org/officeDocument/2006/relationships/notesSlide" Target="../notesSlides/notesSlide23.xml"/>
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4.xml"/>
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5.xml"/>
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6.xml"/>
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7.xml"/>
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8.xml"/>
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9.xml"/>
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0.xml"/>
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1.xml"/>
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2.xml"/>
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3.xml"/>
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4.xml"/>
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d542011d916257fb.png" />  <Relationship Id="rId3" Type="http://schemas.openxmlformats.org/officeDocument/2006/relationships/notesSlide" Target="../notesSlides/notesSlide35.xml"/>
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7e2ed38723ea33cf.png" />  <Relationship Id="rId3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徐州地区分布式新能源高渗透率地区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110 kV电网容载比弹性指标优化研究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成果汇报</a:t>
            </a: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国网江苏电力设计咨询有限公司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徐州勘测设计分公司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520148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743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169033" y="17748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研究背景</a:t>
                </a: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研究目标和思路</a:t>
                </a: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研究内容</a:t>
                </a: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实证分析</a:t>
                </a: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项目成效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1.1 背景与规划问题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光伏接入使主变同时承担正向供电与反向输送任务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依据：研究报告1.1—1.2；《配电网规划设计技术导则（修订稿，2025年4月）》</a:t>
              </a:r>
            </a:p>
          </p:txBody>
        </p:sp>
      </p:grpSp>
      <p:grpSp>
        <p:nvGrpSpPr>
          <p:cNvPr id="30" name="bidirectional-system"/>
          <p:cNvGrpSpPr/>
          <p:nvPr/>
        </p:nvGrpSpPr>
        <p:grpSpPr>
          <a:xfrm>
            <a:off x="333375" y="2571750"/>
            <a:ext cx="8477250" cy="3166491"/>
            <a:chOff x="333375" y="2571750"/>
            <a:chExt cx="8477250" cy="3166491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31527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2294" y="2638425"/>
              <a:ext cx="6859413" cy="28575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516380" y="257810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日间：本地消纳与余电反送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8564" y="25781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晚间：上级电网供电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857500" y="34004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7905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810923" y="3400425"/>
              <a:ext cx="93154" cy="104394"/>
            </a:xfrm>
            <a:custGeom>
              <a:avLst/>
              <a:gdLst/>
              <a:ahLst/>
              <a:cxnLst/>
              <a:rect l="l" t="t" r="r" b="b"/>
              <a:pathLst>
                <a:path w="93154" h="104394">
                  <a:moveTo>
                    <a:pt x="46577" y="0"/>
                  </a:moveTo>
                  <a:lnTo>
                    <a:pt x="93154" y="104394"/>
                  </a:lnTo>
                  <a:lnTo>
                    <a:pt x="0" y="104394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286500" y="34004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38100">
              <a:solidFill>
                <a:srgbClr val="376382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239923" y="4086606"/>
              <a:ext cx="93154" cy="104394"/>
            </a:xfrm>
            <a:custGeom>
              <a:avLst/>
              <a:gdLst/>
              <a:ahLst/>
              <a:cxnLst/>
              <a:rect l="l" t="t" r="r" b="b"/>
              <a:pathLst>
                <a:path w="93154" h="104394">
                  <a:moveTo>
                    <a:pt x="46577" y="104394"/>
                  </a:moveTo>
                  <a:lnTo>
                    <a:pt x="0" y="0"/>
                  </a:lnTo>
                  <a:lnTo>
                    <a:pt x="93154" y="0"/>
                  </a:lnTo>
                  <a:close/>
                </a:path>
              </a:pathLst>
            </a:custGeom>
            <a:solidFill>
              <a:srgbClr val="37638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1400" y="542925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反向容量校核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26670" y="5429250"/>
              <a:ext cx="231965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正向峰值与主变N-1校核</a:t>
              </a:r>
            </a:p>
          </p:txBody>
        </p:sp>
      </p:grpSp>
      <p:grpSp>
        <p:nvGrpSpPr>
          <p:cNvPr id="34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1" name="Rectangle 3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容载比由区域容量与年网供最大负荷共同决定，具体增容需联系站级任务。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研究目标和思路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2.1 研究目标与思路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把片区推荐值落实为满足供电任务的工程配置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依据：研究报告1.4—1.5、图1-1</a:t>
              </a:r>
            </a:p>
          </p:txBody>
        </p:sp>
      </p:grpSp>
      <p:grpSp>
        <p:nvGrpSpPr>
          <p:cNvPr id="24" name="explanation-1"/>
          <p:cNvGrpSpPr/>
          <p:nvPr/>
        </p:nvGrpSpPr>
        <p:grpSpPr>
          <a:xfrm>
            <a:off x="333375" y="2619375"/>
            <a:ext cx="2673350" cy="1404938"/>
            <a:chOff x="333375" y="2619375"/>
            <a:chExt cx="2673350" cy="1404938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3337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61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运行资料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76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年度容量、同范围负荷与光伏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，46座站设备和转供资料</a:t>
              </a:r>
            </a:p>
          </p:txBody>
        </p:sp>
      </p:grpSp>
      <p:grpSp>
        <p:nvGrpSpPr>
          <p:cNvPr id="29" name="explanation-2"/>
          <p:cNvGrpSpPr/>
          <p:nvPr/>
        </p:nvGrpSpPr>
        <p:grpSpPr>
          <a:xfrm>
            <a:off x="3235325" y="2619375"/>
            <a:ext cx="2673350" cy="1404938"/>
            <a:chOff x="3235325" y="2619375"/>
            <a:chExt cx="2673350" cy="1404938"/>
          </a:xfrm>
        </p:grpSpPr>
        <p:sp>
          <p:nvSpPr>
            <p:cNvPr id="25" name="Rectangle 25"/>
            <p:cNvSpPr/>
            <p:nvPr/>
          </p:nvSpPr>
          <p:spPr>
            <a:xfrm>
              <a:off x="323532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23532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7456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运行任务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7571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识别正向、反向及局部高峰，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保持同小时功率关系</a:t>
              </a:r>
            </a:p>
          </p:txBody>
        </p:sp>
      </p:grpSp>
      <p:grpSp>
        <p:nvGrpSpPr>
          <p:cNvPr id="34" name="explanation-3"/>
          <p:cNvGrpSpPr/>
          <p:nvPr/>
        </p:nvGrpSpPr>
        <p:grpSpPr>
          <a:xfrm>
            <a:off x="6137275" y="2619375"/>
            <a:ext cx="2673350" cy="1404938"/>
            <a:chOff x="6137275" y="2619375"/>
            <a:chExt cx="2673350" cy="1404938"/>
          </a:xfrm>
        </p:grpSpPr>
        <p:sp>
          <p:nvSpPr>
            <p:cNvPr id="30" name="Rectangle 30"/>
            <p:cNvSpPr/>
            <p:nvPr/>
          </p:nvSpPr>
          <p:spPr>
            <a:xfrm>
              <a:off x="613727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613727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7651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工程费用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7766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主变、联络、储能按统一范围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及投运批次计费</a:t>
              </a:r>
            </a:p>
          </p:txBody>
        </p:sp>
      </p:grpSp>
      <p:grpSp>
        <p:nvGrpSpPr>
          <p:cNvPr id="39" name="explanation-4"/>
          <p:cNvGrpSpPr/>
          <p:nvPr/>
        </p:nvGrpSpPr>
        <p:grpSpPr>
          <a:xfrm>
            <a:off x="333375" y="4214812"/>
            <a:ext cx="2673350" cy="1404938"/>
            <a:chOff x="333375" y="4214812"/>
            <a:chExt cx="2673350" cy="1404938"/>
          </a:xfrm>
        </p:grpSpPr>
        <p:sp>
          <p:nvSpPr>
            <p:cNvPr id="35" name="Rectangle 35"/>
            <p:cNvSpPr/>
            <p:nvPr/>
          </p:nvSpPr>
          <p:spPr>
            <a:xfrm>
              <a:off x="33337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3337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26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联合比选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376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逐年承接已投运设备，校核正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常与主变N-1条件</a:t>
              </a:r>
            </a:p>
          </p:txBody>
        </p:sp>
      </p:grpSp>
      <p:grpSp>
        <p:nvGrpSpPr>
          <p:cNvPr id="44" name="explanation-5"/>
          <p:cNvGrpSpPr/>
          <p:nvPr/>
        </p:nvGrpSpPr>
        <p:grpSpPr>
          <a:xfrm>
            <a:off x="3235325" y="4214812"/>
            <a:ext cx="2673350" cy="1404938"/>
            <a:chOff x="3235325" y="4214812"/>
            <a:chExt cx="2673350" cy="1404938"/>
          </a:xfrm>
        </p:grpSpPr>
        <p:sp>
          <p:nvSpPr>
            <p:cNvPr id="40" name="Rectangle 40"/>
            <p:cNvSpPr/>
            <p:nvPr/>
          </p:nvSpPr>
          <p:spPr>
            <a:xfrm>
              <a:off x="323532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323532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7456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结果解释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7571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用设备组合、投运时点和分项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费用解释差异</a:t>
              </a:r>
            </a:p>
          </p:txBody>
        </p:sp>
      </p:grpSp>
      <p:grpSp>
        <p:nvGrpSpPr>
          <p:cNvPr id="49" name="explanation-6"/>
          <p:cNvGrpSpPr/>
          <p:nvPr/>
        </p:nvGrpSpPr>
        <p:grpSpPr>
          <a:xfrm>
            <a:off x="6137275" y="4214812"/>
            <a:ext cx="2673350" cy="1404938"/>
            <a:chOff x="6137275" y="4214812"/>
            <a:chExt cx="2673350" cy="1404938"/>
          </a:xfrm>
        </p:grpSpPr>
        <p:sp>
          <p:nvSpPr>
            <p:cNvPr id="45" name="Rectangle 45"/>
            <p:cNvSpPr/>
            <p:nvPr/>
          </p:nvSpPr>
          <p:spPr>
            <a:xfrm>
              <a:off x="613727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613727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765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条件推荐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7766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从十三项候选指标归纳五项参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数与查表范围</a:t>
              </a:r>
            </a:p>
          </p:txBody>
        </p:sp>
      </p:grpSp>
      <p:grpSp>
        <p:nvGrpSpPr>
          <p:cNvPr id="5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50" name="Rectangle 5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40055" y="5899150"/>
              <a:ext cx="6699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资料、约束、费用和建设安排逐项衔接，形成“一片一策”的容量规划依据。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 研究对象与数据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邳州与市区分别体现高光伏县域和负荷集中城区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依据：研究报告3.1、表3-12、表5-1</a:t>
              </a: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2025年指标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站级分析范围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实际主变容量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2139.50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3701.00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年网供最大负荷 /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956.45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1528.82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study-timeline"/>
          <p:cNvGrpSpPr/>
          <p:nvPr/>
        </p:nvGrpSpPr>
        <p:grpSpPr>
          <a:xfrm>
            <a:off x="324993" y="5248275"/>
            <a:ext cx="8485632" cy="457200"/>
            <a:chOff x="324993" y="5248275"/>
            <a:chExt cx="8485632" cy="457200"/>
          </a:xfrm>
        </p:grpSpPr>
        <p:sp>
          <p:nvSpPr>
            <p:cNvPr id="21" name="Rectangle 21"/>
            <p:cNvSpPr/>
            <p:nvPr/>
          </p:nvSpPr>
          <p:spPr>
            <a:xfrm>
              <a:off x="333375" y="5248275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4993" y="5292725"/>
              <a:ext cx="60407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2021基期 → 2022—2025历史回算 → 2026—2035预测条件规划</a:t>
              </a:r>
            </a:p>
          </p:txBody>
        </p:sp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719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时序样本补齐为8760小时；年度规划峰值沿用同范围年度统计与预测输入。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3.2 历史容量与负荷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两地区容载比变化反映不同的建设与负荷发展过程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依据：研究报告表3-1、表3-2、表3-24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364" y="2543175"/>
              <a:ext cx="8165272" cy="3095625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邳州负荷增长快于容量增长；市区容量投放与负荷回落共同影响年度比值。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3.3 光伏发展与渗透率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光伏规模及供能水平差异形成不同的双向运行任务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依据：研究报告3.3、表3-6、表3-12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333" y="2553904"/>
              <a:ext cx="8471334" cy="3074168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830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邳州2025年装机渗透率约1.63、电量渗透率约40%；市区分别约0.32、9%。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3.4 净负荷与近峰特征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正反向峰值及持续过程共同决定容量与支撑需求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依据：研究报告3.4、表3-10；保留补值标识的区域8760小时序列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2952750"/>
            <a:chOff x="333375" y="2543175"/>
            <a:chExt cx="8477250" cy="29527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29527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052" y="2543175"/>
              <a:ext cx="7463896" cy="2952750"/>
            </a:xfrm>
            <a:prstGeom prst="rect">
              <a:avLst/>
            </a:prstGeom>
          </p:spPr>
        </p:pic>
      </p:grpSp>
      <p:grpSp>
        <p:nvGrpSpPr>
          <p:cNvPr id="25" name="peak-statistics"/>
          <p:cNvGrpSpPr/>
          <p:nvPr/>
        </p:nvGrpSpPr>
        <p:grpSpPr>
          <a:xfrm>
            <a:off x="325755" y="5514975"/>
            <a:ext cx="8484870" cy="315595"/>
            <a:chOff x="325755" y="5514975"/>
            <a:chExt cx="8484870" cy="315595"/>
          </a:xfrm>
        </p:grpSpPr>
        <p:sp>
          <p:nvSpPr>
            <p:cNvPr id="23" name="Rectangle 23"/>
            <p:cNvSpPr/>
            <p:nvPr/>
          </p:nvSpPr>
          <p:spPr>
            <a:xfrm>
              <a:off x="333375" y="5514975"/>
              <a:ext cx="8477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5755" y="5537200"/>
              <a:ext cx="6355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95%峰值：邳州最长连续2 h、累计7 h；市区最长连续6 h、累计11 h。</a:t>
              </a:r>
            </a:p>
          </p:txBody>
        </p:sp>
      </p:grpSp>
      <p:grpSp>
        <p:nvGrpSpPr>
          <p:cNvPr id="29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6" name="Rectangle 2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0055" y="58991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区域峰值先同小时汇总站级功率，再取绝对值；近峰时长在补齐序列上统计。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3.5 站级容量压力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区域容量储备与少数站点的局部压力可以同时存在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依据：研究报告表3-8、表3-22、表3-23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48000"/>
            <a:chOff x="333375" y="2543175"/>
            <a:chExt cx="84772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667" y="2543175"/>
              <a:ext cx="7704667" cy="3048000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站级极值逐站比较，配置比选继续校核同期源荷、主变结构和邻站承接余量。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3.6 核心指标筛选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十三项指标经组内筛选与高相关归并形成五项参数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依据：研究报告3.5、表3-14—3-20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3" name="selection-logic"/>
          <p:cNvGrpSpPr/>
          <p:nvPr/>
        </p:nvGrpSpPr>
        <p:grpSpPr>
          <a:xfrm>
            <a:off x="6191250" y="2619375"/>
            <a:ext cx="2619375" cy="3000375"/>
            <a:chOff x="6191250" y="2619375"/>
            <a:chExt cx="2619375" cy="3000375"/>
          </a:xfrm>
        </p:grpSpPr>
        <p:sp>
          <p:nvSpPr>
            <p:cNvPr id="23" name="Rectangle 23"/>
            <p:cNvSpPr/>
            <p:nvPr/>
          </p:nvSpPr>
          <p:spPr>
            <a:xfrm>
              <a:off x="6191250" y="2619375"/>
              <a:ext cx="2619375" cy="3000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14872" y="2714625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2374" y="26574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候选指标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3517" y="3013075"/>
              <a:ext cx="17282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源荷、网络、时间及费</a:t>
              </a:r>
              <a:b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14872" y="3724275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2374" y="366712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达到组内筛选要求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3517" y="4035425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相关绝对值不低于0.40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4872" y="4733925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02374" y="467677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保留基础规划输入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3517" y="5045075"/>
              <a:ext cx="1685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高相关归并阈值0.70</a:t>
              </a:r>
            </a:p>
          </p:txBody>
        </p:sp>
      </p:grpSp>
      <p:grpSp>
        <p:nvGrpSpPr>
          <p:cNvPr id="3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4" name="Rectangle 3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0055" y="589915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研究采用节点等权，保留零容量响应组；两个阈值用于推广维度归纳。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3.7 参数核验与分档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五项参数分别保留不同规划条件的信息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依据：研究报告表3-19、表3-21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矩阵分类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≤1；(1,2]；&gt;2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≤2%；(2%,4%]；(4%,7%]；&gt;7%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≤10%；(10%,30%]；&gt;30%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≤30%；(30%,50%]；(50%,70%]；&gt;70%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≤1.15；&gt;1.15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897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有效情景库内最大参数间Pearson绝对值为0.29，相关性结合计算关系解释。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3.8 工程费用模型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工程投资按采购规模、项目数量和投运时点计取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依据：研究报告4.2—4.3、表4-2、表4-3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19375"/>
            <a:ext cx="4953000" cy="2857500"/>
            <a:chOff x="333375" y="2619375"/>
            <a:chExt cx="49530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4953000" cy="28575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920" y="2619375"/>
              <a:ext cx="4675909" cy="2857500"/>
            </a:xfrm>
            <a:prstGeom prst="rect">
              <a:avLst/>
            </a:prstGeom>
          </p:spPr>
        </p:pic>
      </p:grpSp>
      <p:grpSp>
        <p:nvGrpSpPr>
          <p:cNvPr id="27" name="explanation-1"/>
          <p:cNvGrpSpPr/>
          <p:nvPr/>
        </p:nvGrpSpPr>
        <p:grpSpPr>
          <a:xfrm>
            <a:off x="5619750" y="2667000"/>
            <a:ext cx="3190875" cy="872427"/>
            <a:chOff x="5619750" y="2667000"/>
            <a:chExt cx="3190875" cy="872427"/>
          </a:xfrm>
        </p:grpSpPr>
        <p:sp>
          <p:nvSpPr>
            <p:cNvPr id="23" name="Rectangle 23"/>
            <p:cNvSpPr/>
            <p:nvPr/>
          </p:nvSpPr>
          <p:spPr>
            <a:xfrm>
              <a:off x="5619750" y="2667000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5619750" y="2686050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58993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主变更换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0136" y="3032125"/>
              <a:ext cx="27195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按整台新购铭牌容量计价；净增容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量扣除同期被替换容量</a:t>
              </a:r>
            </a:p>
          </p:txBody>
        </p:sp>
      </p:grpSp>
      <p:grpSp>
        <p:nvGrpSpPr>
          <p:cNvPr id="32" name="explanation-2"/>
          <p:cNvGrpSpPr/>
          <p:nvPr/>
        </p:nvGrpSpPr>
        <p:grpSpPr>
          <a:xfrm>
            <a:off x="5619750" y="3698875"/>
            <a:ext cx="3190875" cy="872427"/>
            <a:chOff x="5619750" y="3698875"/>
            <a:chExt cx="3190875" cy="872427"/>
          </a:xfrm>
        </p:grpSpPr>
        <p:sp>
          <p:nvSpPr>
            <p:cNvPr id="28" name="Rectangle 28"/>
            <p:cNvSpPr/>
            <p:nvPr/>
          </p:nvSpPr>
          <p:spPr>
            <a:xfrm>
              <a:off x="5619750" y="3698875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619750" y="3717925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8993" y="37719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主变扩建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0136" y="4064000"/>
              <a:ext cx="273761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50 MVA扩建项目参考投资1223.00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万元</a:t>
              </a:r>
            </a:p>
          </p:txBody>
        </p:sp>
      </p:grpSp>
      <p:grpSp>
        <p:nvGrpSpPr>
          <p:cNvPr id="37" name="explanation-3"/>
          <p:cNvGrpSpPr/>
          <p:nvPr/>
        </p:nvGrpSpPr>
        <p:grpSpPr>
          <a:xfrm>
            <a:off x="5619750" y="4730750"/>
            <a:ext cx="3190875" cy="872427"/>
            <a:chOff x="5619750" y="4730750"/>
            <a:chExt cx="3190875" cy="872427"/>
          </a:xfrm>
        </p:grpSpPr>
        <p:sp>
          <p:nvSpPr>
            <p:cNvPr id="33" name="Rectangle 33"/>
            <p:cNvSpPr/>
            <p:nvPr/>
          </p:nvSpPr>
          <p:spPr>
            <a:xfrm>
              <a:off x="5619750" y="4730750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619750" y="4749800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58993" y="48037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新增联络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0136" y="5095875"/>
              <a:ext cx="274662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按地区电缆长度占比折算3 km单项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费用，既有工程不重复计费</a:t>
              </a:r>
            </a:p>
          </p:txBody>
        </p:sp>
      </p:grpSp>
      <p:grpSp>
        <p:nvGrpSpPr>
          <p:cNvPr id="41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8" name="Rectangle 38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055" y="5899150"/>
              <a:ext cx="5790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邳州、市区单项新增联络参考投资分别为128.38、452.40万元。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3.9 储能有效支撑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额定功率与可用电量共同限制持续支撑能力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依据：研究报告4.4—4.6、表4-4、表4-5</a:t>
              </a:r>
            </a:p>
          </p:txBody>
        </p:sp>
      </p:grpSp>
      <p:grpSp>
        <p:nvGrpSpPr>
          <p:cNvPr id="25" name="storage-relationship"/>
          <p:cNvGrpSpPr/>
          <p:nvPr/>
        </p:nvGrpSpPr>
        <p:grpSpPr>
          <a:xfrm>
            <a:off x="333375" y="2667000"/>
            <a:ext cx="8477250" cy="1476375"/>
            <a:chOff x="333375" y="2667000"/>
            <a:chExt cx="8477250" cy="14763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86883" y="2819400"/>
              <a:ext cx="637023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有效支撑功率 = min（额定功率，可用电量 ÷ 支撑时间）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5150" y="3248025"/>
              <a:ext cx="51537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可用电量系数0.76：结合SOC可用窗口与单向放电效率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68162" y="3616325"/>
              <a:ext cx="54076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柜型：100 kW / 215 kWh；参考投资：21.05万元/柜</a:t>
              </a:r>
            </a:p>
          </p:txBody>
        </p:sp>
      </p:grpSp>
      <p:graphicFrame>
        <p:nvGraphicFramePr>
          <p:cNvPr id="26" name="storage-duration"/>
          <p:cNvGraphicFramePr>
            <a:graphicFrameLocks noGrp="1"/>
          </p:cNvGraphicFramePr>
          <p:nvPr/>
        </p:nvGraphicFramePr>
        <p:xfrm>
          <a:off x="333375" y="4410075"/>
          <a:ext cx="847725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306"/>
                <a:gridCol w="1926648"/>
                <a:gridCol w="1926648"/>
                <a:gridCol w="1926648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额定配置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 MW / 2.15 MWh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0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0055" y="5899150"/>
              <a:ext cx="6840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地区正向支撑取邳州2 h、市区6 h，反向吸收按对应可充电空间与持续要求。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3.10 三类措施联合配置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主变、联络与储能在相同安全约束下共同承担任务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4413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依据：研究报告5.2—5.3</a:t>
              </a:r>
            </a:p>
          </p:txBody>
        </p:sp>
      </p:grpSp>
      <p:grpSp>
        <p:nvGrpSpPr>
          <p:cNvPr id="28" name="planning-resources"/>
          <p:cNvGrpSpPr/>
          <p:nvPr/>
        </p:nvGrpSpPr>
        <p:grpSpPr>
          <a:xfrm>
            <a:off x="333375" y="2571750"/>
            <a:ext cx="8477250" cy="3048000"/>
            <a:chOff x="333375" y="2571750"/>
            <a:chExt cx="84772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235" y="2619375"/>
              <a:ext cx="5487530" cy="22860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2207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主变补强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7230" y="5299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本站与故障后剩余能力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782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联络支援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4730" y="5299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区段、通道及受端余量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357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储能支撑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3195" y="5299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功率与可用电量条件</a:t>
              </a:r>
            </a:p>
          </p:txBody>
        </p:sp>
      </p:grpSp>
      <p:grpSp>
        <p:nvGrpSpPr>
          <p:cNvPr id="32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9" name="Rectangle 29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0055" y="5899150"/>
              <a:ext cx="6495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正常运行负载率≤80%；最大单台主变N-1时剩余设备短时负载率≤130%。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3.11 逐年比选与经济评价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相同基期和源荷输入下比较完整建设路径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8859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依据：研究报告5.1—5.3、表4-1、表5-1、表5-3</a:t>
              </a:r>
            </a:p>
          </p:txBody>
        </p:sp>
      </p:grpSp>
      <p:grpSp>
        <p:nvGrpSpPr>
          <p:cNvPr id="24" name="explanation-1"/>
          <p:cNvGrpSpPr/>
          <p:nvPr/>
        </p:nvGrpSpPr>
        <p:grpSpPr>
          <a:xfrm>
            <a:off x="333375" y="2667000"/>
            <a:ext cx="4124325" cy="1357312"/>
            <a:chOff x="333375" y="2667000"/>
            <a:chExt cx="4124325" cy="1357312"/>
          </a:xfrm>
        </p:grpSpPr>
        <p:sp>
          <p:nvSpPr>
            <p:cNvPr id="20" name="Rectangle 20"/>
            <p:cNvSpPr/>
            <p:nvPr/>
          </p:nvSpPr>
          <p:spPr>
            <a:xfrm>
              <a:off x="333375" y="2667000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33375" y="26860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618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共同起点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761" y="3032125"/>
              <a:ext cx="3477006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2021年实际主变容量：邳州2027.00 MVA，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市区3113.50 MVA</a:t>
              </a:r>
            </a:p>
          </p:txBody>
        </p:sp>
      </p:grpSp>
      <p:grpSp>
        <p:nvGrpSpPr>
          <p:cNvPr id="29" name="explanation-2"/>
          <p:cNvGrpSpPr/>
          <p:nvPr/>
        </p:nvGrpSpPr>
        <p:grpSpPr>
          <a:xfrm>
            <a:off x="4686300" y="2667000"/>
            <a:ext cx="4124325" cy="1357312"/>
            <a:chOff x="4686300" y="2667000"/>
            <a:chExt cx="4124325" cy="1357312"/>
          </a:xfrm>
        </p:grpSpPr>
        <p:sp>
          <p:nvSpPr>
            <p:cNvPr id="25" name="Rectangle 25"/>
            <p:cNvSpPr/>
            <p:nvPr/>
          </p:nvSpPr>
          <p:spPr>
            <a:xfrm>
              <a:off x="4686300" y="2667000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686300" y="26860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25543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刚性基准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26686" y="3032125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新增扩容按当年负荷两倍控制，负荷回落时保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留上年在役容量</a:t>
              </a:r>
            </a:p>
          </p:txBody>
        </p:sp>
      </p:grpSp>
      <p:grpSp>
        <p:nvGrpSpPr>
          <p:cNvPr id="34" name="explanation-3"/>
          <p:cNvGrpSpPr/>
          <p:nvPr/>
        </p:nvGrpSpPr>
        <p:grpSpPr>
          <a:xfrm>
            <a:off x="333375" y="4214812"/>
            <a:ext cx="4124325" cy="1357312"/>
            <a:chOff x="333375" y="4214812"/>
            <a:chExt cx="4124325" cy="1357312"/>
          </a:xfrm>
        </p:grpSpPr>
        <p:sp>
          <p:nvSpPr>
            <p:cNvPr id="30" name="Rectangle 30"/>
            <p:cNvSpPr/>
            <p:nvPr/>
          </p:nvSpPr>
          <p:spPr>
            <a:xfrm>
              <a:off x="333375" y="4214812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33375" y="4233862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26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弹性方案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3761" y="4579938"/>
              <a:ext cx="355815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放宽2.0新增容量控制，在相同承载要求下比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较措施费用</a:t>
              </a:r>
            </a:p>
          </p:txBody>
        </p:sp>
      </p:grpSp>
      <p:grpSp>
        <p:nvGrpSpPr>
          <p:cNvPr id="39" name="explanation-4"/>
          <p:cNvGrpSpPr/>
          <p:nvPr/>
        </p:nvGrpSpPr>
        <p:grpSpPr>
          <a:xfrm>
            <a:off x="4686300" y="4214812"/>
            <a:ext cx="4124325" cy="1357312"/>
            <a:chOff x="4686300" y="4214812"/>
            <a:chExt cx="4124325" cy="1357312"/>
          </a:xfrm>
        </p:grpSpPr>
        <p:sp>
          <p:nvSpPr>
            <p:cNvPr id="35" name="Rectangle 35"/>
            <p:cNvSpPr/>
            <p:nvPr/>
          </p:nvSpPr>
          <p:spPr>
            <a:xfrm>
              <a:off x="4686300" y="4214812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4233862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25543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费用现值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26686" y="4579938"/>
              <a:ext cx="3513074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投运批次折算至2021年末，统一评价到2041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年，折现率6.00%</a:t>
              </a:r>
            </a:p>
          </p:txBody>
        </p:sp>
      </p:grpSp>
      <p:grpSp>
        <p:nvGrpSpPr>
          <p:cNvPr id="4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0" name="Rectangle 4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费用包括新增建设及固定运维；地区结果为满足所设条件的具体可行方案。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4.1 邳州逐年方案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邳州弹性方案增加站内容量并减少部分配套需求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依据：研究报告表5-4、表5-5、表5-9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62225"/>
            <a:ext cx="8477250" cy="3143250"/>
            <a:chOff x="333375" y="2562225"/>
            <a:chExt cx="8477250" cy="31432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62225"/>
              <a:ext cx="8477250" cy="31432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738" y="2562225"/>
              <a:ext cx="7328525" cy="3143250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7292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2035年弹性容载比2.06、主变2901.00 MVA；全期费用较刚性减少848.32万元。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4.2 市区逐年方案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市区费用优势由建设时序和联络替代逐步形成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依据：研究报告表5-6、表5-7、表5-9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62225"/>
            <a:ext cx="8477250" cy="3143250"/>
            <a:chOff x="333375" y="2562225"/>
            <a:chExt cx="8477250" cy="31432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62225"/>
              <a:ext cx="8477250" cy="31432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738" y="2562225"/>
              <a:ext cx="7328525" cy="3143250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71332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2022年两方案相同，2030年弹性累计费用仍较高；全期费用减少2050.35万元。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4.3 评价期费用分解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新增主变支出由其他措施费用下降部分抵消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依据：研究报告表5-9、表5-11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8477250" cy="2667000"/>
            <a:chOff x="333375" y="2571750"/>
            <a:chExt cx="8477250" cy="2667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2667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115" y="2571750"/>
              <a:ext cx="7461770" cy="2667000"/>
            </a:xfrm>
            <a:prstGeom prst="rect">
              <a:avLst/>
            </a:prstGeom>
          </p:spPr>
        </p:pic>
      </p:grpSp>
      <p:graphicFrame>
        <p:nvGraphicFramePr>
          <p:cNvPr id="23" name="total-cost"/>
          <p:cNvGraphicFramePr>
            <a:graphicFrameLocks noGrp="1"/>
          </p:cNvGraphicFramePr>
          <p:nvPr/>
        </p:nvGraphicFramePr>
        <p:xfrm>
          <a:off x="333375" y="5381625"/>
          <a:ext cx="8477250" cy="77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/>
                <a:gridCol w="1883834"/>
                <a:gridCol w="1883833"/>
                <a:gridCol w="1883833"/>
              </a:tblGrid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方案费用现值 / 万元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两地区合计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98006.53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95107.86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2898.67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4.4 2035年设备组合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两类片区通过不同措施组合满足局部供电任务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依据：研究报告表5-10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684" y="2577193"/>
              <a:ext cx="8470632" cy="3027589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邳州弹性储能与联络均减少；市区弹性储能增加、联络减少，需分别解释。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4.5 代表站设备分析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主变台数组合改变N-1剩余能力及局部支撑需求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依据：研究报告表5-13、表5-15、表5-31及对应逐站分析</a:t>
              </a: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1"/>
                <a:gridCol w="1759429"/>
                <a:gridCol w="1919378"/>
                <a:gridCol w="3198962"/>
              </a:tblGrid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2035年站点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差异对应的任务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戴圩变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弹性扩建第三台，减少本地配储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31.5+40+50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31.5+50+50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故障后剩余容量71.50→81.50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容量相同，储能功率3.10→0.30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5" name="explanation-1"/>
          <p:cNvGrpSpPr/>
          <p:nvPr/>
        </p:nvGrpSpPr>
        <p:grpSpPr>
          <a:xfrm>
            <a:off x="333375" y="5048250"/>
            <a:ext cx="4124325" cy="952500"/>
            <a:chOff x="333375" y="5048250"/>
            <a:chExt cx="4124325" cy="952500"/>
          </a:xfrm>
        </p:grpSpPr>
        <p:sp>
          <p:nvSpPr>
            <p:cNvPr id="21" name="Rectangle 21"/>
            <p:cNvSpPr/>
            <p:nvPr/>
          </p:nvSpPr>
          <p:spPr>
            <a:xfrm>
              <a:off x="333375" y="5048250"/>
              <a:ext cx="4124325" cy="952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33375" y="50673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2618" y="51212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设备位置与台数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61" y="5413375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增容效果取决于最大单台停运后剩余的实际设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备组合</a:t>
              </a:r>
            </a:p>
          </p:txBody>
        </p:sp>
      </p:grpSp>
      <p:grpSp>
        <p:nvGrpSpPr>
          <p:cNvPr id="30" name="explanation-2"/>
          <p:cNvGrpSpPr/>
          <p:nvPr/>
        </p:nvGrpSpPr>
        <p:grpSpPr>
          <a:xfrm>
            <a:off x="4686300" y="5048250"/>
            <a:ext cx="4124325" cy="952500"/>
            <a:chOff x="4686300" y="5048250"/>
            <a:chExt cx="4124325" cy="952500"/>
          </a:xfrm>
        </p:grpSpPr>
        <p:sp>
          <p:nvSpPr>
            <p:cNvPr id="26" name="Rectangle 26"/>
            <p:cNvSpPr/>
            <p:nvPr/>
          </p:nvSpPr>
          <p:spPr>
            <a:xfrm>
              <a:off x="4686300" y="5048250"/>
              <a:ext cx="4124325" cy="952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686300" y="50673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25543" y="51212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年度转接与本地储能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26686" y="5413375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相同区域容量可对应不同转供任务及支撑规模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4.6 联络与共享资源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转供支援由源端、路径及接收侧能力共同决定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依据：研究报告3.6、5.5、表5-59—5-61</a:t>
              </a:r>
            </a:p>
          </p:txBody>
        </p:sp>
      </p:grpSp>
      <p:grpSp>
        <p:nvGrpSpPr>
          <p:cNvPr id="39" name="transfer-topology"/>
          <p:cNvGrpSpPr/>
          <p:nvPr/>
        </p:nvGrpSpPr>
        <p:grpSpPr>
          <a:xfrm>
            <a:off x="333375" y="2619375"/>
            <a:ext cx="8477250" cy="2857500"/>
            <a:chOff x="333375" y="2619375"/>
            <a:chExt cx="8477250" cy="28575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8477250" cy="2857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3875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15542" y="3194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源端站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5325" y="36322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可切换源荷区段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29000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57575" y="319405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共享馈线与联络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57804" y="3632200"/>
              <a:ext cx="2037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既有MW额度及通道热限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68667" y="3194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受端站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7289" y="36322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馈线余量与主变容量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667000" y="36004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3229356" y="3553873"/>
              <a:ext cx="104394" cy="93154"/>
            </a:xfrm>
            <a:custGeom>
              <a:avLst/>
              <a:gdLst/>
              <a:ahLst/>
              <a:cxnLst/>
              <a:rect l="l" t="t" r="r" b="b"/>
              <a:pathLst>
                <a:path w="104394" h="93154">
                  <a:moveTo>
                    <a:pt x="104394" y="46577"/>
                  </a:moveTo>
                  <a:lnTo>
                    <a:pt x="0" y="9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572125" y="360045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6277356" y="3553873"/>
              <a:ext cx="104394" cy="93154"/>
            </a:xfrm>
            <a:custGeom>
              <a:avLst/>
              <a:gdLst/>
              <a:ahLst/>
              <a:cxnLst/>
              <a:rect l="l" t="t" r="r" b="b"/>
              <a:pathLst>
                <a:path w="104394" h="93154">
                  <a:moveTo>
                    <a:pt x="104394" y="46577"/>
                  </a:moveTo>
                  <a:lnTo>
                    <a:pt x="0" y="9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4505325" y="4152900"/>
              <a:ext cx="9525" cy="561975"/>
            </a:xfrm>
            <a:custGeom>
              <a:avLst/>
              <a:gdLst/>
              <a:ahLst/>
              <a:cxnLst/>
              <a:rect l="l" t="t" r="r" b="b"/>
              <a:pathLst>
                <a:path w="952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05125" y="4714875"/>
              <a:ext cx="3190875" cy="6000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05252" y="4905375"/>
              <a:ext cx="27810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多条联络共用馈线与区段预算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2619375"/>
              <a:ext cx="7239000" cy="381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50144" y="2635250"/>
              <a:ext cx="46437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正常方式与主变N-1分别安排年度固定转供方案</a:t>
              </a:r>
            </a:p>
          </p:txBody>
        </p:sp>
      </p:grpSp>
      <p:grpSp>
        <p:nvGrpSpPr>
          <p:cNvPr id="42" name="transfer-rating"/>
          <p:cNvGrpSpPr/>
          <p:nvPr/>
        </p:nvGrpSpPr>
        <p:grpSpPr>
          <a:xfrm>
            <a:off x="326517" y="5429250"/>
            <a:ext cx="8484108" cy="304800"/>
            <a:chOff x="326517" y="5429250"/>
            <a:chExt cx="8484108" cy="304800"/>
          </a:xfrm>
        </p:grpSpPr>
        <p:sp>
          <p:nvSpPr>
            <p:cNvPr id="40" name="Rectangle 40"/>
            <p:cNvSpPr/>
            <p:nvPr/>
          </p:nvSpPr>
          <p:spPr>
            <a:xfrm>
              <a:off x="333375" y="5429250"/>
              <a:ext cx="8477250" cy="3048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26517" y="5464175"/>
              <a:ext cx="6614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新增联络：485 A折算7.98 MW，工程取8.00 MW；示例区段有效转供7.49 MW。</a:t>
              </a:r>
            </a:p>
          </p:txBody>
        </p:sp>
      </p:grpSp>
      <p:grpSp>
        <p:nvGrpSpPr>
          <p:cNvPr id="4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3" name="Rectangle 4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40055" y="5899150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区段内负荷与光伏共同切换，区域内同小时转出与承接保持平衡。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4.7 五参数推荐范围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按片区条件定位推荐带，再核定具体设备方案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依据：研究报告5.6、表3-21、表5-63</a:t>
              </a: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电缆占比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确定三类造价分区</a:t>
              </a: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负荷分散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按1.15划分两档</a:t>
              </a: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源荷条件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行</a:t>
              </a: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④ 初始转供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定位推荐区间列</a:t>
              </a: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推荐容载比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示例条件：电缆长度占比≤10%，负荷分散系数≤1.15，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年最大净负荷平均增长率&gt;7%，装机渗透率(1,2]。</a:t>
              </a: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六表288单元；基准宽0.10、定位网格0.02，接近容量水平按中点共用界值。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4.8 参数响应与设备切换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网络支援改善体现为分档推荐带和设备组合变化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依据：研究报告表5-69—5-75</a:t>
              </a:r>
            </a:p>
          </p:txBody>
        </p:sp>
      </p:grpSp>
      <p:grpSp>
        <p:nvGrpSpPr>
          <p:cNvPr id="22" name="transfer-response"/>
          <p:cNvGrpSpPr/>
          <p:nvPr/>
        </p:nvGrpSpPr>
        <p:grpSpPr>
          <a:xfrm>
            <a:off x="333375" y="2571750"/>
            <a:ext cx="8477250" cy="2571750"/>
            <a:chOff x="333375" y="2571750"/>
            <a:chExt cx="8477250" cy="25717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25717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4361" y="2571750"/>
              <a:ext cx="7195279" cy="2571750"/>
            </a:xfrm>
            <a:prstGeom prst="rect">
              <a:avLst/>
            </a:prstGeom>
          </p:spPr>
        </p:pic>
      </p:grpSp>
      <p:grpSp>
        <p:nvGrpSpPr>
          <p:cNvPr id="25" name="response-interpretation"/>
          <p:cNvGrpSpPr/>
          <p:nvPr/>
        </p:nvGrpSpPr>
        <p:grpSpPr>
          <a:xfrm>
            <a:off x="325755" y="5267325"/>
            <a:ext cx="8484870" cy="466725"/>
            <a:chOff x="325755" y="5267325"/>
            <a:chExt cx="8484870" cy="466725"/>
          </a:xfrm>
        </p:grpSpPr>
        <p:sp>
          <p:nvSpPr>
            <p:cNvPr id="23" name="Rectangle 23"/>
            <p:cNvSpPr/>
            <p:nvPr/>
          </p:nvSpPr>
          <p:spPr>
            <a:xfrm>
              <a:off x="333375" y="5267325"/>
              <a:ext cx="8477250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5755" y="52895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装机与负荷增长改变容量任务；电缆造价和局部峰值分布可触发措施替代。</a:t>
              </a:r>
            </a:p>
          </p:txBody>
        </p:sp>
      </p:grpSp>
      <p:grpSp>
        <p:nvGrpSpPr>
          <p:cNvPr id="29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6" name="Rectangle 2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0055" y="5899150"/>
              <a:ext cx="5578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两组均保留9个转供节点，平台与局部回升对应真实设备组合。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项目成效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5.1 研究成果与规划应用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形成从运行特征到片区工程建议的完整研究链条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依据：研究报告第六章、5.7</a:t>
              </a:r>
            </a:p>
          </p:txBody>
        </p:sp>
      </p:grpSp>
      <p:grpSp>
        <p:nvGrpSpPr>
          <p:cNvPr id="24" name="explanation-1"/>
          <p:cNvGrpSpPr/>
          <p:nvPr/>
        </p:nvGrpSpPr>
        <p:grpSpPr>
          <a:xfrm>
            <a:off x="333375" y="2619375"/>
            <a:ext cx="4124325" cy="1333500"/>
            <a:chOff x="333375" y="2619375"/>
            <a:chExt cx="4124325" cy="13335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33375" y="2638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618" y="26924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运行特征与参数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761" y="2984500"/>
              <a:ext cx="363931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46站分析、两层筛选及五项参数，解释地区差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异</a:t>
              </a:r>
            </a:p>
          </p:txBody>
        </p:sp>
      </p:grpSp>
      <p:grpSp>
        <p:nvGrpSpPr>
          <p:cNvPr id="29" name="explanation-2"/>
          <p:cNvGrpSpPr/>
          <p:nvPr/>
        </p:nvGrpSpPr>
        <p:grpSpPr>
          <a:xfrm>
            <a:off x="4686300" y="2619375"/>
            <a:ext cx="4124325" cy="1333500"/>
            <a:chOff x="4686300" y="2619375"/>
            <a:chExt cx="4124325" cy="1333500"/>
          </a:xfrm>
        </p:grpSpPr>
        <p:sp>
          <p:nvSpPr>
            <p:cNvPr id="25" name="Rectangle 25"/>
            <p:cNvSpPr/>
            <p:nvPr/>
          </p:nvSpPr>
          <p:spPr>
            <a:xfrm>
              <a:off x="4686300" y="2619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686300" y="2638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25543" y="26924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工程成本与联合配置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26686" y="2984500"/>
              <a:ext cx="355815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主变、储能和联络费用，逐年正常与N-1共同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校核</a:t>
              </a:r>
            </a:p>
          </p:txBody>
        </p:sp>
      </p:grpSp>
      <p:grpSp>
        <p:nvGrpSpPr>
          <p:cNvPr id="34" name="explanation-3"/>
          <p:cNvGrpSpPr/>
          <p:nvPr/>
        </p:nvGrpSpPr>
        <p:grpSpPr>
          <a:xfrm>
            <a:off x="333375" y="4143375"/>
            <a:ext cx="4124325" cy="1333500"/>
            <a:chOff x="333375" y="4143375"/>
            <a:chExt cx="4124325" cy="1333500"/>
          </a:xfrm>
        </p:grpSpPr>
        <p:sp>
          <p:nvSpPr>
            <p:cNvPr id="30" name="Rectangle 30"/>
            <p:cNvSpPr/>
            <p:nvPr/>
          </p:nvSpPr>
          <p:spPr>
            <a:xfrm>
              <a:off x="333375" y="4143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33375" y="4162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2618" y="42164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地区方案与推荐范围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3761" y="4508500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两地区建设路径、分项费用，六张条件推荐矩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阵</a:t>
              </a:r>
            </a:p>
          </p:txBody>
        </p:sp>
      </p:grpSp>
      <p:grpSp>
        <p:nvGrpSpPr>
          <p:cNvPr id="39" name="explanation-4"/>
          <p:cNvGrpSpPr/>
          <p:nvPr/>
        </p:nvGrpSpPr>
        <p:grpSpPr>
          <a:xfrm>
            <a:off x="4686300" y="4143375"/>
            <a:ext cx="4124325" cy="1333500"/>
            <a:chOff x="4686300" y="4143375"/>
            <a:chExt cx="4124325" cy="1333500"/>
          </a:xfrm>
        </p:grpSpPr>
        <p:sp>
          <p:nvSpPr>
            <p:cNvPr id="35" name="Rectangle 35"/>
            <p:cNvSpPr/>
            <p:nvPr/>
          </p:nvSpPr>
          <p:spPr>
            <a:xfrm>
              <a:off x="4686300" y="4143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4162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25543" y="42164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一片一策应用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26686" y="4508500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先查表，再落实设备和投运时点，结合新增资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料滚动更新</a:t>
              </a:r>
            </a:p>
          </p:txBody>
        </p:sp>
      </p:grpSp>
      <p:grpSp>
        <p:nvGrpSpPr>
          <p:cNvPr id="4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0" name="Rectangle 4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055" y="5899150"/>
              <a:ext cx="7679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工程实施继续核实真实馈线、连续SOC、电压与保护条件，完善运行费用与资产价值。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2091.50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2338.50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2475.50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2302.50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2741.00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2589.50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2678.00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264.30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2901.00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253.80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3190.50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3473.00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备查：方法与经济参数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采样设计、有效样本和共同经济条件分别登记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依据：研究报告表3-14、表3-15、表4-1</a:t>
              </a: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候选指标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取点/计算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有效组数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有效节点数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站级负载率最大值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最大正向净负荷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11988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88781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最大反向净负荷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4329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95%峰值持续时间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5140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41118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10608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31473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32058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主变/线路投资比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主变/储能投资比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7584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储能支撑持续时间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10704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寿命：主变/线路/储能40/40/25年；维护费率4.2%/2.2%/3%；折现率6%。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评价基准2021年、截止2041年；采样实际取值节点保留于报告表3-14。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依据：研究报告表5-63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依据：研究报告表5-64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2.33～2.43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依据：研究报告表5-65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依据：研究报告表5-66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依据：研究报告表5-67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1.65～1.73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依据：研究报告表5-68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2.63～2.69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2.48～2.52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2.28～2.37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备查：四类参数响应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参数通过不同工程机制触发容量配置切换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依据：研究报告表5-72—5-75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8477250" cy="3190875"/>
            <a:chOff x="333375" y="2571750"/>
            <a:chExt cx="8477250" cy="319087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31908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879" y="2571750"/>
              <a:ext cx="7634243" cy="3190875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分散系数三个增容节点形成四个平台，平台内储能和联络仍有调整。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备查：局部高峰与设备替代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容量平台内的储能和联络仍随局部高峰调整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9189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依据：研究报告5.6.8、表5-75及对应11节点序列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28900"/>
            <a:ext cx="8477250" cy="2914650"/>
            <a:chOff x="333375" y="2628900"/>
            <a:chExt cx="8477250" cy="2914650"/>
          </a:xfrm>
        </p:grpSpPr>
        <p:sp>
          <p:nvSpPr>
            <p:cNvPr id="20" name="Rectangle 20"/>
            <p:cNvSpPr/>
            <p:nvPr/>
          </p:nvSpPr>
          <p:spPr>
            <a:xfrm>
              <a:off x="333375" y="2628900"/>
              <a:ext cx="8477250" cy="29146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230" y="2628900"/>
              <a:ext cx="6795541" cy="2914650"/>
            </a:xfrm>
            <a:prstGeom prst="rect">
              <a:avLst/>
            </a:prstGeom>
          </p:spPr>
        </p:pic>
      </p:grpSp>
      <p:grpSp>
        <p:nvGrpSpPr>
          <p:cNvPr id="25" name="diversity-condition"/>
          <p:cNvGrpSpPr/>
          <p:nvPr/>
        </p:nvGrpSpPr>
        <p:grpSpPr>
          <a:xfrm>
            <a:off x="326517" y="5597525"/>
            <a:ext cx="8484108" cy="264033"/>
            <a:chOff x="326517" y="5597525"/>
            <a:chExt cx="8484108" cy="264033"/>
          </a:xfrm>
        </p:grpSpPr>
        <p:sp>
          <p:nvSpPr>
            <p:cNvPr id="23" name="Rectangle 23"/>
            <p:cNvSpPr/>
            <p:nvPr/>
          </p:nvSpPr>
          <p:spPr>
            <a:xfrm>
              <a:off x="333375" y="5600700"/>
              <a:ext cx="8477250" cy="228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6517" y="5597525"/>
              <a:ext cx="6592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固定条件：装机渗透率2.00，年最大净负荷平均增长率4%，电缆10%，转供40%。</a:t>
              </a:r>
            </a:p>
          </p:txBody>
        </p:sp>
      </p:grpSp>
      <p:grpSp>
        <p:nvGrpSpPr>
          <p:cNvPr id="29" name="engineering-takeaway"/>
          <p:cNvGrpSpPr/>
          <p:nvPr/>
        </p:nvGrpSpPr>
        <p:grpSpPr>
          <a:xfrm>
            <a:off x="333375" y="5895975"/>
            <a:ext cx="8477250" cy="400050"/>
            <a:chOff x="333375" y="5895975"/>
            <a:chExt cx="8477250" cy="400050"/>
          </a:xfrm>
        </p:grpSpPr>
        <p:sp>
          <p:nvSpPr>
            <p:cNvPr id="26" name="Rectangle 26"/>
            <p:cNvSpPr/>
            <p:nvPr/>
          </p:nvSpPr>
          <p:spPr>
            <a:xfrm>
              <a:off x="333375" y="5895975"/>
              <a:ext cx="8477250" cy="4000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3375" y="5895975"/>
              <a:ext cx="8477250" cy="40005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0055" y="5984875"/>
              <a:ext cx="6664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1.11增容替代8.80 MW储能；1.21再次增容取消储能，1.25配10项联络。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96</ns0:Words>
  <ns0:Application>WPS 演示</ns0:Application>
  <ns0:PresentationFormat>全屏显示(4:3)</ns0:PresentationFormat>
  <ns0:Paragraphs>51</ns0:Paragraphs>
  <ns0:Slides>36</ns0:Slides>
  <ns0:Notes>11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15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4</ns1:i4>
      </ns1:variant>
    </ns1:vector>
  </ns0:HeadingPairs>
  <ns0:TitlesOfParts>
    <ns1:vector size="20" baseType="lpstr">
      <ns1:lpstr>Arial</ns1:lpstr>
      <ns1:lpstr>宋体</ns1:lpstr>
      <ns1:lpstr>Wingdings</ns1:lpstr>
      <ns1:lpstr>黑体</ns1:lpstr>
      <ns1:lpstr>Calibri</ns1:lpstr>
      <ns1:lpstr>汉仪大宋简</ns1:lpstr>
      <ns1:lpstr>微软雅黑</ns1:lpstr>
      <ns1:lpstr>华文细黑</ns1:lpstr>
      <ns1:lpstr>Hiragino Sans GB W3</ns1:lpstr>
      <ns1:lpstr>Segoe Print</ns1:lpstr>
      <ns1:lpstr>Franklin Gothic Book</ns1:lpstr>
      <ns1:lpstr>微软雅黑 Light</ns1:lpstr>
      <ns1:lpstr>Arial Unicode MS</ns1:lpstr>
      <ns1:lpstr>等线</ns1:lpstr>
      <ns1:lpstr>Times New Roman</ns1:lpstr>
      <ns1:lpstr>默认设计模板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薛禾雨</cp:lastModifiedBy>
  <cp:revision>2734</cp:revision>
  <cp:lastPrinted>2016-12-01T05:46:00Z</cp:lastPrinted>
  <dcterms:created xsi:type="dcterms:W3CDTF">2015-06-16T03:37:00Z</dcterms:created>
  <dcterms:modified xsi:type="dcterms:W3CDTF">2023-07-09T10:49:26Z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2052-11.8.2.8696</vt:lpwstr>
  </property>
</Properties>
</file>