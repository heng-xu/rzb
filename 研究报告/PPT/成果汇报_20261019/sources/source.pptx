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760" r:id="rId3"/>
    <p:sldId id="828" r:id="rId5"/>
    <p:sldId id="827" r:id="rId6"/>
    <p:sldId id="787" r:id="rId7"/>
  </p:sldIdLst>
  <p:sldSz cx="9144000" cy="6858000" type="screen4x3"/>
  <p:notesSz cx="6797675" cy="9928225"/>
  <p:embeddedFontLst>
    <p:embeddedFont>
      <p:font typeface="黑体" panose="02010609060101010101" pitchFamily="49" charset="-122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微软雅黑" panose="020B0503020204020204" pitchFamily="34" charset="-122"/>
      <p:regular r:id="rId18"/>
    </p:embeddedFont>
    <p:embeddedFont>
      <p:font typeface="华文细黑" panose="02010600040101010101" pitchFamily="2" charset="-122"/>
      <p:regular r:id="rId19"/>
    </p:embeddedFont>
    <p:embeddedFont>
      <p:font typeface="等线" panose="02010600030101010101" charset="-122"/>
      <p:regular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家波" initials="王家波" lastIdx="1" clrIdx="0"/>
  <p:cmAuthor id="1" name="Xianing Jin" initials="X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66"/>
    <a:srgbClr val="F2F2F2"/>
    <a:srgbClr val="009595"/>
    <a:srgbClr val="FFFFFF"/>
    <a:srgbClr val="009191"/>
    <a:srgbClr val="009393"/>
    <a:srgbClr val="009797"/>
    <a:srgbClr val="009999"/>
    <a:srgbClr val="038D80"/>
    <a:srgbClr val="017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99217" autoAdjust="0"/>
  </p:normalViewPr>
  <p:slideViewPr>
    <p:cSldViewPr snapToGrid="0">
      <p:cViewPr varScale="1">
        <p:scale>
          <a:sx n="95" d="100"/>
          <a:sy n="95" d="100"/>
        </p:scale>
        <p:origin x="932" y="80"/>
      </p:cViewPr>
      <p:guideLst>
        <p:guide orient="horz" pos="550"/>
        <p:guide orient="horz" pos="832"/>
        <p:guide orient="horz" pos="2442"/>
        <p:guide pos="5647"/>
        <p:guide pos="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2B93EAEC-2161-4609-AE92-2EDD2607CF0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2FDF2F26-35DF-4761-A9C8-96DA3B3B93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D4C542F9-1364-44B9-8533-A926207E43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1" tIns="47780" rIns="95561" bIns="4778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5561" tIns="47780" rIns="95561" bIns="47780" rtlCol="0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5A583F09-9D4B-4288-9E4A-F5D4C0754C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83F09-9D4B-4288-9E4A-F5D4C0754C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583F09-9D4B-4288-9E4A-F5D4C0754C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27225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54B57AF-16D0-4473-BA39-9DBA4F1BA4A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35FA06F-73F4-43B1-9180-37F105F7069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623CCD2-957F-4D25-A49B-38B14FE747D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D77036B-235D-4D28-BF62-4F9DE70CF38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5B2C882-851A-4969-87EE-84A661D0EF3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906D2-9CD4-493A-B3A1-F7BBACC104B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C2D0605-C913-4AF0-80A1-168CF4A527BA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7F3A8A7-C69F-4728-B77E-4B58DDD99ABF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DD04195-C942-43EA-83A2-B8062C38B78C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4BC10B9-8B20-433E-9FDA-BB052076CA73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F8AE16A-DC68-474B-BB08-BDCA7A29B7A1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754259-B361-4FED-9CBC-19B280397A5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1"/>
          <p:cNvSpPr>
            <a:spLocks noGrp="1"/>
          </p:cNvSpPr>
          <p:nvPr>
            <p:ph type="title"/>
          </p:nvPr>
        </p:nvSpPr>
        <p:spPr bwMode="auto">
          <a:xfrm>
            <a:off x="468314" y="3"/>
            <a:ext cx="8203443" cy="105273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0" tIns="0" rIns="0" bIns="72000" numCol="1" anchor="b" anchorCtr="0" compatLnSpc="1"/>
          <a:lstStyle>
            <a:lvl1pPr algn="l">
              <a:defRPr sz="1800">
                <a:latin typeface="+mn-ea"/>
                <a:ea typeface="+mn-ea"/>
              </a:defRPr>
            </a:lvl1pPr>
          </a:lstStyle>
          <a:p>
            <a:endParaRPr lang="en-US" noProof="0" dirty="0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0" y="1052736"/>
            <a:ext cx="914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33293"/>
            <a:ext cx="1379913" cy="51538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2337" y="143949"/>
            <a:ext cx="5765426" cy="115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3303F3-3285-4B02-863F-EAD8120BEBD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cxnSp>
        <p:nvCxnSpPr>
          <p:cNvPr id="9" name="直接连接符 6"/>
          <p:cNvCxnSpPr/>
          <p:nvPr userDrawn="1"/>
        </p:nvCxnSpPr>
        <p:spPr>
          <a:xfrm>
            <a:off x="0" y="1335917"/>
            <a:ext cx="9144000" cy="0"/>
          </a:xfrm>
          <a:prstGeom prst="line">
            <a:avLst/>
          </a:prstGeom>
          <a:ln w="19050">
            <a:solidFill>
              <a:srgbClr val="1C979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图片 4" descr="nbwz_banner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54293" y="121323"/>
            <a:ext cx="3034955" cy="11491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pic>
        <p:nvPicPr>
          <p:cNvPr id="3" name="Picture 16" descr="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"/>
          <a:stretch>
            <a:fillRect/>
          </a:stretch>
        </p:blipFill>
        <p:spPr bwMode="auto">
          <a:xfrm>
            <a:off x="0" y="0"/>
            <a:ext cx="91440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8"/>
          <p:cNvSpPr>
            <a:spLocks noChangeArrowheads="1"/>
          </p:cNvSpPr>
          <p:nvPr/>
        </p:nvSpPr>
        <p:spPr bwMode="auto">
          <a:xfrm>
            <a:off x="0" y="3357563"/>
            <a:ext cx="4284663" cy="344487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ea typeface="汉仪大宋简"/>
              <a:cs typeface="汉仪大宋简"/>
            </a:endParaRPr>
          </a:p>
        </p:txBody>
      </p:sp>
      <p:sp>
        <p:nvSpPr>
          <p:cNvPr id="8" name="标题 4"/>
          <p:cNvSpPr txBox="1"/>
          <p:nvPr/>
        </p:nvSpPr>
        <p:spPr>
          <a:xfrm>
            <a:off x="0" y="3757109"/>
            <a:ext cx="8964488" cy="1728192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3600" b="1" spc="50" dirty="0">
                <a:ln w="11430"/>
                <a:solidFill>
                  <a:srgbClr val="006666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3600" b="1" spc="50" dirty="0">
                <a:ln w="11430"/>
                <a:solidFill>
                  <a:srgbClr val="006666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endParaRPr lang="zh-CN" altLang="en-US" sz="3600" b="1" spc="50" dirty="0">
              <a:ln w="11430"/>
              <a:solidFill>
                <a:srgbClr val="006666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4"/>
          <p:cNvSpPr txBox="1"/>
          <p:nvPr/>
        </p:nvSpPr>
        <p:spPr>
          <a:xfrm>
            <a:off x="2087724" y="5570451"/>
            <a:ext cx="4968552" cy="922424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130000"/>
              </a:lnSpc>
              <a:spcAft>
                <a:spcPts val="0"/>
              </a:spcAft>
              <a:defRPr/>
            </a:pPr>
            <a:r>
              <a:rPr lang="zh-CN" altLang="en-US" sz="2600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发展策划部</a:t>
            </a:r>
            <a:endParaRPr lang="en-US" altLang="zh-CN" sz="2600" b="1" spc="50" dirty="0">
              <a:ln w="11430"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zh-CN" sz="2600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2600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600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2600" b="1" spc="50" dirty="0">
                <a:ln w="11430"/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600" b="1" spc="50" dirty="0">
              <a:ln w="11430"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10" descr="F:\省公司logo\省公司logo\国网江苏省电力有限公司logo.png"/>
          <p:cNvPicPr>
            <a:picLocks noChangeAspect="1"/>
          </p:cNvPicPr>
          <p:nvPr/>
        </p:nvPicPr>
        <p:blipFill>
          <a:blip r:embed="rId2" cstate="print">
            <a:lum bright="100000"/>
          </a:blip>
          <a:stretch>
            <a:fillRect/>
          </a:stretch>
        </p:blipFill>
        <p:spPr>
          <a:xfrm>
            <a:off x="183357" y="1372699"/>
            <a:ext cx="5361536" cy="161988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7"/>
          <p:cNvSpPr txBox="1">
            <a:spLocks noChangeArrowheads="1"/>
          </p:cNvSpPr>
          <p:nvPr/>
        </p:nvSpPr>
        <p:spPr bwMode="auto">
          <a:xfrm>
            <a:off x="1934777" y="3880404"/>
            <a:ext cx="2254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3600" kern="0" dirty="0">
                <a:solidFill>
                  <a:sysClr val="window" lastClr="FFFFFF"/>
                </a:solidFill>
                <a:latin typeface="华文细黑" panose="02010600040101010101" pitchFamily="2" charset="-122"/>
                <a:ea typeface="微软雅黑" panose="020B0503020204020204" pitchFamily="34" charset="-122"/>
              </a:rPr>
              <a:t>1</a:t>
            </a:r>
            <a:endParaRPr lang="zh-CN" altLang="en-US" sz="3600" kern="0" dirty="0">
              <a:solidFill>
                <a:sysClr val="window" lastClr="FFFFFF"/>
              </a:solidFill>
              <a:latin typeface="华文细黑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33" name="TextBox 10"/>
          <p:cNvSpPr txBox="1">
            <a:spLocks noChangeArrowheads="1"/>
          </p:cNvSpPr>
          <p:nvPr/>
        </p:nvSpPr>
        <p:spPr bwMode="auto">
          <a:xfrm>
            <a:off x="1934777" y="3982947"/>
            <a:ext cx="3079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3600" kern="0" dirty="0">
                <a:solidFill>
                  <a:sysClr val="window" lastClr="FFFFFF"/>
                </a:solidFill>
                <a:latin typeface="华文细黑" panose="02010600040101010101" pitchFamily="2" charset="-122"/>
                <a:ea typeface="微软雅黑" panose="020B0503020204020204" pitchFamily="34" charset="-122"/>
              </a:rPr>
              <a:t>2</a:t>
            </a:r>
            <a:endParaRPr lang="zh-CN" altLang="en-US" sz="3600" kern="0" dirty="0">
              <a:solidFill>
                <a:sysClr val="window" lastClr="FFFFFF"/>
              </a:solidFill>
              <a:latin typeface="华文细黑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34" name="TextBox 12"/>
          <p:cNvSpPr txBox="1">
            <a:spLocks noChangeArrowheads="1"/>
          </p:cNvSpPr>
          <p:nvPr/>
        </p:nvSpPr>
        <p:spPr bwMode="auto">
          <a:xfrm>
            <a:off x="1934777" y="5248429"/>
            <a:ext cx="1201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kern="0" dirty="0">
                <a:solidFill>
                  <a:sysClr val="window" lastClr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Hiragino Sans GB W3"/>
              </a:rPr>
              <a:t>管控方案</a:t>
            </a:r>
            <a:endParaRPr lang="zh-CN" altLang="en-US" kern="0" dirty="0">
              <a:solidFill>
                <a:sysClr val="window" lastClr="FFFFFF"/>
              </a:solidFill>
              <a:latin typeface="黑体" panose="02010609060101010101" pitchFamily="49" charset="-122"/>
              <a:ea typeface="黑体" panose="02010609060101010101" pitchFamily="49" charset="-122"/>
              <a:cs typeface="Hiragino Sans GB W3"/>
            </a:endParaRPr>
          </a:p>
        </p:txBody>
      </p:sp>
      <p:sp>
        <p:nvSpPr>
          <p:cNvPr id="36" name="TextBox 15"/>
          <p:cNvSpPr txBox="1">
            <a:spLocks noChangeArrowheads="1"/>
          </p:cNvSpPr>
          <p:nvPr/>
        </p:nvSpPr>
        <p:spPr bwMode="auto">
          <a:xfrm>
            <a:off x="1934777" y="5523543"/>
            <a:ext cx="11382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kern="0" dirty="0">
                <a:solidFill>
                  <a:sysClr val="window" lastClr="FFFF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Hiragino Sans GB W3"/>
              </a:rPr>
              <a:t>工作计划</a:t>
            </a:r>
            <a:endParaRPr lang="zh-CN" altLang="en-US" kern="0" dirty="0">
              <a:solidFill>
                <a:sysClr val="window" lastClr="FFFFFF"/>
              </a:solidFill>
              <a:latin typeface="黑体" panose="02010609060101010101" pitchFamily="49" charset="-122"/>
              <a:ea typeface="黑体" panose="02010609060101010101" pitchFamily="49" charset="-122"/>
              <a:cs typeface="Hiragino Sans GB W3"/>
            </a:endParaRPr>
          </a:p>
        </p:txBody>
      </p:sp>
      <p:cxnSp>
        <p:nvCxnSpPr>
          <p:cNvPr id="46" name="直接连接符 10"/>
          <p:cNvCxnSpPr/>
          <p:nvPr/>
        </p:nvCxnSpPr>
        <p:spPr>
          <a:xfrm flipH="1">
            <a:off x="1934777" y="3186684"/>
            <a:ext cx="192087" cy="179388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086600" y="6520171"/>
            <a:ext cx="2057400" cy="365125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 dirty="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grpSp>
        <p:nvGrpSpPr>
          <p:cNvPr id="3" name="组合 1"/>
          <p:cNvGrpSpPr/>
          <p:nvPr/>
        </p:nvGrpSpPr>
        <p:grpSpPr bwMode="auto">
          <a:xfrm>
            <a:off x="1504469" y="1665580"/>
            <a:ext cx="6291263" cy="587618"/>
            <a:chOff x="2000228" y="2310380"/>
            <a:chExt cx="7848927" cy="635887"/>
          </a:xfrm>
        </p:grpSpPr>
        <p:sp>
          <p:nvSpPr>
            <p:cNvPr id="11" name="矩形 10"/>
            <p:cNvSpPr/>
            <p:nvPr/>
          </p:nvSpPr>
          <p:spPr bwMode="auto">
            <a:xfrm>
              <a:off x="2000228" y="2320951"/>
              <a:ext cx="7848927" cy="625316"/>
            </a:xfrm>
            <a:prstGeom prst="rect">
              <a:avLst/>
            </a:prstGeom>
            <a:solidFill>
              <a:srgbClr val="006666"/>
            </a:solidFill>
            <a:ln w="12700">
              <a:solidFill>
                <a:srgbClr val="00666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defRPr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黑体" panose="02010609060101010101" pitchFamily="49" charset="-122"/>
                </a:rPr>
                <a:t>二   </a:t>
              </a:r>
              <a:r>
                <a:rPr lang="zh-CN" altLang="en-US" sz="28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黑体" panose="02010609060101010101" pitchFamily="49" charset="-122"/>
                </a:rPr>
                <a:t>研究背景</a:t>
              </a:r>
              <a:endParaRPr lang="zh-CN" altLang="en-US" sz="2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endParaRP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2000228" y="2310380"/>
              <a:ext cx="625854" cy="625317"/>
            </a:xfrm>
            <a:prstGeom prst="rect">
              <a:avLst/>
            </a:prstGeom>
            <a:gradFill>
              <a:gsLst>
                <a:gs pos="0">
                  <a:srgbClr val="008080"/>
                </a:gs>
                <a:gs pos="75000">
                  <a:srgbClr val="006666"/>
                </a:gs>
              </a:gsLst>
              <a:lin ang="3000000" scaled="0"/>
            </a:gradFill>
            <a:ln w="1270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buFont typeface="Wingdings" panose="05000000000000000000" pitchFamily="2" charset="2"/>
                <a:buChar char="u"/>
                <a:defRPr/>
              </a:pPr>
              <a:endPara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TextBox 22"/>
            <p:cNvSpPr txBox="1">
              <a:spLocks noChangeArrowheads="1"/>
            </p:cNvSpPr>
            <p:nvPr/>
          </p:nvSpPr>
          <p:spPr bwMode="auto">
            <a:xfrm>
              <a:off x="2104519" y="2428364"/>
              <a:ext cx="391346" cy="4995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zh-CN" altLang="en-US" sz="24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一</a:t>
              </a:r>
              <a:endParaRPr lang="zh-CN" altLang="en-US" sz="2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" name="组合 1"/>
          <p:cNvGrpSpPr/>
          <p:nvPr/>
        </p:nvGrpSpPr>
        <p:grpSpPr bwMode="auto">
          <a:xfrm>
            <a:off x="1504469" y="3495576"/>
            <a:ext cx="6291263" cy="587374"/>
            <a:chOff x="2000232" y="2179316"/>
            <a:chExt cx="7848927" cy="635623"/>
          </a:xfrm>
        </p:grpSpPr>
        <p:sp>
          <p:nvSpPr>
            <p:cNvPr id="37" name="矩形 36"/>
            <p:cNvSpPr/>
            <p:nvPr/>
          </p:nvSpPr>
          <p:spPr bwMode="auto">
            <a:xfrm>
              <a:off x="2000232" y="2189623"/>
              <a:ext cx="7848927" cy="6253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666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defRPr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黑体" panose="02010609060101010101" pitchFamily="49" charset="-122"/>
                </a:rPr>
                <a:t>二   研究内容</a:t>
              </a:r>
              <a:endPara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endParaRPr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2000232" y="2179316"/>
              <a:ext cx="625854" cy="625317"/>
            </a:xfrm>
            <a:prstGeom prst="rect">
              <a:avLst/>
            </a:prstGeom>
            <a:gradFill>
              <a:gsLst>
                <a:gs pos="0">
                  <a:srgbClr val="008080"/>
                </a:gs>
                <a:gs pos="75000">
                  <a:srgbClr val="006666"/>
                </a:gs>
              </a:gsLst>
              <a:lin ang="3000000" scaled="0"/>
            </a:gradFill>
            <a:ln w="1270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buFont typeface="Wingdings" panose="05000000000000000000" pitchFamily="2" charset="2"/>
                <a:buChar char="u"/>
                <a:defRPr/>
              </a:pPr>
              <a:endPara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" name="TextBox 22"/>
            <p:cNvSpPr txBox="1">
              <a:spLocks noChangeArrowheads="1"/>
            </p:cNvSpPr>
            <p:nvPr/>
          </p:nvSpPr>
          <p:spPr bwMode="auto">
            <a:xfrm>
              <a:off x="2117558" y="2263838"/>
              <a:ext cx="391346" cy="4995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zh-CN" altLang="en-US" sz="24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三</a:t>
              </a:r>
              <a:endParaRPr lang="zh-CN" altLang="en-US" sz="2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7" name="组合 1"/>
          <p:cNvGrpSpPr/>
          <p:nvPr/>
        </p:nvGrpSpPr>
        <p:grpSpPr bwMode="auto">
          <a:xfrm>
            <a:off x="1504468" y="5413303"/>
            <a:ext cx="6291263" cy="587374"/>
            <a:chOff x="2000232" y="2179316"/>
            <a:chExt cx="7848927" cy="635623"/>
          </a:xfrm>
        </p:grpSpPr>
        <p:sp>
          <p:nvSpPr>
            <p:cNvPr id="45" name="矩形 44"/>
            <p:cNvSpPr/>
            <p:nvPr/>
          </p:nvSpPr>
          <p:spPr bwMode="auto">
            <a:xfrm>
              <a:off x="2000232" y="2189623"/>
              <a:ext cx="7848927" cy="6253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666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defRPr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黑体" panose="02010609060101010101" pitchFamily="49" charset="-122"/>
                </a:rPr>
                <a:t>二   项目成效</a:t>
              </a:r>
              <a:endPara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endParaRPr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2000232" y="2179316"/>
              <a:ext cx="625854" cy="625317"/>
            </a:xfrm>
            <a:prstGeom prst="rect">
              <a:avLst/>
            </a:prstGeom>
            <a:gradFill>
              <a:gsLst>
                <a:gs pos="0">
                  <a:srgbClr val="008080"/>
                </a:gs>
                <a:gs pos="75000">
                  <a:srgbClr val="006666"/>
                </a:gs>
              </a:gsLst>
              <a:lin ang="3000000" scaled="0"/>
            </a:gradFill>
            <a:ln w="1270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buFont typeface="Wingdings" panose="05000000000000000000" pitchFamily="2" charset="2"/>
                <a:buChar char="u"/>
                <a:defRPr/>
              </a:pPr>
              <a:endPara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8" name="TextBox 22"/>
            <p:cNvSpPr txBox="1">
              <a:spLocks noChangeArrowheads="1"/>
            </p:cNvSpPr>
            <p:nvPr/>
          </p:nvSpPr>
          <p:spPr bwMode="auto">
            <a:xfrm>
              <a:off x="2117558" y="2263838"/>
              <a:ext cx="391346" cy="4995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zh-CN" altLang="en-US" sz="24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五</a:t>
              </a:r>
              <a:endParaRPr lang="zh-CN" altLang="en-US" sz="2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6" name="组合 1"/>
          <p:cNvGrpSpPr/>
          <p:nvPr/>
        </p:nvGrpSpPr>
        <p:grpSpPr bwMode="auto">
          <a:xfrm>
            <a:off x="1504469" y="2573332"/>
            <a:ext cx="6291263" cy="587374"/>
            <a:chOff x="2000232" y="2179316"/>
            <a:chExt cx="7848927" cy="635623"/>
          </a:xfrm>
        </p:grpSpPr>
        <p:sp>
          <p:nvSpPr>
            <p:cNvPr id="27" name="矩形 26"/>
            <p:cNvSpPr/>
            <p:nvPr/>
          </p:nvSpPr>
          <p:spPr bwMode="auto">
            <a:xfrm>
              <a:off x="2000232" y="2189623"/>
              <a:ext cx="7848927" cy="6253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666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defRPr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黑体" panose="02010609060101010101" pitchFamily="49" charset="-122"/>
                </a:rPr>
                <a:t>二   研究目标和思路</a:t>
              </a:r>
              <a:endPara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endParaRP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2000232" y="2179316"/>
              <a:ext cx="625854" cy="625317"/>
            </a:xfrm>
            <a:prstGeom prst="rect">
              <a:avLst/>
            </a:prstGeom>
            <a:gradFill>
              <a:gsLst>
                <a:gs pos="0">
                  <a:srgbClr val="008080"/>
                </a:gs>
                <a:gs pos="75000">
                  <a:srgbClr val="006666"/>
                </a:gs>
              </a:gsLst>
              <a:lin ang="3000000" scaled="0"/>
            </a:gradFill>
            <a:ln w="1270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buFont typeface="Wingdings" panose="05000000000000000000" pitchFamily="2" charset="2"/>
                <a:buChar char="u"/>
                <a:defRPr/>
              </a:pPr>
              <a:endPara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9" name="TextBox 22"/>
            <p:cNvSpPr txBox="1">
              <a:spLocks noChangeArrowheads="1"/>
            </p:cNvSpPr>
            <p:nvPr/>
          </p:nvSpPr>
          <p:spPr bwMode="auto">
            <a:xfrm>
              <a:off x="2117558" y="2263838"/>
              <a:ext cx="391346" cy="4995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zh-CN" altLang="en-US" sz="24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二</a:t>
              </a:r>
              <a:endParaRPr lang="zh-CN" altLang="en-US" sz="2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2" name="组合 1"/>
          <p:cNvGrpSpPr/>
          <p:nvPr/>
        </p:nvGrpSpPr>
        <p:grpSpPr bwMode="auto">
          <a:xfrm>
            <a:off x="1504469" y="4421858"/>
            <a:ext cx="6291263" cy="587374"/>
            <a:chOff x="2000232" y="2179316"/>
            <a:chExt cx="7848927" cy="635623"/>
          </a:xfrm>
        </p:grpSpPr>
        <p:sp>
          <p:nvSpPr>
            <p:cNvPr id="40" name="矩形 39"/>
            <p:cNvSpPr/>
            <p:nvPr/>
          </p:nvSpPr>
          <p:spPr bwMode="auto">
            <a:xfrm>
              <a:off x="2000232" y="2189623"/>
              <a:ext cx="7848927" cy="6253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666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defRPr/>
              </a:pPr>
              <a:r>
                <a:rPr lang="zh-CN" altLang="en-US" sz="28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黑体" panose="02010609060101010101" pitchFamily="49" charset="-122"/>
                </a:rPr>
                <a:t>二   实证分析</a:t>
              </a:r>
              <a:endPara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endParaRPr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2000232" y="2179316"/>
              <a:ext cx="625854" cy="625317"/>
            </a:xfrm>
            <a:prstGeom prst="rect">
              <a:avLst/>
            </a:prstGeom>
            <a:gradFill>
              <a:gsLst>
                <a:gs pos="0">
                  <a:srgbClr val="008080"/>
                </a:gs>
                <a:gs pos="75000">
                  <a:srgbClr val="006666"/>
                </a:gs>
              </a:gsLst>
              <a:lin ang="3000000" scaled="0"/>
            </a:gradFill>
            <a:ln w="1270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buFont typeface="Wingdings" panose="05000000000000000000" pitchFamily="2" charset="2"/>
                <a:buChar char="u"/>
                <a:defRPr/>
              </a:pPr>
              <a:endPara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" name="TextBox 22"/>
            <p:cNvSpPr txBox="1">
              <a:spLocks noChangeArrowheads="1"/>
            </p:cNvSpPr>
            <p:nvPr/>
          </p:nvSpPr>
          <p:spPr bwMode="auto">
            <a:xfrm>
              <a:off x="2117558" y="2263838"/>
              <a:ext cx="391346" cy="4995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zh-CN" altLang="en-US" sz="24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四</a:t>
              </a:r>
              <a:endParaRPr lang="zh-CN" altLang="en-US" sz="24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43" name="AutoShape 19"/>
          <p:cNvSpPr>
            <a:spLocks noChangeArrowheads="1"/>
          </p:cNvSpPr>
          <p:nvPr/>
        </p:nvSpPr>
        <p:spPr bwMode="auto">
          <a:xfrm>
            <a:off x="7450072" y="1885907"/>
            <a:ext cx="346075" cy="201612"/>
          </a:xfrm>
          <a:prstGeom prst="leftArrow">
            <a:avLst>
              <a:gd name="adj1" fmla="val 50278"/>
              <a:gd name="adj2" fmla="val 72731"/>
            </a:avLst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1000"/>
    </mc:Choice>
    <mc:Fallback>
      <p:transition spd="slow" advClick="0" advTm="1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 txBox="1"/>
          <p:nvPr/>
        </p:nvSpPr>
        <p:spPr>
          <a:xfrm>
            <a:off x="8496077" y="161915"/>
            <a:ext cx="307975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3200" kern="0" dirty="0">
                <a:latin typeface="+mn-ea"/>
              </a:rPr>
              <a:t>1</a:t>
            </a:r>
            <a:endParaRPr lang="zh-CN" altLang="en-US" sz="3200" kern="0" dirty="0">
              <a:latin typeface="+mn-ea"/>
            </a:endParaRPr>
          </a:p>
        </p:txBody>
      </p:sp>
      <p:sp>
        <p:nvSpPr>
          <p:cNvPr id="14" name="TextBox 144"/>
          <p:cNvSpPr txBox="1"/>
          <p:nvPr/>
        </p:nvSpPr>
        <p:spPr>
          <a:xfrm>
            <a:off x="4549683" y="491487"/>
            <a:ext cx="39133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zh-CN" altLang="en-US" sz="2800" kern="0" dirty="0">
                <a:latin typeface="+mn-ea"/>
              </a:rPr>
              <a:t>项目背景</a:t>
            </a:r>
            <a:endParaRPr lang="zh-CN" altLang="en-US" sz="2800" kern="0" dirty="0">
              <a:latin typeface="+mn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57147" y="2158800"/>
            <a:ext cx="3381935" cy="553085"/>
          </a:xfrm>
          <a:prstGeom prst="rect">
            <a:avLst/>
          </a:prstGeom>
          <a:ln>
            <a:solidFill>
              <a:srgbClr val="017977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2"/>
          <p:cNvGrpSpPr/>
          <p:nvPr/>
        </p:nvGrpSpPr>
        <p:grpSpPr bwMode="auto">
          <a:xfrm>
            <a:off x="0" y="1337131"/>
            <a:ext cx="3754438" cy="530407"/>
            <a:chOff x="0" y="0"/>
            <a:chExt cx="6262555" cy="491495"/>
          </a:xfrm>
        </p:grpSpPr>
        <p:sp>
          <p:nvSpPr>
            <p:cNvPr id="18" name="五边形 3"/>
            <p:cNvSpPr>
              <a:spLocks noChangeArrowheads="1"/>
            </p:cNvSpPr>
            <p:nvPr/>
          </p:nvSpPr>
          <p:spPr bwMode="auto">
            <a:xfrm>
              <a:off x="0" y="0"/>
              <a:ext cx="6262555" cy="491495"/>
            </a:xfrm>
            <a:prstGeom prst="homePlate">
              <a:avLst>
                <a:gd name="adj" fmla="val 50024"/>
              </a:avLst>
            </a:prstGeom>
            <a:gradFill rotWithShape="1">
              <a:gsLst>
                <a:gs pos="0">
                  <a:srgbClr val="04C0AE"/>
                </a:gs>
                <a:gs pos="88000">
                  <a:srgbClr val="02786D"/>
                </a:gs>
                <a:gs pos="100000">
                  <a:srgbClr val="02786D"/>
                </a:gs>
              </a:gsLst>
              <a:lin ang="0" scaled="1"/>
            </a:gradFill>
            <a:ln w="6350">
              <a:solidFill>
                <a:schemeClr val="bg1"/>
              </a:solidFill>
              <a:miter lim="800000"/>
            </a:ln>
            <a:effectLst>
              <a:outerShdw dist="38100" dir="2700000" algn="ctr" rotWithShape="0">
                <a:srgbClr val="000000">
                  <a:alpha val="35999"/>
                </a:srgbClr>
              </a:outerShdw>
            </a:effec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>
              <a:spLocks noChangeArrowheads="1"/>
            </p:cNvSpPr>
            <p:nvPr/>
          </p:nvSpPr>
          <p:spPr bwMode="auto">
            <a:xfrm>
              <a:off x="56767" y="49355"/>
              <a:ext cx="2412370" cy="370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研究背景</a:t>
              </a:r>
              <a:endParaRPr lang="zh-CN" altLang="en-US" sz="2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82388" y="44537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854388" y="445376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72652" y="3129694"/>
            <a:ext cx="3563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rgbClr val="017977"/>
                </a:solidFill>
              </a:rPr>
              <a:t>谢 谢！</a:t>
            </a:r>
            <a:endParaRPr lang="zh-CN" altLang="en-US" sz="9600" dirty="0">
              <a:solidFill>
                <a:srgbClr val="017977"/>
              </a:solidFill>
            </a:endParaRPr>
          </a:p>
        </p:txBody>
      </p:sp>
    </p:spTree>
  </p:cSld>
  <p:clrMapOvr>
    <a:masterClrMapping/>
  </p:clrMapOvr>
  <p:transition advClick="0" advTm="5000"/>
</p:sld>
</file>

<file path=ppt/theme/theme1.xml><?xml version="1.0" encoding="utf-8"?>
<a:theme xmlns:a="http://schemas.openxmlformats.org/drawingml/2006/main" name="默认设计模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ds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WPS 演示</Application>
  <PresentationFormat>全屏显示(4:3)</PresentationFormat>
  <Paragraphs>51</Paragraphs>
  <Slides>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宋体</vt:lpstr>
      <vt:lpstr>Wingdings</vt:lpstr>
      <vt:lpstr>黑体</vt:lpstr>
      <vt:lpstr>Calibri</vt:lpstr>
      <vt:lpstr>汉仪大宋简</vt:lpstr>
      <vt:lpstr>微软雅黑</vt:lpstr>
      <vt:lpstr>华文细黑</vt:lpstr>
      <vt:lpstr>Hiragino Sans GB W3</vt:lpstr>
      <vt:lpstr>Segoe Print</vt:lpstr>
      <vt:lpstr>Franklin Gothic Book</vt:lpstr>
      <vt:lpstr>微软雅黑 Light</vt:lpstr>
      <vt:lpstr>Arial Unicode MS</vt:lpstr>
      <vt:lpstr>等线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关于开展电网投资项目协同管理工作的汇报</dc:title>
  <dc:creator>蔡武俊</dc:creator>
  <cp:lastModifiedBy>薛禾雨</cp:lastModifiedBy>
  <cp:revision>2734</cp:revision>
  <cp:lastPrinted>2016-12-01T05:46:00Z</cp:lastPrinted>
  <dcterms:created xsi:type="dcterms:W3CDTF">2015-06-16T03:37:00Z</dcterms:created>
  <dcterms:modified xsi:type="dcterms:W3CDTF">2023-07-09T10:49:26Z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2052-11.8.2.8696</vt:lpwstr>
  </property>
</Properties>
</file>