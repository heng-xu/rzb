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3"/>
    <p:sldMasterId id="2147483667" r:id="rId4"/>
    <p:sldMasterId id="2147483676" r:id="rId5"/>
    <p:sldMasterId id="2147483686" r:id="rId6"/>
    <p:sldMasterId id="2147483696" r:id="rId7"/>
    <p:sldMasterId id="2147483706" r:id="rId8"/>
    <p:sldMasterId id="2147483716" r:id="rId9"/>
    <p:sldMasterId id="2147483726" r:id="rId10"/>
  </p:sldMasterIdLst>
  <p:notesMasterIdLst>
    <p:notesMasterId r:id="rId13"/>
  </p:notesMasterIdLst>
  <p:handoutMasterIdLst>
    <p:handoutMasterId r:id="rId23"/>
  </p:handoutMasterIdLst>
  <p:sldIdLst>
    <p:sldId id="16604208" r:id="rId11"/>
    <p:sldId id="392" r:id="rId12"/>
    <p:sldId id="16604206" r:id="rId14"/>
    <p:sldId id="16604194" r:id="rId15"/>
    <p:sldId id="16604195" r:id="rId16"/>
    <p:sldId id="16604199" r:id="rId17"/>
    <p:sldId id="16604200" r:id="rId18"/>
    <p:sldId id="16604202" r:id="rId19"/>
    <p:sldId id="16604203" r:id="rId20"/>
    <p:sldId id="16604204" r:id="rId21"/>
    <p:sldId id="16604205" r:id="rId22"/>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8" userDrawn="1">
          <p15:clr>
            <a:srgbClr val="A4A3A4"/>
          </p15:clr>
        </p15:guide>
        <p15:guide id="2" pos="35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angjinrong" initials="y" lastIdx="1" clrIdx="0"/>
  <p:cmAuthor id="1" name="jijie" initials="j" lastIdx="2" clrIdx="0"/>
  <p:cmAuthor id="2" name="lenovo" initials="l" lastIdx="2" clrIdx="0"/>
  <p:cmAuthor id="3" name="肖强" initials="肖" lastIdx="1" clrIdx="1"/>
  <p:cmAuthor id="4" name="sihua guo" initials="s" lastIdx="4" clrIdx="2"/>
  <p:cmAuthor id="5" name="Administrator" initials="A" lastIdx="20" clrIdx="3"/>
  <p:cmAuthor id="6" name="福与天琦" initials="" lastIdx="8" clrIdx="0"/>
  <p:cmAuthor id="8" name="quhep" initials="" lastIdx="33" clrIdx="2"/>
  <p:cmAuthor id="9" name="CEPRI-0592" initials="" lastIdx="1" clrIdx="3"/>
  <p:cmAuthor id="10" name="sunshiming-nb" initials="s" lastIdx="2" clrIdx="8"/>
  <p:cmAuthor id="11" name="zhuangyi" initials="z" lastIdx="3" clrIdx="10"/>
  <p:cmAuthor id="12" name="蒋 超" initials="" lastIdx="0" clrIdx="11"/>
  <p:cmAuthor id="13" name="joseph0311@163.com" initials="Jo" lastIdx="0" clrIdx="1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C55E"/>
    <a:srgbClr val="1D979D"/>
    <a:srgbClr val="78B8B6"/>
    <a:srgbClr val="029694"/>
    <a:srgbClr val="00706B"/>
    <a:srgbClr val="E3732E"/>
    <a:srgbClr val="E55F4D"/>
    <a:srgbClr val="DD5400"/>
    <a:srgbClr val="D9958F"/>
    <a:srgbClr val="CE3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59" autoAdjust="0"/>
    <p:restoredTop sz="94063" autoAdjust="0"/>
  </p:normalViewPr>
  <p:slideViewPr>
    <p:cSldViewPr snapToGrid="0" showGuides="1">
      <p:cViewPr>
        <p:scale>
          <a:sx n="33" d="100"/>
          <a:sy n="33" d="100"/>
        </p:scale>
        <p:origin x="2179" y="744"/>
      </p:cViewPr>
      <p:guideLst>
        <p:guide orient="horz" pos="3368"/>
        <p:guide pos="355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1.xml"/><Relationship Id="rId21" Type="http://schemas.openxmlformats.org/officeDocument/2006/relationships/slide" Target="slides/slide10.xml"/><Relationship Id="rId20" Type="http://schemas.openxmlformats.org/officeDocument/2006/relationships/slide" Target="slides/slide9.xml"/><Relationship Id="rId2" Type="http://schemas.openxmlformats.org/officeDocument/2006/relationships/theme" Target="theme/theme1.xml"/><Relationship Id="rId19" Type="http://schemas.openxmlformats.org/officeDocument/2006/relationships/slide" Target="slides/slide8.xml"/><Relationship Id="rId18" Type="http://schemas.openxmlformats.org/officeDocument/2006/relationships/slide" Target="slides/slide7.xml"/><Relationship Id="rId17" Type="http://schemas.openxmlformats.org/officeDocument/2006/relationships/slide" Target="slides/slide6.xml"/><Relationship Id="rId16" Type="http://schemas.openxmlformats.org/officeDocument/2006/relationships/slide" Target="slides/slide5.xml"/><Relationship Id="rId15" Type="http://schemas.openxmlformats.org/officeDocument/2006/relationships/slide" Target="slides/slide4.xml"/><Relationship Id="rId14" Type="http://schemas.openxmlformats.org/officeDocument/2006/relationships/slide" Target="slides/slide3.xml"/><Relationship Id="rId13" Type="http://schemas.openxmlformats.org/officeDocument/2006/relationships/notesMaster" Target="notesMasters/notesMaster1.xml"/><Relationship Id="rId12" Type="http://schemas.openxmlformats.org/officeDocument/2006/relationships/slide" Target="slides/slide2.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6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6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6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2600" y="1279525"/>
            <a:ext cx="6138863"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4.png"/><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image" Target="../media/image4.png"/><Relationship Id="rId15" Type="http://schemas.openxmlformats.org/officeDocument/2006/relationships/tags" Target="../tags/tag34.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image" Target="../media/image4.png"/><Relationship Id="rId10" Type="http://schemas.openxmlformats.org/officeDocument/2006/relationships/tags" Target="../tags/tag5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image" Target="../media/image4.png"/><Relationship Id="rId15" Type="http://schemas.openxmlformats.org/officeDocument/2006/relationships/tags" Target="../tags/tag68.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image" Target="../media/image4.png"/><Relationship Id="rId10" Type="http://schemas.openxmlformats.org/officeDocument/2006/relationships/tags" Target="../tags/tag91.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image" Target="../media/image4.png"/><Relationship Id="rId15" Type="http://schemas.openxmlformats.org/officeDocument/2006/relationships/tags" Target="../tags/tag102.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117.xml"/><Relationship Id="rId10" Type="http://schemas.openxmlformats.org/officeDocument/2006/relationships/tags" Target="../tags/tag116.xml"/><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image" Target="../media/image4.png"/><Relationship Id="rId10" Type="http://schemas.openxmlformats.org/officeDocument/2006/relationships/tags" Target="../tags/tag125.xml"/><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image" Target="../media/image4.png"/><Relationship Id="rId15" Type="http://schemas.openxmlformats.org/officeDocument/2006/relationships/tags" Target="../tags/tag136.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143.xml"/><Relationship Id="rId8" Type="http://schemas.openxmlformats.org/officeDocument/2006/relationships/tags" Target="../tags/tag142.xml"/><Relationship Id="rId7" Type="http://schemas.openxmlformats.org/officeDocument/2006/relationships/tags" Target="../tags/tag141.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image" Target="../media/image4.png"/><Relationship Id="rId10" Type="http://schemas.openxmlformats.org/officeDocument/2006/relationships/tags" Target="../tags/tag159.xml"/><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image" Target="../media/image4.png"/><Relationship Id="rId15" Type="http://schemas.openxmlformats.org/officeDocument/2006/relationships/tags" Target="../tags/tag170.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169.xml"/><Relationship Id="rId11" Type="http://schemas.openxmlformats.org/officeDocument/2006/relationships/tags" Target="../tags/tag168.xml"/><Relationship Id="rId10" Type="http://schemas.openxmlformats.org/officeDocument/2006/relationships/tags" Target="../tags/tag167.xml"/><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185.xml"/><Relationship Id="rId10" Type="http://schemas.openxmlformats.org/officeDocument/2006/relationships/tags" Target="../tags/tag184.xml"/><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image" Target="../media/image4.png"/><Relationship Id="rId10" Type="http://schemas.openxmlformats.org/officeDocument/2006/relationships/tags" Target="../tags/tag193.xml"/><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image" Target="../media/image4.png"/><Relationship Id="rId15" Type="http://schemas.openxmlformats.org/officeDocument/2006/relationships/tags" Target="../tags/tag204.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203.xml"/><Relationship Id="rId11" Type="http://schemas.openxmlformats.org/officeDocument/2006/relationships/tags" Target="../tags/tag202.xml"/><Relationship Id="rId10" Type="http://schemas.openxmlformats.org/officeDocument/2006/relationships/tags" Target="../tags/tag201.xml"/><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9" Type="http://schemas.openxmlformats.org/officeDocument/2006/relationships/tags" Target="../tags/tag217.xml"/><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219.xml"/><Relationship Id="rId10" Type="http://schemas.openxmlformats.org/officeDocument/2006/relationships/tags" Target="../tags/tag218.xml"/><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tags" Target="../tags/tag224.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image" Target="../media/image4.png"/><Relationship Id="rId10" Type="http://schemas.openxmlformats.org/officeDocument/2006/relationships/tags" Target="../tags/tag227.xml"/><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9" Type="http://schemas.openxmlformats.org/officeDocument/2006/relationships/tags" Target="../tags/tag234.xml"/><Relationship Id="rId8" Type="http://schemas.openxmlformats.org/officeDocument/2006/relationships/tags" Target="../tags/tag233.xml"/><Relationship Id="rId7" Type="http://schemas.openxmlformats.org/officeDocument/2006/relationships/tags" Target="../tags/tag232.xml"/><Relationship Id="rId6" Type="http://schemas.openxmlformats.org/officeDocument/2006/relationships/tags" Target="../tags/tag231.xml"/><Relationship Id="rId5" Type="http://schemas.openxmlformats.org/officeDocument/2006/relationships/tags" Target="../tags/tag230.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image" Target="../media/image4.png"/><Relationship Id="rId15" Type="http://schemas.openxmlformats.org/officeDocument/2006/relationships/tags" Target="../tags/tag238.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237.xml"/><Relationship Id="rId11" Type="http://schemas.openxmlformats.org/officeDocument/2006/relationships/tags" Target="../tags/tag236.xml"/><Relationship Id="rId10" Type="http://schemas.openxmlformats.org/officeDocument/2006/relationships/tags" Target="../tags/tag235.xml"/><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9" Type="http://schemas.openxmlformats.org/officeDocument/2006/relationships/tags" Target="../tags/tag245.xml"/><Relationship Id="rId8" Type="http://schemas.openxmlformats.org/officeDocument/2006/relationships/tags" Target="../tags/tag244.xml"/><Relationship Id="rId7" Type="http://schemas.openxmlformats.org/officeDocument/2006/relationships/tags" Target="../tags/tag243.xml"/><Relationship Id="rId6" Type="http://schemas.openxmlformats.org/officeDocument/2006/relationships/tags" Target="../tags/tag242.xml"/><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9" Type="http://schemas.openxmlformats.org/officeDocument/2006/relationships/tags" Target="../tags/tag251.xml"/><Relationship Id="rId8" Type="http://schemas.openxmlformats.org/officeDocument/2006/relationships/tags" Target="../tags/tag250.xml"/><Relationship Id="rId7" Type="http://schemas.openxmlformats.org/officeDocument/2006/relationships/tags" Target="../tags/tag249.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253.xml"/><Relationship Id="rId10" Type="http://schemas.openxmlformats.org/officeDocument/2006/relationships/tags" Target="../tags/tag252.xml"/><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image" Target="../media/image4.png"/><Relationship Id="rId10" Type="http://schemas.openxmlformats.org/officeDocument/2006/relationships/tags" Target="../tags/tag261.xml"/><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9" Type="http://schemas.openxmlformats.org/officeDocument/2006/relationships/tags" Target="../tags/tag268.xml"/><Relationship Id="rId8" Type="http://schemas.openxmlformats.org/officeDocument/2006/relationships/tags" Target="../tags/tag26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image" Target="../media/image4.png"/><Relationship Id="rId15" Type="http://schemas.openxmlformats.org/officeDocument/2006/relationships/tags" Target="../tags/tag272.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271.xml"/><Relationship Id="rId11" Type="http://schemas.openxmlformats.org/officeDocument/2006/relationships/tags" Target="../tags/tag270.xml"/><Relationship Id="rId10" Type="http://schemas.openxmlformats.org/officeDocument/2006/relationships/tags" Target="../tags/tag269.xml"/><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9" Type="http://schemas.openxmlformats.org/officeDocument/2006/relationships/tags" Target="../tags/tag279.xml"/><Relationship Id="rId8" Type="http://schemas.openxmlformats.org/officeDocument/2006/relationships/tags" Target="../tags/tag278.xml"/><Relationship Id="rId7" Type="http://schemas.openxmlformats.org/officeDocument/2006/relationships/tags" Target="../tags/tag277.xml"/><Relationship Id="rId6" Type="http://schemas.openxmlformats.org/officeDocument/2006/relationships/tags" Target="../tags/tag276.xml"/><Relationship Id="rId5" Type="http://schemas.openxmlformats.org/officeDocument/2006/relationships/tags" Target="../tags/tag275.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9" Type="http://schemas.openxmlformats.org/officeDocument/2006/relationships/tags" Target="../tags/tag285.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287.xml"/><Relationship Id="rId10" Type="http://schemas.openxmlformats.org/officeDocument/2006/relationships/tags" Target="../tags/tag286.xml"/><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9" Type="http://schemas.openxmlformats.org/officeDocument/2006/relationships/tags" Target="../tags/tag294.xml"/><Relationship Id="rId8" Type="http://schemas.openxmlformats.org/officeDocument/2006/relationships/tags" Target="../tags/tag293.xml"/><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image" Target="../media/image4.png"/><Relationship Id="rId10" Type="http://schemas.openxmlformats.org/officeDocument/2006/relationships/tags" Target="../tags/tag295.xml"/><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9" Type="http://schemas.openxmlformats.org/officeDocument/2006/relationships/tags" Target="../tags/tag302.xml"/><Relationship Id="rId8" Type="http://schemas.openxmlformats.org/officeDocument/2006/relationships/tags" Target="../tags/tag301.xml"/><Relationship Id="rId7" Type="http://schemas.openxmlformats.org/officeDocument/2006/relationships/tags" Target="../tags/tag300.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image" Target="../media/image4.png"/><Relationship Id="rId15" Type="http://schemas.openxmlformats.org/officeDocument/2006/relationships/tags" Target="../tags/tag306.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305.xml"/><Relationship Id="rId11" Type="http://schemas.openxmlformats.org/officeDocument/2006/relationships/tags" Target="../tags/tag304.xml"/><Relationship Id="rId10" Type="http://schemas.openxmlformats.org/officeDocument/2006/relationships/tags" Target="../tags/tag303.xml"/><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9" Type="http://schemas.openxmlformats.org/officeDocument/2006/relationships/theme" Target="../theme/theme3.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0" Type="http://schemas.openxmlformats.org/officeDocument/2006/relationships/theme" Target="../theme/theme4.xml"/><Relationship Id="rId1"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0" Type="http://schemas.openxmlformats.org/officeDocument/2006/relationships/theme" Target="../theme/theme5.xml"/><Relationship Id="rId1" Type="http://schemas.openxmlformats.org/officeDocument/2006/relationships/slideLayout" Target="../slideLayouts/slideLayout3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52.xml"/><Relationship Id="rId8" Type="http://schemas.openxmlformats.org/officeDocument/2006/relationships/slideLayout" Target="../slideLayouts/slideLayout51.xml"/><Relationship Id="rId7" Type="http://schemas.openxmlformats.org/officeDocument/2006/relationships/slideLayout" Target="../slideLayouts/slideLayout50.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 Id="rId3" Type="http://schemas.openxmlformats.org/officeDocument/2006/relationships/slideLayout" Target="../slideLayouts/slideLayout46.xml"/><Relationship Id="rId2" Type="http://schemas.openxmlformats.org/officeDocument/2006/relationships/slideLayout" Target="../slideLayouts/slideLayout45.xml"/><Relationship Id="rId10" Type="http://schemas.openxmlformats.org/officeDocument/2006/relationships/theme" Target="../theme/theme6.xml"/><Relationship Id="rId1" Type="http://schemas.openxmlformats.org/officeDocument/2006/relationships/slideLayout" Target="../slideLayouts/slideLayout44.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slideLayout" Target="../slideLayouts/slideLayout60.xml"/><Relationship Id="rId7" Type="http://schemas.openxmlformats.org/officeDocument/2006/relationships/slideLayout" Target="../slideLayouts/slideLayout59.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0" Type="http://schemas.openxmlformats.org/officeDocument/2006/relationships/theme" Target="../theme/theme7.xml"/><Relationship Id="rId1" Type="http://schemas.openxmlformats.org/officeDocument/2006/relationships/slideLayout" Target="../slideLayouts/slideLayout53.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70.xml"/><Relationship Id="rId8" Type="http://schemas.openxmlformats.org/officeDocument/2006/relationships/slideLayout" Target="../slideLayouts/slideLayout69.xml"/><Relationship Id="rId7" Type="http://schemas.openxmlformats.org/officeDocument/2006/relationships/slideLayout" Target="../slideLayouts/slideLayout68.xml"/><Relationship Id="rId6" Type="http://schemas.openxmlformats.org/officeDocument/2006/relationships/slideLayout" Target="../slideLayouts/slideLayout67.xml"/><Relationship Id="rId5" Type="http://schemas.openxmlformats.org/officeDocument/2006/relationships/slideLayout" Target="../slideLayouts/slideLayout66.xml"/><Relationship Id="rId4" Type="http://schemas.openxmlformats.org/officeDocument/2006/relationships/slideLayout" Target="../slideLayouts/slideLayout65.xml"/><Relationship Id="rId3" Type="http://schemas.openxmlformats.org/officeDocument/2006/relationships/slideLayout" Target="../slideLayouts/slideLayout64.xml"/><Relationship Id="rId2" Type="http://schemas.openxmlformats.org/officeDocument/2006/relationships/slideLayout" Target="../slideLayouts/slideLayout63.xml"/><Relationship Id="rId10" Type="http://schemas.openxmlformats.org/officeDocument/2006/relationships/theme" Target="../theme/theme8.xml"/><Relationship Id="rId1" Type="http://schemas.openxmlformats.org/officeDocument/2006/relationships/slideLayout" Target="../slideLayouts/slideLayout62.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79.xml"/><Relationship Id="rId8" Type="http://schemas.openxmlformats.org/officeDocument/2006/relationships/slideLayout" Target="../slideLayouts/slideLayout78.xml"/><Relationship Id="rId7" Type="http://schemas.openxmlformats.org/officeDocument/2006/relationships/slideLayout" Target="../slideLayouts/slideLayout77.xml"/><Relationship Id="rId6" Type="http://schemas.openxmlformats.org/officeDocument/2006/relationships/slideLayout" Target="../slideLayouts/slideLayout76.xml"/><Relationship Id="rId5" Type="http://schemas.openxmlformats.org/officeDocument/2006/relationships/slideLayout" Target="../slideLayouts/slideLayout75.xml"/><Relationship Id="rId4" Type="http://schemas.openxmlformats.org/officeDocument/2006/relationships/slideLayout" Target="../slideLayouts/slideLayout74.xml"/><Relationship Id="rId3" Type="http://schemas.openxmlformats.org/officeDocument/2006/relationships/slideLayout" Target="../slideLayouts/slideLayout73.xml"/><Relationship Id="rId2" Type="http://schemas.openxmlformats.org/officeDocument/2006/relationships/slideLayout" Target="../slideLayouts/slideLayout72.xml"/><Relationship Id="rId10" Type="http://schemas.openxmlformats.org/officeDocument/2006/relationships/theme" Target="../theme/theme9.xml"/><Relationship Id="rId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9" Type="http://schemas.openxmlformats.org/officeDocument/2006/relationships/tags" Target="../tags/tag315.xml"/><Relationship Id="rId8" Type="http://schemas.openxmlformats.org/officeDocument/2006/relationships/tags" Target="../tags/tag314.xml"/><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4" Type="http://schemas.openxmlformats.org/officeDocument/2006/relationships/notesSlide" Target="../notesSlides/notesSlide1.xml"/><Relationship Id="rId13" Type="http://schemas.openxmlformats.org/officeDocument/2006/relationships/slideLayout" Target="../slideLayouts/slideLayout3.xml"/><Relationship Id="rId12" Type="http://schemas.openxmlformats.org/officeDocument/2006/relationships/tags" Target="../tags/tag318.xml"/><Relationship Id="rId11" Type="http://schemas.openxmlformats.org/officeDocument/2006/relationships/tags" Target="../tags/tag317.xml"/><Relationship Id="rId10" Type="http://schemas.openxmlformats.org/officeDocument/2006/relationships/tags" Target="../tags/tag316.xml"/><Relationship Id="rId1" Type="http://schemas.openxmlformats.org/officeDocument/2006/relationships/tags" Target="../tags/tag307.xml"/></Relationships>
</file>

<file path=ppt/slides/_rels/slide3.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tags" Target="../tags/tag321.xml"/><Relationship Id="rId21" Type="http://schemas.openxmlformats.org/officeDocument/2006/relationships/notesSlide" Target="../notesSlides/notesSlide2.xml"/><Relationship Id="rId20" Type="http://schemas.openxmlformats.org/officeDocument/2006/relationships/slideLayout" Target="../slideLayouts/slideLayout8.xml"/><Relationship Id="rId2" Type="http://schemas.openxmlformats.org/officeDocument/2006/relationships/tags" Target="../tags/tag320.xml"/><Relationship Id="rId19" Type="http://schemas.openxmlformats.org/officeDocument/2006/relationships/tags" Target="../tags/tag331.xml"/><Relationship Id="rId18" Type="http://schemas.openxmlformats.org/officeDocument/2006/relationships/tags" Target="../tags/tag330.xml"/><Relationship Id="rId17" Type="http://schemas.openxmlformats.org/officeDocument/2006/relationships/image" Target="../media/image14.svg"/><Relationship Id="rId16" Type="http://schemas.openxmlformats.org/officeDocument/2006/relationships/image" Target="../media/image13.png"/><Relationship Id="rId15" Type="http://schemas.openxmlformats.org/officeDocument/2006/relationships/tags" Target="../tags/tag329.xml"/><Relationship Id="rId14" Type="http://schemas.openxmlformats.org/officeDocument/2006/relationships/tags" Target="../tags/tag328.xml"/><Relationship Id="rId13" Type="http://schemas.openxmlformats.org/officeDocument/2006/relationships/tags" Target="../tags/tag327.xml"/><Relationship Id="rId12" Type="http://schemas.openxmlformats.org/officeDocument/2006/relationships/tags" Target="../tags/tag326.xml"/><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tags" Target="../tags/tag319.xml"/></Relationships>
</file>

<file path=ppt/slides/_rels/slide4.xml.rels><?xml version="1.0" encoding="UTF-8" standalone="yes"?>
<Relationships xmlns="http://schemas.openxmlformats.org/package/2006/relationships"><Relationship Id="rId9" Type="http://schemas.openxmlformats.org/officeDocument/2006/relationships/tags" Target="../tags/tag340.xml"/><Relationship Id="rId8" Type="http://schemas.openxmlformats.org/officeDocument/2006/relationships/tags" Target="../tags/tag339.xml"/><Relationship Id="rId7" Type="http://schemas.openxmlformats.org/officeDocument/2006/relationships/tags" Target="../tags/tag338.xml"/><Relationship Id="rId6" Type="http://schemas.openxmlformats.org/officeDocument/2006/relationships/tags" Target="../tags/tag337.xml"/><Relationship Id="rId5" Type="http://schemas.openxmlformats.org/officeDocument/2006/relationships/tags" Target="../tags/tag336.xml"/><Relationship Id="rId4" Type="http://schemas.openxmlformats.org/officeDocument/2006/relationships/tags" Target="../tags/tag335.xml"/><Relationship Id="rId3" Type="http://schemas.openxmlformats.org/officeDocument/2006/relationships/tags" Target="../tags/tag334.xml"/><Relationship Id="rId2" Type="http://schemas.openxmlformats.org/officeDocument/2006/relationships/tags" Target="../tags/tag333.xml"/><Relationship Id="rId19" Type="http://schemas.openxmlformats.org/officeDocument/2006/relationships/notesSlide" Target="../notesSlides/notesSlide3.xml"/><Relationship Id="rId18" Type="http://schemas.openxmlformats.org/officeDocument/2006/relationships/slideLayout" Target="../slideLayouts/slideLayout17.xml"/><Relationship Id="rId17" Type="http://schemas.openxmlformats.org/officeDocument/2006/relationships/tags" Target="../tags/tag348.xml"/><Relationship Id="rId16" Type="http://schemas.openxmlformats.org/officeDocument/2006/relationships/tags" Target="../tags/tag347.xml"/><Relationship Id="rId15" Type="http://schemas.openxmlformats.org/officeDocument/2006/relationships/tags" Target="../tags/tag346.xml"/><Relationship Id="rId14" Type="http://schemas.openxmlformats.org/officeDocument/2006/relationships/tags" Target="../tags/tag345.xml"/><Relationship Id="rId13" Type="http://schemas.openxmlformats.org/officeDocument/2006/relationships/tags" Target="../tags/tag344.xml"/><Relationship Id="rId12" Type="http://schemas.openxmlformats.org/officeDocument/2006/relationships/tags" Target="../tags/tag343.xml"/><Relationship Id="rId11" Type="http://schemas.openxmlformats.org/officeDocument/2006/relationships/tags" Target="../tags/tag342.xml"/><Relationship Id="rId10" Type="http://schemas.openxmlformats.org/officeDocument/2006/relationships/tags" Target="../tags/tag341.xml"/><Relationship Id="rId1" Type="http://schemas.openxmlformats.org/officeDocument/2006/relationships/tags" Target="../tags/tag332.xml"/></Relationships>
</file>

<file path=ppt/slides/_rels/slide5.xml.rels><?xml version="1.0" encoding="UTF-8" standalone="yes"?>
<Relationships xmlns="http://schemas.openxmlformats.org/package/2006/relationships"><Relationship Id="rId9" Type="http://schemas.openxmlformats.org/officeDocument/2006/relationships/tags" Target="../tags/tag355.xml"/><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tags" Target="../tags/tag352.xml"/><Relationship Id="rId32" Type="http://schemas.openxmlformats.org/officeDocument/2006/relationships/notesSlide" Target="../notesSlides/notesSlide4.xml"/><Relationship Id="rId31" Type="http://schemas.openxmlformats.org/officeDocument/2006/relationships/slideLayout" Target="../slideLayouts/slideLayout25.xml"/><Relationship Id="rId30" Type="http://schemas.openxmlformats.org/officeDocument/2006/relationships/tags" Target="../tags/tag370.xml"/><Relationship Id="rId3" Type="http://schemas.openxmlformats.org/officeDocument/2006/relationships/tags" Target="../tags/tag351.xml"/><Relationship Id="rId29" Type="http://schemas.openxmlformats.org/officeDocument/2006/relationships/tags" Target="../tags/tag369.xml"/><Relationship Id="rId28" Type="http://schemas.openxmlformats.org/officeDocument/2006/relationships/tags" Target="../tags/tag368.xml"/><Relationship Id="rId27" Type="http://schemas.openxmlformats.org/officeDocument/2006/relationships/image" Target="../media/image22.svg"/><Relationship Id="rId26" Type="http://schemas.openxmlformats.org/officeDocument/2006/relationships/image" Target="../media/image21.png"/><Relationship Id="rId25" Type="http://schemas.openxmlformats.org/officeDocument/2006/relationships/tags" Target="../tags/tag367.xml"/><Relationship Id="rId24" Type="http://schemas.openxmlformats.org/officeDocument/2006/relationships/image" Target="../media/image20.svg"/><Relationship Id="rId23" Type="http://schemas.openxmlformats.org/officeDocument/2006/relationships/image" Target="../media/image19.png"/><Relationship Id="rId22" Type="http://schemas.openxmlformats.org/officeDocument/2006/relationships/tags" Target="../tags/tag366.xml"/><Relationship Id="rId21" Type="http://schemas.openxmlformats.org/officeDocument/2006/relationships/tags" Target="../tags/tag365.xml"/><Relationship Id="rId20" Type="http://schemas.openxmlformats.org/officeDocument/2006/relationships/tags" Target="../tags/tag364.xml"/><Relationship Id="rId2" Type="http://schemas.openxmlformats.org/officeDocument/2006/relationships/tags" Target="../tags/tag350.xml"/><Relationship Id="rId19" Type="http://schemas.openxmlformats.org/officeDocument/2006/relationships/tags" Target="../tags/tag363.xml"/><Relationship Id="rId18" Type="http://schemas.openxmlformats.org/officeDocument/2006/relationships/tags" Target="../tags/tag362.xml"/><Relationship Id="rId17" Type="http://schemas.openxmlformats.org/officeDocument/2006/relationships/tags" Target="../tags/tag361.xml"/><Relationship Id="rId16" Type="http://schemas.openxmlformats.org/officeDocument/2006/relationships/tags" Target="../tags/tag360.xml"/><Relationship Id="rId15" Type="http://schemas.openxmlformats.org/officeDocument/2006/relationships/tags" Target="../tags/tag359.xml"/><Relationship Id="rId14" Type="http://schemas.openxmlformats.org/officeDocument/2006/relationships/tags" Target="../tags/tag358.xml"/><Relationship Id="rId13" Type="http://schemas.openxmlformats.org/officeDocument/2006/relationships/image" Target="../media/image18.svg"/><Relationship Id="rId12" Type="http://schemas.openxmlformats.org/officeDocument/2006/relationships/image" Target="../media/image17.png"/><Relationship Id="rId11" Type="http://schemas.openxmlformats.org/officeDocument/2006/relationships/tags" Target="../tags/tag357.xml"/><Relationship Id="rId10" Type="http://schemas.openxmlformats.org/officeDocument/2006/relationships/tags" Target="../tags/tag356.xml"/><Relationship Id="rId1" Type="http://schemas.openxmlformats.org/officeDocument/2006/relationships/tags" Target="../tags/tag349.xml"/></Relationships>
</file>

<file path=ppt/slides/_rels/slide6.xml.rels><?xml version="1.0" encoding="UTF-8" standalone="yes"?>
<Relationships xmlns="http://schemas.openxmlformats.org/package/2006/relationships"><Relationship Id="rId9" Type="http://schemas.openxmlformats.org/officeDocument/2006/relationships/tags" Target="../tags/tag377.xml"/><Relationship Id="rId8" Type="http://schemas.openxmlformats.org/officeDocument/2006/relationships/image" Target="../media/image24.svg"/><Relationship Id="rId7" Type="http://schemas.openxmlformats.org/officeDocument/2006/relationships/image" Target="../media/image23.png"/><Relationship Id="rId6" Type="http://schemas.openxmlformats.org/officeDocument/2006/relationships/tags" Target="../tags/tag376.xml"/><Relationship Id="rId5" Type="http://schemas.openxmlformats.org/officeDocument/2006/relationships/tags" Target="../tags/tag375.xml"/><Relationship Id="rId4" Type="http://schemas.openxmlformats.org/officeDocument/2006/relationships/tags" Target="../tags/tag374.xml"/><Relationship Id="rId34" Type="http://schemas.openxmlformats.org/officeDocument/2006/relationships/notesSlide" Target="../notesSlides/notesSlide5.xml"/><Relationship Id="rId33" Type="http://schemas.openxmlformats.org/officeDocument/2006/relationships/slideLayout" Target="../slideLayouts/slideLayout33.xml"/><Relationship Id="rId32" Type="http://schemas.openxmlformats.org/officeDocument/2006/relationships/tags" Target="../tags/tag400.xml"/><Relationship Id="rId31" Type="http://schemas.openxmlformats.org/officeDocument/2006/relationships/tags" Target="../tags/tag399.xml"/><Relationship Id="rId30" Type="http://schemas.openxmlformats.org/officeDocument/2006/relationships/tags" Target="../tags/tag398.xml"/><Relationship Id="rId3" Type="http://schemas.openxmlformats.org/officeDocument/2006/relationships/tags" Target="../tags/tag373.xml"/><Relationship Id="rId29" Type="http://schemas.openxmlformats.org/officeDocument/2006/relationships/tags" Target="../tags/tag397.xml"/><Relationship Id="rId28" Type="http://schemas.openxmlformats.org/officeDocument/2006/relationships/tags" Target="../tags/tag396.xml"/><Relationship Id="rId27" Type="http://schemas.openxmlformats.org/officeDocument/2006/relationships/tags" Target="../tags/tag395.xml"/><Relationship Id="rId26" Type="http://schemas.openxmlformats.org/officeDocument/2006/relationships/tags" Target="../tags/tag394.xml"/><Relationship Id="rId25" Type="http://schemas.openxmlformats.org/officeDocument/2006/relationships/tags" Target="../tags/tag393.xml"/><Relationship Id="rId24" Type="http://schemas.openxmlformats.org/officeDocument/2006/relationships/tags" Target="../tags/tag392.xml"/><Relationship Id="rId23" Type="http://schemas.openxmlformats.org/officeDocument/2006/relationships/tags" Target="../tags/tag391.xml"/><Relationship Id="rId22" Type="http://schemas.openxmlformats.org/officeDocument/2006/relationships/tags" Target="../tags/tag390.xml"/><Relationship Id="rId21" Type="http://schemas.openxmlformats.org/officeDocument/2006/relationships/tags" Target="../tags/tag389.xml"/><Relationship Id="rId20" Type="http://schemas.openxmlformats.org/officeDocument/2006/relationships/tags" Target="../tags/tag388.xml"/><Relationship Id="rId2" Type="http://schemas.openxmlformats.org/officeDocument/2006/relationships/tags" Target="../tags/tag372.xml"/><Relationship Id="rId19" Type="http://schemas.openxmlformats.org/officeDocument/2006/relationships/tags" Target="../tags/tag387.xml"/><Relationship Id="rId18" Type="http://schemas.openxmlformats.org/officeDocument/2006/relationships/tags" Target="../tags/tag386.xml"/><Relationship Id="rId17" Type="http://schemas.openxmlformats.org/officeDocument/2006/relationships/tags" Target="../tags/tag385.xml"/><Relationship Id="rId16" Type="http://schemas.openxmlformats.org/officeDocument/2006/relationships/tags" Target="../tags/tag384.xml"/><Relationship Id="rId15" Type="http://schemas.openxmlformats.org/officeDocument/2006/relationships/tags" Target="../tags/tag383.xml"/><Relationship Id="rId14" Type="http://schemas.openxmlformats.org/officeDocument/2006/relationships/tags" Target="../tags/tag382.xml"/><Relationship Id="rId13" Type="http://schemas.openxmlformats.org/officeDocument/2006/relationships/tags" Target="../tags/tag381.xml"/><Relationship Id="rId12" Type="http://schemas.openxmlformats.org/officeDocument/2006/relationships/tags" Target="../tags/tag380.xml"/><Relationship Id="rId11" Type="http://schemas.openxmlformats.org/officeDocument/2006/relationships/tags" Target="../tags/tag379.xml"/><Relationship Id="rId10" Type="http://schemas.openxmlformats.org/officeDocument/2006/relationships/tags" Target="../tags/tag378.xml"/><Relationship Id="rId1" Type="http://schemas.openxmlformats.org/officeDocument/2006/relationships/tags" Target="../tags/tag371.xml"/></Relationships>
</file>

<file path=ppt/slides/_rels/slide7.xml.rels><?xml version="1.0" encoding="UTF-8" standalone="yes"?>
<Relationships xmlns="http://schemas.openxmlformats.org/package/2006/relationships"><Relationship Id="rId9" Type="http://schemas.openxmlformats.org/officeDocument/2006/relationships/tags" Target="../tags/tag407.xml"/><Relationship Id="rId8" Type="http://schemas.openxmlformats.org/officeDocument/2006/relationships/image" Target="../media/image24.svg"/><Relationship Id="rId7" Type="http://schemas.openxmlformats.org/officeDocument/2006/relationships/image" Target="../media/image25.png"/><Relationship Id="rId6" Type="http://schemas.openxmlformats.org/officeDocument/2006/relationships/tags" Target="../tags/tag406.xml"/><Relationship Id="rId5" Type="http://schemas.openxmlformats.org/officeDocument/2006/relationships/tags" Target="../tags/tag405.xml"/><Relationship Id="rId4" Type="http://schemas.openxmlformats.org/officeDocument/2006/relationships/tags" Target="../tags/tag404.xml"/><Relationship Id="rId34" Type="http://schemas.openxmlformats.org/officeDocument/2006/relationships/notesSlide" Target="../notesSlides/notesSlide6.xml"/><Relationship Id="rId33" Type="http://schemas.openxmlformats.org/officeDocument/2006/relationships/slideLayout" Target="../slideLayouts/slideLayout42.xml"/><Relationship Id="rId32" Type="http://schemas.openxmlformats.org/officeDocument/2006/relationships/tags" Target="../tags/tag430.xml"/><Relationship Id="rId31" Type="http://schemas.openxmlformats.org/officeDocument/2006/relationships/tags" Target="../tags/tag429.xml"/><Relationship Id="rId30" Type="http://schemas.openxmlformats.org/officeDocument/2006/relationships/tags" Target="../tags/tag428.xml"/><Relationship Id="rId3" Type="http://schemas.openxmlformats.org/officeDocument/2006/relationships/tags" Target="../tags/tag403.xml"/><Relationship Id="rId29" Type="http://schemas.openxmlformats.org/officeDocument/2006/relationships/tags" Target="../tags/tag427.xml"/><Relationship Id="rId28" Type="http://schemas.openxmlformats.org/officeDocument/2006/relationships/tags" Target="../tags/tag426.xml"/><Relationship Id="rId27" Type="http://schemas.openxmlformats.org/officeDocument/2006/relationships/tags" Target="../tags/tag425.xml"/><Relationship Id="rId26" Type="http://schemas.openxmlformats.org/officeDocument/2006/relationships/tags" Target="../tags/tag424.xml"/><Relationship Id="rId25" Type="http://schemas.openxmlformats.org/officeDocument/2006/relationships/tags" Target="../tags/tag423.xml"/><Relationship Id="rId24" Type="http://schemas.openxmlformats.org/officeDocument/2006/relationships/tags" Target="../tags/tag422.xml"/><Relationship Id="rId23" Type="http://schemas.openxmlformats.org/officeDocument/2006/relationships/tags" Target="../tags/tag421.xml"/><Relationship Id="rId22" Type="http://schemas.openxmlformats.org/officeDocument/2006/relationships/tags" Target="../tags/tag420.xml"/><Relationship Id="rId21" Type="http://schemas.openxmlformats.org/officeDocument/2006/relationships/tags" Target="../tags/tag419.xml"/><Relationship Id="rId20" Type="http://schemas.openxmlformats.org/officeDocument/2006/relationships/tags" Target="../tags/tag418.xml"/><Relationship Id="rId2" Type="http://schemas.openxmlformats.org/officeDocument/2006/relationships/tags" Target="../tags/tag402.xml"/><Relationship Id="rId19" Type="http://schemas.openxmlformats.org/officeDocument/2006/relationships/tags" Target="../tags/tag417.xml"/><Relationship Id="rId18" Type="http://schemas.openxmlformats.org/officeDocument/2006/relationships/tags" Target="../tags/tag416.xml"/><Relationship Id="rId17" Type="http://schemas.openxmlformats.org/officeDocument/2006/relationships/tags" Target="../tags/tag415.xml"/><Relationship Id="rId16" Type="http://schemas.openxmlformats.org/officeDocument/2006/relationships/tags" Target="../tags/tag414.xml"/><Relationship Id="rId15" Type="http://schemas.openxmlformats.org/officeDocument/2006/relationships/tags" Target="../tags/tag413.xml"/><Relationship Id="rId14" Type="http://schemas.openxmlformats.org/officeDocument/2006/relationships/tags" Target="../tags/tag412.xml"/><Relationship Id="rId13" Type="http://schemas.openxmlformats.org/officeDocument/2006/relationships/tags" Target="../tags/tag411.xml"/><Relationship Id="rId12" Type="http://schemas.openxmlformats.org/officeDocument/2006/relationships/tags" Target="../tags/tag410.xml"/><Relationship Id="rId11" Type="http://schemas.openxmlformats.org/officeDocument/2006/relationships/tags" Target="../tags/tag409.xml"/><Relationship Id="rId10" Type="http://schemas.openxmlformats.org/officeDocument/2006/relationships/tags" Target="../tags/tag408.xml"/><Relationship Id="rId1" Type="http://schemas.openxmlformats.org/officeDocument/2006/relationships/tags" Target="../tags/tag401.xml"/></Relationships>
</file>

<file path=ppt/slides/_rels/slide8.xml.rels><?xml version="1.0" encoding="UTF-8" standalone="yes"?>
<Relationships xmlns="http://schemas.openxmlformats.org/package/2006/relationships"><Relationship Id="rId9" Type="http://schemas.openxmlformats.org/officeDocument/2006/relationships/tags" Target="../tags/tag437.xml"/><Relationship Id="rId8" Type="http://schemas.openxmlformats.org/officeDocument/2006/relationships/image" Target="../media/image24.svg"/><Relationship Id="rId7" Type="http://schemas.openxmlformats.org/officeDocument/2006/relationships/image" Target="../media/image23.png"/><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tags" Target="../tags/tag434.xml"/><Relationship Id="rId34" Type="http://schemas.openxmlformats.org/officeDocument/2006/relationships/notesSlide" Target="../notesSlides/notesSlide7.xml"/><Relationship Id="rId33" Type="http://schemas.openxmlformats.org/officeDocument/2006/relationships/slideLayout" Target="../slideLayouts/slideLayout51.xml"/><Relationship Id="rId32" Type="http://schemas.openxmlformats.org/officeDocument/2006/relationships/tags" Target="../tags/tag460.xml"/><Relationship Id="rId31" Type="http://schemas.openxmlformats.org/officeDocument/2006/relationships/tags" Target="../tags/tag459.xml"/><Relationship Id="rId30" Type="http://schemas.openxmlformats.org/officeDocument/2006/relationships/tags" Target="../tags/tag458.xml"/><Relationship Id="rId3" Type="http://schemas.openxmlformats.org/officeDocument/2006/relationships/tags" Target="../tags/tag433.xml"/><Relationship Id="rId29" Type="http://schemas.openxmlformats.org/officeDocument/2006/relationships/tags" Target="../tags/tag457.xml"/><Relationship Id="rId28" Type="http://schemas.openxmlformats.org/officeDocument/2006/relationships/tags" Target="../tags/tag456.xml"/><Relationship Id="rId27" Type="http://schemas.openxmlformats.org/officeDocument/2006/relationships/tags" Target="../tags/tag455.xml"/><Relationship Id="rId26" Type="http://schemas.openxmlformats.org/officeDocument/2006/relationships/tags" Target="../tags/tag454.xml"/><Relationship Id="rId25" Type="http://schemas.openxmlformats.org/officeDocument/2006/relationships/tags" Target="../tags/tag453.xml"/><Relationship Id="rId24" Type="http://schemas.openxmlformats.org/officeDocument/2006/relationships/tags" Target="../tags/tag452.xml"/><Relationship Id="rId23" Type="http://schemas.openxmlformats.org/officeDocument/2006/relationships/tags" Target="../tags/tag451.xml"/><Relationship Id="rId22" Type="http://schemas.openxmlformats.org/officeDocument/2006/relationships/tags" Target="../tags/tag450.xml"/><Relationship Id="rId21" Type="http://schemas.openxmlformats.org/officeDocument/2006/relationships/tags" Target="../tags/tag449.xml"/><Relationship Id="rId20" Type="http://schemas.openxmlformats.org/officeDocument/2006/relationships/tags" Target="../tags/tag448.xml"/><Relationship Id="rId2" Type="http://schemas.openxmlformats.org/officeDocument/2006/relationships/tags" Target="../tags/tag432.xml"/><Relationship Id="rId19" Type="http://schemas.openxmlformats.org/officeDocument/2006/relationships/tags" Target="../tags/tag447.xml"/><Relationship Id="rId18" Type="http://schemas.openxmlformats.org/officeDocument/2006/relationships/tags" Target="../tags/tag446.xml"/><Relationship Id="rId17" Type="http://schemas.openxmlformats.org/officeDocument/2006/relationships/tags" Target="../tags/tag445.xml"/><Relationship Id="rId16" Type="http://schemas.openxmlformats.org/officeDocument/2006/relationships/tags" Target="../tags/tag444.xml"/><Relationship Id="rId15" Type="http://schemas.openxmlformats.org/officeDocument/2006/relationships/tags" Target="../tags/tag443.xml"/><Relationship Id="rId14" Type="http://schemas.openxmlformats.org/officeDocument/2006/relationships/tags" Target="../tags/tag442.xml"/><Relationship Id="rId13" Type="http://schemas.openxmlformats.org/officeDocument/2006/relationships/tags" Target="../tags/tag441.xml"/><Relationship Id="rId12" Type="http://schemas.openxmlformats.org/officeDocument/2006/relationships/tags" Target="../tags/tag440.xml"/><Relationship Id="rId11" Type="http://schemas.openxmlformats.org/officeDocument/2006/relationships/tags" Target="../tags/tag439.xml"/><Relationship Id="rId10" Type="http://schemas.openxmlformats.org/officeDocument/2006/relationships/tags" Target="../tags/tag438.xml"/><Relationship Id="rId1" Type="http://schemas.openxmlformats.org/officeDocument/2006/relationships/tags" Target="../tags/tag431.xml"/></Relationships>
</file>

<file path=ppt/slides/_rels/slide9.xml.rels><?xml version="1.0" encoding="UTF-8" standalone="yes"?>
<Relationships xmlns="http://schemas.openxmlformats.org/package/2006/relationships"><Relationship Id="rId9" Type="http://schemas.openxmlformats.org/officeDocument/2006/relationships/tags" Target="../tags/tag467.xml"/><Relationship Id="rId8" Type="http://schemas.openxmlformats.org/officeDocument/2006/relationships/image" Target="../media/image24.svg"/><Relationship Id="rId7" Type="http://schemas.openxmlformats.org/officeDocument/2006/relationships/image" Target="../media/image23.png"/><Relationship Id="rId6" Type="http://schemas.openxmlformats.org/officeDocument/2006/relationships/tags" Target="../tags/tag466.xml"/><Relationship Id="rId5" Type="http://schemas.openxmlformats.org/officeDocument/2006/relationships/tags" Target="../tags/tag465.xml"/><Relationship Id="rId4" Type="http://schemas.openxmlformats.org/officeDocument/2006/relationships/tags" Target="../tags/tag464.xml"/><Relationship Id="rId33" Type="http://schemas.openxmlformats.org/officeDocument/2006/relationships/notesSlide" Target="../notesSlides/notesSlide8.xml"/><Relationship Id="rId32" Type="http://schemas.openxmlformats.org/officeDocument/2006/relationships/slideLayout" Target="../slideLayouts/slideLayout60.xml"/><Relationship Id="rId31" Type="http://schemas.openxmlformats.org/officeDocument/2006/relationships/tags" Target="../tags/tag489.xml"/><Relationship Id="rId30" Type="http://schemas.openxmlformats.org/officeDocument/2006/relationships/tags" Target="../tags/tag488.xml"/><Relationship Id="rId3" Type="http://schemas.openxmlformats.org/officeDocument/2006/relationships/tags" Target="../tags/tag463.xml"/><Relationship Id="rId29" Type="http://schemas.openxmlformats.org/officeDocument/2006/relationships/tags" Target="../tags/tag487.xml"/><Relationship Id="rId28" Type="http://schemas.openxmlformats.org/officeDocument/2006/relationships/tags" Target="../tags/tag486.xml"/><Relationship Id="rId27" Type="http://schemas.openxmlformats.org/officeDocument/2006/relationships/tags" Target="../tags/tag485.xml"/><Relationship Id="rId26" Type="http://schemas.openxmlformats.org/officeDocument/2006/relationships/tags" Target="../tags/tag484.xml"/><Relationship Id="rId25" Type="http://schemas.openxmlformats.org/officeDocument/2006/relationships/tags" Target="../tags/tag483.xml"/><Relationship Id="rId24" Type="http://schemas.openxmlformats.org/officeDocument/2006/relationships/tags" Target="../tags/tag482.xml"/><Relationship Id="rId23" Type="http://schemas.openxmlformats.org/officeDocument/2006/relationships/tags" Target="../tags/tag481.xml"/><Relationship Id="rId22" Type="http://schemas.openxmlformats.org/officeDocument/2006/relationships/tags" Target="../tags/tag480.xml"/><Relationship Id="rId21" Type="http://schemas.openxmlformats.org/officeDocument/2006/relationships/tags" Target="../tags/tag479.xml"/><Relationship Id="rId20" Type="http://schemas.openxmlformats.org/officeDocument/2006/relationships/tags" Target="../tags/tag478.xml"/><Relationship Id="rId2" Type="http://schemas.openxmlformats.org/officeDocument/2006/relationships/tags" Target="../tags/tag462.xml"/><Relationship Id="rId19" Type="http://schemas.openxmlformats.org/officeDocument/2006/relationships/tags" Target="../tags/tag477.xml"/><Relationship Id="rId18" Type="http://schemas.openxmlformats.org/officeDocument/2006/relationships/tags" Target="../tags/tag476.xml"/><Relationship Id="rId17" Type="http://schemas.openxmlformats.org/officeDocument/2006/relationships/tags" Target="../tags/tag475.xml"/><Relationship Id="rId16" Type="http://schemas.openxmlformats.org/officeDocument/2006/relationships/tags" Target="../tags/tag474.xml"/><Relationship Id="rId15" Type="http://schemas.openxmlformats.org/officeDocument/2006/relationships/tags" Target="../tags/tag473.xml"/><Relationship Id="rId14" Type="http://schemas.openxmlformats.org/officeDocument/2006/relationships/tags" Target="../tags/tag472.xml"/><Relationship Id="rId13" Type="http://schemas.openxmlformats.org/officeDocument/2006/relationships/tags" Target="../tags/tag471.xml"/><Relationship Id="rId12" Type="http://schemas.openxmlformats.org/officeDocument/2006/relationships/tags" Target="../tags/tag470.xml"/><Relationship Id="rId11" Type="http://schemas.openxmlformats.org/officeDocument/2006/relationships/tags" Target="../tags/tag469.xml"/><Relationship Id="rId10" Type="http://schemas.openxmlformats.org/officeDocument/2006/relationships/tags" Target="../tags/tag468.xml"/><Relationship Id="rId1" Type="http://schemas.openxmlformats.org/officeDocument/2006/relationships/tags" Target="../tags/tag461.xml"/></Relationships>
</file>

<file path=ppt/slides/_rels/slide10.xml.rels><?xml version="1.0" encoding="UTF-8" standalone="yes"?>
<Relationships xmlns="http://schemas.openxmlformats.org/package/2006/relationships"><Relationship Id="rId9" Type="http://schemas.openxmlformats.org/officeDocument/2006/relationships/image" Target="../media/image33.svg"/><Relationship Id="rId8" Type="http://schemas.openxmlformats.org/officeDocument/2006/relationships/image" Target="../media/image32.png"/><Relationship Id="rId7" Type="http://schemas.openxmlformats.org/officeDocument/2006/relationships/image" Target="../media/image31.svg"/><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image" Target="../media/image27.svg"/><Relationship Id="rId2" Type="http://schemas.openxmlformats.org/officeDocument/2006/relationships/image" Target="../media/image26.png"/><Relationship Id="rId17" Type="http://schemas.openxmlformats.org/officeDocument/2006/relationships/notesSlide" Target="../notesSlides/notesSlide9.xml"/><Relationship Id="rId16" Type="http://schemas.openxmlformats.org/officeDocument/2006/relationships/slideLayout" Target="../slideLayouts/slideLayout69.xml"/><Relationship Id="rId15" Type="http://schemas.openxmlformats.org/officeDocument/2006/relationships/image" Target="../media/image39.svg"/><Relationship Id="rId14" Type="http://schemas.openxmlformats.org/officeDocument/2006/relationships/image" Target="../media/image38.png"/><Relationship Id="rId13" Type="http://schemas.openxmlformats.org/officeDocument/2006/relationships/image" Target="../media/image37.svg"/><Relationship Id="rId12" Type="http://schemas.openxmlformats.org/officeDocument/2006/relationships/image" Target="../media/image36.png"/><Relationship Id="rId11" Type="http://schemas.openxmlformats.org/officeDocument/2006/relationships/image" Target="../media/image35.svg"/><Relationship Id="rId10" Type="http://schemas.openxmlformats.org/officeDocument/2006/relationships/image" Target="../media/image34.png"/><Relationship Id="rId1" Type="http://schemas.openxmlformats.org/officeDocument/2006/relationships/tags" Target="../tags/tag490.xml"/></Relationships>
</file>

<file path=ppt/slides/_rels/slide11.xml.rels><?xml version="1.0" encoding="UTF-8" standalone="yes"?>
<Relationships xmlns="http://schemas.openxmlformats.org/package/2006/relationships"><Relationship Id="rId9" Type="http://schemas.openxmlformats.org/officeDocument/2006/relationships/tags" Target="../tags/tag499.xml"/><Relationship Id="rId8" Type="http://schemas.openxmlformats.org/officeDocument/2006/relationships/tags" Target="../tags/tag498.xml"/><Relationship Id="rId7" Type="http://schemas.openxmlformats.org/officeDocument/2006/relationships/tags" Target="../tags/tag497.xml"/><Relationship Id="rId6" Type="http://schemas.openxmlformats.org/officeDocument/2006/relationships/tags" Target="../tags/tag496.xml"/><Relationship Id="rId5" Type="http://schemas.openxmlformats.org/officeDocument/2006/relationships/tags" Target="../tags/tag495.xml"/><Relationship Id="rId4" Type="http://schemas.openxmlformats.org/officeDocument/2006/relationships/tags" Target="../tags/tag494.xml"/><Relationship Id="rId3" Type="http://schemas.openxmlformats.org/officeDocument/2006/relationships/tags" Target="../tags/tag493.xml"/><Relationship Id="rId27" Type="http://schemas.openxmlformats.org/officeDocument/2006/relationships/notesSlide" Target="../notesSlides/notesSlide10.xml"/><Relationship Id="rId26" Type="http://schemas.openxmlformats.org/officeDocument/2006/relationships/slideLayout" Target="../slideLayouts/slideLayout78.xml"/><Relationship Id="rId25" Type="http://schemas.openxmlformats.org/officeDocument/2006/relationships/image" Target="../media/image43.svg"/><Relationship Id="rId24" Type="http://schemas.openxmlformats.org/officeDocument/2006/relationships/image" Target="../media/image42.png"/><Relationship Id="rId23" Type="http://schemas.openxmlformats.org/officeDocument/2006/relationships/image" Target="../media/image41.svg"/><Relationship Id="rId22" Type="http://schemas.openxmlformats.org/officeDocument/2006/relationships/image" Target="../media/image40.png"/><Relationship Id="rId21" Type="http://schemas.openxmlformats.org/officeDocument/2006/relationships/tags" Target="../tags/tag511.xml"/><Relationship Id="rId20" Type="http://schemas.openxmlformats.org/officeDocument/2006/relationships/tags" Target="../tags/tag510.xml"/><Relationship Id="rId2" Type="http://schemas.openxmlformats.org/officeDocument/2006/relationships/tags" Target="../tags/tag492.xml"/><Relationship Id="rId19" Type="http://schemas.openxmlformats.org/officeDocument/2006/relationships/tags" Target="../tags/tag509.xml"/><Relationship Id="rId18" Type="http://schemas.openxmlformats.org/officeDocument/2006/relationships/tags" Target="../tags/tag508.xml"/><Relationship Id="rId17" Type="http://schemas.openxmlformats.org/officeDocument/2006/relationships/tags" Target="../tags/tag507.xml"/><Relationship Id="rId16" Type="http://schemas.openxmlformats.org/officeDocument/2006/relationships/tags" Target="../tags/tag506.xml"/><Relationship Id="rId15" Type="http://schemas.openxmlformats.org/officeDocument/2006/relationships/tags" Target="../tags/tag505.xml"/><Relationship Id="rId14" Type="http://schemas.openxmlformats.org/officeDocument/2006/relationships/tags" Target="../tags/tag504.xml"/><Relationship Id="rId13" Type="http://schemas.openxmlformats.org/officeDocument/2006/relationships/tags" Target="../tags/tag503.xml"/><Relationship Id="rId12" Type="http://schemas.openxmlformats.org/officeDocument/2006/relationships/tags" Target="../tags/tag502.xml"/><Relationship Id="rId11" Type="http://schemas.openxmlformats.org/officeDocument/2006/relationships/tags" Target="../tags/tag501.xml"/><Relationship Id="rId10" Type="http://schemas.openxmlformats.org/officeDocument/2006/relationships/tags" Target="../tags/tag500.xml"/><Relationship Id="rId1" Type="http://schemas.openxmlformats.org/officeDocument/2006/relationships/tags" Target="../tags/tag49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357"/>
            <a:ext cx="12192318" cy="6858179"/>
          </a:xfrm>
          <a:prstGeom prst="rect">
            <a:avLst/>
          </a:prstGeom>
        </p:spPr>
      </p:pic>
      <p:sp>
        <p:nvSpPr>
          <p:cNvPr id="5" name="矩形 4"/>
          <p:cNvSpPr/>
          <p:nvPr/>
        </p:nvSpPr>
        <p:spPr>
          <a:xfrm>
            <a:off x="0" y="2037715"/>
            <a:ext cx="12192635" cy="3409950"/>
          </a:xfrm>
          <a:prstGeom prst="rect">
            <a:avLst/>
          </a:prstGeom>
          <a:solidFill>
            <a:srgbClr val="076655"/>
          </a:solidFill>
          <a:ln>
            <a:solidFill>
              <a:srgbClr val="0766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131"/>
          <p:cNvSpPr txBox="1">
            <a:spLocks noChangeArrowheads="1"/>
          </p:cNvSpPr>
          <p:nvPr/>
        </p:nvSpPr>
        <p:spPr bwMode="auto">
          <a:xfrm>
            <a:off x="146050" y="2551430"/>
            <a:ext cx="11915775" cy="212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bg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bg1"/>
                </a:solidFill>
                <a:latin typeface="Arial" panose="020B0604020202020204" pitchFamily="34" charset="0"/>
                <a:ea typeface="仿宋_GB2312" panose="02010609030101010101"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3130" fontAlgn="base">
              <a:spcBef>
                <a:spcPct val="0"/>
              </a:spcBef>
              <a:spcAft>
                <a:spcPct val="0"/>
              </a:spcAft>
              <a:buNone/>
            </a:pPr>
            <a:r>
              <a:rPr lang="zh-CN" altLang="en-US" sz="4400" b="1" dirty="0">
                <a:effectLst>
                  <a:outerShdw blurRad="38100" dist="38100" dir="2700000" algn="tl">
                    <a:srgbClr val="000000">
                      <a:alpha val="43137"/>
                    </a:srgbClr>
                  </a:outerShdw>
                </a:effectLst>
                <a:latin typeface="微软雅黑" panose="020B0503020204020204" pitchFamily="34" charset="-122"/>
              </a:rPr>
              <a:t>国网徐州公司</a:t>
            </a:r>
            <a:r>
              <a:rPr lang="zh-CN" altLang="zh-CN" sz="4400" b="1" dirty="0">
                <a:solidFill>
                  <a:schemeClr val="bg1"/>
                </a:solidFill>
                <a:latin typeface="微软雅黑" panose="020B0503020204020204" pitchFamily="34" charset="-122"/>
                <a:sym typeface="+mn-ea"/>
              </a:rPr>
              <a:t>2026年面向分布式光伏等要素对电力市场影响的电力经济统计分析咨询服务</a:t>
            </a:r>
            <a:endParaRPr lang="zh-CN" altLang="zh-CN" sz="4400" dirty="0">
              <a:solidFill>
                <a:schemeClr val="tx1"/>
              </a:solidFill>
              <a:latin typeface="微软雅黑" panose="020B0503020204020204" pitchFamily="34" charset="-122"/>
              <a:ea typeface="微软雅黑" panose="020B0503020204020204" pitchFamily="34" charset="-122"/>
              <a:sym typeface="+mn-ea"/>
            </a:endParaRPr>
          </a:p>
          <a:p>
            <a:pPr algn="ctr" defTabSz="913130" fontAlgn="base">
              <a:spcBef>
                <a:spcPct val="0"/>
              </a:spcBef>
              <a:spcAft>
                <a:spcPct val="0"/>
              </a:spcAft>
              <a:buNone/>
            </a:pPr>
            <a:endParaRPr lang="zh-CN" altLang="en-US" sz="4400" b="1" dirty="0">
              <a:effectLst>
                <a:outerShdw blurRad="38100" dist="38100" dir="2700000" algn="tl">
                  <a:srgbClr val="000000">
                    <a:alpha val="43137"/>
                  </a:srgbClr>
                </a:outerShdw>
              </a:effectLst>
              <a:latin typeface="微软雅黑" panose="020B0503020204020204" pitchFamily="34" charset="-122"/>
            </a:endParaRPr>
          </a:p>
        </p:txBody>
      </p:sp>
      <p:sp>
        <p:nvSpPr>
          <p:cNvPr id="8" name="Rectangle 4"/>
          <p:cNvSpPr txBox="1">
            <a:spLocks noChangeArrowheads="1"/>
          </p:cNvSpPr>
          <p:nvPr/>
        </p:nvSpPr>
        <p:spPr bwMode="auto">
          <a:xfrm>
            <a:off x="2703545" y="4540112"/>
            <a:ext cx="7285866" cy="504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5" rIns="91430" bIns="45715"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1"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ctr"/>
            <a:r>
              <a:rPr lang="zh-CN" altLang="en-US" sz="2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国网江苏电力设计咨询有限公司徐州勘测设计分公司</a:t>
            </a:r>
            <a:endParaRPr lang="zh-CN" altLang="en-US" sz="2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2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汇报人：王素梅</a:t>
            </a:r>
            <a:r>
              <a:rPr lang="en-US" altLang="zh-CN" sz="2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en-US" altLang="zh-CN" sz="2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en-US" altLang="zh-CN" sz="2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2026..</a:t>
            </a:r>
            <a:endParaRPr lang="en-US" altLang="zh-CN" sz="2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0" y="2259022"/>
            <a:ext cx="1219231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5347834"/>
            <a:ext cx="1219231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userDrawn="1"/>
        </p:nvSpPr>
        <p:spPr>
          <a:xfrm>
            <a:off x="0" y="6770120"/>
            <a:ext cx="12192000" cy="89080"/>
          </a:xfrm>
          <a:prstGeom prst="rect">
            <a:avLst/>
          </a:prstGeom>
          <a:solidFill>
            <a:srgbClr val="007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Freeform 18"/>
          <p:cNvSpPr/>
          <p:nvPr>
            <p:custDataLst>
              <p:tags r:id="rId1"/>
            </p:custDataLst>
          </p:nvPr>
        </p:nvSpPr>
        <p:spPr bwMode="auto">
          <a:xfrm>
            <a:off x="5223748" y="1236481"/>
            <a:ext cx="631496" cy="631496"/>
          </a:xfrm>
          <a:custGeom>
            <a:avLst/>
            <a:gdLst>
              <a:gd name="T0" fmla="*/ 56 w 826"/>
              <a:gd name="T1" fmla="*/ 0 h 826"/>
              <a:gd name="T2" fmla="*/ 771 w 826"/>
              <a:gd name="T3" fmla="*/ 0 h 826"/>
              <a:gd name="T4" fmla="*/ 826 w 826"/>
              <a:gd name="T5" fmla="*/ 55 h 826"/>
              <a:gd name="T6" fmla="*/ 826 w 826"/>
              <a:gd name="T7" fmla="*/ 770 h 826"/>
              <a:gd name="T8" fmla="*/ 771 w 826"/>
              <a:gd name="T9" fmla="*/ 826 h 826"/>
              <a:gd name="T10" fmla="*/ 56 w 826"/>
              <a:gd name="T11" fmla="*/ 826 h 826"/>
              <a:gd name="T12" fmla="*/ 0 w 826"/>
              <a:gd name="T13" fmla="*/ 770 h 826"/>
              <a:gd name="T14" fmla="*/ 0 w 826"/>
              <a:gd name="T15" fmla="*/ 55 h 826"/>
              <a:gd name="T16" fmla="*/ 56 w 826"/>
              <a:gd name="T17" fmla="*/ 0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6" h="826">
                <a:moveTo>
                  <a:pt x="56" y="0"/>
                </a:moveTo>
                <a:lnTo>
                  <a:pt x="771" y="0"/>
                </a:lnTo>
                <a:cubicBezTo>
                  <a:pt x="801" y="0"/>
                  <a:pt x="826" y="25"/>
                  <a:pt x="826" y="55"/>
                </a:cubicBezTo>
                <a:lnTo>
                  <a:pt x="826" y="770"/>
                </a:lnTo>
                <a:cubicBezTo>
                  <a:pt x="826" y="801"/>
                  <a:pt x="801" y="826"/>
                  <a:pt x="771" y="826"/>
                </a:cubicBezTo>
                <a:lnTo>
                  <a:pt x="56" y="826"/>
                </a:lnTo>
                <a:cubicBezTo>
                  <a:pt x="25" y="826"/>
                  <a:pt x="0" y="801"/>
                  <a:pt x="0" y="770"/>
                </a:cubicBezTo>
                <a:lnTo>
                  <a:pt x="0" y="55"/>
                </a:lnTo>
                <a:cubicBezTo>
                  <a:pt x="0" y="25"/>
                  <a:pt x="25" y="0"/>
                  <a:pt x="56" y="0"/>
                </a:cubicBezTo>
                <a:close/>
              </a:path>
            </a:pathLst>
          </a:custGeom>
          <a:solidFill>
            <a:srgbClr val="00706B"/>
          </a:solidFill>
          <a:ln w="19050" cap="flat">
            <a:noFill/>
            <a:prstDash val="solid"/>
            <a:miter lim="800000"/>
          </a:ln>
          <a:effectLst/>
        </p:spPr>
        <p:txBody>
          <a:bodyPr vert="horz" wrap="square" lIns="91392" tIns="45696" rIns="91392" bIns="45696" numCol="1" anchor="t" anchorCtr="0" compatLnSpc="1"/>
          <a:lstStyle/>
          <a:p>
            <a:endParaRPr lang="zh-CN" altLang="en-US" sz="2400">
              <a:solidFill>
                <a:schemeClr val="bg1"/>
              </a:solidFill>
              <a:latin typeface="Impact" panose="020B0806030902050204" pitchFamily="34" charset="0"/>
              <a:cs typeface="+mn-ea"/>
            </a:endParaRPr>
          </a:p>
        </p:txBody>
      </p:sp>
      <p:sp>
        <p:nvSpPr>
          <p:cNvPr id="107" name="Freeform 22"/>
          <p:cNvSpPr/>
          <p:nvPr>
            <p:custDataLst>
              <p:tags r:id="rId2"/>
            </p:custDataLst>
          </p:nvPr>
        </p:nvSpPr>
        <p:spPr bwMode="auto">
          <a:xfrm>
            <a:off x="5235163" y="2154249"/>
            <a:ext cx="631496" cy="629909"/>
          </a:xfrm>
          <a:custGeom>
            <a:avLst/>
            <a:gdLst>
              <a:gd name="T0" fmla="*/ 56 w 826"/>
              <a:gd name="T1" fmla="*/ 0 h 826"/>
              <a:gd name="T2" fmla="*/ 771 w 826"/>
              <a:gd name="T3" fmla="*/ 0 h 826"/>
              <a:gd name="T4" fmla="*/ 826 w 826"/>
              <a:gd name="T5" fmla="*/ 56 h 826"/>
              <a:gd name="T6" fmla="*/ 826 w 826"/>
              <a:gd name="T7" fmla="*/ 771 h 826"/>
              <a:gd name="T8" fmla="*/ 771 w 826"/>
              <a:gd name="T9" fmla="*/ 826 h 826"/>
              <a:gd name="T10" fmla="*/ 56 w 826"/>
              <a:gd name="T11" fmla="*/ 826 h 826"/>
              <a:gd name="T12" fmla="*/ 0 w 826"/>
              <a:gd name="T13" fmla="*/ 771 h 826"/>
              <a:gd name="T14" fmla="*/ 0 w 826"/>
              <a:gd name="T15" fmla="*/ 56 h 826"/>
              <a:gd name="T16" fmla="*/ 56 w 826"/>
              <a:gd name="T17" fmla="*/ 0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6" h="826">
                <a:moveTo>
                  <a:pt x="56" y="0"/>
                </a:moveTo>
                <a:lnTo>
                  <a:pt x="771" y="0"/>
                </a:lnTo>
                <a:cubicBezTo>
                  <a:pt x="801" y="0"/>
                  <a:pt x="826" y="25"/>
                  <a:pt x="826" y="56"/>
                </a:cubicBezTo>
                <a:lnTo>
                  <a:pt x="826" y="771"/>
                </a:lnTo>
                <a:cubicBezTo>
                  <a:pt x="826" y="801"/>
                  <a:pt x="801" y="826"/>
                  <a:pt x="771" y="826"/>
                </a:cubicBezTo>
                <a:lnTo>
                  <a:pt x="56" y="826"/>
                </a:lnTo>
                <a:cubicBezTo>
                  <a:pt x="25" y="826"/>
                  <a:pt x="0" y="801"/>
                  <a:pt x="0" y="771"/>
                </a:cubicBezTo>
                <a:lnTo>
                  <a:pt x="0" y="56"/>
                </a:lnTo>
                <a:cubicBezTo>
                  <a:pt x="0" y="25"/>
                  <a:pt x="25" y="0"/>
                  <a:pt x="56" y="0"/>
                </a:cubicBezTo>
                <a:close/>
              </a:path>
            </a:pathLst>
          </a:custGeom>
          <a:solidFill>
            <a:srgbClr val="00706B"/>
          </a:solidFill>
          <a:ln w="19050" cap="flat">
            <a:noFill/>
            <a:prstDash val="solid"/>
            <a:miter lim="800000"/>
          </a:ln>
          <a:effectLst/>
        </p:spPr>
        <p:txBody>
          <a:bodyPr vert="horz" wrap="square" lIns="91392" tIns="45696" rIns="91392" bIns="45696" numCol="1" anchor="t" anchorCtr="0" compatLnSpc="1"/>
          <a:lstStyle/>
          <a:p>
            <a:endParaRPr lang="zh-CN" altLang="en-US" sz="2400">
              <a:solidFill>
                <a:schemeClr val="bg1"/>
              </a:solidFill>
              <a:latin typeface="Impact" panose="020B0806030902050204" pitchFamily="34" charset="0"/>
              <a:cs typeface="+mn-ea"/>
            </a:endParaRPr>
          </a:p>
        </p:txBody>
      </p:sp>
      <p:sp>
        <p:nvSpPr>
          <p:cNvPr id="113" name="TextBox 48"/>
          <p:cNvSpPr txBox="1"/>
          <p:nvPr>
            <p:custDataLst>
              <p:tags r:id="rId3"/>
            </p:custDataLst>
          </p:nvPr>
        </p:nvSpPr>
        <p:spPr>
          <a:xfrm>
            <a:off x="6175266" y="1297979"/>
            <a:ext cx="3011445" cy="478155"/>
          </a:xfrm>
          <a:prstGeom prst="rect">
            <a:avLst/>
          </a:prstGeom>
          <a:noFill/>
        </p:spPr>
        <p:txBody>
          <a:bodyPr wrap="square" rtlCol="0">
            <a:spAutoFit/>
          </a:bodyPr>
          <a:lstStyle>
            <a:defPPr>
              <a:defRPr lang="zh-CN"/>
            </a:defPPr>
            <a:lvl1pPr>
              <a:lnSpc>
                <a:spcPct val="90000"/>
              </a:lnSpc>
              <a:defRPr sz="3200" b="1">
                <a:solidFill>
                  <a:schemeClr val="accent1"/>
                </a:solidFill>
                <a:latin typeface="微软雅黑" panose="020B0503020204020204" pitchFamily="34" charset="-122"/>
                <a:ea typeface="微软雅黑" panose="020B0503020204020204" pitchFamily="34" charset="-122"/>
              </a:defRPr>
            </a:lvl1pPr>
          </a:lstStyle>
          <a:p>
            <a:r>
              <a:rPr lang="zh-CN" altLang="en-US" sz="2800" dirty="0">
                <a:solidFill>
                  <a:srgbClr val="00706B"/>
                </a:solidFill>
              </a:rPr>
              <a:t>项目背景</a:t>
            </a:r>
            <a:endParaRPr lang="zh-CN" altLang="en-US" sz="2800" dirty="0">
              <a:solidFill>
                <a:srgbClr val="00706B"/>
              </a:solidFill>
            </a:endParaRPr>
          </a:p>
        </p:txBody>
      </p:sp>
      <p:sp>
        <p:nvSpPr>
          <p:cNvPr id="115" name="TextBox 58"/>
          <p:cNvSpPr txBox="1"/>
          <p:nvPr>
            <p:custDataLst>
              <p:tags r:id="rId4"/>
            </p:custDataLst>
          </p:nvPr>
        </p:nvSpPr>
        <p:spPr>
          <a:xfrm>
            <a:off x="5365624" y="1228943"/>
            <a:ext cx="360996" cy="646331"/>
          </a:xfrm>
          <a:prstGeom prst="rect">
            <a:avLst/>
          </a:prstGeom>
          <a:noFill/>
        </p:spPr>
        <p:txBody>
          <a:bodyPr wrap="none" rtlCol="0">
            <a:spAutoFit/>
          </a:bodyPr>
          <a:lstStyle/>
          <a:p>
            <a:pPr algn="ctr"/>
            <a:r>
              <a:rPr lang="en-US" altLang="zh-CN" sz="3600" dirty="0">
                <a:solidFill>
                  <a:schemeClr val="bg1"/>
                </a:solidFill>
                <a:latin typeface="Impact" panose="020B0806030902050204" pitchFamily="34" charset="0"/>
                <a:ea typeface="+mj-ea"/>
              </a:rPr>
              <a:t>1</a:t>
            </a:r>
            <a:endParaRPr lang="zh-CN" altLang="en-US" sz="3600" dirty="0">
              <a:solidFill>
                <a:schemeClr val="bg1"/>
              </a:solidFill>
              <a:latin typeface="Impact" panose="020B0806030902050204" pitchFamily="34" charset="0"/>
              <a:ea typeface="+mj-ea"/>
            </a:endParaRPr>
          </a:p>
        </p:txBody>
      </p:sp>
      <p:sp>
        <p:nvSpPr>
          <p:cNvPr id="116" name="TextBox 59"/>
          <p:cNvSpPr txBox="1"/>
          <p:nvPr>
            <p:custDataLst>
              <p:tags r:id="rId5"/>
            </p:custDataLst>
          </p:nvPr>
        </p:nvSpPr>
        <p:spPr>
          <a:xfrm>
            <a:off x="5357906" y="2131275"/>
            <a:ext cx="417101" cy="646331"/>
          </a:xfrm>
          <a:prstGeom prst="rect">
            <a:avLst/>
          </a:prstGeom>
          <a:noFill/>
        </p:spPr>
        <p:txBody>
          <a:bodyPr wrap="none" rtlCol="0">
            <a:spAutoFit/>
          </a:bodyPr>
          <a:lstStyle/>
          <a:p>
            <a:pPr algn="ctr"/>
            <a:r>
              <a:rPr lang="en-US" altLang="zh-CN" sz="3600" dirty="0">
                <a:solidFill>
                  <a:schemeClr val="bg1"/>
                </a:solidFill>
                <a:latin typeface="Impact" panose="020B0806030902050204" pitchFamily="34" charset="0"/>
                <a:ea typeface="+mj-ea"/>
              </a:rPr>
              <a:t>2</a:t>
            </a:r>
            <a:endParaRPr lang="zh-CN" altLang="en-US" sz="3600" dirty="0">
              <a:solidFill>
                <a:schemeClr val="bg1"/>
              </a:solidFill>
              <a:latin typeface="Impact" panose="020B0806030902050204" pitchFamily="34" charset="0"/>
              <a:ea typeface="+mj-ea"/>
            </a:endParaRPr>
          </a:p>
        </p:txBody>
      </p:sp>
      <p:sp>
        <p:nvSpPr>
          <p:cNvPr id="119" name="Freeform 5"/>
          <p:cNvSpPr>
            <a:spLocks noEditPoints="1"/>
          </p:cNvSpPr>
          <p:nvPr/>
        </p:nvSpPr>
        <p:spPr bwMode="auto">
          <a:xfrm>
            <a:off x="2186495" y="2614383"/>
            <a:ext cx="2136161" cy="986992"/>
          </a:xfrm>
          <a:custGeom>
            <a:avLst/>
            <a:gdLst>
              <a:gd name="T0" fmla="*/ 469 w 1054"/>
              <a:gd name="T1" fmla="*/ 475 h 480"/>
              <a:gd name="T2" fmla="*/ 40 w 1054"/>
              <a:gd name="T3" fmla="*/ 7 h 480"/>
              <a:gd name="T4" fmla="*/ 332 w 1054"/>
              <a:gd name="T5" fmla="*/ 475 h 480"/>
              <a:gd name="T6" fmla="*/ 366 w 1054"/>
              <a:gd name="T7" fmla="*/ 475 h 480"/>
              <a:gd name="T8" fmla="*/ 389 w 1054"/>
              <a:gd name="T9" fmla="*/ 203 h 480"/>
              <a:gd name="T10" fmla="*/ 119 w 1054"/>
              <a:gd name="T11" fmla="*/ 278 h 480"/>
              <a:gd name="T12" fmla="*/ 108 w 1054"/>
              <a:gd name="T13" fmla="*/ 412 h 480"/>
              <a:gd name="T14" fmla="*/ 378 w 1054"/>
              <a:gd name="T15" fmla="*/ 341 h 480"/>
              <a:gd name="T16" fmla="*/ 108 w 1054"/>
              <a:gd name="T17" fmla="*/ 412 h 480"/>
              <a:gd name="T18" fmla="*/ 131 w 1054"/>
              <a:gd name="T19" fmla="*/ 140 h 480"/>
              <a:gd name="T20" fmla="*/ 401 w 1054"/>
              <a:gd name="T21" fmla="*/ 69 h 480"/>
              <a:gd name="T22" fmla="*/ 930 w 1054"/>
              <a:gd name="T23" fmla="*/ 473 h 480"/>
              <a:gd name="T24" fmla="*/ 1024 w 1054"/>
              <a:gd name="T25" fmla="*/ 429 h 480"/>
              <a:gd name="T26" fmla="*/ 939 w 1054"/>
              <a:gd name="T27" fmla="*/ 342 h 480"/>
              <a:gd name="T28" fmla="*/ 1035 w 1054"/>
              <a:gd name="T29" fmla="*/ 245 h 480"/>
              <a:gd name="T30" fmla="*/ 904 w 1054"/>
              <a:gd name="T31" fmla="*/ 295 h 480"/>
              <a:gd name="T32" fmla="*/ 841 w 1054"/>
              <a:gd name="T33" fmla="*/ 269 h 480"/>
              <a:gd name="T34" fmla="*/ 1049 w 1054"/>
              <a:gd name="T35" fmla="*/ 225 h 480"/>
              <a:gd name="T36" fmla="*/ 1007 w 1054"/>
              <a:gd name="T37" fmla="*/ 166 h 480"/>
              <a:gd name="T38" fmla="*/ 1022 w 1054"/>
              <a:gd name="T39" fmla="*/ 0 h 480"/>
              <a:gd name="T40" fmla="*/ 586 w 1054"/>
              <a:gd name="T41" fmla="*/ 59 h 480"/>
              <a:gd name="T42" fmla="*/ 916 w 1054"/>
              <a:gd name="T43" fmla="*/ 84 h 480"/>
              <a:gd name="T44" fmla="*/ 591 w 1054"/>
              <a:gd name="T45" fmla="*/ 144 h 480"/>
              <a:gd name="T46" fmla="*/ 909 w 1054"/>
              <a:gd name="T47" fmla="*/ 166 h 480"/>
              <a:gd name="T48" fmla="*/ 538 w 1054"/>
              <a:gd name="T49" fmla="*/ 225 h 480"/>
              <a:gd name="T50" fmla="*/ 725 w 1054"/>
              <a:gd name="T51" fmla="*/ 423 h 480"/>
              <a:gd name="T52" fmla="*/ 695 w 1054"/>
              <a:gd name="T53" fmla="*/ 480 h 480"/>
              <a:gd name="T54" fmla="*/ 835 w 1054"/>
              <a:gd name="T55" fmla="*/ 336 h 480"/>
              <a:gd name="T56" fmla="*/ 612 w 1054"/>
              <a:gd name="T57" fmla="*/ 473 h 480"/>
              <a:gd name="T58" fmla="*/ 525 w 1054"/>
              <a:gd name="T59" fmla="*/ 429 h 480"/>
              <a:gd name="T60" fmla="*/ 595 w 1054"/>
              <a:gd name="T61" fmla="*/ 360 h 480"/>
              <a:gd name="T62" fmla="*/ 612 w 1054"/>
              <a:gd name="T63" fmla="*/ 473 h 480"/>
              <a:gd name="T64" fmla="*/ 681 w 1054"/>
              <a:gd name="T65" fmla="*/ 338 h 480"/>
              <a:gd name="T66" fmla="*/ 687 w 1054"/>
              <a:gd name="T67" fmla="*/ 294 h 480"/>
              <a:gd name="T68" fmla="*/ 563 w 1054"/>
              <a:gd name="T69" fmla="*/ 24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54" h="480">
                <a:moveTo>
                  <a:pt x="366" y="475"/>
                </a:moveTo>
                <a:lnTo>
                  <a:pt x="469" y="475"/>
                </a:lnTo>
                <a:lnTo>
                  <a:pt x="509" y="7"/>
                </a:lnTo>
                <a:lnTo>
                  <a:pt x="40" y="7"/>
                </a:lnTo>
                <a:lnTo>
                  <a:pt x="0" y="475"/>
                </a:lnTo>
                <a:lnTo>
                  <a:pt x="332" y="475"/>
                </a:lnTo>
                <a:lnTo>
                  <a:pt x="372" y="412"/>
                </a:lnTo>
                <a:lnTo>
                  <a:pt x="366" y="475"/>
                </a:lnTo>
                <a:close/>
                <a:moveTo>
                  <a:pt x="125" y="203"/>
                </a:moveTo>
                <a:lnTo>
                  <a:pt x="389" y="203"/>
                </a:lnTo>
                <a:lnTo>
                  <a:pt x="383" y="278"/>
                </a:lnTo>
                <a:lnTo>
                  <a:pt x="119" y="278"/>
                </a:lnTo>
                <a:lnTo>
                  <a:pt x="125" y="203"/>
                </a:lnTo>
                <a:close/>
                <a:moveTo>
                  <a:pt x="108" y="412"/>
                </a:moveTo>
                <a:lnTo>
                  <a:pt x="114" y="341"/>
                </a:lnTo>
                <a:lnTo>
                  <a:pt x="378" y="341"/>
                </a:lnTo>
                <a:lnTo>
                  <a:pt x="372" y="412"/>
                </a:lnTo>
                <a:lnTo>
                  <a:pt x="108" y="412"/>
                </a:lnTo>
                <a:close/>
                <a:moveTo>
                  <a:pt x="395" y="140"/>
                </a:moveTo>
                <a:lnTo>
                  <a:pt x="131" y="140"/>
                </a:lnTo>
                <a:lnTo>
                  <a:pt x="137" y="69"/>
                </a:lnTo>
                <a:lnTo>
                  <a:pt x="401" y="69"/>
                </a:lnTo>
                <a:lnTo>
                  <a:pt x="395" y="140"/>
                </a:lnTo>
                <a:close/>
                <a:moveTo>
                  <a:pt x="930" y="473"/>
                </a:moveTo>
                <a:lnTo>
                  <a:pt x="1006" y="473"/>
                </a:lnTo>
                <a:lnTo>
                  <a:pt x="1024" y="429"/>
                </a:lnTo>
                <a:lnTo>
                  <a:pt x="1003" y="429"/>
                </a:lnTo>
                <a:lnTo>
                  <a:pt x="939" y="342"/>
                </a:lnTo>
                <a:lnTo>
                  <a:pt x="972" y="342"/>
                </a:lnTo>
                <a:lnTo>
                  <a:pt x="1035" y="245"/>
                </a:lnTo>
                <a:lnTo>
                  <a:pt x="939" y="245"/>
                </a:lnTo>
                <a:lnTo>
                  <a:pt x="904" y="295"/>
                </a:lnTo>
                <a:lnTo>
                  <a:pt x="885" y="269"/>
                </a:lnTo>
                <a:lnTo>
                  <a:pt x="841" y="269"/>
                </a:lnTo>
                <a:lnTo>
                  <a:pt x="844" y="225"/>
                </a:lnTo>
                <a:lnTo>
                  <a:pt x="1049" y="225"/>
                </a:lnTo>
                <a:lnTo>
                  <a:pt x="1054" y="166"/>
                </a:lnTo>
                <a:lnTo>
                  <a:pt x="1007" y="166"/>
                </a:lnTo>
                <a:lnTo>
                  <a:pt x="1016" y="59"/>
                </a:lnTo>
                <a:lnTo>
                  <a:pt x="1022" y="0"/>
                </a:lnTo>
                <a:lnTo>
                  <a:pt x="591" y="0"/>
                </a:lnTo>
                <a:lnTo>
                  <a:pt x="586" y="59"/>
                </a:lnTo>
                <a:lnTo>
                  <a:pt x="918" y="59"/>
                </a:lnTo>
                <a:lnTo>
                  <a:pt x="916" y="84"/>
                </a:lnTo>
                <a:lnTo>
                  <a:pt x="596" y="84"/>
                </a:lnTo>
                <a:lnTo>
                  <a:pt x="591" y="144"/>
                </a:lnTo>
                <a:lnTo>
                  <a:pt x="911" y="144"/>
                </a:lnTo>
                <a:lnTo>
                  <a:pt x="909" y="166"/>
                </a:lnTo>
                <a:lnTo>
                  <a:pt x="543" y="166"/>
                </a:lnTo>
                <a:lnTo>
                  <a:pt x="538" y="225"/>
                </a:lnTo>
                <a:lnTo>
                  <a:pt x="742" y="225"/>
                </a:lnTo>
                <a:lnTo>
                  <a:pt x="725" y="423"/>
                </a:lnTo>
                <a:lnTo>
                  <a:pt x="682" y="423"/>
                </a:lnTo>
                <a:lnTo>
                  <a:pt x="695" y="480"/>
                </a:lnTo>
                <a:lnTo>
                  <a:pt x="823" y="480"/>
                </a:lnTo>
                <a:lnTo>
                  <a:pt x="835" y="336"/>
                </a:lnTo>
                <a:lnTo>
                  <a:pt x="930" y="473"/>
                </a:lnTo>
                <a:close/>
                <a:moveTo>
                  <a:pt x="612" y="473"/>
                </a:moveTo>
                <a:lnTo>
                  <a:pt x="536" y="473"/>
                </a:lnTo>
                <a:lnTo>
                  <a:pt x="525" y="429"/>
                </a:lnTo>
                <a:lnTo>
                  <a:pt x="545" y="429"/>
                </a:lnTo>
                <a:lnTo>
                  <a:pt x="595" y="360"/>
                </a:lnTo>
                <a:lnTo>
                  <a:pt x="692" y="360"/>
                </a:lnTo>
                <a:lnTo>
                  <a:pt x="612" y="473"/>
                </a:lnTo>
                <a:close/>
                <a:moveTo>
                  <a:pt x="610" y="338"/>
                </a:moveTo>
                <a:lnTo>
                  <a:pt x="681" y="338"/>
                </a:lnTo>
                <a:lnTo>
                  <a:pt x="699" y="294"/>
                </a:lnTo>
                <a:lnTo>
                  <a:pt x="687" y="294"/>
                </a:lnTo>
                <a:lnTo>
                  <a:pt x="659" y="240"/>
                </a:lnTo>
                <a:lnTo>
                  <a:pt x="563" y="240"/>
                </a:lnTo>
                <a:lnTo>
                  <a:pt x="610" y="338"/>
                </a:lnTo>
                <a:close/>
              </a:path>
            </a:pathLst>
          </a:custGeom>
          <a:solidFill>
            <a:schemeClr val="tx1"/>
          </a:solidFill>
          <a:ln w="9525" cap="flat">
            <a:noFill/>
            <a:prstDash val="solid"/>
            <a:miter lim="800000"/>
          </a:ln>
          <a:effectLst/>
        </p:spPr>
        <p:txBody>
          <a:bodyPr rot="0" spcFirstLastPara="0" vertOverflow="overflow" horzOverflow="overflow" vert="horz" wrap="square" lIns="91392" tIns="45696" rIns="91392" bIns="45696" numCol="1" spcCol="0" rtlCol="0" fromWordArt="0" anchor="t" anchorCtr="0" forceAA="0" compatLnSpc="1">
            <a:noAutofit/>
          </a:bodyPr>
          <a:lstStyle/>
          <a:p>
            <a:endParaRPr lang="zh-CN" altLang="en-US" sz="8800">
              <a:solidFill>
                <a:schemeClr val="bg2"/>
              </a:solidFill>
              <a:cs typeface="+mn-ea"/>
            </a:endParaRPr>
          </a:p>
        </p:txBody>
      </p:sp>
      <p:sp>
        <p:nvSpPr>
          <p:cNvPr id="120" name="Freeform 6"/>
          <p:cNvSpPr>
            <a:spLocks noEditPoints="1"/>
          </p:cNvSpPr>
          <p:nvPr/>
        </p:nvSpPr>
        <p:spPr bwMode="auto">
          <a:xfrm>
            <a:off x="2040577" y="3708930"/>
            <a:ext cx="2256327" cy="450569"/>
          </a:xfrm>
          <a:custGeom>
            <a:avLst/>
            <a:gdLst>
              <a:gd name="T0" fmla="*/ 23 w 1184"/>
              <a:gd name="T1" fmla="*/ 145 h 202"/>
              <a:gd name="T2" fmla="*/ 77 w 1184"/>
              <a:gd name="T3" fmla="*/ 19 h 202"/>
              <a:gd name="T4" fmla="*/ 140 w 1184"/>
              <a:gd name="T5" fmla="*/ 0 h 202"/>
              <a:gd name="T6" fmla="*/ 14 w 1184"/>
              <a:gd name="T7" fmla="*/ 52 h 202"/>
              <a:gd name="T8" fmla="*/ 58 w 1184"/>
              <a:gd name="T9" fmla="*/ 202 h 202"/>
              <a:gd name="T10" fmla="*/ 122 w 1184"/>
              <a:gd name="T11" fmla="*/ 182 h 202"/>
              <a:gd name="T12" fmla="*/ 240 w 1184"/>
              <a:gd name="T13" fmla="*/ 182 h 202"/>
              <a:gd name="T14" fmla="*/ 172 w 1184"/>
              <a:gd name="T15" fmla="*/ 170 h 202"/>
              <a:gd name="T16" fmla="*/ 200 w 1184"/>
              <a:gd name="T17" fmla="*/ 19 h 202"/>
              <a:gd name="T18" fmla="*/ 267 w 1184"/>
              <a:gd name="T19" fmla="*/ 34 h 202"/>
              <a:gd name="T20" fmla="*/ 240 w 1184"/>
              <a:gd name="T21" fmla="*/ 182 h 202"/>
              <a:gd name="T22" fmla="*/ 152 w 1184"/>
              <a:gd name="T23" fmla="*/ 178 h 202"/>
              <a:gd name="T24" fmla="*/ 250 w 1184"/>
              <a:gd name="T25" fmla="*/ 202 h 202"/>
              <a:gd name="T26" fmla="*/ 289 w 1184"/>
              <a:gd name="T27" fmla="*/ 21 h 202"/>
              <a:gd name="T28" fmla="*/ 191 w 1184"/>
              <a:gd name="T29" fmla="*/ 0 h 202"/>
              <a:gd name="T30" fmla="*/ 419 w 1184"/>
              <a:gd name="T31" fmla="*/ 202 h 202"/>
              <a:gd name="T32" fmla="*/ 418 w 1184"/>
              <a:gd name="T33" fmla="*/ 0 h 202"/>
              <a:gd name="T34" fmla="*/ 323 w 1184"/>
              <a:gd name="T35" fmla="*/ 21 h 202"/>
              <a:gd name="T36" fmla="*/ 397 w 1184"/>
              <a:gd name="T37" fmla="*/ 202 h 202"/>
              <a:gd name="T38" fmla="*/ 321 w 1184"/>
              <a:gd name="T39" fmla="*/ 33 h 202"/>
              <a:gd name="T40" fmla="*/ 325 w 1184"/>
              <a:gd name="T41" fmla="*/ 202 h 202"/>
              <a:gd name="T42" fmla="*/ 321 w 1184"/>
              <a:gd name="T43" fmla="*/ 33 h 202"/>
              <a:gd name="T44" fmla="*/ 545 w 1184"/>
              <a:gd name="T45" fmla="*/ 19 h 202"/>
              <a:gd name="T46" fmla="*/ 596 w 1184"/>
              <a:gd name="T47" fmla="*/ 0 h 202"/>
              <a:gd name="T48" fmla="*/ 473 w 1184"/>
              <a:gd name="T49" fmla="*/ 19 h 202"/>
              <a:gd name="T50" fmla="*/ 505 w 1184"/>
              <a:gd name="T51" fmla="*/ 202 h 202"/>
              <a:gd name="T52" fmla="*/ 713 w 1184"/>
              <a:gd name="T53" fmla="*/ 91 h 202"/>
              <a:gd name="T54" fmla="*/ 641 w 1184"/>
              <a:gd name="T55" fmla="*/ 111 h 202"/>
              <a:gd name="T56" fmla="*/ 713 w 1184"/>
              <a:gd name="T57" fmla="*/ 91 h 202"/>
              <a:gd name="T58" fmla="*/ 638 w 1184"/>
              <a:gd name="T59" fmla="*/ 19 h 202"/>
              <a:gd name="T60" fmla="*/ 742 w 1184"/>
              <a:gd name="T61" fmla="*/ 0 h 202"/>
              <a:gd name="T62" fmla="*/ 619 w 1184"/>
              <a:gd name="T63" fmla="*/ 19 h 202"/>
              <a:gd name="T64" fmla="*/ 618 w 1184"/>
              <a:gd name="T65" fmla="*/ 202 h 202"/>
              <a:gd name="T66" fmla="*/ 722 w 1184"/>
              <a:gd name="T67" fmla="*/ 182 h 202"/>
              <a:gd name="T68" fmla="*/ 861 w 1184"/>
              <a:gd name="T69" fmla="*/ 202 h 202"/>
              <a:gd name="T70" fmla="*/ 860 w 1184"/>
              <a:gd name="T71" fmla="*/ 0 h 202"/>
              <a:gd name="T72" fmla="*/ 764 w 1184"/>
              <a:gd name="T73" fmla="*/ 21 h 202"/>
              <a:gd name="T74" fmla="*/ 839 w 1184"/>
              <a:gd name="T75" fmla="*/ 202 h 202"/>
              <a:gd name="T76" fmla="*/ 763 w 1184"/>
              <a:gd name="T77" fmla="*/ 33 h 202"/>
              <a:gd name="T78" fmla="*/ 767 w 1184"/>
              <a:gd name="T79" fmla="*/ 202 h 202"/>
              <a:gd name="T80" fmla="*/ 763 w 1184"/>
              <a:gd name="T81" fmla="*/ 33 h 202"/>
              <a:gd name="T82" fmla="*/ 987 w 1184"/>
              <a:gd name="T83" fmla="*/ 19 h 202"/>
              <a:gd name="T84" fmla="*/ 1037 w 1184"/>
              <a:gd name="T85" fmla="*/ 0 h 202"/>
              <a:gd name="T86" fmla="*/ 914 w 1184"/>
              <a:gd name="T87" fmla="*/ 19 h 202"/>
              <a:gd name="T88" fmla="*/ 947 w 1184"/>
              <a:gd name="T89" fmla="*/ 202 h 202"/>
              <a:gd name="T90" fmla="*/ 1103 w 1184"/>
              <a:gd name="T91" fmla="*/ 182 h 202"/>
              <a:gd name="T92" fmla="*/ 1041 w 1184"/>
              <a:gd name="T93" fmla="*/ 202 h 202"/>
              <a:gd name="T94" fmla="*/ 1168 w 1184"/>
              <a:gd name="T95" fmla="*/ 149 h 202"/>
              <a:gd name="T96" fmla="*/ 1100 w 1184"/>
              <a:gd name="T97" fmla="*/ 81 h 202"/>
              <a:gd name="T98" fmla="*/ 1121 w 1184"/>
              <a:gd name="T99" fmla="*/ 19 h 202"/>
              <a:gd name="T100" fmla="*/ 1184 w 1184"/>
              <a:gd name="T101" fmla="*/ 0 h 202"/>
              <a:gd name="T102" fmla="*/ 1057 w 1184"/>
              <a:gd name="T103" fmla="*/ 52 h 202"/>
              <a:gd name="T104" fmla="*/ 1125 w 1184"/>
              <a:gd name="T105" fmla="*/ 118 h 202"/>
              <a:gd name="T106" fmla="*/ 1103 w 1184"/>
              <a:gd name="T107" fmla="*/ 18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84" h="202">
                <a:moveTo>
                  <a:pt x="60" y="182"/>
                </a:moveTo>
                <a:cubicBezTo>
                  <a:pt x="33" y="182"/>
                  <a:pt x="21" y="170"/>
                  <a:pt x="23" y="145"/>
                </a:cubicBezTo>
                <a:lnTo>
                  <a:pt x="33" y="53"/>
                </a:lnTo>
                <a:cubicBezTo>
                  <a:pt x="36" y="30"/>
                  <a:pt x="50" y="19"/>
                  <a:pt x="77" y="19"/>
                </a:cubicBezTo>
                <a:lnTo>
                  <a:pt x="138" y="19"/>
                </a:lnTo>
                <a:lnTo>
                  <a:pt x="140" y="0"/>
                </a:lnTo>
                <a:lnTo>
                  <a:pt x="80" y="0"/>
                </a:lnTo>
                <a:cubicBezTo>
                  <a:pt x="40" y="0"/>
                  <a:pt x="18" y="17"/>
                  <a:pt x="14" y="52"/>
                </a:cubicBezTo>
                <a:lnTo>
                  <a:pt x="3" y="150"/>
                </a:lnTo>
                <a:cubicBezTo>
                  <a:pt x="0" y="185"/>
                  <a:pt x="18" y="202"/>
                  <a:pt x="58" y="202"/>
                </a:cubicBezTo>
                <a:lnTo>
                  <a:pt x="120" y="202"/>
                </a:lnTo>
                <a:lnTo>
                  <a:pt x="122" y="182"/>
                </a:lnTo>
                <a:lnTo>
                  <a:pt x="60" y="182"/>
                </a:lnTo>
                <a:close/>
                <a:moveTo>
                  <a:pt x="240" y="182"/>
                </a:moveTo>
                <a:lnTo>
                  <a:pt x="183" y="182"/>
                </a:lnTo>
                <a:cubicBezTo>
                  <a:pt x="175" y="182"/>
                  <a:pt x="171" y="178"/>
                  <a:pt x="172" y="170"/>
                </a:cubicBezTo>
                <a:lnTo>
                  <a:pt x="187" y="33"/>
                </a:lnTo>
                <a:cubicBezTo>
                  <a:pt x="188" y="23"/>
                  <a:pt x="192" y="19"/>
                  <a:pt x="200" y="19"/>
                </a:cubicBezTo>
                <a:lnTo>
                  <a:pt x="257" y="19"/>
                </a:lnTo>
                <a:cubicBezTo>
                  <a:pt x="265" y="19"/>
                  <a:pt x="269" y="24"/>
                  <a:pt x="267" y="34"/>
                </a:cubicBezTo>
                <a:lnTo>
                  <a:pt x="253" y="169"/>
                </a:lnTo>
                <a:cubicBezTo>
                  <a:pt x="252" y="178"/>
                  <a:pt x="248" y="182"/>
                  <a:pt x="240" y="182"/>
                </a:cubicBezTo>
                <a:close/>
                <a:moveTo>
                  <a:pt x="168" y="22"/>
                </a:moveTo>
                <a:lnTo>
                  <a:pt x="152" y="178"/>
                </a:lnTo>
                <a:cubicBezTo>
                  <a:pt x="150" y="194"/>
                  <a:pt x="156" y="202"/>
                  <a:pt x="171" y="202"/>
                </a:cubicBezTo>
                <a:lnTo>
                  <a:pt x="250" y="202"/>
                </a:lnTo>
                <a:cubicBezTo>
                  <a:pt x="263" y="202"/>
                  <a:pt x="271" y="195"/>
                  <a:pt x="272" y="181"/>
                </a:cubicBezTo>
                <a:lnTo>
                  <a:pt x="289" y="21"/>
                </a:lnTo>
                <a:cubicBezTo>
                  <a:pt x="289" y="9"/>
                  <a:pt x="283" y="1"/>
                  <a:pt x="270" y="0"/>
                </a:cubicBezTo>
                <a:lnTo>
                  <a:pt x="191" y="0"/>
                </a:lnTo>
                <a:cubicBezTo>
                  <a:pt x="177" y="0"/>
                  <a:pt x="170" y="7"/>
                  <a:pt x="168" y="22"/>
                </a:cubicBezTo>
                <a:close/>
                <a:moveTo>
                  <a:pt x="419" y="202"/>
                </a:moveTo>
                <a:lnTo>
                  <a:pt x="438" y="21"/>
                </a:lnTo>
                <a:cubicBezTo>
                  <a:pt x="440" y="7"/>
                  <a:pt x="433" y="0"/>
                  <a:pt x="418" y="0"/>
                </a:cubicBezTo>
                <a:lnTo>
                  <a:pt x="325" y="0"/>
                </a:lnTo>
                <a:lnTo>
                  <a:pt x="323" y="21"/>
                </a:lnTo>
                <a:lnTo>
                  <a:pt x="417" y="21"/>
                </a:lnTo>
                <a:lnTo>
                  <a:pt x="397" y="202"/>
                </a:lnTo>
                <a:lnTo>
                  <a:pt x="419" y="202"/>
                </a:lnTo>
                <a:close/>
                <a:moveTo>
                  <a:pt x="321" y="33"/>
                </a:moveTo>
                <a:lnTo>
                  <a:pt x="303" y="202"/>
                </a:lnTo>
                <a:lnTo>
                  <a:pt x="325" y="202"/>
                </a:lnTo>
                <a:lnTo>
                  <a:pt x="344" y="33"/>
                </a:lnTo>
                <a:lnTo>
                  <a:pt x="321" y="33"/>
                </a:lnTo>
                <a:close/>
                <a:moveTo>
                  <a:pt x="525" y="202"/>
                </a:moveTo>
                <a:lnTo>
                  <a:pt x="545" y="19"/>
                </a:lnTo>
                <a:lnTo>
                  <a:pt x="594" y="19"/>
                </a:lnTo>
                <a:lnTo>
                  <a:pt x="596" y="0"/>
                </a:lnTo>
                <a:lnTo>
                  <a:pt x="475" y="0"/>
                </a:lnTo>
                <a:lnTo>
                  <a:pt x="473" y="19"/>
                </a:lnTo>
                <a:lnTo>
                  <a:pt x="525" y="19"/>
                </a:lnTo>
                <a:lnTo>
                  <a:pt x="505" y="202"/>
                </a:lnTo>
                <a:lnTo>
                  <a:pt x="525" y="202"/>
                </a:lnTo>
                <a:close/>
                <a:moveTo>
                  <a:pt x="713" y="91"/>
                </a:moveTo>
                <a:lnTo>
                  <a:pt x="643" y="91"/>
                </a:lnTo>
                <a:lnTo>
                  <a:pt x="641" y="111"/>
                </a:lnTo>
                <a:lnTo>
                  <a:pt x="711" y="111"/>
                </a:lnTo>
                <a:lnTo>
                  <a:pt x="713" y="91"/>
                </a:lnTo>
                <a:close/>
                <a:moveTo>
                  <a:pt x="621" y="182"/>
                </a:moveTo>
                <a:lnTo>
                  <a:pt x="638" y="19"/>
                </a:lnTo>
                <a:lnTo>
                  <a:pt x="740" y="19"/>
                </a:lnTo>
                <a:lnTo>
                  <a:pt x="742" y="0"/>
                </a:lnTo>
                <a:lnTo>
                  <a:pt x="640" y="0"/>
                </a:lnTo>
                <a:cubicBezTo>
                  <a:pt x="627" y="0"/>
                  <a:pt x="620" y="6"/>
                  <a:pt x="619" y="19"/>
                </a:cubicBezTo>
                <a:lnTo>
                  <a:pt x="601" y="183"/>
                </a:lnTo>
                <a:cubicBezTo>
                  <a:pt x="600" y="196"/>
                  <a:pt x="606" y="202"/>
                  <a:pt x="618" y="202"/>
                </a:cubicBezTo>
                <a:lnTo>
                  <a:pt x="720" y="202"/>
                </a:lnTo>
                <a:lnTo>
                  <a:pt x="722" y="182"/>
                </a:lnTo>
                <a:lnTo>
                  <a:pt x="621" y="182"/>
                </a:lnTo>
                <a:close/>
                <a:moveTo>
                  <a:pt x="861" y="202"/>
                </a:moveTo>
                <a:lnTo>
                  <a:pt x="880" y="21"/>
                </a:lnTo>
                <a:cubicBezTo>
                  <a:pt x="882" y="7"/>
                  <a:pt x="875" y="0"/>
                  <a:pt x="860" y="0"/>
                </a:cubicBezTo>
                <a:lnTo>
                  <a:pt x="767" y="0"/>
                </a:lnTo>
                <a:lnTo>
                  <a:pt x="764" y="21"/>
                </a:lnTo>
                <a:lnTo>
                  <a:pt x="859" y="21"/>
                </a:lnTo>
                <a:lnTo>
                  <a:pt x="839" y="202"/>
                </a:lnTo>
                <a:lnTo>
                  <a:pt x="861" y="202"/>
                </a:lnTo>
                <a:close/>
                <a:moveTo>
                  <a:pt x="763" y="33"/>
                </a:moveTo>
                <a:lnTo>
                  <a:pt x="745" y="202"/>
                </a:lnTo>
                <a:lnTo>
                  <a:pt x="767" y="202"/>
                </a:lnTo>
                <a:lnTo>
                  <a:pt x="785" y="33"/>
                </a:lnTo>
                <a:lnTo>
                  <a:pt x="763" y="33"/>
                </a:lnTo>
                <a:close/>
                <a:moveTo>
                  <a:pt x="967" y="202"/>
                </a:moveTo>
                <a:lnTo>
                  <a:pt x="987" y="19"/>
                </a:lnTo>
                <a:lnTo>
                  <a:pt x="1035" y="19"/>
                </a:lnTo>
                <a:lnTo>
                  <a:pt x="1037" y="0"/>
                </a:lnTo>
                <a:lnTo>
                  <a:pt x="917" y="0"/>
                </a:lnTo>
                <a:lnTo>
                  <a:pt x="914" y="19"/>
                </a:lnTo>
                <a:lnTo>
                  <a:pt x="966" y="19"/>
                </a:lnTo>
                <a:lnTo>
                  <a:pt x="947" y="202"/>
                </a:lnTo>
                <a:lnTo>
                  <a:pt x="967" y="202"/>
                </a:lnTo>
                <a:close/>
                <a:moveTo>
                  <a:pt x="1103" y="182"/>
                </a:moveTo>
                <a:lnTo>
                  <a:pt x="1043" y="182"/>
                </a:lnTo>
                <a:lnTo>
                  <a:pt x="1041" y="202"/>
                </a:lnTo>
                <a:lnTo>
                  <a:pt x="1102" y="202"/>
                </a:lnTo>
                <a:cubicBezTo>
                  <a:pt x="1142" y="202"/>
                  <a:pt x="1164" y="185"/>
                  <a:pt x="1168" y="149"/>
                </a:cubicBezTo>
                <a:cubicBezTo>
                  <a:pt x="1170" y="127"/>
                  <a:pt x="1162" y="112"/>
                  <a:pt x="1145" y="104"/>
                </a:cubicBezTo>
                <a:lnTo>
                  <a:pt x="1100" y="81"/>
                </a:lnTo>
                <a:cubicBezTo>
                  <a:pt x="1083" y="73"/>
                  <a:pt x="1075" y="64"/>
                  <a:pt x="1076" y="53"/>
                </a:cubicBezTo>
                <a:cubicBezTo>
                  <a:pt x="1079" y="30"/>
                  <a:pt x="1094" y="19"/>
                  <a:pt x="1121" y="19"/>
                </a:cubicBezTo>
                <a:lnTo>
                  <a:pt x="1182" y="19"/>
                </a:lnTo>
                <a:lnTo>
                  <a:pt x="1184" y="0"/>
                </a:lnTo>
                <a:lnTo>
                  <a:pt x="1123" y="0"/>
                </a:lnTo>
                <a:cubicBezTo>
                  <a:pt x="1083" y="0"/>
                  <a:pt x="1061" y="17"/>
                  <a:pt x="1057" y="52"/>
                </a:cubicBezTo>
                <a:cubicBezTo>
                  <a:pt x="1056" y="69"/>
                  <a:pt x="1063" y="83"/>
                  <a:pt x="1079" y="95"/>
                </a:cubicBezTo>
                <a:cubicBezTo>
                  <a:pt x="1086" y="98"/>
                  <a:pt x="1102" y="106"/>
                  <a:pt x="1125" y="118"/>
                </a:cubicBezTo>
                <a:cubicBezTo>
                  <a:pt x="1141" y="127"/>
                  <a:pt x="1149" y="136"/>
                  <a:pt x="1148" y="146"/>
                </a:cubicBezTo>
                <a:cubicBezTo>
                  <a:pt x="1145" y="170"/>
                  <a:pt x="1130" y="182"/>
                  <a:pt x="1103" y="182"/>
                </a:cubicBezTo>
                <a:close/>
              </a:path>
            </a:pathLst>
          </a:custGeom>
          <a:solidFill>
            <a:srgbClr val="00706B"/>
          </a:solidFill>
          <a:ln>
            <a:noFill/>
          </a:ln>
        </p:spPr>
        <p:txBody>
          <a:bodyPr vert="horz" wrap="square" lIns="91392" tIns="45696" rIns="91392" bIns="45696" numCol="1" anchor="t" anchorCtr="0" compatLnSpc="1"/>
          <a:lstStyle/>
          <a:p>
            <a:endParaRPr lang="zh-CN" altLang="en-US" sz="15335">
              <a:solidFill>
                <a:srgbClr val="00706B"/>
              </a:solidFill>
            </a:endParaRPr>
          </a:p>
        </p:txBody>
      </p:sp>
      <p:sp>
        <p:nvSpPr>
          <p:cNvPr id="3" name="TextBox 48"/>
          <p:cNvSpPr txBox="1"/>
          <p:nvPr>
            <p:custDataLst>
              <p:tags r:id="rId6"/>
            </p:custDataLst>
          </p:nvPr>
        </p:nvSpPr>
        <p:spPr>
          <a:xfrm>
            <a:off x="6175266" y="2254610"/>
            <a:ext cx="3011445" cy="478155"/>
          </a:xfrm>
          <a:prstGeom prst="rect">
            <a:avLst/>
          </a:prstGeom>
          <a:noFill/>
        </p:spPr>
        <p:txBody>
          <a:bodyPr wrap="square" rtlCol="0">
            <a:spAutoFit/>
          </a:bodyPr>
          <a:lstStyle>
            <a:defPPr>
              <a:defRPr lang="zh-CN"/>
            </a:defPPr>
            <a:lvl1pPr>
              <a:lnSpc>
                <a:spcPct val="90000"/>
              </a:lnSpc>
              <a:defRPr sz="2800" b="1">
                <a:solidFill>
                  <a:srgbClr val="00706B"/>
                </a:solidFill>
                <a:latin typeface="微软雅黑" panose="020B0503020204020204" pitchFamily="34" charset="-122"/>
                <a:ea typeface="微软雅黑" panose="020B0503020204020204" pitchFamily="34" charset="-122"/>
              </a:defRPr>
            </a:lvl1pPr>
          </a:lstStyle>
          <a:p>
            <a:r>
              <a:rPr lang="zh-CN" altLang="en-US" dirty="0"/>
              <a:t>主要研究内容</a:t>
            </a:r>
            <a:endParaRPr lang="zh-CN" altLang="en-US" dirty="0"/>
          </a:p>
        </p:txBody>
      </p:sp>
      <p:sp>
        <p:nvSpPr>
          <p:cNvPr id="8" name="文本框 7"/>
          <p:cNvSpPr txBox="1"/>
          <p:nvPr/>
        </p:nvSpPr>
        <p:spPr>
          <a:xfrm>
            <a:off x="6175375" y="3195955"/>
            <a:ext cx="3011170" cy="478155"/>
          </a:xfrm>
          <a:prstGeom prst="rect">
            <a:avLst/>
          </a:prstGeom>
          <a:noFill/>
        </p:spPr>
        <p:txBody>
          <a:bodyPr wrap="square" rtlCol="0">
            <a:spAutoFit/>
          </a:bodyPr>
          <a:lstStyle>
            <a:defPPr>
              <a:defRPr lang="zh-CN"/>
            </a:defPPr>
            <a:lvl1pPr>
              <a:lnSpc>
                <a:spcPct val="90000"/>
              </a:lnSpc>
              <a:defRPr sz="2800" b="1">
                <a:solidFill>
                  <a:srgbClr val="00706B"/>
                </a:solidFill>
                <a:latin typeface="微软雅黑" panose="020B0503020204020204" pitchFamily="34" charset="-122"/>
                <a:ea typeface="微软雅黑" panose="020B0503020204020204" pitchFamily="34" charset="-122"/>
              </a:defRPr>
            </a:lvl1pPr>
          </a:lstStyle>
          <a:p>
            <a:r>
              <a:rPr lang="zh-CN" altLang="en-US" dirty="0"/>
              <a:t>项目技术路线</a:t>
            </a:r>
            <a:endParaRPr lang="zh-CN" altLang="en-US" dirty="0"/>
          </a:p>
        </p:txBody>
      </p:sp>
      <p:sp>
        <p:nvSpPr>
          <p:cNvPr id="9" name="Freeform 18"/>
          <p:cNvSpPr/>
          <p:nvPr>
            <p:custDataLst>
              <p:tags r:id="rId7"/>
            </p:custDataLst>
          </p:nvPr>
        </p:nvSpPr>
        <p:spPr bwMode="auto">
          <a:xfrm>
            <a:off x="5223748" y="3064296"/>
            <a:ext cx="631496" cy="631496"/>
          </a:xfrm>
          <a:custGeom>
            <a:avLst/>
            <a:gdLst>
              <a:gd name="T0" fmla="*/ 56 w 826"/>
              <a:gd name="T1" fmla="*/ 0 h 826"/>
              <a:gd name="T2" fmla="*/ 771 w 826"/>
              <a:gd name="T3" fmla="*/ 0 h 826"/>
              <a:gd name="T4" fmla="*/ 826 w 826"/>
              <a:gd name="T5" fmla="*/ 55 h 826"/>
              <a:gd name="T6" fmla="*/ 826 w 826"/>
              <a:gd name="T7" fmla="*/ 770 h 826"/>
              <a:gd name="T8" fmla="*/ 771 w 826"/>
              <a:gd name="T9" fmla="*/ 826 h 826"/>
              <a:gd name="T10" fmla="*/ 56 w 826"/>
              <a:gd name="T11" fmla="*/ 826 h 826"/>
              <a:gd name="T12" fmla="*/ 0 w 826"/>
              <a:gd name="T13" fmla="*/ 770 h 826"/>
              <a:gd name="T14" fmla="*/ 0 w 826"/>
              <a:gd name="T15" fmla="*/ 55 h 826"/>
              <a:gd name="T16" fmla="*/ 56 w 826"/>
              <a:gd name="T17" fmla="*/ 0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6" h="826">
                <a:moveTo>
                  <a:pt x="56" y="0"/>
                </a:moveTo>
                <a:lnTo>
                  <a:pt x="771" y="0"/>
                </a:lnTo>
                <a:cubicBezTo>
                  <a:pt x="801" y="0"/>
                  <a:pt x="826" y="25"/>
                  <a:pt x="826" y="55"/>
                </a:cubicBezTo>
                <a:lnTo>
                  <a:pt x="826" y="770"/>
                </a:lnTo>
                <a:cubicBezTo>
                  <a:pt x="826" y="801"/>
                  <a:pt x="801" y="826"/>
                  <a:pt x="771" y="826"/>
                </a:cubicBezTo>
                <a:lnTo>
                  <a:pt x="56" y="826"/>
                </a:lnTo>
                <a:cubicBezTo>
                  <a:pt x="25" y="826"/>
                  <a:pt x="0" y="801"/>
                  <a:pt x="0" y="770"/>
                </a:cubicBezTo>
                <a:lnTo>
                  <a:pt x="0" y="55"/>
                </a:lnTo>
                <a:cubicBezTo>
                  <a:pt x="0" y="25"/>
                  <a:pt x="25" y="0"/>
                  <a:pt x="56" y="0"/>
                </a:cubicBezTo>
                <a:close/>
              </a:path>
            </a:pathLst>
          </a:custGeom>
          <a:solidFill>
            <a:srgbClr val="00706B"/>
          </a:solidFill>
          <a:ln w="19050" cap="flat">
            <a:noFill/>
            <a:prstDash val="solid"/>
            <a:miter lim="800000"/>
          </a:ln>
          <a:effectLst/>
        </p:spPr>
        <p:txBody>
          <a:bodyPr vert="horz" wrap="square" lIns="91392" tIns="45696" rIns="91392" bIns="45696" numCol="1" anchor="t" anchorCtr="0" compatLnSpc="1"/>
          <a:lstStyle/>
          <a:p>
            <a:endParaRPr lang="zh-CN" altLang="en-US" sz="2400">
              <a:solidFill>
                <a:schemeClr val="bg1"/>
              </a:solidFill>
              <a:latin typeface="Impact" panose="020B0806030902050204" pitchFamily="34" charset="0"/>
              <a:cs typeface="+mn-ea"/>
            </a:endParaRPr>
          </a:p>
        </p:txBody>
      </p:sp>
      <p:sp>
        <p:nvSpPr>
          <p:cNvPr id="10" name="Freeform 22"/>
          <p:cNvSpPr/>
          <p:nvPr>
            <p:custDataLst>
              <p:tags r:id="rId8"/>
            </p:custDataLst>
          </p:nvPr>
        </p:nvSpPr>
        <p:spPr bwMode="auto">
          <a:xfrm>
            <a:off x="5235163" y="4005211"/>
            <a:ext cx="631496" cy="629909"/>
          </a:xfrm>
          <a:custGeom>
            <a:avLst/>
            <a:gdLst>
              <a:gd name="T0" fmla="*/ 56 w 826"/>
              <a:gd name="T1" fmla="*/ 0 h 826"/>
              <a:gd name="T2" fmla="*/ 771 w 826"/>
              <a:gd name="T3" fmla="*/ 0 h 826"/>
              <a:gd name="T4" fmla="*/ 826 w 826"/>
              <a:gd name="T5" fmla="*/ 56 h 826"/>
              <a:gd name="T6" fmla="*/ 826 w 826"/>
              <a:gd name="T7" fmla="*/ 771 h 826"/>
              <a:gd name="T8" fmla="*/ 771 w 826"/>
              <a:gd name="T9" fmla="*/ 826 h 826"/>
              <a:gd name="T10" fmla="*/ 56 w 826"/>
              <a:gd name="T11" fmla="*/ 826 h 826"/>
              <a:gd name="T12" fmla="*/ 0 w 826"/>
              <a:gd name="T13" fmla="*/ 771 h 826"/>
              <a:gd name="T14" fmla="*/ 0 w 826"/>
              <a:gd name="T15" fmla="*/ 56 h 826"/>
              <a:gd name="T16" fmla="*/ 56 w 826"/>
              <a:gd name="T17" fmla="*/ 0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6" h="826">
                <a:moveTo>
                  <a:pt x="56" y="0"/>
                </a:moveTo>
                <a:lnTo>
                  <a:pt x="771" y="0"/>
                </a:lnTo>
                <a:cubicBezTo>
                  <a:pt x="801" y="0"/>
                  <a:pt x="826" y="25"/>
                  <a:pt x="826" y="56"/>
                </a:cubicBezTo>
                <a:lnTo>
                  <a:pt x="826" y="771"/>
                </a:lnTo>
                <a:cubicBezTo>
                  <a:pt x="826" y="801"/>
                  <a:pt x="801" y="826"/>
                  <a:pt x="771" y="826"/>
                </a:cubicBezTo>
                <a:lnTo>
                  <a:pt x="56" y="826"/>
                </a:lnTo>
                <a:cubicBezTo>
                  <a:pt x="25" y="826"/>
                  <a:pt x="0" y="801"/>
                  <a:pt x="0" y="771"/>
                </a:cubicBezTo>
                <a:lnTo>
                  <a:pt x="0" y="56"/>
                </a:lnTo>
                <a:cubicBezTo>
                  <a:pt x="0" y="25"/>
                  <a:pt x="25" y="0"/>
                  <a:pt x="56" y="0"/>
                </a:cubicBezTo>
                <a:close/>
              </a:path>
            </a:pathLst>
          </a:custGeom>
          <a:solidFill>
            <a:srgbClr val="00706B"/>
          </a:solidFill>
          <a:ln w="19050" cap="flat">
            <a:noFill/>
            <a:prstDash val="solid"/>
            <a:miter lim="800000"/>
          </a:ln>
          <a:effectLst/>
        </p:spPr>
        <p:txBody>
          <a:bodyPr vert="horz" wrap="square" lIns="91392" tIns="45696" rIns="91392" bIns="45696" numCol="1" anchor="t" anchorCtr="0" compatLnSpc="1"/>
          <a:lstStyle/>
          <a:p>
            <a:endParaRPr lang="zh-CN" altLang="en-US" sz="2400">
              <a:solidFill>
                <a:schemeClr val="bg1"/>
              </a:solidFill>
              <a:latin typeface="Impact" panose="020B0806030902050204" pitchFamily="34" charset="0"/>
              <a:cs typeface="+mn-ea"/>
            </a:endParaRPr>
          </a:p>
        </p:txBody>
      </p:sp>
      <p:sp>
        <p:nvSpPr>
          <p:cNvPr id="11" name="TextBox 58"/>
          <p:cNvSpPr txBox="1"/>
          <p:nvPr>
            <p:custDataLst>
              <p:tags r:id="rId9"/>
            </p:custDataLst>
          </p:nvPr>
        </p:nvSpPr>
        <p:spPr>
          <a:xfrm>
            <a:off x="5331159" y="3056758"/>
            <a:ext cx="429926" cy="646331"/>
          </a:xfrm>
          <a:prstGeom prst="rect">
            <a:avLst/>
          </a:prstGeom>
          <a:noFill/>
        </p:spPr>
        <p:txBody>
          <a:bodyPr wrap="none" rtlCol="0">
            <a:spAutoFit/>
          </a:bodyPr>
          <a:lstStyle/>
          <a:p>
            <a:pPr algn="ctr"/>
            <a:r>
              <a:rPr lang="en-US" altLang="zh-CN" sz="3600" dirty="0">
                <a:solidFill>
                  <a:schemeClr val="bg1"/>
                </a:solidFill>
                <a:latin typeface="Impact" panose="020B0806030902050204" pitchFamily="34" charset="0"/>
                <a:ea typeface="+mj-ea"/>
              </a:rPr>
              <a:t>3</a:t>
            </a:r>
            <a:endParaRPr lang="zh-CN" altLang="en-US" sz="3600" dirty="0">
              <a:solidFill>
                <a:schemeClr val="bg1"/>
              </a:solidFill>
              <a:latin typeface="Impact" panose="020B0806030902050204" pitchFamily="34" charset="0"/>
              <a:ea typeface="+mj-ea"/>
            </a:endParaRPr>
          </a:p>
        </p:txBody>
      </p:sp>
      <p:sp>
        <p:nvSpPr>
          <p:cNvPr id="12" name="TextBox 59"/>
          <p:cNvSpPr txBox="1"/>
          <p:nvPr>
            <p:custDataLst>
              <p:tags r:id="rId10"/>
            </p:custDataLst>
          </p:nvPr>
        </p:nvSpPr>
        <p:spPr>
          <a:xfrm>
            <a:off x="5357906" y="3982237"/>
            <a:ext cx="417101" cy="646331"/>
          </a:xfrm>
          <a:prstGeom prst="rect">
            <a:avLst/>
          </a:prstGeom>
          <a:noFill/>
        </p:spPr>
        <p:txBody>
          <a:bodyPr wrap="none" rtlCol="0">
            <a:spAutoFit/>
          </a:bodyPr>
          <a:lstStyle/>
          <a:p>
            <a:pPr algn="ctr"/>
            <a:r>
              <a:rPr lang="en-US" altLang="zh-CN" sz="3600" dirty="0">
                <a:solidFill>
                  <a:schemeClr val="bg1"/>
                </a:solidFill>
                <a:latin typeface="Impact" panose="020B0806030902050204" pitchFamily="34" charset="0"/>
                <a:ea typeface="+mj-ea"/>
              </a:rPr>
              <a:t>4</a:t>
            </a:r>
            <a:endParaRPr lang="zh-CN" altLang="en-US" sz="3600" dirty="0">
              <a:solidFill>
                <a:schemeClr val="bg1"/>
              </a:solidFill>
              <a:latin typeface="Impact" panose="020B0806030902050204" pitchFamily="34" charset="0"/>
              <a:ea typeface="+mj-ea"/>
            </a:endParaRPr>
          </a:p>
        </p:txBody>
      </p:sp>
      <p:sp>
        <p:nvSpPr>
          <p:cNvPr id="13" name="Freeform 22"/>
          <p:cNvSpPr/>
          <p:nvPr>
            <p:custDataLst>
              <p:tags r:id="rId11"/>
            </p:custDataLst>
          </p:nvPr>
        </p:nvSpPr>
        <p:spPr bwMode="auto">
          <a:xfrm>
            <a:off x="5235163" y="4960077"/>
            <a:ext cx="631496" cy="629909"/>
          </a:xfrm>
          <a:custGeom>
            <a:avLst/>
            <a:gdLst>
              <a:gd name="T0" fmla="*/ 56 w 826"/>
              <a:gd name="T1" fmla="*/ 0 h 826"/>
              <a:gd name="T2" fmla="*/ 771 w 826"/>
              <a:gd name="T3" fmla="*/ 0 h 826"/>
              <a:gd name="T4" fmla="*/ 826 w 826"/>
              <a:gd name="T5" fmla="*/ 56 h 826"/>
              <a:gd name="T6" fmla="*/ 826 w 826"/>
              <a:gd name="T7" fmla="*/ 771 h 826"/>
              <a:gd name="T8" fmla="*/ 771 w 826"/>
              <a:gd name="T9" fmla="*/ 826 h 826"/>
              <a:gd name="T10" fmla="*/ 56 w 826"/>
              <a:gd name="T11" fmla="*/ 826 h 826"/>
              <a:gd name="T12" fmla="*/ 0 w 826"/>
              <a:gd name="T13" fmla="*/ 771 h 826"/>
              <a:gd name="T14" fmla="*/ 0 w 826"/>
              <a:gd name="T15" fmla="*/ 56 h 826"/>
              <a:gd name="T16" fmla="*/ 56 w 826"/>
              <a:gd name="T17" fmla="*/ 0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6" h="826">
                <a:moveTo>
                  <a:pt x="56" y="0"/>
                </a:moveTo>
                <a:lnTo>
                  <a:pt x="771" y="0"/>
                </a:lnTo>
                <a:cubicBezTo>
                  <a:pt x="801" y="0"/>
                  <a:pt x="826" y="25"/>
                  <a:pt x="826" y="56"/>
                </a:cubicBezTo>
                <a:lnTo>
                  <a:pt x="826" y="771"/>
                </a:lnTo>
                <a:cubicBezTo>
                  <a:pt x="826" y="801"/>
                  <a:pt x="801" y="826"/>
                  <a:pt x="771" y="826"/>
                </a:cubicBezTo>
                <a:lnTo>
                  <a:pt x="56" y="826"/>
                </a:lnTo>
                <a:cubicBezTo>
                  <a:pt x="25" y="826"/>
                  <a:pt x="0" y="801"/>
                  <a:pt x="0" y="771"/>
                </a:cubicBezTo>
                <a:lnTo>
                  <a:pt x="0" y="56"/>
                </a:lnTo>
                <a:cubicBezTo>
                  <a:pt x="0" y="25"/>
                  <a:pt x="25" y="0"/>
                  <a:pt x="56" y="0"/>
                </a:cubicBezTo>
                <a:close/>
              </a:path>
            </a:pathLst>
          </a:custGeom>
          <a:solidFill>
            <a:srgbClr val="00706B"/>
          </a:solidFill>
          <a:ln w="19050" cap="flat">
            <a:noFill/>
            <a:prstDash val="solid"/>
            <a:miter lim="800000"/>
          </a:ln>
          <a:effectLst/>
        </p:spPr>
        <p:txBody>
          <a:bodyPr vert="horz" wrap="square" lIns="91392" tIns="45696" rIns="91392" bIns="45696" numCol="1" anchor="t" anchorCtr="0" compatLnSpc="1"/>
          <a:lstStyle/>
          <a:p>
            <a:endParaRPr lang="zh-CN" altLang="en-US" sz="2400">
              <a:solidFill>
                <a:schemeClr val="bg1"/>
              </a:solidFill>
              <a:latin typeface="Impact" panose="020B0806030902050204" pitchFamily="34" charset="0"/>
              <a:cs typeface="+mn-ea"/>
            </a:endParaRPr>
          </a:p>
        </p:txBody>
      </p:sp>
      <p:sp>
        <p:nvSpPr>
          <p:cNvPr id="14" name="TextBox 59"/>
          <p:cNvSpPr txBox="1"/>
          <p:nvPr>
            <p:custDataLst>
              <p:tags r:id="rId12"/>
            </p:custDataLst>
          </p:nvPr>
        </p:nvSpPr>
        <p:spPr>
          <a:xfrm>
            <a:off x="5349891" y="4937103"/>
            <a:ext cx="433132" cy="646331"/>
          </a:xfrm>
          <a:prstGeom prst="rect">
            <a:avLst/>
          </a:prstGeom>
          <a:noFill/>
        </p:spPr>
        <p:txBody>
          <a:bodyPr wrap="none" rtlCol="0">
            <a:spAutoFit/>
          </a:bodyPr>
          <a:lstStyle/>
          <a:p>
            <a:pPr algn="ctr"/>
            <a:r>
              <a:rPr lang="en-US" altLang="zh-CN" sz="3600" dirty="0">
                <a:solidFill>
                  <a:schemeClr val="bg1"/>
                </a:solidFill>
                <a:latin typeface="Impact" panose="020B0806030902050204" pitchFamily="34" charset="0"/>
                <a:ea typeface="+mj-ea"/>
              </a:rPr>
              <a:t>5</a:t>
            </a:r>
            <a:endParaRPr lang="zh-CN" altLang="en-US" sz="3600" dirty="0">
              <a:solidFill>
                <a:schemeClr val="bg1"/>
              </a:solidFill>
              <a:latin typeface="Impact" panose="020B0806030902050204" pitchFamily="34" charset="0"/>
              <a:ea typeface="+mj-ea"/>
            </a:endParaRPr>
          </a:p>
        </p:txBody>
      </p:sp>
      <p:sp>
        <p:nvSpPr>
          <p:cNvPr id="16" name="文本框 15"/>
          <p:cNvSpPr txBox="1"/>
          <p:nvPr/>
        </p:nvSpPr>
        <p:spPr>
          <a:xfrm>
            <a:off x="6175375" y="4119245"/>
            <a:ext cx="3142615" cy="478155"/>
          </a:xfrm>
          <a:prstGeom prst="rect">
            <a:avLst/>
          </a:prstGeom>
          <a:noFill/>
        </p:spPr>
        <p:txBody>
          <a:bodyPr wrap="square" rtlCol="0">
            <a:spAutoFit/>
          </a:bodyPr>
          <a:lstStyle>
            <a:defPPr>
              <a:defRPr lang="zh-CN"/>
            </a:defPPr>
            <a:lvl1pPr>
              <a:lnSpc>
                <a:spcPct val="90000"/>
              </a:lnSpc>
              <a:defRPr sz="2800" b="1">
                <a:solidFill>
                  <a:srgbClr val="00706B"/>
                </a:solidFill>
                <a:latin typeface="微软雅黑" panose="020B0503020204020204" pitchFamily="34" charset="-122"/>
                <a:ea typeface="微软雅黑" panose="020B0503020204020204" pitchFamily="34" charset="-122"/>
              </a:defRPr>
            </a:lvl1pPr>
          </a:lstStyle>
          <a:p>
            <a:r>
              <a:rPr lang="zh-CN" altLang="en-US" dirty="0"/>
              <a:t>关键点与难点</a:t>
            </a:r>
            <a:endParaRPr lang="zh-CN" altLang="en-US" dirty="0"/>
          </a:p>
        </p:txBody>
      </p:sp>
      <p:sp>
        <p:nvSpPr>
          <p:cNvPr id="17" name="文本框 16"/>
          <p:cNvSpPr txBox="1"/>
          <p:nvPr/>
        </p:nvSpPr>
        <p:spPr>
          <a:xfrm>
            <a:off x="6175266" y="5016787"/>
            <a:ext cx="3785094" cy="478155"/>
          </a:xfrm>
          <a:prstGeom prst="rect">
            <a:avLst/>
          </a:prstGeom>
          <a:noFill/>
        </p:spPr>
        <p:txBody>
          <a:bodyPr wrap="square" rtlCol="0">
            <a:spAutoFit/>
          </a:bodyPr>
          <a:lstStyle>
            <a:defPPr>
              <a:defRPr lang="zh-CN"/>
            </a:defPPr>
            <a:lvl1pPr>
              <a:lnSpc>
                <a:spcPct val="90000"/>
              </a:lnSpc>
              <a:defRPr sz="2800" b="1">
                <a:solidFill>
                  <a:srgbClr val="00706B"/>
                </a:solidFill>
                <a:latin typeface="微软雅黑" panose="020B0503020204020204" pitchFamily="34" charset="-122"/>
                <a:ea typeface="微软雅黑" panose="020B0503020204020204" pitchFamily="34" charset="-122"/>
              </a:defRPr>
            </a:lvl1pPr>
          </a:lstStyle>
          <a:p>
            <a:r>
              <a:rPr lang="zh-CN" altLang="en-US" dirty="0"/>
              <a:t>预期成果与计划</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06"/>
                                        </p:tgtEl>
                                        <p:attrNameLst>
                                          <p:attrName>style.visibility</p:attrName>
                                        </p:attrNameLst>
                                      </p:cBhvr>
                                      <p:to>
                                        <p:strVal val="visible"/>
                                      </p:to>
                                    </p:set>
                                    <p:anim calcmode="lin" valueType="num">
                                      <p:cBhvr additive="base">
                                        <p:cTn id="7" dur="500"/>
                                        <p:tgtEl>
                                          <p:spTgt spid="106"/>
                                        </p:tgtEl>
                                        <p:attrNameLst>
                                          <p:attrName>ppt_y</p:attrName>
                                        </p:attrNameLst>
                                      </p:cBhvr>
                                      <p:tavLst>
                                        <p:tav tm="0">
                                          <p:val>
                                            <p:strVal val="#ppt_y+#ppt_h*1.125000"/>
                                          </p:val>
                                        </p:tav>
                                        <p:tav tm="100000">
                                          <p:val>
                                            <p:strVal val="#ppt_y"/>
                                          </p:val>
                                        </p:tav>
                                      </p:tavLst>
                                    </p:anim>
                                    <p:animEffect transition="in" filter="wipe(up)">
                                      <p:cBhvr>
                                        <p:cTn id="8" dur="500"/>
                                        <p:tgtEl>
                                          <p:spTgt spid="106"/>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07"/>
                                        </p:tgtEl>
                                        <p:attrNameLst>
                                          <p:attrName>style.visibility</p:attrName>
                                        </p:attrNameLst>
                                      </p:cBhvr>
                                      <p:to>
                                        <p:strVal val="visible"/>
                                      </p:to>
                                    </p:set>
                                    <p:anim calcmode="lin" valueType="num">
                                      <p:cBhvr additive="base">
                                        <p:cTn id="11" dur="500"/>
                                        <p:tgtEl>
                                          <p:spTgt spid="107"/>
                                        </p:tgtEl>
                                        <p:attrNameLst>
                                          <p:attrName>ppt_y</p:attrName>
                                        </p:attrNameLst>
                                      </p:cBhvr>
                                      <p:tavLst>
                                        <p:tav tm="0">
                                          <p:val>
                                            <p:strVal val="#ppt_y+#ppt_h*1.125000"/>
                                          </p:val>
                                        </p:tav>
                                        <p:tav tm="100000">
                                          <p:val>
                                            <p:strVal val="#ppt_y"/>
                                          </p:val>
                                        </p:tav>
                                      </p:tavLst>
                                    </p:anim>
                                    <p:animEffect transition="in" filter="wipe(up)">
                                      <p:cBhvr>
                                        <p:cTn id="12" dur="500"/>
                                        <p:tgtEl>
                                          <p:spTgt spid="107"/>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13"/>
                                        </p:tgtEl>
                                        <p:attrNameLst>
                                          <p:attrName>style.visibility</p:attrName>
                                        </p:attrNameLst>
                                      </p:cBhvr>
                                      <p:to>
                                        <p:strVal val="visible"/>
                                      </p:to>
                                    </p:set>
                                    <p:anim calcmode="lin" valueType="num">
                                      <p:cBhvr additive="base">
                                        <p:cTn id="15" dur="500"/>
                                        <p:tgtEl>
                                          <p:spTgt spid="113"/>
                                        </p:tgtEl>
                                        <p:attrNameLst>
                                          <p:attrName>ppt_y</p:attrName>
                                        </p:attrNameLst>
                                      </p:cBhvr>
                                      <p:tavLst>
                                        <p:tav tm="0">
                                          <p:val>
                                            <p:strVal val="#ppt_y+#ppt_h*1.125000"/>
                                          </p:val>
                                        </p:tav>
                                        <p:tav tm="100000">
                                          <p:val>
                                            <p:strVal val="#ppt_y"/>
                                          </p:val>
                                        </p:tav>
                                      </p:tavLst>
                                    </p:anim>
                                    <p:animEffect transition="in" filter="wipe(up)">
                                      <p:cBhvr>
                                        <p:cTn id="16" dur="500"/>
                                        <p:tgtEl>
                                          <p:spTgt spid="113"/>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500"/>
                                        <p:tgtEl>
                                          <p:spTgt spid="115"/>
                                        </p:tgtEl>
                                        <p:attrNameLst>
                                          <p:attrName>ppt_y</p:attrName>
                                        </p:attrNameLst>
                                      </p:cBhvr>
                                      <p:tavLst>
                                        <p:tav tm="0">
                                          <p:val>
                                            <p:strVal val="#ppt_y+#ppt_h*1.125000"/>
                                          </p:val>
                                        </p:tav>
                                        <p:tav tm="100000">
                                          <p:val>
                                            <p:strVal val="#ppt_y"/>
                                          </p:val>
                                        </p:tav>
                                      </p:tavLst>
                                    </p:anim>
                                    <p:animEffect transition="in" filter="wipe(up)">
                                      <p:cBhvr>
                                        <p:cTn id="20" dur="500"/>
                                        <p:tgtEl>
                                          <p:spTgt spid="115"/>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16"/>
                                        </p:tgtEl>
                                        <p:attrNameLst>
                                          <p:attrName>style.visibility</p:attrName>
                                        </p:attrNameLst>
                                      </p:cBhvr>
                                      <p:to>
                                        <p:strVal val="visible"/>
                                      </p:to>
                                    </p:set>
                                    <p:anim calcmode="lin" valueType="num">
                                      <p:cBhvr additive="base">
                                        <p:cTn id="23" dur="500"/>
                                        <p:tgtEl>
                                          <p:spTgt spid="116"/>
                                        </p:tgtEl>
                                        <p:attrNameLst>
                                          <p:attrName>ppt_y</p:attrName>
                                        </p:attrNameLst>
                                      </p:cBhvr>
                                      <p:tavLst>
                                        <p:tav tm="0">
                                          <p:val>
                                            <p:strVal val="#ppt_y+#ppt_h*1.125000"/>
                                          </p:val>
                                        </p:tav>
                                        <p:tav tm="100000">
                                          <p:val>
                                            <p:strVal val="#ppt_y"/>
                                          </p:val>
                                        </p:tav>
                                      </p:tavLst>
                                    </p:anim>
                                    <p:animEffect transition="in" filter="wipe(up)">
                                      <p:cBhvr>
                                        <p:cTn id="24" dur="500"/>
                                        <p:tgtEl>
                                          <p:spTgt spid="116"/>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19"/>
                                        </p:tgtEl>
                                        <p:attrNameLst>
                                          <p:attrName>style.visibility</p:attrName>
                                        </p:attrNameLst>
                                      </p:cBhvr>
                                      <p:to>
                                        <p:strVal val="visible"/>
                                      </p:to>
                                    </p:set>
                                    <p:anim calcmode="lin" valueType="num">
                                      <p:cBhvr additive="base">
                                        <p:cTn id="27" dur="500"/>
                                        <p:tgtEl>
                                          <p:spTgt spid="119"/>
                                        </p:tgtEl>
                                        <p:attrNameLst>
                                          <p:attrName>ppt_y</p:attrName>
                                        </p:attrNameLst>
                                      </p:cBhvr>
                                      <p:tavLst>
                                        <p:tav tm="0">
                                          <p:val>
                                            <p:strVal val="#ppt_y+#ppt_h*1.125000"/>
                                          </p:val>
                                        </p:tav>
                                        <p:tav tm="100000">
                                          <p:val>
                                            <p:strVal val="#ppt_y"/>
                                          </p:val>
                                        </p:tav>
                                      </p:tavLst>
                                    </p:anim>
                                    <p:animEffect transition="in" filter="wipe(up)">
                                      <p:cBhvr>
                                        <p:cTn id="28" dur="500"/>
                                        <p:tgtEl>
                                          <p:spTgt spid="119"/>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20"/>
                                        </p:tgtEl>
                                        <p:attrNameLst>
                                          <p:attrName>style.visibility</p:attrName>
                                        </p:attrNameLst>
                                      </p:cBhvr>
                                      <p:to>
                                        <p:strVal val="visible"/>
                                      </p:to>
                                    </p:set>
                                    <p:anim calcmode="lin" valueType="num">
                                      <p:cBhvr additive="base">
                                        <p:cTn id="31" dur="500"/>
                                        <p:tgtEl>
                                          <p:spTgt spid="120"/>
                                        </p:tgtEl>
                                        <p:attrNameLst>
                                          <p:attrName>ppt_y</p:attrName>
                                        </p:attrNameLst>
                                      </p:cBhvr>
                                      <p:tavLst>
                                        <p:tav tm="0">
                                          <p:val>
                                            <p:strVal val="#ppt_y+#ppt_h*1.125000"/>
                                          </p:val>
                                        </p:tav>
                                        <p:tav tm="100000">
                                          <p:val>
                                            <p:strVal val="#ppt_y"/>
                                          </p:val>
                                        </p:tav>
                                      </p:tavLst>
                                    </p:anim>
                                    <p:animEffect transition="in" filter="wipe(up)">
                                      <p:cBhvr>
                                        <p:cTn id="32" dur="500"/>
                                        <p:tgtEl>
                                          <p:spTgt spid="120"/>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p:tgtEl>
                                          <p:spTgt spid="3"/>
                                        </p:tgtEl>
                                        <p:attrNameLst>
                                          <p:attrName>ppt_y</p:attrName>
                                        </p:attrNameLst>
                                      </p:cBhvr>
                                      <p:tavLst>
                                        <p:tav tm="0">
                                          <p:val>
                                            <p:strVal val="#ppt_y+#ppt_h*1.125000"/>
                                          </p:val>
                                        </p:tav>
                                        <p:tav tm="100000">
                                          <p:val>
                                            <p:strVal val="#ppt_y"/>
                                          </p:val>
                                        </p:tav>
                                      </p:tavLst>
                                    </p:anim>
                                    <p:animEffect transition="in" filter="wipe(up)">
                                      <p:cBhvr>
                                        <p:cTn id="36" dur="500"/>
                                        <p:tgtEl>
                                          <p:spTgt spid="3"/>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p:tgtEl>
                                          <p:spTgt spid="8"/>
                                        </p:tgtEl>
                                        <p:attrNameLst>
                                          <p:attrName>ppt_y</p:attrName>
                                        </p:attrNameLst>
                                      </p:cBhvr>
                                      <p:tavLst>
                                        <p:tav tm="0">
                                          <p:val>
                                            <p:strVal val="#ppt_y+#ppt_h*1.125000"/>
                                          </p:val>
                                        </p:tav>
                                        <p:tav tm="100000">
                                          <p:val>
                                            <p:strVal val="#ppt_y"/>
                                          </p:val>
                                        </p:tav>
                                      </p:tavLst>
                                    </p:anim>
                                    <p:animEffect transition="in" filter="wipe(up)">
                                      <p:cBhvr>
                                        <p:cTn id="40" dur="500"/>
                                        <p:tgtEl>
                                          <p:spTgt spid="8"/>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p:tgtEl>
                                          <p:spTgt spid="9"/>
                                        </p:tgtEl>
                                        <p:attrNameLst>
                                          <p:attrName>ppt_y</p:attrName>
                                        </p:attrNameLst>
                                      </p:cBhvr>
                                      <p:tavLst>
                                        <p:tav tm="0">
                                          <p:val>
                                            <p:strVal val="#ppt_y+#ppt_h*1.125000"/>
                                          </p:val>
                                        </p:tav>
                                        <p:tav tm="100000">
                                          <p:val>
                                            <p:strVal val="#ppt_y"/>
                                          </p:val>
                                        </p:tav>
                                      </p:tavLst>
                                    </p:anim>
                                    <p:animEffect transition="in" filter="wipe(up)">
                                      <p:cBhvr>
                                        <p:cTn id="44" dur="500"/>
                                        <p:tgtEl>
                                          <p:spTgt spid="9"/>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p:tgtEl>
                                          <p:spTgt spid="10"/>
                                        </p:tgtEl>
                                        <p:attrNameLst>
                                          <p:attrName>ppt_y</p:attrName>
                                        </p:attrNameLst>
                                      </p:cBhvr>
                                      <p:tavLst>
                                        <p:tav tm="0">
                                          <p:val>
                                            <p:strVal val="#ppt_y+#ppt_h*1.125000"/>
                                          </p:val>
                                        </p:tav>
                                        <p:tav tm="100000">
                                          <p:val>
                                            <p:strVal val="#ppt_y"/>
                                          </p:val>
                                        </p:tav>
                                      </p:tavLst>
                                    </p:anim>
                                    <p:animEffect transition="in" filter="wipe(up)">
                                      <p:cBhvr>
                                        <p:cTn id="48" dur="500"/>
                                        <p:tgtEl>
                                          <p:spTgt spid="10"/>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p:tgtEl>
                                          <p:spTgt spid="11"/>
                                        </p:tgtEl>
                                        <p:attrNameLst>
                                          <p:attrName>ppt_y</p:attrName>
                                        </p:attrNameLst>
                                      </p:cBhvr>
                                      <p:tavLst>
                                        <p:tav tm="0">
                                          <p:val>
                                            <p:strVal val="#ppt_y+#ppt_h*1.125000"/>
                                          </p:val>
                                        </p:tav>
                                        <p:tav tm="100000">
                                          <p:val>
                                            <p:strVal val="#ppt_y"/>
                                          </p:val>
                                        </p:tav>
                                      </p:tavLst>
                                    </p:anim>
                                    <p:animEffect transition="in" filter="wipe(up)">
                                      <p:cBhvr>
                                        <p:cTn id="52" dur="500"/>
                                        <p:tgtEl>
                                          <p:spTgt spid="11"/>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p:tgtEl>
                                          <p:spTgt spid="12"/>
                                        </p:tgtEl>
                                        <p:attrNameLst>
                                          <p:attrName>ppt_y</p:attrName>
                                        </p:attrNameLst>
                                      </p:cBhvr>
                                      <p:tavLst>
                                        <p:tav tm="0">
                                          <p:val>
                                            <p:strVal val="#ppt_y+#ppt_h*1.125000"/>
                                          </p:val>
                                        </p:tav>
                                        <p:tav tm="100000">
                                          <p:val>
                                            <p:strVal val="#ppt_y"/>
                                          </p:val>
                                        </p:tav>
                                      </p:tavLst>
                                    </p:anim>
                                    <p:animEffect transition="in" filter="wipe(up)">
                                      <p:cBhvr>
                                        <p:cTn id="56" dur="500"/>
                                        <p:tgtEl>
                                          <p:spTgt spid="12"/>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p:tgtEl>
                                          <p:spTgt spid="13"/>
                                        </p:tgtEl>
                                        <p:attrNameLst>
                                          <p:attrName>ppt_y</p:attrName>
                                        </p:attrNameLst>
                                      </p:cBhvr>
                                      <p:tavLst>
                                        <p:tav tm="0">
                                          <p:val>
                                            <p:strVal val="#ppt_y+#ppt_h*1.125000"/>
                                          </p:val>
                                        </p:tav>
                                        <p:tav tm="100000">
                                          <p:val>
                                            <p:strVal val="#ppt_y"/>
                                          </p:val>
                                        </p:tav>
                                      </p:tavLst>
                                    </p:anim>
                                    <p:animEffect transition="in" filter="wipe(up)">
                                      <p:cBhvr>
                                        <p:cTn id="60" dur="500"/>
                                        <p:tgtEl>
                                          <p:spTgt spid="13"/>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p:tgtEl>
                                          <p:spTgt spid="14"/>
                                        </p:tgtEl>
                                        <p:attrNameLst>
                                          <p:attrName>ppt_y</p:attrName>
                                        </p:attrNameLst>
                                      </p:cBhvr>
                                      <p:tavLst>
                                        <p:tav tm="0">
                                          <p:val>
                                            <p:strVal val="#ppt_y+#ppt_h*1.125000"/>
                                          </p:val>
                                        </p:tav>
                                        <p:tav tm="100000">
                                          <p:val>
                                            <p:strVal val="#ppt_y"/>
                                          </p:val>
                                        </p:tav>
                                      </p:tavLst>
                                    </p:anim>
                                    <p:animEffect transition="in" filter="wipe(up)">
                                      <p:cBhvr>
                                        <p:cTn id="64" dur="500"/>
                                        <p:tgtEl>
                                          <p:spTgt spid="14"/>
                                        </p:tgtEl>
                                      </p:cBhvr>
                                    </p:animEffect>
                                  </p:childTnLst>
                                </p:cTn>
                              </p:par>
                              <p:par>
                                <p:cTn id="65" presetID="12" presetClass="entr" presetSubtype="4"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p:tgtEl>
                                          <p:spTgt spid="16"/>
                                        </p:tgtEl>
                                        <p:attrNameLst>
                                          <p:attrName>ppt_y</p:attrName>
                                        </p:attrNameLst>
                                      </p:cBhvr>
                                      <p:tavLst>
                                        <p:tav tm="0">
                                          <p:val>
                                            <p:strVal val="#ppt_y+#ppt_h*1.125000"/>
                                          </p:val>
                                        </p:tav>
                                        <p:tav tm="100000">
                                          <p:val>
                                            <p:strVal val="#ppt_y"/>
                                          </p:val>
                                        </p:tav>
                                      </p:tavLst>
                                    </p:anim>
                                    <p:animEffect transition="in" filter="wipe(up)">
                                      <p:cBhvr>
                                        <p:cTn id="68" dur="500"/>
                                        <p:tgtEl>
                                          <p:spTgt spid="16"/>
                                        </p:tgtEl>
                                      </p:cBhvr>
                                    </p:animEffect>
                                  </p:childTnLst>
                                </p:cTn>
                              </p:par>
                              <p:par>
                                <p:cTn id="69" presetID="12" presetClass="entr" presetSubtype="4"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p:tgtEl>
                                          <p:spTgt spid="17"/>
                                        </p:tgtEl>
                                        <p:attrNameLst>
                                          <p:attrName>ppt_y</p:attrName>
                                        </p:attrNameLst>
                                      </p:cBhvr>
                                      <p:tavLst>
                                        <p:tav tm="0">
                                          <p:val>
                                            <p:strVal val="#ppt_y+#ppt_h*1.125000"/>
                                          </p:val>
                                        </p:tav>
                                        <p:tav tm="100000">
                                          <p:val>
                                            <p:strVal val="#ppt_y"/>
                                          </p:val>
                                        </p:tav>
                                      </p:tavLst>
                                    </p:anim>
                                    <p:animEffect transition="in" filter="wipe(up)">
                                      <p:cBhvr>
                                        <p:cTn id="7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7" grpId="0" animBg="1"/>
      <p:bldP spid="113" grpId="0"/>
      <p:bldP spid="115" grpId="0"/>
      <p:bldP spid="116" grpId="0"/>
      <p:bldP spid="119" grpId="0" animBg="1"/>
      <p:bldP spid="120" grpId="0" animBg="1"/>
      <p:bldP spid="3" grpId="0"/>
      <p:bldP spid="8" grpId="0"/>
      <p:bldP spid="9" grpId="0" animBg="1"/>
      <p:bldP spid="10" grpId="0" animBg="1"/>
      <p:bldP spid="11" grpId="0"/>
      <p:bldP spid="12" grpId="0"/>
      <p:bldP spid="13" grpId="0" animBg="1"/>
      <p:bldP spid="14"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lang="zh-CN" altLang="en-US"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项目背景</a:t>
            </a:r>
            <a:endParaRPr lang="zh-CN" altLang="en-US"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3" name="AutoShape 3"/>
          <p:cNvSpPr/>
          <p:nvPr>
            <p:custDataLst>
              <p:tags r:id="rId2"/>
            </p:custDataLst>
          </p:nvPr>
        </p:nvSpPr>
        <p:spPr>
          <a:xfrm>
            <a:off x="487045" y="1078865"/>
            <a:ext cx="3576955" cy="5669915"/>
          </a:xfrm>
          <a:prstGeom prst="roundRect">
            <a:avLst>
              <a:gd name="adj" fmla="val 4615"/>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459865"/>
            <a:ext cx="457200" cy="457200"/>
          </a:xfrm>
          <a:prstGeom prst="rect">
            <a:avLst/>
          </a:prstGeom>
        </p:spPr>
      </p:pic>
      <p:sp>
        <p:nvSpPr>
          <p:cNvPr id="6" name="AutoShape 6"/>
          <p:cNvSpPr/>
          <p:nvPr>
            <p:custDataLst>
              <p:tags r:id="rId6"/>
            </p:custDataLst>
          </p:nvPr>
        </p:nvSpPr>
        <p:spPr>
          <a:xfrm>
            <a:off x="1651000" y="1434465"/>
            <a:ext cx="2159000" cy="508000"/>
          </a:xfrm>
          <a:prstGeom prst="rect">
            <a:avLst/>
          </a:prstGeom>
          <a:noFill/>
          <a:ln w="12700" cap="flat" cmpd="sng">
            <a:noFill/>
            <a:prstDash val="solid"/>
            <a:round/>
          </a:ln>
        </p:spPr>
        <p:txBody>
          <a:bodyPr vert="horz" wrap="square" lIns="0" tIns="0" rIns="0" bIns="0" rtlCol="0" anchor="ctr" anchorCtr="0"/>
          <a:p>
            <a:pPr marL="0" lvl="1" algn="l">
              <a:lnSpc>
                <a:spcPct val="100000"/>
              </a:lnSpc>
              <a:spcBef>
                <a:spcPts val="0"/>
              </a:spcBef>
              <a:spcAft>
                <a:spcPts val="0"/>
              </a:spcAft>
              <a:buClr>
                <a:srgbClr val="E36C09"/>
              </a:buClr>
              <a:buSzTx/>
              <a:buFontTx/>
              <a:defRPr/>
            </a:pPr>
            <a:r>
              <a:rPr lang="zh-CN" altLang="en-US" sz="2200" b="1" i="0" u="none" strike="noStrike" dirty="0">
                <a:solidFill>
                  <a:schemeClr val="tx1"/>
                </a:solidFill>
                <a:latin typeface="微软雅黑" panose="020B0503020204020204" pitchFamily="34" charset="-122"/>
                <a:ea typeface="微软雅黑" panose="020B0503020204020204" pitchFamily="34" charset="-122"/>
                <a:sym typeface="Noto Sans SC" panose="020B0200000000000000" charset="-122"/>
              </a:rPr>
              <a:t>政策驱动</a:t>
            </a:r>
            <a:endParaRPr lang="zh-CN" altLang="en-US" sz="2200" b="1" i="0" u="none" strike="noStrike" dirty="0">
              <a:solidFill>
                <a:schemeClr val="tx1"/>
              </a:solidFill>
              <a:latin typeface="微软雅黑" panose="020B0503020204020204" pitchFamily="34" charset="-122"/>
              <a:ea typeface="微软雅黑" panose="020B0503020204020204" pitchFamily="34" charset="-122"/>
              <a:sym typeface="Noto Sans SC" panose="020B0200000000000000" charset="-122"/>
            </a:endParaRPr>
          </a:p>
        </p:txBody>
      </p:sp>
      <p:sp>
        <p:nvSpPr>
          <p:cNvPr id="2" name="AutoShape 7"/>
          <p:cNvSpPr/>
          <p:nvPr>
            <p:custDataLst>
              <p:tags r:id="rId7"/>
            </p:custDataLst>
          </p:nvPr>
        </p:nvSpPr>
        <p:spPr>
          <a:xfrm>
            <a:off x="625475" y="2073910"/>
            <a:ext cx="3184525" cy="454406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zh-CN" altLang="en-US" sz="2000" b="1" i="0" u="none" strike="noStrike" dirty="0">
                <a:latin typeface="微软雅黑" panose="020B0503020204020204" pitchFamily="34" charset="-122"/>
                <a:ea typeface="微软雅黑" panose="020B0503020204020204" pitchFamily="34" charset="-122"/>
                <a:sym typeface="Noto Sans SC" panose="020B0200000000000000" charset="-122"/>
              </a:rPr>
              <a:t>● 双碳与电价市场化驱动
</a:t>
            </a:r>
            <a:r>
              <a:rPr lang="zh-CN" altLang="en-US" sz="2000" i="0" u="none" strike="noStrike" dirty="0">
                <a:latin typeface="Noto Sans SC" panose="020B0200000000000000" charset="-122"/>
                <a:ea typeface="Noto Sans SC" panose="020B0200000000000000" charset="-122"/>
                <a:cs typeface="Noto Sans SC" panose="020B0200000000000000" charset="-122"/>
                <a:sym typeface="Noto Sans SC" panose="020B0200000000000000" charset="-122"/>
              </a:rPr>
              <a:t>双碳目标、新型电力系统建设和新能源上网电价市场化改革，推动电力市场交易模式与价格机制重构。
</a:t>
            </a:r>
            <a:r>
              <a:rPr lang="zh-CN" altLang="en-US" sz="2000" b="1" i="0" u="none" strike="noStrike" dirty="0">
                <a:latin typeface="微软雅黑" panose="020B0503020204020204" pitchFamily="34" charset="-122"/>
                <a:ea typeface="微软雅黑" panose="020B0503020204020204" pitchFamily="34" charset="-122"/>
                <a:sym typeface="Noto Sans SC" panose="020B0200000000000000" charset="-122"/>
              </a:rPr>
              <a:t>● 绿电消费需求刚性增长
</a:t>
            </a:r>
            <a:r>
              <a:rPr lang="zh-CN" altLang="en-US" sz="2000" i="0" u="none" strike="noStrike" dirty="0">
                <a:latin typeface="Noto Sans SC" panose="020B0200000000000000" charset="-122"/>
                <a:ea typeface="Noto Sans SC" panose="020B0200000000000000" charset="-122"/>
                <a:sym typeface="Noto Sans SC" panose="020B0200000000000000" charset="-122"/>
              </a:rPr>
              <a:t>供应链绿色化、碳足迹核算和出口合规要求提升，推动绿电直连、绿证、零碳园区等工具加快落地。</a:t>
            </a:r>
            <a:br>
              <a:rPr lang="en-US" sz="2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spcBef>
                <a:spcPts val="1600"/>
              </a:spcBef>
            </a:pP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8"/>
          <p:cNvSpPr/>
          <p:nvPr>
            <p:custDataLst>
              <p:tags r:id="rId8"/>
            </p:custDataLst>
          </p:nvPr>
        </p:nvSpPr>
        <p:spPr>
          <a:xfrm>
            <a:off x="4445000" y="1078865"/>
            <a:ext cx="3302000" cy="5669915"/>
          </a:xfrm>
          <a:prstGeom prst="roundRect">
            <a:avLst>
              <a:gd name="adj" fmla="val 461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pic>
        <p:nvPicPr>
          <p:cNvPr id="16" name="Picture 10"/>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9000" y="1459865"/>
            <a:ext cx="457200" cy="457200"/>
          </a:xfrm>
          <a:prstGeom prst="rect">
            <a:avLst/>
          </a:prstGeom>
        </p:spPr>
      </p:pic>
      <p:sp>
        <p:nvSpPr>
          <p:cNvPr id="21" name="AutoShape 11"/>
          <p:cNvSpPr/>
          <p:nvPr>
            <p:custDataLst>
              <p:tags r:id="rId12"/>
            </p:custDataLst>
          </p:nvPr>
        </p:nvSpPr>
        <p:spPr>
          <a:xfrm>
            <a:off x="5334000" y="1434465"/>
            <a:ext cx="2159000" cy="508000"/>
          </a:xfrm>
          <a:prstGeom prst="rect">
            <a:avLst/>
          </a:prstGeom>
          <a:noFill/>
          <a:ln w="12700" cap="flat" cmpd="sng">
            <a:noFill/>
            <a:prstDash val="solid"/>
            <a:round/>
          </a:ln>
        </p:spPr>
        <p:txBody>
          <a:bodyPr vert="horz" wrap="square" lIns="0" tIns="0" rIns="0" bIns="0" rtlCol="0" anchor="ctr" anchorCtr="0"/>
          <a:p>
            <a:pPr marL="0" lvl="1" algn="l">
              <a:lnSpc>
                <a:spcPct val="100000"/>
              </a:lnSpc>
              <a:spcBef>
                <a:spcPts val="0"/>
              </a:spcBef>
              <a:spcAft>
                <a:spcPts val="0"/>
              </a:spcAft>
              <a:buClr>
                <a:srgbClr val="E36C09"/>
              </a:buClr>
              <a:buSzTx/>
              <a:buFontTx/>
              <a:defRPr/>
            </a:pPr>
            <a:r>
              <a:rPr lang="zh-CN" altLang="en-US" sz="2200" b="1" i="0" u="none" strike="noStrike" dirty="0">
                <a:latin typeface="微软雅黑" panose="020B0503020204020204" pitchFamily="34" charset="-122"/>
                <a:ea typeface="微软雅黑" panose="020B0503020204020204" pitchFamily="34" charset="-122"/>
                <a:sym typeface="Noto Sans SC" panose="020B0200000000000000" charset="-122"/>
              </a:rPr>
              <a:t>现实挑战</a:t>
            </a:r>
            <a:endParaRPr lang="zh-CN" altLang="en-US" sz="2200" b="1" dirty="0">
              <a:latin typeface="微软雅黑" panose="020B0503020204020204" pitchFamily="34" charset="-122"/>
              <a:ea typeface="微软雅黑" panose="020B0503020204020204" pitchFamily="34" charset="-122"/>
            </a:endParaRPr>
          </a:p>
        </p:txBody>
      </p:sp>
      <p:sp>
        <p:nvSpPr>
          <p:cNvPr id="22" name="AutoShape 12"/>
          <p:cNvSpPr/>
          <p:nvPr>
            <p:custDataLst>
              <p:tags r:id="rId13"/>
            </p:custDataLst>
          </p:nvPr>
        </p:nvSpPr>
        <p:spPr>
          <a:xfrm>
            <a:off x="4699000" y="2014855"/>
            <a:ext cx="2794000" cy="4555490"/>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ClrTx/>
              <a:buSzTx/>
              <a:buFontTx/>
              <a:defRPr/>
            </a:pPr>
            <a:r>
              <a:rPr lang="zh-CN" altLang="en-US" sz="2000" b="1" dirty="0">
                <a:latin typeface="微软雅黑" panose="020B0503020204020204" pitchFamily="34" charset="-122"/>
                <a:ea typeface="微软雅黑" panose="020B0503020204020204" pitchFamily="34" charset="-122"/>
                <a:sym typeface="Noto Sans SC" panose="020B0200000000000000" charset="-122"/>
              </a:rPr>
              <a:t>● 新兴要素加速渗透
</a:t>
            </a:r>
            <a:r>
              <a:rPr lang="zh-CN" altLang="en-US" sz="2000" dirty="0">
                <a:latin typeface="Noto Sans SC" panose="020B0200000000000000" charset="-122"/>
                <a:ea typeface="Noto Sans SC" panose="020B0200000000000000" charset="-122"/>
                <a:sym typeface="Noto Sans SC" panose="020B0200000000000000" charset="-122"/>
              </a:rPr>
              <a:t>分布式光伏、自备电厂转型、绿电直连和零碳园区改变电源分布、负荷特性和市场交易边界。</a:t>
            </a:r>
            <a:r>
              <a:rPr lang="zh-CN" altLang="en-US" sz="2000" b="1" dirty="0">
                <a:latin typeface="微软雅黑" panose="020B0503020204020204" pitchFamily="34" charset="-122"/>
                <a:ea typeface="微软雅黑" panose="020B0503020204020204" pitchFamily="34" charset="-122"/>
                <a:sym typeface="Noto Sans SC" panose="020B0200000000000000" charset="-122"/>
              </a:rPr>
              <a:t>
● 政策执行效果有待评估
</a:t>
            </a:r>
            <a:r>
              <a:rPr lang="zh-CN" altLang="en-US" sz="2000" dirty="0">
                <a:latin typeface="Noto Sans SC" panose="020B0200000000000000" charset="-122"/>
                <a:ea typeface="Noto Sans SC" panose="020B0200000000000000" charset="-122"/>
                <a:sym typeface="Noto Sans SC" panose="020B0200000000000000" charset="-122"/>
              </a:rPr>
              <a:t>中央及地方政策密集出台，但政策传导、主体协同、经济效益和市场影响仍需系统量化。</a:t>
            </a:r>
            <a:br>
              <a:rPr lang="en-US" sz="20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2000" b="1">
              <a:solidFill>
                <a:srgbClr val="1F2937"/>
              </a:solidFill>
              <a:latin typeface="Noto Sans SC" panose="020B0200000000000000" charset="-122"/>
              <a:ea typeface="Noto Sans SC" panose="020B0200000000000000" charset="-122"/>
              <a:cs typeface="Noto Sans SC" panose="020B0200000000000000" charset="-122"/>
              <a:sym typeface="+mn-ea"/>
            </a:endParaRPr>
          </a:p>
          <a:p>
            <a:pPr lvl="0" algn="l">
              <a:lnSpc>
                <a:spcPct val="125000"/>
              </a:lnSpc>
              <a:buClrTx/>
              <a:buSzTx/>
              <a:buFontTx/>
              <a:defRPr/>
            </a:pPr>
            <a:endParaRPr lang="en-US" sz="18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13"/>
          <p:cNvSpPr/>
          <p:nvPr>
            <p:custDataLst>
              <p:tags r:id="rId14"/>
            </p:custDataLst>
          </p:nvPr>
        </p:nvSpPr>
        <p:spPr>
          <a:xfrm>
            <a:off x="8128000" y="1078865"/>
            <a:ext cx="3713480" cy="5670550"/>
          </a:xfrm>
          <a:prstGeom prst="roundRect">
            <a:avLst>
              <a:gd name="adj" fmla="val 4615"/>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pic>
        <p:nvPicPr>
          <p:cNvPr id="25" name="Picture 15"/>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82000" y="1459865"/>
            <a:ext cx="457200" cy="457200"/>
          </a:xfrm>
          <a:prstGeom prst="rect">
            <a:avLst/>
          </a:prstGeom>
        </p:spPr>
      </p:pic>
      <p:sp>
        <p:nvSpPr>
          <p:cNvPr id="28" name="AutoShape 16"/>
          <p:cNvSpPr/>
          <p:nvPr>
            <p:custDataLst>
              <p:tags r:id="rId18"/>
            </p:custDataLst>
          </p:nvPr>
        </p:nvSpPr>
        <p:spPr>
          <a:xfrm>
            <a:off x="9017000" y="1434465"/>
            <a:ext cx="2159000" cy="508000"/>
          </a:xfrm>
          <a:prstGeom prst="rect">
            <a:avLst/>
          </a:prstGeom>
          <a:noFill/>
          <a:ln w="12700" cap="flat" cmpd="sng">
            <a:noFill/>
            <a:prstDash val="solid"/>
            <a:round/>
          </a:ln>
        </p:spPr>
        <p:txBody>
          <a:bodyPr vert="horz" wrap="square" lIns="0" tIns="0" rIns="0" bIns="0" rtlCol="0" anchor="ctr" anchorCtr="0"/>
          <a:p>
            <a:pPr marL="0" lvl="1" algn="l">
              <a:lnSpc>
                <a:spcPct val="100000"/>
              </a:lnSpc>
              <a:spcBef>
                <a:spcPts val="0"/>
              </a:spcBef>
              <a:spcAft>
                <a:spcPts val="0"/>
              </a:spcAft>
              <a:buClr>
                <a:srgbClr val="E36C09"/>
              </a:buClr>
              <a:buSzTx/>
              <a:buFontTx/>
              <a:defRPr/>
            </a:pPr>
            <a:r>
              <a:rPr lang="zh-CN" altLang="en-US" sz="2200" b="1" i="0" u="none" strike="noStrike" dirty="0">
                <a:latin typeface="微软雅黑" panose="020B0503020204020204" pitchFamily="34" charset="-122"/>
                <a:ea typeface="微软雅黑" panose="020B0503020204020204" pitchFamily="34" charset="-122"/>
                <a:sym typeface="Noto Sans SC" panose="020B0200000000000000" charset="-122"/>
              </a:rPr>
              <a:t>研究诉求</a:t>
            </a:r>
            <a:endParaRPr lang="zh-CN" altLang="en-US" sz="2200" b="1" dirty="0">
              <a:latin typeface="微软雅黑" panose="020B0503020204020204" pitchFamily="34" charset="-122"/>
              <a:ea typeface="微软雅黑" panose="020B0503020204020204" pitchFamily="34" charset="-122"/>
            </a:endParaRPr>
          </a:p>
        </p:txBody>
      </p:sp>
      <p:sp>
        <p:nvSpPr>
          <p:cNvPr id="29" name="AutoShape 17"/>
          <p:cNvSpPr/>
          <p:nvPr>
            <p:custDataLst>
              <p:tags r:id="rId19"/>
            </p:custDataLst>
          </p:nvPr>
        </p:nvSpPr>
        <p:spPr>
          <a:xfrm>
            <a:off x="8587740" y="2014855"/>
            <a:ext cx="2957195" cy="4061460"/>
          </a:xfrm>
          <a:prstGeom prst="rect">
            <a:avLst/>
          </a:prstGeom>
          <a:noFill/>
          <a:ln w="12700" cap="flat" cmpd="sng">
            <a:noFill/>
            <a:prstDash val="solid"/>
            <a:round/>
          </a:ln>
        </p:spPr>
        <p:txBody>
          <a:bodyPr vert="horz" wrap="square" lIns="0" tIns="0" rIns="0" bIns="0" rtlCol="0" anchor="ctr" anchorCtr="0">
            <a:noAutofit/>
          </a:bodyPr>
          <a:p>
            <a:pPr lvl="0" algn="l">
              <a:lnSpc>
                <a:spcPct val="125000"/>
              </a:lnSpc>
              <a:buClrTx/>
              <a:buSzTx/>
              <a:buFontTx/>
              <a:defRPr/>
            </a:pPr>
            <a:r>
              <a:rPr lang="zh-CN" altLang="en-US" sz="2000" b="1" dirty="0">
                <a:latin typeface="微软雅黑" panose="020B0503020204020204" pitchFamily="34" charset="-122"/>
                <a:ea typeface="微软雅黑" panose="020B0503020204020204" pitchFamily="34" charset="-122"/>
                <a:sym typeface="Noto Sans SC" panose="020B0200000000000000" charset="-122"/>
              </a:rPr>
              <a:t>● 核心问题
</a:t>
            </a:r>
            <a:r>
              <a:rPr lang="zh-CN" altLang="en-US" sz="2000" dirty="0">
                <a:latin typeface="Noto Sans SC" panose="020B0200000000000000" charset="-122"/>
                <a:ea typeface="Noto Sans SC" panose="020B0200000000000000" charset="-122"/>
                <a:cs typeface="Noto Sans SC" panose="020B0200000000000000" charset="-122"/>
                <a:sym typeface="Noto Sans SC" panose="020B0200000000000000" charset="-122"/>
              </a:rPr>
              <a:t>新兴要素将如何影响交易规模、价格机制、供需平衡和电网电源规划。
</a:t>
            </a:r>
            <a:r>
              <a:rPr lang="zh-CN" altLang="en-US" sz="2000" b="1" dirty="0">
                <a:latin typeface="微软雅黑" panose="020B0503020204020204" pitchFamily="34" charset="-122"/>
                <a:ea typeface="微软雅黑" panose="020B0503020204020204" pitchFamily="34" charset="-122"/>
                <a:sym typeface="Noto Sans SC" panose="020B0200000000000000" charset="-122"/>
              </a:rPr>
              <a:t>● 研究目标
</a:t>
            </a:r>
            <a:r>
              <a:rPr lang="zh-CN" altLang="en-US" sz="2000" dirty="0">
                <a:latin typeface="Noto Sans SC" panose="020B0200000000000000" charset="-122"/>
                <a:ea typeface="Noto Sans SC" panose="020B0200000000000000" charset="-122"/>
                <a:sym typeface="Noto Sans SC" panose="020B0200000000000000" charset="-122"/>
              </a:rPr>
              <a:t>以政策解析、历史数据统计和典型项目测算为基础，形成趋势研判和可落地的决策建议。</a:t>
            </a:r>
            <a:br>
              <a:rPr lang="en-US"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b="1">
              <a:solidFill>
                <a:srgbClr val="1F2937"/>
              </a:solidFill>
              <a:latin typeface="Noto Sans SC" panose="020B0200000000000000" charset="-122"/>
              <a:ea typeface="Noto Sans SC" panose="020B0200000000000000" charset="-122"/>
              <a:cs typeface="Noto Sans SC" panose="020B0200000000000000" charset="-122"/>
              <a:sym typeface="+mn-ea"/>
            </a:endParaRPr>
          </a:p>
          <a:p>
            <a:pPr lvl="0" algn="l">
              <a:lnSpc>
                <a:spcPct val="125000"/>
              </a:lnSpc>
              <a:buClrTx/>
              <a:buSzTx/>
              <a:buFontTx/>
              <a:defRPr/>
            </a:pPr>
            <a:endParaRPr lang="en-US" sz="16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par>
                                <p:cTn id="9" presetID="1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up)">
                                      <p:cBhvr>
                                        <p:cTn id="12" dur="500"/>
                                        <p:tgtEl>
                                          <p:spTgt spid="5"/>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p:tgtEl>
                                          <p:spTgt spid="6"/>
                                        </p:tgtEl>
                                        <p:attrNameLst>
                                          <p:attrName>ppt_y</p:attrName>
                                        </p:attrNameLst>
                                      </p:cBhvr>
                                      <p:tavLst>
                                        <p:tav tm="0">
                                          <p:val>
                                            <p:strVal val="#ppt_y+#ppt_h*1.125000"/>
                                          </p:val>
                                        </p:tav>
                                        <p:tav tm="100000">
                                          <p:val>
                                            <p:strVal val="#ppt_y"/>
                                          </p:val>
                                        </p:tav>
                                      </p:tavLst>
                                    </p:anim>
                                    <p:animEffect transition="in" filter="wipe(up)">
                                      <p:cBhvr>
                                        <p:cTn id="16" dur="500"/>
                                        <p:tgtEl>
                                          <p:spTgt spid="6"/>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p:tgtEl>
                                          <p:spTgt spid="2"/>
                                        </p:tgtEl>
                                        <p:attrNameLst>
                                          <p:attrName>ppt_y</p:attrName>
                                        </p:attrNameLst>
                                      </p:cBhvr>
                                      <p:tavLst>
                                        <p:tav tm="0">
                                          <p:val>
                                            <p:strVal val="#ppt_y+#ppt_h*1.125000"/>
                                          </p:val>
                                        </p:tav>
                                        <p:tav tm="100000">
                                          <p:val>
                                            <p:strVal val="#ppt_y"/>
                                          </p:val>
                                        </p:tav>
                                      </p:tavLst>
                                    </p:anim>
                                    <p:animEffect transition="in" filter="wipe(up)">
                                      <p:cBhvr>
                                        <p:cTn id="20" dur="500"/>
                                        <p:tgtEl>
                                          <p:spTgt spid="2"/>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p:tgtEl>
                                          <p:spTgt spid="9"/>
                                        </p:tgtEl>
                                        <p:attrNameLst>
                                          <p:attrName>ppt_y</p:attrName>
                                        </p:attrNameLst>
                                      </p:cBhvr>
                                      <p:tavLst>
                                        <p:tav tm="0">
                                          <p:val>
                                            <p:strVal val="#ppt_y+#ppt_h*1.125000"/>
                                          </p:val>
                                        </p:tav>
                                        <p:tav tm="100000">
                                          <p:val>
                                            <p:strVal val="#ppt_y"/>
                                          </p:val>
                                        </p:tav>
                                      </p:tavLst>
                                    </p:anim>
                                    <p:animEffect transition="in" filter="wipe(up)">
                                      <p:cBhvr>
                                        <p:cTn id="24" dur="500"/>
                                        <p:tgtEl>
                                          <p:spTgt spid="9"/>
                                        </p:tgtEl>
                                      </p:cBhvr>
                                    </p:animEffect>
                                  </p:childTnLst>
                                </p:cTn>
                              </p:par>
                              <p:par>
                                <p:cTn id="25" presetID="12" presetClass="entr" presetSubtype="4"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p:tgtEl>
                                          <p:spTgt spid="16"/>
                                        </p:tgtEl>
                                        <p:attrNameLst>
                                          <p:attrName>ppt_y</p:attrName>
                                        </p:attrNameLst>
                                      </p:cBhvr>
                                      <p:tavLst>
                                        <p:tav tm="0">
                                          <p:val>
                                            <p:strVal val="#ppt_y+#ppt_h*1.125000"/>
                                          </p:val>
                                        </p:tav>
                                        <p:tav tm="100000">
                                          <p:val>
                                            <p:strVal val="#ppt_y"/>
                                          </p:val>
                                        </p:tav>
                                      </p:tavLst>
                                    </p:anim>
                                    <p:animEffect transition="in" filter="wipe(up)">
                                      <p:cBhvr>
                                        <p:cTn id="28" dur="500"/>
                                        <p:tgtEl>
                                          <p:spTgt spid="16"/>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p:tgtEl>
                                          <p:spTgt spid="21"/>
                                        </p:tgtEl>
                                        <p:attrNameLst>
                                          <p:attrName>ppt_y</p:attrName>
                                        </p:attrNameLst>
                                      </p:cBhvr>
                                      <p:tavLst>
                                        <p:tav tm="0">
                                          <p:val>
                                            <p:strVal val="#ppt_y+#ppt_h*1.125000"/>
                                          </p:val>
                                        </p:tav>
                                        <p:tav tm="100000">
                                          <p:val>
                                            <p:strVal val="#ppt_y"/>
                                          </p:val>
                                        </p:tav>
                                      </p:tavLst>
                                    </p:anim>
                                    <p:animEffect transition="in" filter="wipe(up)">
                                      <p:cBhvr>
                                        <p:cTn id="32" dur="500"/>
                                        <p:tgtEl>
                                          <p:spTgt spid="21"/>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p:tgtEl>
                                          <p:spTgt spid="22"/>
                                        </p:tgtEl>
                                        <p:attrNameLst>
                                          <p:attrName>ppt_y</p:attrName>
                                        </p:attrNameLst>
                                      </p:cBhvr>
                                      <p:tavLst>
                                        <p:tav tm="0">
                                          <p:val>
                                            <p:strVal val="#ppt_y+#ppt_h*1.125000"/>
                                          </p:val>
                                        </p:tav>
                                        <p:tav tm="100000">
                                          <p:val>
                                            <p:strVal val="#ppt_y"/>
                                          </p:val>
                                        </p:tav>
                                      </p:tavLst>
                                    </p:anim>
                                    <p:animEffect transition="in" filter="wipe(up)">
                                      <p:cBhvr>
                                        <p:cTn id="36" dur="500"/>
                                        <p:tgtEl>
                                          <p:spTgt spid="22"/>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p:tgtEl>
                                          <p:spTgt spid="23"/>
                                        </p:tgtEl>
                                        <p:attrNameLst>
                                          <p:attrName>ppt_y</p:attrName>
                                        </p:attrNameLst>
                                      </p:cBhvr>
                                      <p:tavLst>
                                        <p:tav tm="0">
                                          <p:val>
                                            <p:strVal val="#ppt_y+#ppt_h*1.125000"/>
                                          </p:val>
                                        </p:tav>
                                        <p:tav tm="100000">
                                          <p:val>
                                            <p:strVal val="#ppt_y"/>
                                          </p:val>
                                        </p:tav>
                                      </p:tavLst>
                                    </p:anim>
                                    <p:animEffect transition="in" filter="wipe(up)">
                                      <p:cBhvr>
                                        <p:cTn id="40" dur="500"/>
                                        <p:tgtEl>
                                          <p:spTgt spid="23"/>
                                        </p:tgtEl>
                                      </p:cBhvr>
                                    </p:animEffect>
                                  </p:childTnLst>
                                </p:cTn>
                              </p:par>
                              <p:par>
                                <p:cTn id="41" presetID="12" presetClass="entr" presetSubtype="4"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p:tgtEl>
                                          <p:spTgt spid="25"/>
                                        </p:tgtEl>
                                        <p:attrNameLst>
                                          <p:attrName>ppt_y</p:attrName>
                                        </p:attrNameLst>
                                      </p:cBhvr>
                                      <p:tavLst>
                                        <p:tav tm="0">
                                          <p:val>
                                            <p:strVal val="#ppt_y+#ppt_h*1.125000"/>
                                          </p:val>
                                        </p:tav>
                                        <p:tav tm="100000">
                                          <p:val>
                                            <p:strVal val="#ppt_y"/>
                                          </p:val>
                                        </p:tav>
                                      </p:tavLst>
                                    </p:anim>
                                    <p:animEffect transition="in" filter="wipe(up)">
                                      <p:cBhvr>
                                        <p:cTn id="44" dur="500"/>
                                        <p:tgtEl>
                                          <p:spTgt spid="25"/>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p:tgtEl>
                                          <p:spTgt spid="28"/>
                                        </p:tgtEl>
                                        <p:attrNameLst>
                                          <p:attrName>ppt_y</p:attrName>
                                        </p:attrNameLst>
                                      </p:cBhvr>
                                      <p:tavLst>
                                        <p:tav tm="0">
                                          <p:val>
                                            <p:strVal val="#ppt_y+#ppt_h*1.125000"/>
                                          </p:val>
                                        </p:tav>
                                        <p:tav tm="100000">
                                          <p:val>
                                            <p:strVal val="#ppt_y"/>
                                          </p:val>
                                        </p:tav>
                                      </p:tavLst>
                                    </p:anim>
                                    <p:animEffect transition="in" filter="wipe(up)">
                                      <p:cBhvr>
                                        <p:cTn id="48" dur="500"/>
                                        <p:tgtEl>
                                          <p:spTgt spid="28"/>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additive="base">
                                        <p:cTn id="51" dur="500"/>
                                        <p:tgtEl>
                                          <p:spTgt spid="29"/>
                                        </p:tgtEl>
                                        <p:attrNameLst>
                                          <p:attrName>ppt_y</p:attrName>
                                        </p:attrNameLst>
                                      </p:cBhvr>
                                      <p:tavLst>
                                        <p:tav tm="0">
                                          <p:val>
                                            <p:strVal val="#ppt_y+#ppt_h*1.125000"/>
                                          </p:val>
                                        </p:tav>
                                        <p:tav tm="100000">
                                          <p:val>
                                            <p:strVal val="#ppt_y"/>
                                          </p:val>
                                        </p:tav>
                                      </p:tavLst>
                                    </p:anim>
                                    <p:animEffect transition="in" filter="wipe(up)">
                                      <p:cBhvr>
                                        <p:cTn id="5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6" grpId="0"/>
      <p:bldP spid="2" grpId="0"/>
      <p:bldP spid="9" grpId="0" bldLvl="0" animBg="1"/>
      <p:bldP spid="21" grpId="0"/>
      <p:bldP spid="22" grpId="0"/>
      <p:bldP spid="23" grpId="0" bldLvl="0" animBg="1"/>
      <p:bldP spid="28"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lang="zh-CN" altLang="en-US"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主要研究内容</a:t>
            </a:r>
            <a:endParaRPr lang="zh-CN" altLang="en-US"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9" name="矩形 8"/>
          <p:cNvSpPr/>
          <p:nvPr/>
        </p:nvSpPr>
        <p:spPr>
          <a:xfrm>
            <a:off x="715010" y="1037590"/>
            <a:ext cx="10761980" cy="606425"/>
          </a:xfrm>
          <a:prstGeom prst="rect">
            <a:avLst/>
          </a:prstGeom>
          <a:solidFill>
            <a:schemeClr val="bg1">
              <a:lumMod val="95000"/>
            </a:schemeClr>
          </a:solidFill>
          <a:ln w="28575">
            <a:solidFill>
              <a:srgbClr val="02969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zh-CN" sz="2400" dirty="0">
                <a:solidFill>
                  <a:schemeClr val="tx1"/>
                </a:solidFill>
                <a:latin typeface="微软雅黑" panose="020B0503020204020204" pitchFamily="34" charset="-122"/>
                <a:ea typeface="微软雅黑" panose="020B0503020204020204" pitchFamily="34" charset="-122"/>
                <a:sym typeface="+mn-ea"/>
              </a:rPr>
              <a:t>2026年面向分布式光伏等要素对电力市场影响的电力经济统计分析咨询服务</a:t>
            </a:r>
            <a:endParaRPr lang="zh-CN" altLang="zh-CN" sz="2400" dirty="0">
              <a:solidFill>
                <a:schemeClr val="tx1"/>
              </a:solidFill>
              <a:latin typeface="微软雅黑" panose="020B0503020204020204" pitchFamily="34" charset="-122"/>
              <a:ea typeface="微软雅黑" panose="020B0503020204020204" pitchFamily="34" charset="-122"/>
              <a:sym typeface="+mn-ea"/>
            </a:endParaRPr>
          </a:p>
        </p:txBody>
      </p:sp>
      <p:sp>
        <p:nvSpPr>
          <p:cNvPr id="181" name="矩形: 圆角 180"/>
          <p:cNvSpPr/>
          <p:nvPr>
            <p:custDataLst>
              <p:tags r:id="rId2"/>
            </p:custDataLst>
          </p:nvPr>
        </p:nvSpPr>
        <p:spPr>
          <a:xfrm>
            <a:off x="9109075" y="2155190"/>
            <a:ext cx="2621915" cy="3651885"/>
          </a:xfrm>
          <a:prstGeom prst="roundRect">
            <a:avLst>
              <a:gd name="adj" fmla="val 10514"/>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 name="矩形 172"/>
          <p:cNvSpPr/>
          <p:nvPr>
            <p:custDataLst>
              <p:tags r:id="rId3"/>
            </p:custDataLst>
          </p:nvPr>
        </p:nvSpPr>
        <p:spPr>
          <a:xfrm>
            <a:off x="9108440" y="2324100"/>
            <a:ext cx="2622550" cy="9017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139" name="文本框 138"/>
          <p:cNvSpPr txBox="1"/>
          <p:nvPr>
            <p:custDataLst>
              <p:tags r:id="rId4"/>
            </p:custDataLst>
          </p:nvPr>
        </p:nvSpPr>
        <p:spPr>
          <a:xfrm>
            <a:off x="9395460" y="3293745"/>
            <a:ext cx="2235835" cy="2182495"/>
          </a:xfrm>
          <a:prstGeom prst="rect">
            <a:avLst/>
          </a:prstGeom>
          <a:noFill/>
        </p:spPr>
        <p:txBody>
          <a:bodyPr wrap="square">
            <a:spAutoFit/>
          </a:bodyPr>
          <a:p>
            <a:pPr algn="l">
              <a:lnSpc>
                <a:spcPct val="108000"/>
              </a:lnSpc>
              <a:buClrTx/>
              <a:buSzTx/>
              <a:buFontTx/>
            </a:pPr>
            <a:r>
              <a:rPr lang="en-US">
                <a:solidFill>
                  <a:srgbClr val="4B5563"/>
                </a:solidFill>
                <a:latin typeface="Noto Sans SC" panose="020B0200000000000000" charset="-122"/>
                <a:ea typeface="Noto Sans SC" panose="020B0200000000000000" charset="-122"/>
                <a:cs typeface="Noto Sans SC" panose="020B0200000000000000" charset="-122"/>
                <a:sym typeface="+mn-ea"/>
              </a:rPr>
              <a:t>围绕政策落地、</a:t>
            </a:r>
            <a:r>
              <a:rPr lang="zh-CN" altLang="en-US">
                <a:solidFill>
                  <a:srgbClr val="4B5563"/>
                </a:solidFill>
                <a:latin typeface="Noto Sans SC" panose="020B0200000000000000" charset="-122"/>
                <a:ea typeface="Noto Sans SC" panose="020B0200000000000000" charset="-122"/>
                <a:cs typeface="Noto Sans SC" panose="020B0200000000000000" charset="-122"/>
                <a:sym typeface="+mn-ea"/>
              </a:rPr>
              <a:t>维度分析</a:t>
            </a:r>
            <a:r>
              <a:rPr lang="en-US">
                <a:solidFill>
                  <a:srgbClr val="4B5563"/>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4B5563"/>
                </a:solidFill>
                <a:latin typeface="Noto Sans SC" panose="020B0200000000000000" charset="-122"/>
                <a:ea typeface="Noto Sans SC" panose="020B0200000000000000" charset="-122"/>
                <a:cs typeface="Noto Sans SC" panose="020B0200000000000000" charset="-122"/>
                <a:sym typeface="+mn-ea"/>
              </a:rPr>
              <a:t>效益测算，</a:t>
            </a:r>
            <a:r>
              <a:rPr lang="en-US">
                <a:solidFill>
                  <a:srgbClr val="4B5563"/>
                </a:solidFill>
                <a:latin typeface="Noto Sans SC" panose="020B0200000000000000" charset="-122"/>
                <a:ea typeface="Noto Sans SC" panose="020B0200000000000000" charset="-122"/>
                <a:cs typeface="Noto Sans SC" panose="020B0200000000000000" charset="-122"/>
                <a:sym typeface="+mn-ea"/>
              </a:rPr>
              <a:t>分析新兴要素对电力市场的影响，</a:t>
            </a:r>
            <a:r>
              <a:rPr lang="zh-CN" altLang="en-US">
                <a:solidFill>
                  <a:srgbClr val="4B5563"/>
                </a:solidFill>
                <a:latin typeface="Noto Sans SC" panose="020B0200000000000000" charset="-122"/>
                <a:ea typeface="Noto Sans SC" panose="020B0200000000000000" charset="-122"/>
                <a:cs typeface="Noto Sans SC" panose="020B0200000000000000" charset="-122"/>
                <a:sym typeface="+mn-ea"/>
              </a:rPr>
              <a:t>对电网及电源规划建设提出针对性优化建议</a:t>
            </a:r>
            <a:endParaRPr lang="zh-CN" altLang="en-US">
              <a:solidFill>
                <a:srgbClr val="4B5563"/>
              </a:solidFill>
              <a:latin typeface="Noto Sans SC" panose="020B0200000000000000" charset="-122"/>
              <a:ea typeface="Noto Sans SC" panose="020B0200000000000000" charset="-122"/>
              <a:cs typeface="Noto Sans SC" panose="020B0200000000000000" charset="-122"/>
              <a:sym typeface="+mn-ea"/>
            </a:endParaRPr>
          </a:p>
        </p:txBody>
      </p:sp>
      <p:sp>
        <p:nvSpPr>
          <p:cNvPr id="140" name="箭头: 右 139"/>
          <p:cNvSpPr/>
          <p:nvPr/>
        </p:nvSpPr>
        <p:spPr>
          <a:xfrm>
            <a:off x="62865" y="1852295"/>
            <a:ext cx="12049125" cy="302895"/>
          </a:xfrm>
          <a:prstGeom prst="rightArrow">
            <a:avLst>
              <a:gd name="adj1" fmla="val 46461"/>
              <a:gd name="adj2" fmla="val 166555"/>
            </a:avLst>
          </a:prstGeom>
          <a:gradFill flip="none" rotWithShape="1">
            <a:gsLst>
              <a:gs pos="55000">
                <a:schemeClr val="accent1"/>
              </a:gs>
              <a:gs pos="38000">
                <a:srgbClr val="029694"/>
              </a:gs>
            </a:gsLst>
            <a:lin ang="0" scaled="1"/>
            <a:tileRect/>
          </a:gra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41" name="椭圆 140"/>
          <p:cNvSpPr/>
          <p:nvPr/>
        </p:nvSpPr>
        <p:spPr>
          <a:xfrm>
            <a:off x="1647190" y="1887391"/>
            <a:ext cx="238379" cy="232973"/>
          </a:xfrm>
          <a:prstGeom prst="ellipse">
            <a:avLst/>
          </a:prstGeom>
          <a:solidFill>
            <a:srgbClr val="EF8403"/>
          </a:solidFill>
          <a:ln w="28575">
            <a:solidFill>
              <a:schemeClr val="bg1"/>
            </a:solidFill>
          </a:ln>
          <a:effectLst>
            <a:outerShdw blurRad="88900" sx="113000" sy="113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1400"/>
          </a:p>
        </p:txBody>
      </p:sp>
      <p:sp>
        <p:nvSpPr>
          <p:cNvPr id="148" name="椭圆 147"/>
          <p:cNvSpPr/>
          <p:nvPr/>
        </p:nvSpPr>
        <p:spPr>
          <a:xfrm>
            <a:off x="4496435" y="1887391"/>
            <a:ext cx="238379" cy="232973"/>
          </a:xfrm>
          <a:prstGeom prst="ellipse">
            <a:avLst/>
          </a:prstGeom>
          <a:solidFill>
            <a:srgbClr val="EF8403"/>
          </a:solidFill>
          <a:ln w="28575">
            <a:solidFill>
              <a:schemeClr val="bg1"/>
            </a:solidFill>
          </a:ln>
          <a:effectLst>
            <a:outerShdw blurRad="88900" sx="113000" sy="113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1400"/>
          </a:p>
        </p:txBody>
      </p:sp>
      <p:sp>
        <p:nvSpPr>
          <p:cNvPr id="152" name="椭圆 151"/>
          <p:cNvSpPr/>
          <p:nvPr/>
        </p:nvSpPr>
        <p:spPr>
          <a:xfrm>
            <a:off x="7380605" y="1887391"/>
            <a:ext cx="238379" cy="232973"/>
          </a:xfrm>
          <a:prstGeom prst="ellipse">
            <a:avLst/>
          </a:prstGeom>
          <a:solidFill>
            <a:srgbClr val="EF8403"/>
          </a:solidFill>
          <a:ln w="28575">
            <a:solidFill>
              <a:schemeClr val="bg1"/>
            </a:solidFill>
          </a:ln>
          <a:effectLst>
            <a:outerShdw blurRad="88900" sx="113000" sy="113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1400"/>
          </a:p>
        </p:txBody>
      </p:sp>
      <p:sp>
        <p:nvSpPr>
          <p:cNvPr id="156" name="椭圆 155"/>
          <p:cNvSpPr/>
          <p:nvPr/>
        </p:nvSpPr>
        <p:spPr>
          <a:xfrm>
            <a:off x="10306685" y="1887391"/>
            <a:ext cx="238379" cy="232973"/>
          </a:xfrm>
          <a:prstGeom prst="ellipse">
            <a:avLst/>
          </a:prstGeom>
          <a:solidFill>
            <a:srgbClr val="EF8403"/>
          </a:solidFill>
          <a:ln w="28575">
            <a:solidFill>
              <a:schemeClr val="bg1"/>
            </a:solidFill>
          </a:ln>
          <a:effectLst>
            <a:outerShdw blurRad="88900" sx="113000" sy="113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1400"/>
          </a:p>
        </p:txBody>
      </p:sp>
      <p:sp>
        <p:nvSpPr>
          <p:cNvPr id="2" name="矩形: 圆角 180"/>
          <p:cNvSpPr/>
          <p:nvPr>
            <p:custDataLst>
              <p:tags r:id="rId5"/>
            </p:custDataLst>
          </p:nvPr>
        </p:nvSpPr>
        <p:spPr>
          <a:xfrm>
            <a:off x="455295" y="2155190"/>
            <a:ext cx="2621915" cy="3652520"/>
          </a:xfrm>
          <a:prstGeom prst="roundRect">
            <a:avLst>
              <a:gd name="adj" fmla="val 10514"/>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3" name="矩形 2"/>
          <p:cNvSpPr/>
          <p:nvPr>
            <p:custDataLst>
              <p:tags r:id="rId6"/>
            </p:custDataLst>
          </p:nvPr>
        </p:nvSpPr>
        <p:spPr>
          <a:xfrm>
            <a:off x="454660" y="2323465"/>
            <a:ext cx="2622550" cy="903605"/>
          </a:xfrm>
          <a:prstGeom prst="rect">
            <a:avLst/>
          </a:prstGeom>
          <a:solidFill>
            <a:srgbClr val="029694"/>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b="1">
              <a:solidFill>
                <a:schemeClr val="bg1"/>
              </a:solidFill>
              <a:latin typeface="微软雅黑" panose="020B0503020204020204" pitchFamily="34" charset="-122"/>
              <a:ea typeface="微软雅黑" panose="020B0503020204020204" pitchFamily="34" charset="-122"/>
              <a:sym typeface="+mn-ea"/>
            </a:endParaRPr>
          </a:p>
        </p:txBody>
      </p:sp>
      <p:sp>
        <p:nvSpPr>
          <p:cNvPr id="4" name="文本框 3"/>
          <p:cNvSpPr txBox="1"/>
          <p:nvPr>
            <p:custDataLst>
              <p:tags r:id="rId7"/>
            </p:custDataLst>
          </p:nvPr>
        </p:nvSpPr>
        <p:spPr>
          <a:xfrm>
            <a:off x="741680" y="3293745"/>
            <a:ext cx="2235835" cy="2030095"/>
          </a:xfrm>
          <a:prstGeom prst="rect">
            <a:avLst/>
          </a:prstGeom>
          <a:noFill/>
        </p:spPr>
        <p:txBody>
          <a:bodyPr wrap="square">
            <a:spAutoFit/>
          </a:bodyPr>
          <a:p>
            <a:r>
              <a:rPr lang="en-US">
                <a:solidFill>
                  <a:srgbClr val="4B5563"/>
                </a:solidFill>
                <a:latin typeface="Noto Sans SC" panose="020B0200000000000000" charset="-122"/>
                <a:ea typeface="Noto Sans SC" panose="020B0200000000000000" charset="-122"/>
                <a:cs typeface="Noto Sans SC" panose="020B0200000000000000" charset="-122"/>
              </a:rPr>
              <a:t>收集国家及省内分布式光伏、绿电直连、零碳园区等政策文件，梳理政策演进脉络与层级传导逻辑，厘清政策全链条设计。</a:t>
            </a:r>
            <a:endParaRPr lang="zh-CN">
              <a:latin typeface="Noto Sans SC" panose="020B0200000000000000" charset="-122"/>
              <a:ea typeface="Noto Sans SC" panose="020B0200000000000000" charset="-122"/>
            </a:endParaRPr>
          </a:p>
        </p:txBody>
      </p:sp>
      <p:sp>
        <p:nvSpPr>
          <p:cNvPr id="5" name="矩形 4"/>
          <p:cNvSpPr/>
          <p:nvPr>
            <p:custDataLst>
              <p:tags r:id="rId8"/>
            </p:custDataLst>
          </p:nvPr>
        </p:nvSpPr>
        <p:spPr>
          <a:xfrm>
            <a:off x="534035" y="2406650"/>
            <a:ext cx="2493645" cy="758190"/>
          </a:xfrm>
          <a:prstGeom prst="rect">
            <a:avLst/>
          </a:prstGeom>
          <a:noFill/>
          <a:ln>
            <a:noFill/>
          </a:ln>
          <a:extLst>
            <a:ext uri="{909E8E84-426E-40DD-AFC4-6F175D3DCCD1}">
              <a14:hiddenFill xmlns:a14="http://schemas.microsoft.com/office/drawing/2010/main">
                <a:solidFill>
                  <a:srgbClr val="029694"/>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r>
              <a:rPr lang="zh-CN">
                <a:latin typeface="微软雅黑" panose="020B0503020204020204" pitchFamily="34" charset="-122"/>
                <a:ea typeface="微软雅黑" panose="020B0503020204020204" pitchFamily="34" charset="-122"/>
              </a:rPr>
              <a:t>政策落地的全链条解析</a:t>
            </a:r>
            <a:endParaRPr lang="zh-CN">
              <a:latin typeface="微软雅黑" panose="020B0503020204020204" pitchFamily="34" charset="-122"/>
              <a:ea typeface="微软雅黑" panose="020B0503020204020204" pitchFamily="34" charset="-122"/>
            </a:endParaRPr>
          </a:p>
        </p:txBody>
      </p:sp>
      <p:sp>
        <p:nvSpPr>
          <p:cNvPr id="6" name="矩形: 圆角 180"/>
          <p:cNvSpPr/>
          <p:nvPr>
            <p:custDataLst>
              <p:tags r:id="rId9"/>
            </p:custDataLst>
          </p:nvPr>
        </p:nvSpPr>
        <p:spPr>
          <a:xfrm>
            <a:off x="3304540" y="2155190"/>
            <a:ext cx="2621915" cy="3652520"/>
          </a:xfrm>
          <a:prstGeom prst="roundRect">
            <a:avLst>
              <a:gd name="adj" fmla="val 10514"/>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custDataLst>
              <p:tags r:id="rId10"/>
            </p:custDataLst>
          </p:nvPr>
        </p:nvSpPr>
        <p:spPr>
          <a:xfrm>
            <a:off x="3303905" y="2323465"/>
            <a:ext cx="2622550" cy="90297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custDataLst>
              <p:tags r:id="rId11"/>
            </p:custDataLst>
          </p:nvPr>
        </p:nvSpPr>
        <p:spPr>
          <a:xfrm>
            <a:off x="3590925" y="3293745"/>
            <a:ext cx="2235835" cy="2182495"/>
          </a:xfrm>
          <a:prstGeom prst="rect">
            <a:avLst/>
          </a:prstGeom>
          <a:noFill/>
        </p:spPr>
        <p:txBody>
          <a:bodyPr wrap="square">
            <a:spAutoFit/>
          </a:bodyPr>
          <a:p>
            <a:pPr algn="l">
              <a:lnSpc>
                <a:spcPct val="108000"/>
              </a:lnSpc>
              <a:buClrTx/>
              <a:buSzTx/>
              <a:buFontTx/>
            </a:pPr>
            <a:r>
              <a:rPr lang="en-US">
                <a:solidFill>
                  <a:srgbClr val="4B5563"/>
                </a:solidFill>
                <a:latin typeface="Noto Sans SC" panose="020B0200000000000000" charset="-122"/>
                <a:ea typeface="Noto Sans SC" panose="020B0200000000000000" charset="-122"/>
                <a:cs typeface="Noto Sans SC" panose="020B0200000000000000" charset="-122"/>
              </a:rPr>
              <a:t>收集分布式光伏、绿电直连等装机、发电、交易数据；从时间和区域维度分析发展趋势与分布差异，识别核心驱动与制约因素。</a:t>
            </a:r>
            <a:endParaRPr lang="en-US">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2" name="矩形: 圆角 180"/>
          <p:cNvSpPr/>
          <p:nvPr>
            <p:custDataLst>
              <p:tags r:id="rId12"/>
            </p:custDataLst>
          </p:nvPr>
        </p:nvSpPr>
        <p:spPr>
          <a:xfrm>
            <a:off x="6188710" y="2155190"/>
            <a:ext cx="2621915" cy="3652520"/>
          </a:xfrm>
          <a:prstGeom prst="roundRect">
            <a:avLst>
              <a:gd name="adj" fmla="val 10514"/>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3" name="矩形 22"/>
          <p:cNvSpPr/>
          <p:nvPr>
            <p:custDataLst>
              <p:tags r:id="rId13"/>
            </p:custDataLst>
          </p:nvPr>
        </p:nvSpPr>
        <p:spPr>
          <a:xfrm>
            <a:off x="6188075" y="2324100"/>
            <a:ext cx="2622550" cy="901700"/>
          </a:xfrm>
          <a:prstGeom prst="rect">
            <a:avLst/>
          </a:prstGeom>
          <a:solidFill>
            <a:srgbClr val="029694"/>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b="1">
              <a:solidFill>
                <a:schemeClr val="bg1"/>
              </a:solidFill>
              <a:latin typeface="微软雅黑" panose="020B0503020204020204" pitchFamily="34" charset="-122"/>
              <a:ea typeface="微软雅黑" panose="020B0503020204020204" pitchFamily="34" charset="-122"/>
              <a:sym typeface="+mn-ea"/>
            </a:endParaRPr>
          </a:p>
        </p:txBody>
      </p:sp>
      <p:sp>
        <p:nvSpPr>
          <p:cNvPr id="24" name="文本框 23"/>
          <p:cNvSpPr txBox="1"/>
          <p:nvPr>
            <p:custDataLst>
              <p:tags r:id="rId14"/>
            </p:custDataLst>
          </p:nvPr>
        </p:nvSpPr>
        <p:spPr>
          <a:xfrm>
            <a:off x="6390005" y="3293745"/>
            <a:ext cx="2235835" cy="2182495"/>
          </a:xfrm>
          <a:prstGeom prst="rect">
            <a:avLst/>
          </a:prstGeom>
          <a:noFill/>
        </p:spPr>
        <p:txBody>
          <a:bodyPr wrap="square">
            <a:spAutoFit/>
          </a:bodyPr>
          <a:p>
            <a:pPr algn="l">
              <a:lnSpc>
                <a:spcPct val="108000"/>
              </a:lnSpc>
              <a:buClrTx/>
              <a:buSzTx/>
              <a:buFontTx/>
            </a:pPr>
            <a:r>
              <a:rPr lang="zh-CN" altLang="en-US">
                <a:solidFill>
                  <a:srgbClr val="4B5563"/>
                </a:solidFill>
                <a:latin typeface="Noto Sans SC" panose="020B0200000000000000" charset="-122"/>
                <a:ea typeface="Noto Sans SC" panose="020B0200000000000000" charset="-122"/>
                <a:cs typeface="Noto Sans SC" panose="020B0200000000000000" charset="-122"/>
              </a:rPr>
              <a:t>选取园区综合能源、工商业分布式、大工业自备电厂等典型项目，构建效益评价指标体系，进行长短期效益</a:t>
            </a:r>
            <a:r>
              <a:rPr lang="zh-CN" altLang="en-US">
                <a:solidFill>
                  <a:srgbClr val="4B5563"/>
                </a:solidFill>
                <a:latin typeface="Noto Sans SC" panose="020B0200000000000000" charset="-122"/>
                <a:ea typeface="Noto Sans SC" panose="020B0200000000000000" charset="-122"/>
                <a:cs typeface="Noto Sans SC" panose="020B0200000000000000" charset="-122"/>
              </a:rPr>
              <a:t>综合测算。</a:t>
            </a:r>
            <a:endParaRPr lang="en-US">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2" name="矩形 31"/>
          <p:cNvSpPr/>
          <p:nvPr>
            <p:custDataLst>
              <p:tags r:id="rId15"/>
            </p:custDataLst>
          </p:nvPr>
        </p:nvSpPr>
        <p:spPr>
          <a:xfrm>
            <a:off x="3368040" y="2406650"/>
            <a:ext cx="2493645" cy="758190"/>
          </a:xfrm>
          <a:prstGeom prst="rect">
            <a:avLst/>
          </a:prstGeom>
          <a:noFill/>
          <a:ln>
            <a:noFill/>
          </a:ln>
          <a:extLst>
            <a:ext uri="{909E8E84-426E-40DD-AFC4-6F175D3DCCD1}">
              <a14:hiddenFill xmlns:a14="http://schemas.microsoft.com/office/drawing/2010/main">
                <a:solidFill>
                  <a:srgbClr val="029694"/>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a:solidFill>
                  <a:schemeClr val="bg1"/>
                </a:solidFill>
                <a:latin typeface="微软雅黑" panose="020B0503020204020204" pitchFamily="34" charset="-122"/>
                <a:ea typeface="微软雅黑" panose="020B0503020204020204" pitchFamily="34" charset="-122"/>
                <a:sym typeface="+mn-ea"/>
              </a:rPr>
              <a:t>基于历史数据</a:t>
            </a:r>
            <a:r>
              <a:rPr lang="zh-CN" altLang="en-US" b="1">
                <a:solidFill>
                  <a:schemeClr val="bg1"/>
                </a:solidFill>
                <a:latin typeface="微软雅黑" panose="020B0503020204020204" pitchFamily="34" charset="-122"/>
                <a:ea typeface="微软雅黑" panose="020B0503020204020204" pitchFamily="34" charset="-122"/>
                <a:sym typeface="+mn-ea"/>
              </a:rPr>
              <a:t>的多维度</a:t>
            </a:r>
            <a:r>
              <a:rPr lang="zh-CN" altLang="en-US" b="1">
                <a:solidFill>
                  <a:schemeClr val="bg1"/>
                </a:solidFill>
                <a:latin typeface="微软雅黑" panose="020B0503020204020204" pitchFamily="34" charset="-122"/>
                <a:ea typeface="微软雅黑" panose="020B0503020204020204" pitchFamily="34" charset="-122"/>
                <a:sym typeface="+mn-ea"/>
              </a:rPr>
              <a:t>统计分析</a:t>
            </a:r>
            <a:endParaRPr lang="zh-CN" altLang="en-US" b="1">
              <a:solidFill>
                <a:schemeClr val="bg1"/>
              </a:solidFill>
              <a:latin typeface="微软雅黑" panose="020B0503020204020204" pitchFamily="34" charset="-122"/>
              <a:ea typeface="微软雅黑" panose="020B0503020204020204" pitchFamily="34" charset="-122"/>
              <a:sym typeface="+mn-ea"/>
            </a:endParaRPr>
          </a:p>
        </p:txBody>
      </p:sp>
      <p:sp>
        <p:nvSpPr>
          <p:cNvPr id="33" name="矩形 32"/>
          <p:cNvSpPr/>
          <p:nvPr>
            <p:custDataLst>
              <p:tags r:id="rId16"/>
            </p:custDataLst>
          </p:nvPr>
        </p:nvSpPr>
        <p:spPr>
          <a:xfrm>
            <a:off x="6261100" y="2395855"/>
            <a:ext cx="2493645" cy="758190"/>
          </a:xfrm>
          <a:prstGeom prst="rect">
            <a:avLst/>
          </a:prstGeom>
          <a:noFill/>
          <a:ln>
            <a:noFill/>
          </a:ln>
          <a:extLst>
            <a:ext uri="{909E8E84-426E-40DD-AFC4-6F175D3DCCD1}">
              <a14:hiddenFill xmlns:a14="http://schemas.microsoft.com/office/drawing/2010/main">
                <a:solidFill>
                  <a:srgbClr val="029694"/>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a:solidFill>
                  <a:schemeClr val="bg1"/>
                </a:solidFill>
                <a:latin typeface="微软雅黑" panose="020B0503020204020204" pitchFamily="34" charset="-122"/>
                <a:ea typeface="微软雅黑" panose="020B0503020204020204" pitchFamily="34" charset="-122"/>
                <a:sym typeface="+mn-ea"/>
              </a:rPr>
              <a:t>典型项目经济效益测算</a:t>
            </a:r>
            <a:endParaRPr lang="zh-CN" altLang="en-US" b="1">
              <a:solidFill>
                <a:schemeClr val="bg1"/>
              </a:solidFill>
              <a:latin typeface="微软雅黑" panose="020B0503020204020204" pitchFamily="34" charset="-122"/>
              <a:ea typeface="微软雅黑" panose="020B0503020204020204" pitchFamily="34" charset="-122"/>
              <a:sym typeface="+mn-ea"/>
            </a:endParaRPr>
          </a:p>
        </p:txBody>
      </p:sp>
      <p:sp>
        <p:nvSpPr>
          <p:cNvPr id="34" name="矩形 33"/>
          <p:cNvSpPr/>
          <p:nvPr>
            <p:custDataLst>
              <p:tags r:id="rId17"/>
            </p:custDataLst>
          </p:nvPr>
        </p:nvSpPr>
        <p:spPr>
          <a:xfrm>
            <a:off x="9173210" y="2403475"/>
            <a:ext cx="2493645" cy="758190"/>
          </a:xfrm>
          <a:prstGeom prst="rect">
            <a:avLst/>
          </a:prstGeom>
          <a:noFill/>
          <a:ln>
            <a:noFill/>
          </a:ln>
          <a:extLst>
            <a:ext uri="{909E8E84-426E-40DD-AFC4-6F175D3DCCD1}">
              <a14:hiddenFill xmlns:a14="http://schemas.microsoft.com/office/drawing/2010/main">
                <a:solidFill>
                  <a:srgbClr val="029694"/>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a:solidFill>
                  <a:schemeClr val="bg1"/>
                </a:solidFill>
                <a:latin typeface="微软雅黑" panose="020B0503020204020204" pitchFamily="34" charset="-122"/>
                <a:ea typeface="微软雅黑" panose="020B0503020204020204" pitchFamily="34" charset="-122"/>
                <a:sym typeface="+mn-ea"/>
              </a:rPr>
              <a:t>电网及电源规划建设建议</a:t>
            </a:r>
            <a:endParaRPr lang="zh-CN" altLang="en-US" b="1">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3000" fill="hold">
                                          <p:stCondLst>
                                            <p:cond delay="0"/>
                                          </p:stCondLst>
                                        </p:cTn>
                                        <p:tgtEl>
                                          <p:spTgt spid="140"/>
                                        </p:tgtEl>
                                        <p:attrNameLst>
                                          <p:attrName>style.visibility</p:attrName>
                                        </p:attrNameLst>
                                      </p:cBhvr>
                                      <p:to>
                                        <p:strVal val="visible"/>
                                      </p:to>
                                    </p:set>
                                    <p:anim calcmode="lin" valueType="num">
                                      <p:cBhvr additive="base">
                                        <p:cTn id="7" dur="3000"/>
                                        <p:tgtEl>
                                          <p:spTgt spid="140"/>
                                        </p:tgtEl>
                                        <p:attrNameLst>
                                          <p:attrName>ppt_x</p:attrName>
                                        </p:attrNameLst>
                                      </p:cBhvr>
                                      <p:tavLst>
                                        <p:tav tm="0">
                                          <p:val>
                                            <p:strVal val="#ppt_x-#ppt_w*1.125000"/>
                                          </p:val>
                                        </p:tav>
                                        <p:tav tm="100000">
                                          <p:val>
                                            <p:strVal val="#ppt_x"/>
                                          </p:val>
                                        </p:tav>
                                      </p:tavLst>
                                    </p:anim>
                                    <p:animEffect transition="in" filter="wipe(right)">
                                      <p:cBhvr>
                                        <p:cTn id="8" dur="3000"/>
                                        <p:tgtEl>
                                          <p:spTgt spid="140"/>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141"/>
                                        </p:tgtEl>
                                        <p:attrNameLst>
                                          <p:attrName>style.visibility</p:attrName>
                                        </p:attrNameLst>
                                      </p:cBhvr>
                                      <p:to>
                                        <p:strVal val="visible"/>
                                      </p:to>
                                    </p:set>
                                    <p:anim calcmode="lin" valueType="num">
                                      <p:cBhvr additive="base">
                                        <p:cTn id="11" dur="500"/>
                                        <p:tgtEl>
                                          <p:spTgt spid="141"/>
                                        </p:tgtEl>
                                        <p:attrNameLst>
                                          <p:attrName>ppt_x</p:attrName>
                                        </p:attrNameLst>
                                      </p:cBhvr>
                                      <p:tavLst>
                                        <p:tav tm="0">
                                          <p:val>
                                            <p:strVal val="#ppt_x-#ppt_w*1.125000"/>
                                          </p:val>
                                        </p:tav>
                                        <p:tav tm="100000">
                                          <p:val>
                                            <p:strVal val="#ppt_x"/>
                                          </p:val>
                                        </p:tav>
                                      </p:tavLst>
                                    </p:anim>
                                    <p:animEffect transition="in" filter="wipe(right)">
                                      <p:cBhvr>
                                        <p:cTn id="12" dur="500"/>
                                        <p:tgtEl>
                                          <p:spTgt spid="141"/>
                                        </p:tgtEl>
                                      </p:cBhvr>
                                    </p:animEffect>
                                  </p:childTnLst>
                                </p:cTn>
                              </p:par>
                              <p:par>
                                <p:cTn id="13" presetID="12" presetClass="entr" presetSubtype="8" fill="hold" grpId="0" nodeType="withEffect">
                                  <p:stCondLst>
                                    <p:cond delay="1000"/>
                                  </p:stCondLst>
                                  <p:childTnLst>
                                    <p:set>
                                      <p:cBhvr>
                                        <p:cTn id="14" dur="1" fill="hold">
                                          <p:stCondLst>
                                            <p:cond delay="0"/>
                                          </p:stCondLst>
                                        </p:cTn>
                                        <p:tgtEl>
                                          <p:spTgt spid="148"/>
                                        </p:tgtEl>
                                        <p:attrNameLst>
                                          <p:attrName>style.visibility</p:attrName>
                                        </p:attrNameLst>
                                      </p:cBhvr>
                                      <p:to>
                                        <p:strVal val="visible"/>
                                      </p:to>
                                    </p:set>
                                    <p:anim calcmode="lin" valueType="num">
                                      <p:cBhvr additive="base">
                                        <p:cTn id="15" dur="500"/>
                                        <p:tgtEl>
                                          <p:spTgt spid="148"/>
                                        </p:tgtEl>
                                        <p:attrNameLst>
                                          <p:attrName>ppt_x</p:attrName>
                                        </p:attrNameLst>
                                      </p:cBhvr>
                                      <p:tavLst>
                                        <p:tav tm="0">
                                          <p:val>
                                            <p:strVal val="#ppt_x-#ppt_w*1.125000"/>
                                          </p:val>
                                        </p:tav>
                                        <p:tav tm="100000">
                                          <p:val>
                                            <p:strVal val="#ppt_x"/>
                                          </p:val>
                                        </p:tav>
                                      </p:tavLst>
                                    </p:anim>
                                    <p:animEffect transition="in" filter="wipe(right)">
                                      <p:cBhvr>
                                        <p:cTn id="16" dur="500"/>
                                        <p:tgtEl>
                                          <p:spTgt spid="148"/>
                                        </p:tgtEl>
                                      </p:cBhvr>
                                    </p:animEffect>
                                  </p:childTnLst>
                                </p:cTn>
                              </p:par>
                              <p:par>
                                <p:cTn id="17" presetID="12" presetClass="entr" presetSubtype="8" fill="hold" grpId="0" nodeType="withEffect">
                                  <p:stCondLst>
                                    <p:cond delay="1500"/>
                                  </p:stCondLst>
                                  <p:childTnLst>
                                    <p:set>
                                      <p:cBhvr>
                                        <p:cTn id="18" dur="1" fill="hold">
                                          <p:stCondLst>
                                            <p:cond delay="0"/>
                                          </p:stCondLst>
                                        </p:cTn>
                                        <p:tgtEl>
                                          <p:spTgt spid="152"/>
                                        </p:tgtEl>
                                        <p:attrNameLst>
                                          <p:attrName>style.visibility</p:attrName>
                                        </p:attrNameLst>
                                      </p:cBhvr>
                                      <p:to>
                                        <p:strVal val="visible"/>
                                      </p:to>
                                    </p:set>
                                    <p:anim calcmode="lin" valueType="num">
                                      <p:cBhvr additive="base">
                                        <p:cTn id="19" dur="500"/>
                                        <p:tgtEl>
                                          <p:spTgt spid="152"/>
                                        </p:tgtEl>
                                        <p:attrNameLst>
                                          <p:attrName>ppt_x</p:attrName>
                                        </p:attrNameLst>
                                      </p:cBhvr>
                                      <p:tavLst>
                                        <p:tav tm="0">
                                          <p:val>
                                            <p:strVal val="#ppt_x-#ppt_w*1.125000"/>
                                          </p:val>
                                        </p:tav>
                                        <p:tav tm="100000">
                                          <p:val>
                                            <p:strVal val="#ppt_x"/>
                                          </p:val>
                                        </p:tav>
                                      </p:tavLst>
                                    </p:anim>
                                    <p:animEffect transition="in" filter="wipe(right)">
                                      <p:cBhvr>
                                        <p:cTn id="20" dur="500"/>
                                        <p:tgtEl>
                                          <p:spTgt spid="152"/>
                                        </p:tgtEl>
                                      </p:cBhvr>
                                    </p:animEffect>
                                  </p:childTnLst>
                                </p:cTn>
                              </p:par>
                              <p:par>
                                <p:cTn id="21" presetID="12" presetClass="entr" presetSubtype="8" fill="hold" grpId="0" nodeType="withEffect">
                                  <p:stCondLst>
                                    <p:cond delay="2000"/>
                                  </p:stCondLst>
                                  <p:childTnLst>
                                    <p:set>
                                      <p:cBhvr>
                                        <p:cTn id="22" dur="1" fill="hold">
                                          <p:stCondLst>
                                            <p:cond delay="0"/>
                                          </p:stCondLst>
                                        </p:cTn>
                                        <p:tgtEl>
                                          <p:spTgt spid="156"/>
                                        </p:tgtEl>
                                        <p:attrNameLst>
                                          <p:attrName>style.visibility</p:attrName>
                                        </p:attrNameLst>
                                      </p:cBhvr>
                                      <p:to>
                                        <p:strVal val="visible"/>
                                      </p:to>
                                    </p:set>
                                    <p:anim calcmode="lin" valueType="num">
                                      <p:cBhvr additive="base">
                                        <p:cTn id="23" dur="500"/>
                                        <p:tgtEl>
                                          <p:spTgt spid="156"/>
                                        </p:tgtEl>
                                        <p:attrNameLst>
                                          <p:attrName>ppt_x</p:attrName>
                                        </p:attrNameLst>
                                      </p:cBhvr>
                                      <p:tavLst>
                                        <p:tav tm="0">
                                          <p:val>
                                            <p:strVal val="#ppt_x-#ppt_w*1.125000"/>
                                          </p:val>
                                        </p:tav>
                                        <p:tav tm="100000">
                                          <p:val>
                                            <p:strVal val="#ppt_x"/>
                                          </p:val>
                                        </p:tav>
                                      </p:tavLst>
                                    </p:anim>
                                    <p:animEffect transition="in" filter="wipe(right)">
                                      <p:cBhvr>
                                        <p:cTn id="24" dur="500"/>
                                        <p:tgtEl>
                                          <p:spTgt spid="156"/>
                                        </p:tgtEl>
                                      </p:cBhvr>
                                    </p:animEffect>
                                  </p:childTnLst>
                                </p:cTn>
                              </p:par>
                              <p:par>
                                <p:cTn id="25" presetID="12" presetClass="entr" presetSubtype="8" fill="hold" grpId="0" nodeType="withEffect">
                                  <p:stCondLst>
                                    <p:cond delay="50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p:tgtEl>
                                          <p:spTgt spid="2"/>
                                        </p:tgtEl>
                                        <p:attrNameLst>
                                          <p:attrName>ppt_x</p:attrName>
                                        </p:attrNameLst>
                                      </p:cBhvr>
                                      <p:tavLst>
                                        <p:tav tm="0">
                                          <p:val>
                                            <p:strVal val="#ppt_x-#ppt_w*1.125000"/>
                                          </p:val>
                                        </p:tav>
                                        <p:tav tm="100000">
                                          <p:val>
                                            <p:strVal val="#ppt_x"/>
                                          </p:val>
                                        </p:tav>
                                      </p:tavLst>
                                    </p:anim>
                                    <p:animEffect transition="in" filter="wipe(right)">
                                      <p:cBhvr>
                                        <p:cTn id="28" dur="500"/>
                                        <p:tgtEl>
                                          <p:spTgt spid="2"/>
                                        </p:tgtEl>
                                      </p:cBhvr>
                                    </p:animEffect>
                                  </p:childTnLst>
                                </p:cTn>
                              </p:par>
                              <p:par>
                                <p:cTn id="29" presetID="12" presetClass="entr" presetSubtype="8" fill="hold" grpId="0" nodeType="withEffect">
                                  <p:stCondLst>
                                    <p:cond delay="50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p:tgtEl>
                                          <p:spTgt spid="3"/>
                                        </p:tgtEl>
                                        <p:attrNameLst>
                                          <p:attrName>ppt_x</p:attrName>
                                        </p:attrNameLst>
                                      </p:cBhvr>
                                      <p:tavLst>
                                        <p:tav tm="0">
                                          <p:val>
                                            <p:strVal val="#ppt_x-#ppt_w*1.125000"/>
                                          </p:val>
                                        </p:tav>
                                        <p:tav tm="100000">
                                          <p:val>
                                            <p:strVal val="#ppt_x"/>
                                          </p:val>
                                        </p:tav>
                                      </p:tavLst>
                                    </p:anim>
                                    <p:animEffect transition="in" filter="wipe(right)">
                                      <p:cBhvr>
                                        <p:cTn id="32" dur="500"/>
                                        <p:tgtEl>
                                          <p:spTgt spid="3"/>
                                        </p:tgtEl>
                                      </p:cBhvr>
                                    </p:animEffect>
                                  </p:childTnLst>
                                </p:cTn>
                              </p:par>
                              <p:par>
                                <p:cTn id="33" presetID="12" presetClass="entr" presetSubtype="8" fill="hold" grpId="0" nodeType="withEffect">
                                  <p:stCondLst>
                                    <p:cond delay="50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p:tgtEl>
                                          <p:spTgt spid="4"/>
                                        </p:tgtEl>
                                        <p:attrNameLst>
                                          <p:attrName>ppt_x</p:attrName>
                                        </p:attrNameLst>
                                      </p:cBhvr>
                                      <p:tavLst>
                                        <p:tav tm="0">
                                          <p:val>
                                            <p:strVal val="#ppt_x-#ppt_w*1.125000"/>
                                          </p:val>
                                        </p:tav>
                                        <p:tav tm="100000">
                                          <p:val>
                                            <p:strVal val="#ppt_x"/>
                                          </p:val>
                                        </p:tav>
                                      </p:tavLst>
                                    </p:anim>
                                    <p:animEffect transition="in" filter="wipe(right)">
                                      <p:cBhvr>
                                        <p:cTn id="36" dur="500"/>
                                        <p:tgtEl>
                                          <p:spTgt spid="4"/>
                                        </p:tgtEl>
                                      </p:cBhvr>
                                    </p:animEffect>
                                  </p:childTnLst>
                                </p:cTn>
                              </p:par>
                              <p:par>
                                <p:cTn id="37" presetID="12" presetClass="entr" presetSubtype="8" fill="hold" grpId="0" nodeType="withEffect">
                                  <p:stCondLst>
                                    <p:cond delay="50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p:tgtEl>
                                          <p:spTgt spid="5"/>
                                        </p:tgtEl>
                                        <p:attrNameLst>
                                          <p:attrName>ppt_x</p:attrName>
                                        </p:attrNameLst>
                                      </p:cBhvr>
                                      <p:tavLst>
                                        <p:tav tm="0">
                                          <p:val>
                                            <p:strVal val="#ppt_x-#ppt_w*1.125000"/>
                                          </p:val>
                                        </p:tav>
                                        <p:tav tm="100000">
                                          <p:val>
                                            <p:strVal val="#ppt_x"/>
                                          </p:val>
                                        </p:tav>
                                      </p:tavLst>
                                    </p:anim>
                                    <p:animEffect transition="in" filter="wipe(right)">
                                      <p:cBhvr>
                                        <p:cTn id="40" dur="500"/>
                                        <p:tgtEl>
                                          <p:spTgt spid="5"/>
                                        </p:tgtEl>
                                      </p:cBhvr>
                                    </p:animEffect>
                                  </p:childTnLst>
                                </p:cTn>
                              </p:par>
                              <p:par>
                                <p:cTn id="41" presetID="12" presetClass="entr" presetSubtype="8" fill="hold" grpId="0" nodeType="withEffect">
                                  <p:stCondLst>
                                    <p:cond delay="100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p:tgtEl>
                                          <p:spTgt spid="6"/>
                                        </p:tgtEl>
                                        <p:attrNameLst>
                                          <p:attrName>ppt_x</p:attrName>
                                        </p:attrNameLst>
                                      </p:cBhvr>
                                      <p:tavLst>
                                        <p:tav tm="0">
                                          <p:val>
                                            <p:strVal val="#ppt_x-#ppt_w*1.125000"/>
                                          </p:val>
                                        </p:tav>
                                        <p:tav tm="100000">
                                          <p:val>
                                            <p:strVal val="#ppt_x"/>
                                          </p:val>
                                        </p:tav>
                                      </p:tavLst>
                                    </p:anim>
                                    <p:animEffect transition="in" filter="wipe(right)">
                                      <p:cBhvr>
                                        <p:cTn id="44" dur="500"/>
                                        <p:tgtEl>
                                          <p:spTgt spid="6"/>
                                        </p:tgtEl>
                                      </p:cBhvr>
                                    </p:animEffect>
                                  </p:childTnLst>
                                </p:cTn>
                              </p:par>
                              <p:par>
                                <p:cTn id="45" presetID="12" presetClass="entr" presetSubtype="8" fill="hold" grpId="0" nodeType="withEffect">
                                  <p:stCondLst>
                                    <p:cond delay="100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p:tgtEl>
                                          <p:spTgt spid="14"/>
                                        </p:tgtEl>
                                        <p:attrNameLst>
                                          <p:attrName>ppt_x</p:attrName>
                                        </p:attrNameLst>
                                      </p:cBhvr>
                                      <p:tavLst>
                                        <p:tav tm="0">
                                          <p:val>
                                            <p:strVal val="#ppt_x-#ppt_w*1.125000"/>
                                          </p:val>
                                        </p:tav>
                                        <p:tav tm="100000">
                                          <p:val>
                                            <p:strVal val="#ppt_x"/>
                                          </p:val>
                                        </p:tav>
                                      </p:tavLst>
                                    </p:anim>
                                    <p:animEffect transition="in" filter="wipe(right)">
                                      <p:cBhvr>
                                        <p:cTn id="48" dur="500"/>
                                        <p:tgtEl>
                                          <p:spTgt spid="14"/>
                                        </p:tgtEl>
                                      </p:cBhvr>
                                    </p:animEffect>
                                  </p:childTnLst>
                                </p:cTn>
                              </p:par>
                              <p:par>
                                <p:cTn id="49" presetID="12" presetClass="entr" presetSubtype="8" fill="hold" grpId="0" nodeType="withEffect">
                                  <p:stCondLst>
                                    <p:cond delay="10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p:tgtEl>
                                          <p:spTgt spid="16"/>
                                        </p:tgtEl>
                                        <p:attrNameLst>
                                          <p:attrName>ppt_x</p:attrName>
                                        </p:attrNameLst>
                                      </p:cBhvr>
                                      <p:tavLst>
                                        <p:tav tm="0">
                                          <p:val>
                                            <p:strVal val="#ppt_x-#ppt_w*1.125000"/>
                                          </p:val>
                                        </p:tav>
                                        <p:tav tm="100000">
                                          <p:val>
                                            <p:strVal val="#ppt_x"/>
                                          </p:val>
                                        </p:tav>
                                      </p:tavLst>
                                    </p:anim>
                                    <p:animEffect transition="in" filter="wipe(right)">
                                      <p:cBhvr>
                                        <p:cTn id="52" dur="500"/>
                                        <p:tgtEl>
                                          <p:spTgt spid="16"/>
                                        </p:tgtEl>
                                      </p:cBhvr>
                                    </p:animEffect>
                                  </p:childTnLst>
                                </p:cTn>
                              </p:par>
                              <p:par>
                                <p:cTn id="53" presetID="12" presetClass="entr" presetSubtype="8" fill="hold" grpId="0" nodeType="withEffect">
                                  <p:stCondLst>
                                    <p:cond delay="1000"/>
                                  </p:stCondLst>
                                  <p:childTnLst>
                                    <p:set>
                                      <p:cBhvr>
                                        <p:cTn id="54" dur="1" fill="hold">
                                          <p:stCondLst>
                                            <p:cond delay="0"/>
                                          </p:stCondLst>
                                        </p:cTn>
                                        <p:tgtEl>
                                          <p:spTgt spid="32"/>
                                        </p:tgtEl>
                                        <p:attrNameLst>
                                          <p:attrName>style.visibility</p:attrName>
                                        </p:attrNameLst>
                                      </p:cBhvr>
                                      <p:to>
                                        <p:strVal val="visible"/>
                                      </p:to>
                                    </p:set>
                                    <p:anim calcmode="lin" valueType="num">
                                      <p:cBhvr additive="base">
                                        <p:cTn id="55" dur="500"/>
                                        <p:tgtEl>
                                          <p:spTgt spid="32"/>
                                        </p:tgtEl>
                                        <p:attrNameLst>
                                          <p:attrName>ppt_x</p:attrName>
                                        </p:attrNameLst>
                                      </p:cBhvr>
                                      <p:tavLst>
                                        <p:tav tm="0">
                                          <p:val>
                                            <p:strVal val="#ppt_x-#ppt_w*1.125000"/>
                                          </p:val>
                                        </p:tav>
                                        <p:tav tm="100000">
                                          <p:val>
                                            <p:strVal val="#ppt_x"/>
                                          </p:val>
                                        </p:tav>
                                      </p:tavLst>
                                    </p:anim>
                                    <p:animEffect transition="in" filter="wipe(right)">
                                      <p:cBhvr>
                                        <p:cTn id="56" dur="500"/>
                                        <p:tgtEl>
                                          <p:spTgt spid="32"/>
                                        </p:tgtEl>
                                      </p:cBhvr>
                                    </p:animEffect>
                                  </p:childTnLst>
                                </p:cTn>
                              </p:par>
                              <p:par>
                                <p:cTn id="57" presetID="12" presetClass="entr" presetSubtype="8" fill="hold" grpId="0" nodeType="withEffect">
                                  <p:stCondLst>
                                    <p:cond delay="150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p:tgtEl>
                                          <p:spTgt spid="22"/>
                                        </p:tgtEl>
                                        <p:attrNameLst>
                                          <p:attrName>ppt_x</p:attrName>
                                        </p:attrNameLst>
                                      </p:cBhvr>
                                      <p:tavLst>
                                        <p:tav tm="0">
                                          <p:val>
                                            <p:strVal val="#ppt_x-#ppt_w*1.125000"/>
                                          </p:val>
                                        </p:tav>
                                        <p:tav tm="100000">
                                          <p:val>
                                            <p:strVal val="#ppt_x"/>
                                          </p:val>
                                        </p:tav>
                                      </p:tavLst>
                                    </p:anim>
                                    <p:animEffect transition="in" filter="wipe(right)">
                                      <p:cBhvr>
                                        <p:cTn id="60" dur="500"/>
                                        <p:tgtEl>
                                          <p:spTgt spid="22"/>
                                        </p:tgtEl>
                                      </p:cBhvr>
                                    </p:animEffect>
                                  </p:childTnLst>
                                </p:cTn>
                              </p:par>
                              <p:par>
                                <p:cTn id="61" presetID="12" presetClass="entr" presetSubtype="8" fill="hold" grpId="0" nodeType="withEffect">
                                  <p:stCondLst>
                                    <p:cond delay="150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p:tgtEl>
                                          <p:spTgt spid="23"/>
                                        </p:tgtEl>
                                        <p:attrNameLst>
                                          <p:attrName>ppt_x</p:attrName>
                                        </p:attrNameLst>
                                      </p:cBhvr>
                                      <p:tavLst>
                                        <p:tav tm="0">
                                          <p:val>
                                            <p:strVal val="#ppt_x-#ppt_w*1.125000"/>
                                          </p:val>
                                        </p:tav>
                                        <p:tav tm="100000">
                                          <p:val>
                                            <p:strVal val="#ppt_x"/>
                                          </p:val>
                                        </p:tav>
                                      </p:tavLst>
                                    </p:anim>
                                    <p:animEffect transition="in" filter="wipe(right)">
                                      <p:cBhvr>
                                        <p:cTn id="64" dur="500"/>
                                        <p:tgtEl>
                                          <p:spTgt spid="23"/>
                                        </p:tgtEl>
                                      </p:cBhvr>
                                    </p:animEffect>
                                  </p:childTnLst>
                                </p:cTn>
                              </p:par>
                              <p:par>
                                <p:cTn id="65" presetID="12" presetClass="entr" presetSubtype="8" fill="hold" grpId="0" nodeType="withEffect">
                                  <p:stCondLst>
                                    <p:cond delay="1500"/>
                                  </p:stCondLst>
                                  <p:childTnLst>
                                    <p:set>
                                      <p:cBhvr>
                                        <p:cTn id="66" dur="1" fill="hold">
                                          <p:stCondLst>
                                            <p:cond delay="0"/>
                                          </p:stCondLst>
                                        </p:cTn>
                                        <p:tgtEl>
                                          <p:spTgt spid="24"/>
                                        </p:tgtEl>
                                        <p:attrNameLst>
                                          <p:attrName>style.visibility</p:attrName>
                                        </p:attrNameLst>
                                      </p:cBhvr>
                                      <p:to>
                                        <p:strVal val="visible"/>
                                      </p:to>
                                    </p:set>
                                    <p:anim calcmode="lin" valueType="num">
                                      <p:cBhvr additive="base">
                                        <p:cTn id="67" dur="500"/>
                                        <p:tgtEl>
                                          <p:spTgt spid="24"/>
                                        </p:tgtEl>
                                        <p:attrNameLst>
                                          <p:attrName>ppt_x</p:attrName>
                                        </p:attrNameLst>
                                      </p:cBhvr>
                                      <p:tavLst>
                                        <p:tav tm="0">
                                          <p:val>
                                            <p:strVal val="#ppt_x-#ppt_w*1.125000"/>
                                          </p:val>
                                        </p:tav>
                                        <p:tav tm="100000">
                                          <p:val>
                                            <p:strVal val="#ppt_x"/>
                                          </p:val>
                                        </p:tav>
                                      </p:tavLst>
                                    </p:anim>
                                    <p:animEffect transition="in" filter="wipe(right)">
                                      <p:cBhvr>
                                        <p:cTn id="68" dur="500"/>
                                        <p:tgtEl>
                                          <p:spTgt spid="24"/>
                                        </p:tgtEl>
                                      </p:cBhvr>
                                    </p:animEffect>
                                  </p:childTnLst>
                                </p:cTn>
                              </p:par>
                              <p:par>
                                <p:cTn id="69" presetID="12" presetClass="entr" presetSubtype="8" fill="hold" grpId="0" nodeType="withEffect">
                                  <p:stCondLst>
                                    <p:cond delay="1500"/>
                                  </p:stCondLst>
                                  <p:childTnLst>
                                    <p:set>
                                      <p:cBhvr>
                                        <p:cTn id="70" dur="1" fill="hold">
                                          <p:stCondLst>
                                            <p:cond delay="0"/>
                                          </p:stCondLst>
                                        </p:cTn>
                                        <p:tgtEl>
                                          <p:spTgt spid="33"/>
                                        </p:tgtEl>
                                        <p:attrNameLst>
                                          <p:attrName>style.visibility</p:attrName>
                                        </p:attrNameLst>
                                      </p:cBhvr>
                                      <p:to>
                                        <p:strVal val="visible"/>
                                      </p:to>
                                    </p:set>
                                    <p:anim calcmode="lin" valueType="num">
                                      <p:cBhvr additive="base">
                                        <p:cTn id="71" dur="500"/>
                                        <p:tgtEl>
                                          <p:spTgt spid="33"/>
                                        </p:tgtEl>
                                        <p:attrNameLst>
                                          <p:attrName>ppt_x</p:attrName>
                                        </p:attrNameLst>
                                      </p:cBhvr>
                                      <p:tavLst>
                                        <p:tav tm="0">
                                          <p:val>
                                            <p:strVal val="#ppt_x-#ppt_w*1.125000"/>
                                          </p:val>
                                        </p:tav>
                                        <p:tav tm="100000">
                                          <p:val>
                                            <p:strVal val="#ppt_x"/>
                                          </p:val>
                                        </p:tav>
                                      </p:tavLst>
                                    </p:anim>
                                    <p:animEffect transition="in" filter="wipe(right)">
                                      <p:cBhvr>
                                        <p:cTn id="72" dur="500"/>
                                        <p:tgtEl>
                                          <p:spTgt spid="33"/>
                                        </p:tgtEl>
                                      </p:cBhvr>
                                    </p:animEffect>
                                  </p:childTnLst>
                                </p:cTn>
                              </p:par>
                              <p:par>
                                <p:cTn id="73" presetID="12" presetClass="entr" presetSubtype="8" fill="hold" grpId="0" nodeType="withEffect">
                                  <p:stCondLst>
                                    <p:cond delay="2000"/>
                                  </p:stCondLst>
                                  <p:childTnLst>
                                    <p:set>
                                      <p:cBhvr>
                                        <p:cTn id="74" dur="1" fill="hold">
                                          <p:stCondLst>
                                            <p:cond delay="0"/>
                                          </p:stCondLst>
                                        </p:cTn>
                                        <p:tgtEl>
                                          <p:spTgt spid="181"/>
                                        </p:tgtEl>
                                        <p:attrNameLst>
                                          <p:attrName>style.visibility</p:attrName>
                                        </p:attrNameLst>
                                      </p:cBhvr>
                                      <p:to>
                                        <p:strVal val="visible"/>
                                      </p:to>
                                    </p:set>
                                    <p:anim calcmode="lin" valueType="num">
                                      <p:cBhvr additive="base">
                                        <p:cTn id="75" dur="500"/>
                                        <p:tgtEl>
                                          <p:spTgt spid="181"/>
                                        </p:tgtEl>
                                        <p:attrNameLst>
                                          <p:attrName>ppt_x</p:attrName>
                                        </p:attrNameLst>
                                      </p:cBhvr>
                                      <p:tavLst>
                                        <p:tav tm="0">
                                          <p:val>
                                            <p:strVal val="#ppt_x-#ppt_w*1.125000"/>
                                          </p:val>
                                        </p:tav>
                                        <p:tav tm="100000">
                                          <p:val>
                                            <p:strVal val="#ppt_x"/>
                                          </p:val>
                                        </p:tav>
                                      </p:tavLst>
                                    </p:anim>
                                    <p:animEffect transition="in" filter="wipe(right)">
                                      <p:cBhvr>
                                        <p:cTn id="76" dur="500"/>
                                        <p:tgtEl>
                                          <p:spTgt spid="181"/>
                                        </p:tgtEl>
                                      </p:cBhvr>
                                    </p:animEffect>
                                  </p:childTnLst>
                                </p:cTn>
                              </p:par>
                              <p:par>
                                <p:cTn id="77" presetID="12" presetClass="entr" presetSubtype="8" fill="hold" grpId="0" nodeType="withEffect">
                                  <p:stCondLst>
                                    <p:cond delay="2000"/>
                                  </p:stCondLst>
                                  <p:childTnLst>
                                    <p:set>
                                      <p:cBhvr>
                                        <p:cTn id="78" dur="1" fill="hold">
                                          <p:stCondLst>
                                            <p:cond delay="0"/>
                                          </p:stCondLst>
                                        </p:cTn>
                                        <p:tgtEl>
                                          <p:spTgt spid="173"/>
                                        </p:tgtEl>
                                        <p:attrNameLst>
                                          <p:attrName>style.visibility</p:attrName>
                                        </p:attrNameLst>
                                      </p:cBhvr>
                                      <p:to>
                                        <p:strVal val="visible"/>
                                      </p:to>
                                    </p:set>
                                    <p:anim calcmode="lin" valueType="num">
                                      <p:cBhvr additive="base">
                                        <p:cTn id="79" dur="500"/>
                                        <p:tgtEl>
                                          <p:spTgt spid="173"/>
                                        </p:tgtEl>
                                        <p:attrNameLst>
                                          <p:attrName>ppt_x</p:attrName>
                                        </p:attrNameLst>
                                      </p:cBhvr>
                                      <p:tavLst>
                                        <p:tav tm="0">
                                          <p:val>
                                            <p:strVal val="#ppt_x-#ppt_w*1.125000"/>
                                          </p:val>
                                        </p:tav>
                                        <p:tav tm="100000">
                                          <p:val>
                                            <p:strVal val="#ppt_x"/>
                                          </p:val>
                                        </p:tav>
                                      </p:tavLst>
                                    </p:anim>
                                    <p:animEffect transition="in" filter="wipe(right)">
                                      <p:cBhvr>
                                        <p:cTn id="80" dur="500"/>
                                        <p:tgtEl>
                                          <p:spTgt spid="173"/>
                                        </p:tgtEl>
                                      </p:cBhvr>
                                    </p:animEffect>
                                  </p:childTnLst>
                                </p:cTn>
                              </p:par>
                              <p:par>
                                <p:cTn id="81" presetID="12" presetClass="entr" presetSubtype="8" fill="hold" grpId="0" nodeType="withEffect">
                                  <p:stCondLst>
                                    <p:cond delay="2000"/>
                                  </p:stCondLst>
                                  <p:childTnLst>
                                    <p:set>
                                      <p:cBhvr>
                                        <p:cTn id="82" dur="1" fill="hold">
                                          <p:stCondLst>
                                            <p:cond delay="0"/>
                                          </p:stCondLst>
                                        </p:cTn>
                                        <p:tgtEl>
                                          <p:spTgt spid="139"/>
                                        </p:tgtEl>
                                        <p:attrNameLst>
                                          <p:attrName>style.visibility</p:attrName>
                                        </p:attrNameLst>
                                      </p:cBhvr>
                                      <p:to>
                                        <p:strVal val="visible"/>
                                      </p:to>
                                    </p:set>
                                    <p:anim calcmode="lin" valueType="num">
                                      <p:cBhvr additive="base">
                                        <p:cTn id="83" dur="500"/>
                                        <p:tgtEl>
                                          <p:spTgt spid="139"/>
                                        </p:tgtEl>
                                        <p:attrNameLst>
                                          <p:attrName>ppt_x</p:attrName>
                                        </p:attrNameLst>
                                      </p:cBhvr>
                                      <p:tavLst>
                                        <p:tav tm="0">
                                          <p:val>
                                            <p:strVal val="#ppt_x-#ppt_w*1.125000"/>
                                          </p:val>
                                        </p:tav>
                                        <p:tav tm="100000">
                                          <p:val>
                                            <p:strVal val="#ppt_x"/>
                                          </p:val>
                                        </p:tav>
                                      </p:tavLst>
                                    </p:anim>
                                    <p:animEffect transition="in" filter="wipe(right)">
                                      <p:cBhvr>
                                        <p:cTn id="84" dur="500"/>
                                        <p:tgtEl>
                                          <p:spTgt spid="139"/>
                                        </p:tgtEl>
                                      </p:cBhvr>
                                    </p:animEffect>
                                  </p:childTnLst>
                                </p:cTn>
                              </p:par>
                              <p:par>
                                <p:cTn id="85" presetID="12" presetClass="entr" presetSubtype="8" fill="hold" grpId="0" nodeType="withEffect">
                                  <p:stCondLst>
                                    <p:cond delay="2000"/>
                                  </p:stCondLst>
                                  <p:childTnLst>
                                    <p:set>
                                      <p:cBhvr>
                                        <p:cTn id="86" dur="1" fill="hold">
                                          <p:stCondLst>
                                            <p:cond delay="0"/>
                                          </p:stCondLst>
                                        </p:cTn>
                                        <p:tgtEl>
                                          <p:spTgt spid="34"/>
                                        </p:tgtEl>
                                        <p:attrNameLst>
                                          <p:attrName>style.visibility</p:attrName>
                                        </p:attrNameLst>
                                      </p:cBhvr>
                                      <p:to>
                                        <p:strVal val="visible"/>
                                      </p:to>
                                    </p:set>
                                    <p:anim calcmode="lin" valueType="num">
                                      <p:cBhvr additive="base">
                                        <p:cTn id="87" dur="500"/>
                                        <p:tgtEl>
                                          <p:spTgt spid="34"/>
                                        </p:tgtEl>
                                        <p:attrNameLst>
                                          <p:attrName>ppt_x</p:attrName>
                                        </p:attrNameLst>
                                      </p:cBhvr>
                                      <p:tavLst>
                                        <p:tav tm="0">
                                          <p:val>
                                            <p:strVal val="#ppt_x-#ppt_w*1.125000"/>
                                          </p:val>
                                        </p:tav>
                                        <p:tav tm="100000">
                                          <p:val>
                                            <p:strVal val="#ppt_x"/>
                                          </p:val>
                                        </p:tav>
                                      </p:tavLst>
                                    </p:anim>
                                    <p:animEffect transition="in" filter="wipe(right)">
                                      <p:cBhvr>
                                        <p:cTn id="8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bldLvl="0" animBg="1"/>
      <p:bldP spid="141" grpId="0" animBg="1"/>
      <p:bldP spid="148" grpId="0" animBg="1"/>
      <p:bldP spid="152" grpId="0" animBg="1"/>
      <p:bldP spid="156" grpId="0" animBg="1"/>
      <p:bldP spid="2" grpId="0" animBg="1"/>
      <p:bldP spid="3" grpId="0" animBg="1"/>
      <p:bldP spid="4" grpId="0"/>
      <p:bldP spid="5" grpId="0" animBg="1"/>
      <p:bldP spid="6" grpId="0" animBg="1"/>
      <p:bldP spid="14" grpId="0" animBg="1"/>
      <p:bldP spid="16" grpId="0"/>
      <p:bldP spid="32" grpId="0" animBg="1"/>
      <p:bldP spid="22" grpId="0" animBg="1"/>
      <p:bldP spid="23" grpId="0" animBg="1"/>
      <p:bldP spid="24" grpId="0"/>
      <p:bldP spid="33" grpId="0" animBg="1"/>
      <p:bldP spid="181" grpId="0" animBg="1"/>
      <p:bldP spid="173" grpId="0" animBg="1"/>
      <p:bldP spid="139" grpId="0"/>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lang="zh-CN" altLang="en-US"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主要研究内容</a:t>
            </a:r>
            <a:endParaRPr lang="zh-CN" altLang="en-US"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9" name="矩形 8"/>
          <p:cNvSpPr/>
          <p:nvPr/>
        </p:nvSpPr>
        <p:spPr>
          <a:xfrm>
            <a:off x="715010" y="1044575"/>
            <a:ext cx="10761980" cy="440690"/>
          </a:xfrm>
          <a:prstGeom prst="rect">
            <a:avLst/>
          </a:prstGeom>
          <a:solidFill>
            <a:schemeClr val="bg1">
              <a:lumMod val="95000"/>
            </a:schemeClr>
          </a:solidFill>
          <a:ln w="28575">
            <a:solidFill>
              <a:srgbClr val="02969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zh-CN" sz="2400" dirty="0">
                <a:solidFill>
                  <a:schemeClr val="tx1"/>
                </a:solidFill>
                <a:latin typeface="微软雅黑" panose="020B0503020204020204" pitchFamily="34" charset="-122"/>
                <a:ea typeface="微软雅黑" panose="020B0503020204020204" pitchFamily="34" charset="-122"/>
                <a:sym typeface="+mn-ea"/>
              </a:rPr>
              <a:t>2026年面向分布式光伏等要素对电力市场影响的电力经济统计分析咨询服务</a:t>
            </a:r>
            <a:endParaRPr lang="zh-CN" altLang="zh-CN" sz="2400" dirty="0">
              <a:solidFill>
                <a:schemeClr val="tx1"/>
              </a:solidFill>
              <a:latin typeface="微软雅黑" panose="020B0503020204020204" pitchFamily="34" charset="-122"/>
              <a:ea typeface="微软雅黑" panose="020B0503020204020204" pitchFamily="34" charset="-122"/>
              <a:sym typeface="+mn-ea"/>
            </a:endParaRPr>
          </a:p>
        </p:txBody>
      </p:sp>
      <p:sp>
        <p:nvSpPr>
          <p:cNvPr id="7" name="AutoShape 4"/>
          <p:cNvSpPr/>
          <p:nvPr>
            <p:custDataLst>
              <p:tags r:id="rId2"/>
            </p:custDataLst>
          </p:nvPr>
        </p:nvSpPr>
        <p:spPr>
          <a:xfrm>
            <a:off x="762000" y="1651000"/>
            <a:ext cx="5207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10" name="AutoShape 5"/>
          <p:cNvSpPr/>
          <p:nvPr>
            <p:custDataLst>
              <p:tags r:id="rId3"/>
            </p:custDataLst>
          </p:nvPr>
        </p:nvSpPr>
        <p:spPr>
          <a:xfrm>
            <a:off x="762000" y="1651000"/>
            <a:ext cx="76200" cy="2413000"/>
          </a:xfrm>
          <a:prstGeom prst="roundRect">
            <a:avLst>
              <a:gd name="adj" fmla="val 0"/>
            </a:avLst>
          </a:prstGeom>
          <a:solidFill>
            <a:srgbClr val="029694"/>
          </a:solidFill>
          <a:ln w="25400" cap="flat" cmpd="sng">
            <a:noFill/>
            <a:prstDash val="solid"/>
            <a:round/>
          </a:ln>
        </p:spPr>
        <p:txBody>
          <a:bodyPr vert="horz" wrap="square" lIns="63500" tIns="63500" rIns="63500" bIns="63500" rtlCol="0" anchor="ctr">
            <a:noAutofit/>
          </a:bodyPr>
          <a:p>
            <a:pPr lvl="0" algn="ctr">
              <a:buClrTx/>
              <a:buSzTx/>
              <a:buFontTx/>
              <a:defRPr/>
            </a:pPr>
            <a:endParaRPr>
              <a:sym typeface="+mn-ea"/>
            </a:endParaRPr>
          </a:p>
        </p:txBody>
      </p:sp>
      <p:pic>
        <p:nvPicPr>
          <p:cNvPr id="11"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2200" y="1841500"/>
            <a:ext cx="304800" cy="304800"/>
          </a:xfrm>
          <a:prstGeom prst="rect">
            <a:avLst/>
          </a:prstGeom>
        </p:spPr>
      </p:pic>
      <p:sp>
        <p:nvSpPr>
          <p:cNvPr id="12" name="AutoShape 7"/>
          <p:cNvSpPr/>
          <p:nvPr>
            <p:custDataLst>
              <p:tags r:id="rId7"/>
            </p:custDataLst>
          </p:nvPr>
        </p:nvSpPr>
        <p:spPr>
          <a:xfrm>
            <a:off x="1524000" y="1803400"/>
            <a:ext cx="4191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政策落地的全链条解析</a:t>
            </a:r>
            <a:endParaRPr lang="en-US" sz="1100"/>
          </a:p>
        </p:txBody>
      </p:sp>
      <p:sp>
        <p:nvSpPr>
          <p:cNvPr id="13" name="AutoShape 8"/>
          <p:cNvSpPr/>
          <p:nvPr>
            <p:custDataLst>
              <p:tags r:id="rId8"/>
            </p:custDataLst>
          </p:nvPr>
        </p:nvSpPr>
        <p:spPr>
          <a:xfrm>
            <a:off x="1092200" y="2268220"/>
            <a:ext cx="4572000" cy="1541780"/>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梳理范围：</a:t>
            </a:r>
            <a:r>
              <a:rPr 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以2021-2026年为窗口，涵盖国家和省级分布式光伏、绿电直连、零碳园区、电价机制等政策文件。</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 分析</a:t>
            </a:r>
            <a:r>
              <a:rPr lang="zh-CN" alt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框架</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按“政策目标—政策工具—实施路径—预期成效”四要素拆解，梳理全链条设计逻辑。</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 核心产出：</a:t>
            </a:r>
            <a:r>
              <a:rPr 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识别从中央到</a:t>
            </a:r>
            <a:r>
              <a:rPr lang="zh-CN" alt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地方</a:t>
            </a:r>
            <a:r>
              <a:rPr 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的政策传导机制与关键</a:t>
            </a:r>
            <a:r>
              <a:rPr lang="zh-CN" alt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影响条件</a:t>
            </a:r>
            <a:r>
              <a:rPr lang="en-US" sz="1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9"/>
          <p:cNvSpPr/>
          <p:nvPr>
            <p:custDataLst>
              <p:tags r:id="rId9"/>
            </p:custDataLst>
          </p:nvPr>
        </p:nvSpPr>
        <p:spPr>
          <a:xfrm>
            <a:off x="6223000" y="1651000"/>
            <a:ext cx="5207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17" name="AutoShape 10"/>
          <p:cNvSpPr/>
          <p:nvPr>
            <p:custDataLst>
              <p:tags r:id="rId10"/>
            </p:custDataLst>
          </p:nvPr>
        </p:nvSpPr>
        <p:spPr>
          <a:xfrm>
            <a:off x="6223000" y="1651000"/>
            <a:ext cx="76200" cy="2413000"/>
          </a:xfrm>
          <a:prstGeom prst="roundRect">
            <a:avLst>
              <a:gd name="adj" fmla="val 0"/>
            </a:avLst>
          </a:prstGeom>
          <a:solidFill>
            <a:srgbClr val="029694"/>
          </a:solidFill>
          <a:ln w="25400" cap="flat" cmpd="sng">
            <a:noFill/>
            <a:prstDash val="solid"/>
            <a:round/>
          </a:ln>
        </p:spPr>
        <p:txBody>
          <a:bodyPr vert="horz" wrap="square" lIns="63500" tIns="63500" rIns="63500" bIns="63500" rtlCol="0" anchor="ctr"/>
          <a:p>
            <a:pPr algn="ctr">
              <a:defRPr/>
            </a:pPr>
          </a:p>
        </p:txBody>
      </p:sp>
      <p:pic>
        <p:nvPicPr>
          <p:cNvPr id="18" name="Picture 11"/>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53200" y="1841500"/>
            <a:ext cx="304800" cy="304800"/>
          </a:xfrm>
          <a:prstGeom prst="rect">
            <a:avLst/>
          </a:prstGeom>
        </p:spPr>
      </p:pic>
      <p:sp>
        <p:nvSpPr>
          <p:cNvPr id="19" name="AutoShape 12"/>
          <p:cNvSpPr/>
          <p:nvPr>
            <p:custDataLst>
              <p:tags r:id="rId14"/>
            </p:custDataLst>
          </p:nvPr>
        </p:nvSpPr>
        <p:spPr>
          <a:xfrm>
            <a:off x="6985000" y="1803400"/>
            <a:ext cx="4191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zh-CN" altLang="en-US" b="1">
                <a:latin typeface="Noto Sans SC" panose="020B0200000000000000" charset="-122"/>
                <a:ea typeface="Noto Sans SC" panose="020B0200000000000000" charset="-122"/>
              </a:rPr>
              <a:t>基于历史数据</a:t>
            </a:r>
            <a:r>
              <a:rPr lang="zh-CN" altLang="en-US" b="1">
                <a:latin typeface="Noto Sans SC" panose="020B0200000000000000" charset="-122"/>
                <a:ea typeface="Noto Sans SC" panose="020B0200000000000000" charset="-122"/>
              </a:rPr>
              <a:t>的多维度统计分析</a:t>
            </a:r>
            <a:endParaRPr lang="zh-CN" altLang="en-US" b="1">
              <a:latin typeface="Noto Sans SC" panose="020B0200000000000000" charset="-122"/>
              <a:ea typeface="Noto Sans SC" panose="020B0200000000000000" charset="-122"/>
            </a:endParaRPr>
          </a:p>
        </p:txBody>
      </p:sp>
      <p:sp>
        <p:nvSpPr>
          <p:cNvPr id="26" name="AutoShape 14"/>
          <p:cNvSpPr/>
          <p:nvPr>
            <p:custDataLst>
              <p:tags r:id="rId15"/>
            </p:custDataLst>
          </p:nvPr>
        </p:nvSpPr>
        <p:spPr>
          <a:xfrm>
            <a:off x="762000" y="4191000"/>
            <a:ext cx="5207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27" name="AutoShape 15"/>
          <p:cNvSpPr/>
          <p:nvPr>
            <p:custDataLst>
              <p:tags r:id="rId16"/>
            </p:custDataLst>
          </p:nvPr>
        </p:nvSpPr>
        <p:spPr>
          <a:xfrm>
            <a:off x="762000" y="4191000"/>
            <a:ext cx="76200" cy="2413000"/>
          </a:xfrm>
          <a:prstGeom prst="roundRect">
            <a:avLst>
              <a:gd name="adj" fmla="val 0"/>
            </a:avLst>
          </a:prstGeom>
          <a:solidFill>
            <a:srgbClr val="029694"/>
          </a:solidFill>
          <a:ln w="25400" cap="flat" cmpd="sng">
            <a:noFill/>
            <a:prstDash val="solid"/>
            <a:round/>
          </a:ln>
        </p:spPr>
        <p:txBody>
          <a:bodyPr vert="horz" wrap="square" lIns="63500" tIns="63500" rIns="63500" bIns="63500" rtlCol="0" anchor="ctr">
            <a:noAutofit/>
          </a:bodyPr>
          <a:p>
            <a:pPr lvl="0" algn="ctr">
              <a:buClrTx/>
              <a:buSzTx/>
              <a:buFontTx/>
              <a:defRPr/>
            </a:pPr>
            <a:endParaRPr>
              <a:sym typeface="+mn-ea"/>
            </a:endParaRPr>
          </a:p>
        </p:txBody>
      </p:sp>
      <p:sp>
        <p:nvSpPr>
          <p:cNvPr id="33" name="AutoShape 17"/>
          <p:cNvSpPr/>
          <p:nvPr>
            <p:custDataLst>
              <p:tags r:id="rId17"/>
            </p:custDataLst>
          </p:nvPr>
        </p:nvSpPr>
        <p:spPr>
          <a:xfrm>
            <a:off x="1524000" y="4343400"/>
            <a:ext cx="4191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典型项目的经济效益测算</a:t>
            </a:r>
            <a:endParaRPr lang="en-US" sz="1100"/>
          </a:p>
        </p:txBody>
      </p:sp>
      <p:sp>
        <p:nvSpPr>
          <p:cNvPr id="34" name="AutoShape 18"/>
          <p:cNvSpPr/>
          <p:nvPr>
            <p:custDataLst>
              <p:tags r:id="rId18"/>
            </p:custDataLst>
          </p:nvPr>
        </p:nvSpPr>
        <p:spPr>
          <a:xfrm>
            <a:off x="1092200" y="4802505"/>
            <a:ext cx="4572000" cy="1504315"/>
          </a:xfrm>
          <a:prstGeom prst="rect">
            <a:avLst/>
          </a:prstGeom>
          <a:noFill/>
          <a:ln w="12700" cap="flat" cmpd="sng">
            <a:noFill/>
            <a:prstDash val="solid"/>
            <a:round/>
          </a:ln>
        </p:spPr>
        <p:txBody>
          <a:bodyPr vert="horz" wrap="square" lIns="0" tIns="0" rIns="0" bIns="0" rtlCol="0" anchor="ctr" anchorCtr="0">
            <a:noAutofit/>
          </a:bodyPr>
          <a:p>
            <a:pPr lvl="0" algn="l">
              <a:lnSpc>
                <a:spcPct val="108000"/>
              </a:lnSpc>
              <a:buClrTx/>
              <a:buSzTx/>
              <a:buFontTx/>
              <a:defRPr/>
            </a:pP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典型</a:t>
            </a:r>
            <a:r>
              <a:rPr lang="zh-CN" alt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a:t>
            </a: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园区综合能源、工商业分布式、大工业自备电厂等，兼顾不同投资主体与区域特征。</a:t>
            </a:r>
            <a:endPar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lvl="0" algn="l">
              <a:lnSpc>
                <a:spcPct val="108000"/>
              </a:lnSpc>
              <a:buClrTx/>
              <a:buSzTx/>
              <a:buFontTx/>
              <a:defRPr/>
            </a:pP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评价指标：</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涵盖投资成本、发电成本、碳减排效益、用电成本节约额等</a:t>
            </a:r>
            <a:r>
              <a:rPr lang="zh-CN" alt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效益测算：</a:t>
            </a:r>
            <a:r>
              <a:rPr lang="zh-CN" alt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通过专业分析统计工具，对项目</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a:t>
            </a:r>
            <a:r>
              <a:rPr lang="zh-CN" alt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长短期效益</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综合测算。</a:t>
            </a:r>
            <a:endParaRPr lang="zh-CN" alt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5" name="AutoShape 19"/>
          <p:cNvSpPr/>
          <p:nvPr>
            <p:custDataLst>
              <p:tags r:id="rId19"/>
            </p:custDataLst>
          </p:nvPr>
        </p:nvSpPr>
        <p:spPr>
          <a:xfrm>
            <a:off x="6223000" y="4191000"/>
            <a:ext cx="5207000" cy="2413000"/>
          </a:xfrm>
          <a:prstGeom prst="roundRect">
            <a:avLst>
              <a:gd name="adj" fmla="val 421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36" name="AutoShape 20"/>
          <p:cNvSpPr/>
          <p:nvPr>
            <p:custDataLst>
              <p:tags r:id="rId20"/>
            </p:custDataLst>
          </p:nvPr>
        </p:nvSpPr>
        <p:spPr>
          <a:xfrm>
            <a:off x="6223000" y="4191000"/>
            <a:ext cx="76200" cy="2413000"/>
          </a:xfrm>
          <a:prstGeom prst="roundRect">
            <a:avLst>
              <a:gd name="adj" fmla="val 0"/>
            </a:avLst>
          </a:prstGeom>
          <a:solidFill>
            <a:srgbClr val="029694"/>
          </a:solidFill>
          <a:ln w="25400" cap="flat" cmpd="sng">
            <a:noFill/>
            <a:prstDash val="solid"/>
            <a:round/>
          </a:ln>
        </p:spPr>
        <p:txBody>
          <a:bodyPr vert="horz" wrap="square" lIns="63500" tIns="63500" rIns="63500" bIns="63500" rtlCol="0" anchor="ctr">
            <a:noAutofit/>
          </a:bodyPr>
          <a:p>
            <a:pPr lvl="0" algn="ctr">
              <a:buClrTx/>
              <a:buSzTx/>
              <a:buFontTx/>
              <a:defRPr/>
            </a:pPr>
            <a:endParaRPr>
              <a:sym typeface="+mn-ea"/>
            </a:endParaRPr>
          </a:p>
        </p:txBody>
      </p:sp>
      <p:sp>
        <p:nvSpPr>
          <p:cNvPr id="38" name="AutoShape 22"/>
          <p:cNvSpPr/>
          <p:nvPr>
            <p:custDataLst>
              <p:tags r:id="rId21"/>
            </p:custDataLst>
          </p:nvPr>
        </p:nvSpPr>
        <p:spPr>
          <a:xfrm>
            <a:off x="6985000" y="4343400"/>
            <a:ext cx="4191000" cy="381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结果汇总</a:t>
            </a: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规划</a:t>
            </a: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a:t>
            </a:r>
            <a:endPar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0" name="Picture 21"/>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527800" y="4381500"/>
            <a:ext cx="355600" cy="355600"/>
          </a:xfrm>
          <a:prstGeom prst="rect">
            <a:avLst/>
          </a:prstGeom>
        </p:spPr>
      </p:pic>
      <p:pic>
        <p:nvPicPr>
          <p:cNvPr id="41" name="图片 40" descr="设置"/>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1132840" y="4411980"/>
            <a:ext cx="294640" cy="294640"/>
          </a:xfrm>
          <a:prstGeom prst="rect">
            <a:avLst/>
          </a:prstGeom>
        </p:spPr>
      </p:pic>
      <p:sp>
        <p:nvSpPr>
          <p:cNvPr id="2" name="AutoShape 8"/>
          <p:cNvSpPr/>
          <p:nvPr>
            <p:custDataLst>
              <p:tags r:id="rId28"/>
            </p:custDataLst>
          </p:nvPr>
        </p:nvSpPr>
        <p:spPr>
          <a:xfrm>
            <a:off x="4305935" y="154940"/>
            <a:ext cx="4572000" cy="1541780"/>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8"/>
          <p:cNvSpPr/>
          <p:nvPr>
            <p:custDataLst>
              <p:tags r:id="rId29"/>
            </p:custDataLst>
          </p:nvPr>
        </p:nvSpPr>
        <p:spPr>
          <a:xfrm>
            <a:off x="6453505" y="2268220"/>
            <a:ext cx="4572000" cy="1541780"/>
          </a:xfrm>
          <a:prstGeom prst="rect">
            <a:avLst/>
          </a:prstGeom>
          <a:noFill/>
          <a:ln w="12700" cap="flat" cmpd="sng">
            <a:noFill/>
            <a:prstDash val="solid"/>
            <a:round/>
          </a:ln>
        </p:spPr>
        <p:txBody>
          <a:bodyPr vert="horz" wrap="square" lIns="0" tIns="0" rIns="0" bIns="0" rtlCol="0" anchor="ctr" anchorCtr="0"/>
          <a:p>
            <a:pPr lvl="0" algn="l">
              <a:lnSpc>
                <a:spcPct val="108000"/>
              </a:lnSpc>
              <a:buClrTx/>
              <a:buSzTx/>
              <a:buFontTx/>
              <a:defRPr/>
            </a:pP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数据范围：</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近5年装机容量、发电量、消纳率、交易价格及市场运行数据。</a:t>
            </a: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 分析维度：</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时间演进维度、区域分布维度</a:t>
            </a:r>
            <a:endPar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lvl="0" algn="l">
              <a:lnSpc>
                <a:spcPct val="108000"/>
              </a:lnSpc>
              <a:buClrTx/>
              <a:buSzTx/>
              <a:buFontTx/>
              <a:defRPr/>
            </a:pP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核心目标：</a:t>
            </a:r>
            <a:r>
              <a:rPr lang="zh-CN" alt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不同分析维度</a:t>
            </a:r>
            <a:r>
              <a:rPr lang="zh-CN" alt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下的结果</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，为建议提出提供定量依据。</a:t>
            </a:r>
            <a:endParaRPr lang="en-US" sz="1400">
              <a:solidFill>
                <a:srgbClr val="374151"/>
              </a:solidFill>
              <a:latin typeface="Noto Sans SC" panose="020B0200000000000000" charset="-122"/>
              <a:ea typeface="Noto Sans SC" panose="020B0200000000000000" charset="-122"/>
              <a:cs typeface="Noto Sans SC" panose="020B0200000000000000" charset="-122"/>
              <a:sym typeface="+mn-ea"/>
            </a:endParaRPr>
          </a:p>
          <a:p>
            <a:pPr marL="0" indent="0" algn="l">
              <a:lnSpc>
                <a:spcPct val="108000"/>
              </a:lnSpc>
              <a:defRPr/>
            </a:pPr>
            <a:endParaRPr lang="en-US" sz="14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18"/>
          <p:cNvSpPr/>
          <p:nvPr>
            <p:custDataLst>
              <p:tags r:id="rId30"/>
            </p:custDataLst>
          </p:nvPr>
        </p:nvSpPr>
        <p:spPr>
          <a:xfrm>
            <a:off x="6553200" y="4802505"/>
            <a:ext cx="4572000" cy="1644650"/>
          </a:xfrm>
          <a:prstGeom prst="rect">
            <a:avLst/>
          </a:prstGeom>
          <a:noFill/>
          <a:ln w="12700" cap="flat" cmpd="sng">
            <a:noFill/>
            <a:prstDash val="solid"/>
            <a:round/>
          </a:ln>
        </p:spPr>
        <p:txBody>
          <a:bodyPr vert="horz" wrap="square" lIns="0" tIns="0" rIns="0" bIns="0" rtlCol="0" anchor="ctr" anchorCtr="0">
            <a:noAutofit/>
          </a:bodyPr>
          <a:p>
            <a:pPr lvl="0" algn="l">
              <a:lnSpc>
                <a:spcPct val="108000"/>
              </a:lnSpc>
              <a:buClrTx/>
              <a:buSzTx/>
              <a:buFontTx/>
              <a:defRPr/>
            </a:pP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综合依据：</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基于政策解析、数据统计分析及项目效益测算结果。
</a:t>
            </a: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建议方向：</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结合电力行业发展实际，提出电网及电源规划建设优化建议</a:t>
            </a: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 应用目标：</a:t>
            </a:r>
            <a:r>
              <a:rPr lang="en-US" sz="14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为政府部门及相关企业决策提供数据支撑，助力电力市场持续健康发展。</a:t>
            </a:r>
            <a:endParaRPr lang="en-US" sz="1400" b="1">
              <a:solidFill>
                <a:srgbClr val="374151"/>
              </a:solidFill>
              <a:latin typeface="Noto Sans SC" panose="020B0200000000000000" charset="-122"/>
              <a:ea typeface="Noto Sans SC" panose="020B0200000000000000" charset="-122"/>
              <a:cs typeface="Noto Sans SC" panose="020B0200000000000000" charset="-122"/>
              <a:sym typeface="+mn-ea"/>
            </a:endParaRPr>
          </a:p>
          <a:p>
            <a:pPr lvl="0" algn="l">
              <a:lnSpc>
                <a:spcPct val="108000"/>
              </a:lnSpc>
              <a:buClrTx/>
              <a:buSzTx/>
              <a:buFontTx/>
              <a:defRPr/>
            </a:pPr>
            <a:endParaRPr lang="zh-CN" alt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up)">
                                      <p:cBhvr>
                                        <p:cTn id="12" dur="500"/>
                                        <p:tgtEl>
                                          <p:spTgt spid="7"/>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ppt_y</p:attrName>
                                        </p:attrNameLst>
                                      </p:cBhvr>
                                      <p:tavLst>
                                        <p:tav tm="0">
                                          <p:val>
                                            <p:strVal val="#ppt_y+#ppt_h*1.125000"/>
                                          </p:val>
                                        </p:tav>
                                        <p:tav tm="100000">
                                          <p:val>
                                            <p:strVal val="#ppt_y"/>
                                          </p:val>
                                        </p:tav>
                                      </p:tavLst>
                                    </p:anim>
                                    <p:animEffect transition="in" filter="wipe(up)">
                                      <p:cBhvr>
                                        <p:cTn id="16" dur="500"/>
                                        <p:tgtEl>
                                          <p:spTgt spid="10"/>
                                        </p:tgtEl>
                                      </p:cBhvr>
                                    </p:animEffect>
                                  </p:childTnLst>
                                </p:cTn>
                              </p:par>
                              <p:par>
                                <p:cTn id="17" presetID="12" presetClass="entr" presetSubtype="4"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p:tgtEl>
                                          <p:spTgt spid="11"/>
                                        </p:tgtEl>
                                        <p:attrNameLst>
                                          <p:attrName>ppt_y</p:attrName>
                                        </p:attrNameLst>
                                      </p:cBhvr>
                                      <p:tavLst>
                                        <p:tav tm="0">
                                          <p:val>
                                            <p:strVal val="#ppt_y+#ppt_h*1.125000"/>
                                          </p:val>
                                        </p:tav>
                                        <p:tav tm="100000">
                                          <p:val>
                                            <p:strVal val="#ppt_y"/>
                                          </p:val>
                                        </p:tav>
                                      </p:tavLst>
                                    </p:anim>
                                    <p:animEffect transition="in" filter="wipe(up)">
                                      <p:cBhvr>
                                        <p:cTn id="20" dur="500"/>
                                        <p:tgtEl>
                                          <p:spTgt spid="11"/>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p:tgtEl>
                                          <p:spTgt spid="12"/>
                                        </p:tgtEl>
                                        <p:attrNameLst>
                                          <p:attrName>ppt_y</p:attrName>
                                        </p:attrNameLst>
                                      </p:cBhvr>
                                      <p:tavLst>
                                        <p:tav tm="0">
                                          <p:val>
                                            <p:strVal val="#ppt_y+#ppt_h*1.125000"/>
                                          </p:val>
                                        </p:tav>
                                        <p:tav tm="100000">
                                          <p:val>
                                            <p:strVal val="#ppt_y"/>
                                          </p:val>
                                        </p:tav>
                                      </p:tavLst>
                                    </p:anim>
                                    <p:animEffect transition="in" filter="wipe(up)">
                                      <p:cBhvr>
                                        <p:cTn id="24" dur="500"/>
                                        <p:tgtEl>
                                          <p:spTgt spid="12"/>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p:tgtEl>
                                          <p:spTgt spid="13"/>
                                        </p:tgtEl>
                                        <p:attrNameLst>
                                          <p:attrName>ppt_y</p:attrName>
                                        </p:attrNameLst>
                                      </p:cBhvr>
                                      <p:tavLst>
                                        <p:tav tm="0">
                                          <p:val>
                                            <p:strVal val="#ppt_y+#ppt_h*1.125000"/>
                                          </p:val>
                                        </p:tav>
                                        <p:tav tm="100000">
                                          <p:val>
                                            <p:strVal val="#ppt_y"/>
                                          </p:val>
                                        </p:tav>
                                      </p:tavLst>
                                    </p:anim>
                                    <p:animEffect transition="in" filter="wipe(up)">
                                      <p:cBhvr>
                                        <p:cTn id="28" dur="500"/>
                                        <p:tgtEl>
                                          <p:spTgt spid="13"/>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p:tgtEl>
                                          <p:spTgt spid="15"/>
                                        </p:tgtEl>
                                        <p:attrNameLst>
                                          <p:attrName>ppt_y</p:attrName>
                                        </p:attrNameLst>
                                      </p:cBhvr>
                                      <p:tavLst>
                                        <p:tav tm="0">
                                          <p:val>
                                            <p:strVal val="#ppt_y+#ppt_h*1.125000"/>
                                          </p:val>
                                        </p:tav>
                                        <p:tav tm="100000">
                                          <p:val>
                                            <p:strVal val="#ppt_y"/>
                                          </p:val>
                                        </p:tav>
                                      </p:tavLst>
                                    </p:anim>
                                    <p:animEffect transition="in" filter="wipe(up)">
                                      <p:cBhvr>
                                        <p:cTn id="32" dur="500"/>
                                        <p:tgtEl>
                                          <p:spTgt spid="15"/>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p:tgtEl>
                                          <p:spTgt spid="17"/>
                                        </p:tgtEl>
                                        <p:attrNameLst>
                                          <p:attrName>ppt_y</p:attrName>
                                        </p:attrNameLst>
                                      </p:cBhvr>
                                      <p:tavLst>
                                        <p:tav tm="0">
                                          <p:val>
                                            <p:strVal val="#ppt_y+#ppt_h*1.125000"/>
                                          </p:val>
                                        </p:tav>
                                        <p:tav tm="100000">
                                          <p:val>
                                            <p:strVal val="#ppt_y"/>
                                          </p:val>
                                        </p:tav>
                                      </p:tavLst>
                                    </p:anim>
                                    <p:animEffect transition="in" filter="wipe(up)">
                                      <p:cBhvr>
                                        <p:cTn id="36" dur="500"/>
                                        <p:tgtEl>
                                          <p:spTgt spid="17"/>
                                        </p:tgtEl>
                                      </p:cBhvr>
                                    </p:animEffect>
                                  </p:childTnLst>
                                </p:cTn>
                              </p:par>
                              <p:par>
                                <p:cTn id="37" presetID="12" presetClass="entr" presetSubtype="4"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p:tgtEl>
                                          <p:spTgt spid="18"/>
                                        </p:tgtEl>
                                        <p:attrNameLst>
                                          <p:attrName>ppt_y</p:attrName>
                                        </p:attrNameLst>
                                      </p:cBhvr>
                                      <p:tavLst>
                                        <p:tav tm="0">
                                          <p:val>
                                            <p:strVal val="#ppt_y+#ppt_h*1.125000"/>
                                          </p:val>
                                        </p:tav>
                                        <p:tav tm="100000">
                                          <p:val>
                                            <p:strVal val="#ppt_y"/>
                                          </p:val>
                                        </p:tav>
                                      </p:tavLst>
                                    </p:anim>
                                    <p:animEffect transition="in" filter="wipe(up)">
                                      <p:cBhvr>
                                        <p:cTn id="40" dur="500"/>
                                        <p:tgtEl>
                                          <p:spTgt spid="18"/>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p:tgtEl>
                                          <p:spTgt spid="19"/>
                                        </p:tgtEl>
                                        <p:attrNameLst>
                                          <p:attrName>ppt_y</p:attrName>
                                        </p:attrNameLst>
                                      </p:cBhvr>
                                      <p:tavLst>
                                        <p:tav tm="0">
                                          <p:val>
                                            <p:strVal val="#ppt_y+#ppt_h*1.125000"/>
                                          </p:val>
                                        </p:tav>
                                        <p:tav tm="100000">
                                          <p:val>
                                            <p:strVal val="#ppt_y"/>
                                          </p:val>
                                        </p:tav>
                                      </p:tavLst>
                                    </p:anim>
                                    <p:animEffect transition="in" filter="wipe(up)">
                                      <p:cBhvr>
                                        <p:cTn id="44" dur="500"/>
                                        <p:tgtEl>
                                          <p:spTgt spid="19"/>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additive="base">
                                        <p:cTn id="47" dur="500"/>
                                        <p:tgtEl>
                                          <p:spTgt spid="26"/>
                                        </p:tgtEl>
                                        <p:attrNameLst>
                                          <p:attrName>ppt_y</p:attrName>
                                        </p:attrNameLst>
                                      </p:cBhvr>
                                      <p:tavLst>
                                        <p:tav tm="0">
                                          <p:val>
                                            <p:strVal val="#ppt_y+#ppt_h*1.125000"/>
                                          </p:val>
                                        </p:tav>
                                        <p:tav tm="100000">
                                          <p:val>
                                            <p:strVal val="#ppt_y"/>
                                          </p:val>
                                        </p:tav>
                                      </p:tavLst>
                                    </p:anim>
                                    <p:animEffect transition="in" filter="wipe(up)">
                                      <p:cBhvr>
                                        <p:cTn id="48" dur="500"/>
                                        <p:tgtEl>
                                          <p:spTgt spid="26"/>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additive="base">
                                        <p:cTn id="51" dur="500"/>
                                        <p:tgtEl>
                                          <p:spTgt spid="27"/>
                                        </p:tgtEl>
                                        <p:attrNameLst>
                                          <p:attrName>ppt_y</p:attrName>
                                        </p:attrNameLst>
                                      </p:cBhvr>
                                      <p:tavLst>
                                        <p:tav tm="0">
                                          <p:val>
                                            <p:strVal val="#ppt_y+#ppt_h*1.125000"/>
                                          </p:val>
                                        </p:tav>
                                        <p:tav tm="100000">
                                          <p:val>
                                            <p:strVal val="#ppt_y"/>
                                          </p:val>
                                        </p:tav>
                                      </p:tavLst>
                                    </p:anim>
                                    <p:animEffect transition="in" filter="wipe(up)">
                                      <p:cBhvr>
                                        <p:cTn id="52" dur="500"/>
                                        <p:tgtEl>
                                          <p:spTgt spid="27"/>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 calcmode="lin" valueType="num">
                                      <p:cBhvr additive="base">
                                        <p:cTn id="55" dur="500"/>
                                        <p:tgtEl>
                                          <p:spTgt spid="33"/>
                                        </p:tgtEl>
                                        <p:attrNameLst>
                                          <p:attrName>ppt_y</p:attrName>
                                        </p:attrNameLst>
                                      </p:cBhvr>
                                      <p:tavLst>
                                        <p:tav tm="0">
                                          <p:val>
                                            <p:strVal val="#ppt_y+#ppt_h*1.125000"/>
                                          </p:val>
                                        </p:tav>
                                        <p:tav tm="100000">
                                          <p:val>
                                            <p:strVal val="#ppt_y"/>
                                          </p:val>
                                        </p:tav>
                                      </p:tavLst>
                                    </p:anim>
                                    <p:animEffect transition="in" filter="wipe(up)">
                                      <p:cBhvr>
                                        <p:cTn id="56" dur="500"/>
                                        <p:tgtEl>
                                          <p:spTgt spid="33"/>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 calcmode="lin" valueType="num">
                                      <p:cBhvr additive="base">
                                        <p:cTn id="59" dur="500"/>
                                        <p:tgtEl>
                                          <p:spTgt spid="34"/>
                                        </p:tgtEl>
                                        <p:attrNameLst>
                                          <p:attrName>ppt_y</p:attrName>
                                        </p:attrNameLst>
                                      </p:cBhvr>
                                      <p:tavLst>
                                        <p:tav tm="0">
                                          <p:val>
                                            <p:strVal val="#ppt_y+#ppt_h*1.125000"/>
                                          </p:val>
                                        </p:tav>
                                        <p:tav tm="100000">
                                          <p:val>
                                            <p:strVal val="#ppt_y"/>
                                          </p:val>
                                        </p:tav>
                                      </p:tavLst>
                                    </p:anim>
                                    <p:animEffect transition="in" filter="wipe(up)">
                                      <p:cBhvr>
                                        <p:cTn id="60" dur="500"/>
                                        <p:tgtEl>
                                          <p:spTgt spid="34"/>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35"/>
                                        </p:tgtEl>
                                        <p:attrNameLst>
                                          <p:attrName>style.visibility</p:attrName>
                                        </p:attrNameLst>
                                      </p:cBhvr>
                                      <p:to>
                                        <p:strVal val="visible"/>
                                      </p:to>
                                    </p:set>
                                    <p:anim calcmode="lin" valueType="num">
                                      <p:cBhvr additive="base">
                                        <p:cTn id="63" dur="500"/>
                                        <p:tgtEl>
                                          <p:spTgt spid="35"/>
                                        </p:tgtEl>
                                        <p:attrNameLst>
                                          <p:attrName>ppt_y</p:attrName>
                                        </p:attrNameLst>
                                      </p:cBhvr>
                                      <p:tavLst>
                                        <p:tav tm="0">
                                          <p:val>
                                            <p:strVal val="#ppt_y+#ppt_h*1.125000"/>
                                          </p:val>
                                        </p:tav>
                                        <p:tav tm="100000">
                                          <p:val>
                                            <p:strVal val="#ppt_y"/>
                                          </p:val>
                                        </p:tav>
                                      </p:tavLst>
                                    </p:anim>
                                    <p:animEffect transition="in" filter="wipe(up)">
                                      <p:cBhvr>
                                        <p:cTn id="64" dur="500"/>
                                        <p:tgtEl>
                                          <p:spTgt spid="35"/>
                                        </p:tgtEl>
                                      </p:cBhvr>
                                    </p:animEffect>
                                  </p:childTnLst>
                                </p:cTn>
                              </p:par>
                              <p:par>
                                <p:cTn id="65" presetID="12" presetClass="entr" presetSubtype="4"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additive="base">
                                        <p:cTn id="67" dur="500"/>
                                        <p:tgtEl>
                                          <p:spTgt spid="36"/>
                                        </p:tgtEl>
                                        <p:attrNameLst>
                                          <p:attrName>ppt_y</p:attrName>
                                        </p:attrNameLst>
                                      </p:cBhvr>
                                      <p:tavLst>
                                        <p:tav tm="0">
                                          <p:val>
                                            <p:strVal val="#ppt_y+#ppt_h*1.125000"/>
                                          </p:val>
                                        </p:tav>
                                        <p:tav tm="100000">
                                          <p:val>
                                            <p:strVal val="#ppt_y"/>
                                          </p:val>
                                        </p:tav>
                                      </p:tavLst>
                                    </p:anim>
                                    <p:animEffect transition="in" filter="wipe(up)">
                                      <p:cBhvr>
                                        <p:cTn id="68" dur="500"/>
                                        <p:tgtEl>
                                          <p:spTgt spid="36"/>
                                        </p:tgtEl>
                                      </p:cBhvr>
                                    </p:animEffect>
                                  </p:childTnLst>
                                </p:cTn>
                              </p:par>
                              <p:par>
                                <p:cTn id="69" presetID="12" presetClass="entr" presetSubtype="4"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 calcmode="lin" valueType="num">
                                      <p:cBhvr additive="base">
                                        <p:cTn id="71" dur="500"/>
                                        <p:tgtEl>
                                          <p:spTgt spid="38"/>
                                        </p:tgtEl>
                                        <p:attrNameLst>
                                          <p:attrName>ppt_y</p:attrName>
                                        </p:attrNameLst>
                                      </p:cBhvr>
                                      <p:tavLst>
                                        <p:tav tm="0">
                                          <p:val>
                                            <p:strVal val="#ppt_y+#ppt_h*1.125000"/>
                                          </p:val>
                                        </p:tav>
                                        <p:tav tm="100000">
                                          <p:val>
                                            <p:strVal val="#ppt_y"/>
                                          </p:val>
                                        </p:tav>
                                      </p:tavLst>
                                    </p:anim>
                                    <p:animEffect transition="in" filter="wipe(up)">
                                      <p:cBhvr>
                                        <p:cTn id="72" dur="500"/>
                                        <p:tgtEl>
                                          <p:spTgt spid="38"/>
                                        </p:tgtEl>
                                      </p:cBhvr>
                                    </p:animEffect>
                                  </p:childTnLst>
                                </p:cTn>
                              </p:par>
                              <p:par>
                                <p:cTn id="73" presetID="12" presetClass="entr" presetSubtype="4"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anim calcmode="lin" valueType="num">
                                      <p:cBhvr additive="base">
                                        <p:cTn id="75" dur="500"/>
                                        <p:tgtEl>
                                          <p:spTgt spid="40"/>
                                        </p:tgtEl>
                                        <p:attrNameLst>
                                          <p:attrName>ppt_y</p:attrName>
                                        </p:attrNameLst>
                                      </p:cBhvr>
                                      <p:tavLst>
                                        <p:tav tm="0">
                                          <p:val>
                                            <p:strVal val="#ppt_y+#ppt_h*1.125000"/>
                                          </p:val>
                                        </p:tav>
                                        <p:tav tm="100000">
                                          <p:val>
                                            <p:strVal val="#ppt_y"/>
                                          </p:val>
                                        </p:tav>
                                      </p:tavLst>
                                    </p:anim>
                                    <p:animEffect transition="in" filter="wipe(up)">
                                      <p:cBhvr>
                                        <p:cTn id="76" dur="500"/>
                                        <p:tgtEl>
                                          <p:spTgt spid="40"/>
                                        </p:tgtEl>
                                      </p:cBhvr>
                                    </p:animEffect>
                                  </p:childTnLst>
                                </p:cTn>
                              </p:par>
                              <p:par>
                                <p:cTn id="77" presetID="12" presetClass="entr" presetSubtype="4" fill="hold" nodeType="withEffect">
                                  <p:stCondLst>
                                    <p:cond delay="0"/>
                                  </p:stCondLst>
                                  <p:childTnLst>
                                    <p:set>
                                      <p:cBhvr>
                                        <p:cTn id="78" dur="1" fill="hold">
                                          <p:stCondLst>
                                            <p:cond delay="0"/>
                                          </p:stCondLst>
                                        </p:cTn>
                                        <p:tgtEl>
                                          <p:spTgt spid="41"/>
                                        </p:tgtEl>
                                        <p:attrNameLst>
                                          <p:attrName>style.visibility</p:attrName>
                                        </p:attrNameLst>
                                      </p:cBhvr>
                                      <p:to>
                                        <p:strVal val="visible"/>
                                      </p:to>
                                    </p:set>
                                    <p:anim calcmode="lin" valueType="num">
                                      <p:cBhvr additive="base">
                                        <p:cTn id="79" dur="500"/>
                                        <p:tgtEl>
                                          <p:spTgt spid="41"/>
                                        </p:tgtEl>
                                        <p:attrNameLst>
                                          <p:attrName>ppt_y</p:attrName>
                                        </p:attrNameLst>
                                      </p:cBhvr>
                                      <p:tavLst>
                                        <p:tav tm="0">
                                          <p:val>
                                            <p:strVal val="#ppt_y+#ppt_h*1.125000"/>
                                          </p:val>
                                        </p:tav>
                                        <p:tav tm="100000">
                                          <p:val>
                                            <p:strVal val="#ppt_y"/>
                                          </p:val>
                                        </p:tav>
                                      </p:tavLst>
                                    </p:anim>
                                    <p:animEffect transition="in" filter="wipe(up)">
                                      <p:cBhvr>
                                        <p:cTn id="80" dur="500"/>
                                        <p:tgtEl>
                                          <p:spTgt spid="41"/>
                                        </p:tgtEl>
                                      </p:cBhvr>
                                    </p:animEffect>
                                  </p:childTnLst>
                                </p:cTn>
                              </p:par>
                              <p:par>
                                <p:cTn id="81" presetID="12" presetClass="entr" presetSubtype="4" fill="hold" grpId="0" nodeType="withEffect">
                                  <p:stCondLst>
                                    <p:cond delay="0"/>
                                  </p:stCondLst>
                                  <p:childTnLst>
                                    <p:set>
                                      <p:cBhvr>
                                        <p:cTn id="82" dur="1" fill="hold">
                                          <p:stCondLst>
                                            <p:cond delay="0"/>
                                          </p:stCondLst>
                                        </p:cTn>
                                        <p:tgtEl>
                                          <p:spTgt spid="2"/>
                                        </p:tgtEl>
                                        <p:attrNameLst>
                                          <p:attrName>style.visibility</p:attrName>
                                        </p:attrNameLst>
                                      </p:cBhvr>
                                      <p:to>
                                        <p:strVal val="visible"/>
                                      </p:to>
                                    </p:set>
                                    <p:anim calcmode="lin" valueType="num">
                                      <p:cBhvr additive="base">
                                        <p:cTn id="83" dur="500"/>
                                        <p:tgtEl>
                                          <p:spTgt spid="2"/>
                                        </p:tgtEl>
                                        <p:attrNameLst>
                                          <p:attrName>ppt_y</p:attrName>
                                        </p:attrNameLst>
                                      </p:cBhvr>
                                      <p:tavLst>
                                        <p:tav tm="0">
                                          <p:val>
                                            <p:strVal val="#ppt_y+#ppt_h*1.125000"/>
                                          </p:val>
                                        </p:tav>
                                        <p:tav tm="100000">
                                          <p:val>
                                            <p:strVal val="#ppt_y"/>
                                          </p:val>
                                        </p:tav>
                                      </p:tavLst>
                                    </p:anim>
                                    <p:animEffect transition="in" filter="wipe(up)">
                                      <p:cBhvr>
                                        <p:cTn id="84" dur="500"/>
                                        <p:tgtEl>
                                          <p:spTgt spid="2"/>
                                        </p:tgtEl>
                                      </p:cBhvr>
                                    </p:animEffect>
                                  </p:childTnLst>
                                </p:cTn>
                              </p:par>
                              <p:par>
                                <p:cTn id="85" presetID="12" presetClass="entr" presetSubtype="4"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 calcmode="lin" valueType="num">
                                      <p:cBhvr additive="base">
                                        <p:cTn id="87" dur="500"/>
                                        <p:tgtEl>
                                          <p:spTgt spid="3"/>
                                        </p:tgtEl>
                                        <p:attrNameLst>
                                          <p:attrName>ppt_y</p:attrName>
                                        </p:attrNameLst>
                                      </p:cBhvr>
                                      <p:tavLst>
                                        <p:tav tm="0">
                                          <p:val>
                                            <p:strVal val="#ppt_y+#ppt_h*1.125000"/>
                                          </p:val>
                                        </p:tav>
                                        <p:tav tm="100000">
                                          <p:val>
                                            <p:strVal val="#ppt_y"/>
                                          </p:val>
                                        </p:tav>
                                      </p:tavLst>
                                    </p:anim>
                                    <p:animEffect transition="in" filter="wipe(up)">
                                      <p:cBhvr>
                                        <p:cTn id="88" dur="500"/>
                                        <p:tgtEl>
                                          <p:spTgt spid="3"/>
                                        </p:tgtEl>
                                      </p:cBhvr>
                                    </p:animEffect>
                                  </p:childTnLst>
                                </p:cTn>
                              </p:par>
                              <p:par>
                                <p:cTn id="89" presetID="12" presetClass="entr" presetSubtype="4" fill="hold" grpId="0" nodeType="withEffect">
                                  <p:stCondLst>
                                    <p:cond delay="0"/>
                                  </p:stCondLst>
                                  <p:childTnLst>
                                    <p:set>
                                      <p:cBhvr>
                                        <p:cTn id="90" dur="1" fill="hold">
                                          <p:stCondLst>
                                            <p:cond delay="0"/>
                                          </p:stCondLst>
                                        </p:cTn>
                                        <p:tgtEl>
                                          <p:spTgt spid="4"/>
                                        </p:tgtEl>
                                        <p:attrNameLst>
                                          <p:attrName>style.visibility</p:attrName>
                                        </p:attrNameLst>
                                      </p:cBhvr>
                                      <p:to>
                                        <p:strVal val="visible"/>
                                      </p:to>
                                    </p:set>
                                    <p:anim calcmode="lin" valueType="num">
                                      <p:cBhvr additive="base">
                                        <p:cTn id="91" dur="500"/>
                                        <p:tgtEl>
                                          <p:spTgt spid="4"/>
                                        </p:tgtEl>
                                        <p:attrNameLst>
                                          <p:attrName>ppt_y</p:attrName>
                                        </p:attrNameLst>
                                      </p:cBhvr>
                                      <p:tavLst>
                                        <p:tav tm="0">
                                          <p:val>
                                            <p:strVal val="#ppt_y+#ppt_h*1.125000"/>
                                          </p:val>
                                        </p:tav>
                                        <p:tav tm="100000">
                                          <p:val>
                                            <p:strVal val="#ppt_y"/>
                                          </p:val>
                                        </p:tav>
                                      </p:tavLst>
                                    </p:anim>
                                    <p:animEffect transition="in" filter="wipe(up)">
                                      <p:cBhvr>
                                        <p:cTn id="9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P spid="10" grpId="0" animBg="1"/>
      <p:bldP spid="12" grpId="0"/>
      <p:bldP spid="13" grpId="0"/>
      <p:bldP spid="15" grpId="0" animBg="1"/>
      <p:bldP spid="17" grpId="0" animBg="1"/>
      <p:bldP spid="19" grpId="0"/>
      <p:bldP spid="26" grpId="0" animBg="1"/>
      <p:bldP spid="27" grpId="0" animBg="1"/>
      <p:bldP spid="33" grpId="0"/>
      <p:bldP spid="34" grpId="0"/>
      <p:bldP spid="35" grpId="0" animBg="1"/>
      <p:bldP spid="36" grpId="0" animBg="1"/>
      <p:bldP spid="38" grpId="0"/>
      <p:bldP spid="2"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项目技术路线</a:t>
            </a:r>
            <a:endPar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45" name="左大括号 44"/>
          <p:cNvSpPr/>
          <p:nvPr/>
        </p:nvSpPr>
        <p:spPr>
          <a:xfrm>
            <a:off x="1021715" y="2786380"/>
            <a:ext cx="295275" cy="3299460"/>
          </a:xfrm>
          <a:prstGeom prst="leftBrace">
            <a:avLst>
              <a:gd name="adj1" fmla="val 78506"/>
              <a:gd name="adj2" fmla="val 50147"/>
            </a:avLst>
          </a:prstGeom>
          <a:ln w="34925">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53" name="组合 52"/>
          <p:cNvGrpSpPr/>
          <p:nvPr/>
        </p:nvGrpSpPr>
        <p:grpSpPr>
          <a:xfrm>
            <a:off x="1609090" y="2757170"/>
            <a:ext cx="9004300" cy="1282700"/>
            <a:chOff x="2680" y="2988"/>
            <a:chExt cx="14180" cy="2020"/>
          </a:xfrm>
        </p:grpSpPr>
        <p:sp>
          <p:nvSpPr>
            <p:cNvPr id="46" name="圆角矩形 45"/>
            <p:cNvSpPr/>
            <p:nvPr/>
          </p:nvSpPr>
          <p:spPr>
            <a:xfrm>
              <a:off x="2680" y="2988"/>
              <a:ext cx="14181" cy="1244"/>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lang="en-US" sz="2000">
                  <a:solidFill>
                    <a:schemeClr val="tx1"/>
                  </a:solidFill>
                  <a:latin typeface="Noto Sans SC" panose="020B0200000000000000" charset="-122"/>
                  <a:ea typeface="Noto Sans SC" panose="020B0200000000000000" charset="-122"/>
                  <a:cs typeface="Noto Sans SC" panose="020B0200000000000000" charset="-122"/>
                  <a:sym typeface="+mn-ea"/>
                </a:rPr>
                <a:t>广泛收集国家及省内不同层级、不同领域的电力及新能源政策文件，厘清各层级政策间的关联逻辑。</a:t>
              </a:r>
              <a:endPar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61" name="箭头: 右 60"/>
            <p:cNvSpPr/>
            <p:nvPr/>
          </p:nvSpPr>
          <p:spPr>
            <a:xfrm rot="5400000">
              <a:off x="9045" y="4374"/>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4" name="组合 53"/>
          <p:cNvGrpSpPr/>
          <p:nvPr/>
        </p:nvGrpSpPr>
        <p:grpSpPr>
          <a:xfrm>
            <a:off x="1609090" y="4133850"/>
            <a:ext cx="9004300" cy="1227455"/>
            <a:chOff x="2680" y="5156"/>
            <a:chExt cx="14180" cy="1933"/>
          </a:xfrm>
        </p:grpSpPr>
        <p:sp>
          <p:nvSpPr>
            <p:cNvPr id="47" name="圆角矩形 46"/>
            <p:cNvSpPr/>
            <p:nvPr/>
          </p:nvSpPr>
          <p:spPr>
            <a:xfrm>
              <a:off x="2680" y="5156"/>
              <a:ext cx="14181" cy="969"/>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lang="en-US" sz="2000">
                  <a:solidFill>
                    <a:schemeClr val="tx1"/>
                  </a:solidFill>
                  <a:latin typeface="Noto Sans SC" panose="020B0200000000000000" charset="-122"/>
                  <a:ea typeface="Noto Sans SC" panose="020B0200000000000000" charset="-122"/>
                  <a:cs typeface="Noto Sans SC" panose="020B0200000000000000" charset="-122"/>
                  <a:sym typeface="+mn-ea"/>
                </a:rPr>
                <a:t>深入剖析政策核心导向、实施方式及落地推进中的关键影响条件，全面把握政策实施的整体态势。</a:t>
              </a:r>
              <a:endPar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50" name="箭头: 右 60"/>
            <p:cNvSpPr/>
            <p:nvPr/>
          </p:nvSpPr>
          <p:spPr>
            <a:xfrm rot="5400000">
              <a:off x="9046" y="6455"/>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8" name="圆角矩形 47"/>
          <p:cNvSpPr/>
          <p:nvPr/>
        </p:nvSpPr>
        <p:spPr>
          <a:xfrm>
            <a:off x="1609090" y="5426710"/>
            <a:ext cx="9004935" cy="570230"/>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sz="2000">
                <a:solidFill>
                  <a:schemeClr val="tx1"/>
                </a:solidFill>
                <a:latin typeface="Noto Sans SC" panose="020B0200000000000000" charset="-122"/>
                <a:ea typeface="Noto Sans SC" panose="020B0200000000000000" charset="-122"/>
                <a:cs typeface="Noto Sans SC" panose="020B0200000000000000" charset="-122"/>
                <a:sym typeface="+mn-ea"/>
              </a:rPr>
              <a:t>依据要素类型与发展特征，完成政策文件层级化分类梳理与逻辑框架构建。</a:t>
            </a:r>
            <a:endParaRPr lang="zh-CN"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6" name="AutoShape 4"/>
          <p:cNvSpPr/>
          <p:nvPr>
            <p:custDataLst>
              <p:tags r:id="rId2"/>
            </p:custDataLst>
          </p:nvPr>
        </p:nvSpPr>
        <p:spPr>
          <a:xfrm>
            <a:off x="762000" y="830580"/>
            <a:ext cx="10668000" cy="1270000"/>
          </a:xfrm>
          <a:prstGeom prst="roundRect">
            <a:avLst>
              <a:gd name="adj" fmla="val 12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grpSp>
        <p:nvGrpSpPr>
          <p:cNvPr id="7" name="第一部分研究内容"/>
          <p:cNvGrpSpPr/>
          <p:nvPr>
            <p:custDataLst>
              <p:tags r:id="rId3"/>
            </p:custDataLst>
          </p:nvPr>
        </p:nvGrpSpPr>
        <p:grpSpPr>
          <a:xfrm>
            <a:off x="952500" y="1059180"/>
            <a:ext cx="2628900" cy="812800"/>
            <a:chOff x="1500" y="7050"/>
            <a:chExt cx="4140" cy="1280"/>
          </a:xfrm>
        </p:grpSpPr>
        <p:sp>
          <p:nvSpPr>
            <p:cNvPr id="9" name="AutoShape 5"/>
            <p:cNvSpPr/>
            <p:nvPr>
              <p:custDataLst>
                <p:tags r:id="rId4"/>
              </p:custDataLst>
            </p:nvPr>
          </p:nvSpPr>
          <p:spPr>
            <a:xfrm>
              <a:off x="150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11" name="AutoShape 6"/>
            <p:cNvSpPr/>
            <p:nvPr>
              <p:custDataLst>
                <p:tags r:id="rId5"/>
              </p:custDataLst>
            </p:nvPr>
          </p:nvSpPr>
          <p:spPr>
            <a:xfrm>
              <a:off x="1500" y="7330"/>
              <a:ext cx="1800" cy="72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收集</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70" y="7524"/>
              <a:ext cx="360" cy="360"/>
            </a:xfrm>
            <a:prstGeom prst="rect">
              <a:avLst/>
            </a:prstGeom>
          </p:spPr>
        </p:pic>
        <p:sp>
          <p:nvSpPr>
            <p:cNvPr id="36" name="AutoShape 8"/>
            <p:cNvSpPr/>
            <p:nvPr>
              <p:custDataLst>
                <p:tags r:id="rId9"/>
              </p:custDataLst>
            </p:nvPr>
          </p:nvSpPr>
          <p:spPr>
            <a:xfrm>
              <a:off x="384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37" name="AutoShape 9"/>
            <p:cNvSpPr/>
            <p:nvPr/>
          </p:nvSpPr>
          <p:spPr>
            <a:xfrm>
              <a:off x="384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38" name="第二部分研究内容"/>
          <p:cNvGrpSpPr/>
          <p:nvPr>
            <p:custDataLst>
              <p:tags r:id="rId10"/>
            </p:custDataLst>
          </p:nvPr>
        </p:nvGrpSpPr>
        <p:grpSpPr>
          <a:xfrm>
            <a:off x="3638550" y="1059180"/>
            <a:ext cx="2921000" cy="812800"/>
            <a:chOff x="5720" y="7050"/>
            <a:chExt cx="4600" cy="1280"/>
          </a:xfrm>
        </p:grpSpPr>
        <p:pic>
          <p:nvPicPr>
            <p:cNvPr id="39" name="Picture 10"/>
            <p:cNvPicPr>
              <a:picLocks noChangeAspect="1"/>
            </p:cNvPicPr>
            <p:nvPr>
              <p:custDataLst>
                <p:tags r:id="rId1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20" y="7524"/>
              <a:ext cx="360" cy="360"/>
            </a:xfrm>
            <a:prstGeom prst="rect">
              <a:avLst/>
            </a:prstGeom>
          </p:spPr>
        </p:pic>
        <p:sp>
          <p:nvSpPr>
            <p:cNvPr id="40" name="AutoShape 11"/>
            <p:cNvSpPr/>
            <p:nvPr>
              <p:custDataLst>
                <p:tags r:id="rId12"/>
              </p:custDataLst>
            </p:nvPr>
          </p:nvSpPr>
          <p:spPr>
            <a:xfrm>
              <a:off x="618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41" name="AutoShape 12"/>
            <p:cNvSpPr/>
            <p:nvPr>
              <p:custDataLst>
                <p:tags r:id="rId13"/>
              </p:custDataLst>
            </p:nvPr>
          </p:nvSpPr>
          <p:spPr>
            <a:xfrm>
              <a:off x="618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r>
                <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维度</a:t>
              </a:r>
              <a:r>
                <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分</a:t>
              </a:r>
              <a:r>
                <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析</a:t>
              </a: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2" name="Picture 13"/>
            <p:cNvPicPr>
              <a:picLocks noChangeAspect="1"/>
            </p:cNvPicPr>
            <p:nvPr>
              <p:custDataLst>
                <p:tags r:id="rId14"/>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80" y="7524"/>
              <a:ext cx="360" cy="360"/>
            </a:xfrm>
            <a:prstGeom prst="rect">
              <a:avLst/>
            </a:prstGeom>
          </p:spPr>
        </p:pic>
        <p:sp>
          <p:nvSpPr>
            <p:cNvPr id="43" name="AutoShape 14"/>
            <p:cNvSpPr/>
            <p:nvPr>
              <p:custDataLst>
                <p:tags r:id="rId15"/>
              </p:custDataLst>
            </p:nvPr>
          </p:nvSpPr>
          <p:spPr>
            <a:xfrm>
              <a:off x="852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15"/>
            <p:cNvSpPr/>
            <p:nvPr/>
          </p:nvSpPr>
          <p:spPr>
            <a:xfrm>
              <a:off x="852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49" name="第三部分研究内容"/>
          <p:cNvGrpSpPr/>
          <p:nvPr>
            <p:custDataLst>
              <p:tags r:id="rId16"/>
            </p:custDataLst>
          </p:nvPr>
        </p:nvGrpSpPr>
        <p:grpSpPr>
          <a:xfrm>
            <a:off x="6613525" y="1059180"/>
            <a:ext cx="2911475" cy="812800"/>
            <a:chOff x="10415" y="7050"/>
            <a:chExt cx="4585" cy="1280"/>
          </a:xfrm>
        </p:grpSpPr>
        <p:pic>
          <p:nvPicPr>
            <p:cNvPr id="51" name="Picture 16"/>
            <p:cNvPicPr>
              <a:picLocks noChangeAspect="1"/>
            </p:cNvPicPr>
            <p:nvPr>
              <p:custDataLst>
                <p:tags r:id="rId17"/>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15" y="7524"/>
              <a:ext cx="360" cy="360"/>
            </a:xfrm>
            <a:prstGeom prst="rect">
              <a:avLst/>
            </a:prstGeom>
          </p:spPr>
        </p:pic>
        <p:sp>
          <p:nvSpPr>
            <p:cNvPr id="55" name="AutoShape 17"/>
            <p:cNvSpPr/>
            <p:nvPr>
              <p:custDataLst>
                <p:tags r:id="rId18"/>
              </p:custDataLst>
            </p:nvPr>
          </p:nvSpPr>
          <p:spPr>
            <a:xfrm>
              <a:off x="1086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pic>
          <p:nvPicPr>
            <p:cNvPr id="56" name="Picture 19"/>
            <p:cNvPicPr>
              <a:picLocks noChangeAspect="1"/>
            </p:cNvPicPr>
            <p:nvPr>
              <p:custDataLst>
                <p:tags r:id="rId19"/>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810" y="7524"/>
              <a:ext cx="360" cy="360"/>
            </a:xfrm>
            <a:prstGeom prst="rect">
              <a:avLst/>
            </a:prstGeom>
          </p:spPr>
        </p:pic>
        <p:sp>
          <p:nvSpPr>
            <p:cNvPr id="57" name="AutoShape 20"/>
            <p:cNvSpPr/>
            <p:nvPr>
              <p:custDataLst>
                <p:tags r:id="rId20"/>
              </p:custDataLst>
            </p:nvPr>
          </p:nvSpPr>
          <p:spPr>
            <a:xfrm>
              <a:off x="1320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58" name="AutoShape 21"/>
            <p:cNvSpPr/>
            <p:nvPr/>
          </p:nvSpPr>
          <p:spPr>
            <a:xfrm>
              <a:off x="1320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59" name="第四部分研究内容"/>
          <p:cNvGrpSpPr/>
          <p:nvPr>
            <p:custDataLst>
              <p:tags r:id="rId21"/>
            </p:custDataLst>
          </p:nvPr>
        </p:nvGrpSpPr>
        <p:grpSpPr>
          <a:xfrm>
            <a:off x="9588500" y="1059180"/>
            <a:ext cx="1676400" cy="812800"/>
            <a:chOff x="15100" y="7050"/>
            <a:chExt cx="2640" cy="1280"/>
          </a:xfrm>
        </p:grpSpPr>
        <p:pic>
          <p:nvPicPr>
            <p:cNvPr id="60" name="Picture 22"/>
            <p:cNvPicPr>
              <a:picLocks noChangeAspect="1"/>
            </p:cNvPicPr>
            <p:nvPr>
              <p:custDataLst>
                <p:tags r:id="rId22"/>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100" y="7524"/>
              <a:ext cx="360" cy="360"/>
            </a:xfrm>
            <a:prstGeom prst="rect">
              <a:avLst/>
            </a:prstGeom>
          </p:spPr>
        </p:pic>
        <p:sp>
          <p:nvSpPr>
            <p:cNvPr id="62" name="AutoShape 23"/>
            <p:cNvSpPr/>
            <p:nvPr>
              <p:custDataLst>
                <p:tags r:id="rId23"/>
              </p:custDataLst>
            </p:nvPr>
          </p:nvSpPr>
          <p:spPr>
            <a:xfrm>
              <a:off x="15540" y="7050"/>
              <a:ext cx="2200" cy="1280"/>
            </a:xfrm>
            <a:prstGeom prst="roundRect">
              <a:avLst>
                <a:gd name="adj" fmla="val 12500"/>
              </a:avLst>
            </a:prstGeom>
            <a:solidFill>
              <a:srgbClr val="029694"/>
            </a:solidFill>
            <a:ln w="25400" cap="flat" cmpd="sng">
              <a:noFill/>
              <a:prstDash val="solid"/>
              <a:round/>
            </a:ln>
          </p:spPr>
          <p:txBody>
            <a:bodyPr vert="horz" wrap="square" lIns="63500" tIns="63500" rIns="63500" bIns="63500" rtlCol="0" anchor="ctr"/>
            <a:p>
              <a:pPr algn="ctr">
                <a:defRPr/>
              </a:pPr>
              <a:endParaRPr>
                <a:solidFill>
                  <a:srgbClr val="029694"/>
                </a:solidFill>
              </a:endParaRPr>
            </a:p>
          </p:txBody>
        </p:sp>
        <p:sp>
          <p:nvSpPr>
            <p:cNvPr id="63" name="AutoShape 24"/>
            <p:cNvSpPr/>
            <p:nvPr>
              <p:custDataLst>
                <p:tags r:id="rId24"/>
              </p:custDataLst>
            </p:nvPr>
          </p:nvSpPr>
          <p:spPr>
            <a:xfrm>
              <a:off x="15540" y="7330"/>
              <a:ext cx="2200" cy="72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建议提炼
成果输出</a:t>
              </a:r>
              <a:endParaRPr lang="en-US" sz="1100"/>
            </a:p>
          </p:txBody>
        </p:sp>
      </p:grpSp>
      <p:sp>
        <p:nvSpPr>
          <p:cNvPr id="64" name="AutoShape 6"/>
          <p:cNvSpPr/>
          <p:nvPr>
            <p:custDataLst>
              <p:tags r:id="rId25"/>
            </p:custDataLst>
          </p:nvPr>
        </p:nvSpPr>
        <p:spPr>
          <a:xfrm>
            <a:off x="2441575" y="12369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5" name="AutoShape 6"/>
          <p:cNvSpPr/>
          <p:nvPr>
            <p:custDataLst>
              <p:tags r:id="rId26"/>
            </p:custDataLst>
          </p:nvPr>
        </p:nvSpPr>
        <p:spPr>
          <a:xfrm>
            <a:off x="2432050" y="12369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梳理构建</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6" name="圆角矩形 65"/>
          <p:cNvSpPr/>
          <p:nvPr>
            <p:custDataLst>
              <p:tags r:id="rId27"/>
            </p:custDataLst>
          </p:nvPr>
        </p:nvSpPr>
        <p:spPr>
          <a:xfrm>
            <a:off x="810895" y="889635"/>
            <a:ext cx="3006090" cy="1132840"/>
          </a:xfrm>
          <a:prstGeom prst="roundRect">
            <a:avLst/>
          </a:prstGeom>
          <a:noFill/>
          <a:ln w="28575" cmpd="sng">
            <a:solidFill>
              <a:schemeClr val="accent1">
                <a:shade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8" name="AutoShape 12"/>
          <p:cNvSpPr/>
          <p:nvPr>
            <p:custDataLst>
              <p:tags r:id="rId28"/>
            </p:custDataLst>
          </p:nvPr>
        </p:nvSpPr>
        <p:spPr>
          <a:xfrm>
            <a:off x="6936740" y="1360170"/>
            <a:ext cx="1143000" cy="45720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9" name="AutoShape 6"/>
          <p:cNvSpPr/>
          <p:nvPr>
            <p:custDataLst>
              <p:tags r:id="rId29"/>
            </p:custDataLst>
          </p:nvPr>
        </p:nvSpPr>
        <p:spPr>
          <a:xfrm>
            <a:off x="6896100" y="1180465"/>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0" name="AutoShape 6"/>
          <p:cNvSpPr/>
          <p:nvPr>
            <p:custDataLst>
              <p:tags r:id="rId30"/>
            </p:custDataLst>
          </p:nvPr>
        </p:nvSpPr>
        <p:spPr>
          <a:xfrm>
            <a:off x="5433695" y="124587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因素</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1" name="AutoShape 6"/>
          <p:cNvSpPr/>
          <p:nvPr>
            <p:custDataLst>
              <p:tags r:id="rId31"/>
            </p:custDataLst>
          </p:nvPr>
        </p:nvSpPr>
        <p:spPr>
          <a:xfrm>
            <a:off x="6908800" y="1237615"/>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2" name="AutoShape 6"/>
          <p:cNvSpPr/>
          <p:nvPr>
            <p:custDataLst>
              <p:tags r:id="rId32"/>
            </p:custDataLst>
          </p:nvPr>
        </p:nvSpPr>
        <p:spPr>
          <a:xfrm>
            <a:off x="8382000" y="12496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效益</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测算</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3" name="矩形 72"/>
          <p:cNvSpPr/>
          <p:nvPr/>
        </p:nvSpPr>
        <p:spPr>
          <a:xfrm>
            <a:off x="3284220" y="257810"/>
            <a:ext cx="8375015" cy="440690"/>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r>
              <a:rPr lang="en-US" sz="2200" b="1">
                <a:solidFill>
                  <a:srgbClr val="029694"/>
                </a:solidFill>
                <a:latin typeface="Noto Sans SC" panose="020B0200000000000000" charset="-122"/>
                <a:ea typeface="Noto Sans SC" panose="020B0200000000000000" charset="-122"/>
                <a:cs typeface="Noto Sans SC" panose="020B0200000000000000" charset="-122"/>
                <a:sym typeface="+mn-ea"/>
              </a:rPr>
              <a:t>研究内容1：政策落地的全链条解析</a:t>
            </a:r>
            <a:endParaRPr lang="zh-CN" altLang="en-US" sz="2200">
              <a:solidFill>
                <a:schemeClr val="tx1"/>
              </a:solidFill>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p:tgtEl>
                                          <p:spTgt spid="53"/>
                                        </p:tgtEl>
                                        <p:attrNameLst>
                                          <p:attrName>ppt_y</p:attrName>
                                        </p:attrNameLst>
                                      </p:cBhvr>
                                      <p:tavLst>
                                        <p:tav tm="0">
                                          <p:val>
                                            <p:strVal val="#ppt_y-#ppt_h*1.125000"/>
                                          </p:val>
                                        </p:tav>
                                        <p:tav tm="100000">
                                          <p:val>
                                            <p:strVal val="#ppt_y"/>
                                          </p:val>
                                        </p:tav>
                                      </p:tavLst>
                                    </p:anim>
                                    <p:animEffect transition="in" filter="wipe(down)">
                                      <p:cBhvr>
                                        <p:cTn id="8" dur="500"/>
                                        <p:tgtEl>
                                          <p:spTgt spid="53"/>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500"/>
                                        <p:tgtEl>
                                          <p:spTgt spid="54"/>
                                        </p:tgtEl>
                                        <p:attrNameLst>
                                          <p:attrName>ppt_y</p:attrName>
                                        </p:attrNameLst>
                                      </p:cBhvr>
                                      <p:tavLst>
                                        <p:tav tm="0">
                                          <p:val>
                                            <p:strVal val="#ppt_y-#ppt_h*1.125000"/>
                                          </p:val>
                                        </p:tav>
                                        <p:tav tm="100000">
                                          <p:val>
                                            <p:strVal val="#ppt_y"/>
                                          </p:val>
                                        </p:tav>
                                      </p:tavLst>
                                    </p:anim>
                                    <p:animEffect transition="in" filter="wipe(down)">
                                      <p:cBhvr>
                                        <p:cTn id="13" dur="500"/>
                                        <p:tgtEl>
                                          <p:spTgt spid="54"/>
                                        </p:tgtEl>
                                      </p:cBhvr>
                                    </p:animEffect>
                                  </p:childTnLst>
                                </p:cTn>
                              </p:par>
                            </p:childTnLst>
                          </p:cTn>
                        </p:par>
                        <p:par>
                          <p:cTn id="14" fill="hold">
                            <p:stCondLst>
                              <p:cond delay="1000"/>
                            </p:stCondLst>
                            <p:childTnLst>
                              <p:par>
                                <p:cTn id="15" presetID="12" presetClass="entr" presetSubtype="1" fill="hold" grpId="0" nodeType="after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additive="base">
                                        <p:cTn id="17" dur="500"/>
                                        <p:tgtEl>
                                          <p:spTgt spid="48"/>
                                        </p:tgtEl>
                                        <p:attrNameLst>
                                          <p:attrName>ppt_y</p:attrName>
                                        </p:attrNameLst>
                                      </p:cBhvr>
                                      <p:tavLst>
                                        <p:tav tm="0">
                                          <p:val>
                                            <p:strVal val="#ppt_y-#ppt_h*1.125000"/>
                                          </p:val>
                                        </p:tav>
                                        <p:tav tm="100000">
                                          <p:val>
                                            <p:strVal val="#ppt_y"/>
                                          </p:val>
                                        </p:tav>
                                      </p:tavLst>
                                    </p:anim>
                                    <p:animEffect transition="in" filter="wipe(down)">
                                      <p:cBhvr>
                                        <p:cTn id="18" dur="500"/>
                                        <p:tgtEl>
                                          <p:spTgt spid="48"/>
                                        </p:tgtEl>
                                      </p:cBhvr>
                                    </p:animEffect>
                                  </p:childTnLst>
                                </p:cTn>
                              </p:par>
                              <p:par>
                                <p:cTn id="19" presetID="1" presetClass="exit"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hidden"/>
                                      </p:to>
                                    </p:set>
                                  </p:childTnLst>
                                </p:cTn>
                              </p:par>
                              <p:par>
                                <p:cTn id="21" presetID="12" presetClass="entr" presetSubtype="4" fill="hold" grpId="0" nodeType="withEffect">
                                  <p:stCondLst>
                                    <p:cond delay="0"/>
                                  </p:stCondLst>
                                  <p:childTnLst>
                                    <p:set>
                                      <p:cBhvr>
                                        <p:cTn id="22" dur="1" fill="hold">
                                          <p:stCondLst>
                                            <p:cond delay="0"/>
                                          </p:stCondLst>
                                        </p:cTn>
                                        <p:tgtEl>
                                          <p:spTgt spid="45"/>
                                        </p:tgtEl>
                                        <p:attrNameLst>
                                          <p:attrName>style.visibility</p:attrName>
                                        </p:attrNameLst>
                                      </p:cBhvr>
                                      <p:to>
                                        <p:strVal val="visible"/>
                                      </p:to>
                                    </p:set>
                                    <p:anim calcmode="lin" valueType="num">
                                      <p:cBhvr additive="base">
                                        <p:cTn id="23" dur="500"/>
                                        <p:tgtEl>
                                          <p:spTgt spid="45"/>
                                        </p:tgtEl>
                                        <p:attrNameLst>
                                          <p:attrName>ppt_y</p:attrName>
                                        </p:attrNameLst>
                                      </p:cBhvr>
                                      <p:tavLst>
                                        <p:tav tm="0">
                                          <p:val>
                                            <p:strVal val="#ppt_y+#ppt_h*1.125000"/>
                                          </p:val>
                                        </p:tav>
                                        <p:tav tm="100000">
                                          <p:val>
                                            <p:strVal val="#ppt_y"/>
                                          </p:val>
                                        </p:tav>
                                      </p:tavLst>
                                    </p:anim>
                                    <p:animEffect transition="in" filter="wipe(up)">
                                      <p:cBhvr>
                                        <p:cTn id="24" dur="500"/>
                                        <p:tgtEl>
                                          <p:spTgt spid="45"/>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73"/>
                                        </p:tgtEl>
                                        <p:attrNameLst>
                                          <p:attrName>style.visibility</p:attrName>
                                        </p:attrNameLst>
                                      </p:cBhvr>
                                      <p:to>
                                        <p:strVal val="visible"/>
                                      </p:to>
                                    </p:set>
                                    <p:anim calcmode="lin" valueType="num">
                                      <p:cBhvr additive="base">
                                        <p:cTn id="27" dur="500"/>
                                        <p:tgtEl>
                                          <p:spTgt spid="73"/>
                                        </p:tgtEl>
                                        <p:attrNameLst>
                                          <p:attrName>ppt_y</p:attrName>
                                        </p:attrNameLst>
                                      </p:cBhvr>
                                      <p:tavLst>
                                        <p:tav tm="0">
                                          <p:val>
                                            <p:strVal val="#ppt_y+#ppt_h*1.125000"/>
                                          </p:val>
                                        </p:tav>
                                        <p:tav tm="100000">
                                          <p:val>
                                            <p:strVal val="#ppt_y"/>
                                          </p:val>
                                        </p:tav>
                                      </p:tavLst>
                                    </p:anim>
                                    <p:animEffect transition="in" filter="wipe(up)">
                                      <p:cBhvr>
                                        <p:cTn id="28"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p:bldP spid="48" grpId="1" animBg="1"/>
      <p:bldP spid="6" grpId="0" bldLvl="0" animBg="1"/>
      <p:bldP spid="6" grpId="1" animBg="1"/>
      <p:bldP spid="45" grpId="0" animBg="1"/>
      <p:bldP spid="45" grpId="1" animBg="1"/>
      <p:bldP spid="73" grpId="0" animBg="1"/>
      <p:bldP spid="7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项目技术路线</a:t>
            </a:r>
            <a:endPar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61" name="左大括号 60"/>
          <p:cNvSpPr/>
          <p:nvPr/>
        </p:nvSpPr>
        <p:spPr>
          <a:xfrm>
            <a:off x="1207135" y="2409825"/>
            <a:ext cx="295275" cy="4193540"/>
          </a:xfrm>
          <a:prstGeom prst="leftBrace">
            <a:avLst>
              <a:gd name="adj1" fmla="val 78506"/>
              <a:gd name="adj2" fmla="val 50147"/>
            </a:avLst>
          </a:prstGeom>
          <a:ln w="34925">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8" name="圆角矩形 67"/>
          <p:cNvSpPr/>
          <p:nvPr/>
        </p:nvSpPr>
        <p:spPr>
          <a:xfrm>
            <a:off x="1701800" y="6045200"/>
            <a:ext cx="9004935" cy="798830"/>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lang="zh-CN" sz="2000">
                <a:solidFill>
                  <a:schemeClr val="tx1"/>
                </a:solidFill>
                <a:latin typeface="Noto Sans SC" panose="020B0200000000000000" charset="-122"/>
                <a:ea typeface="Noto Sans SC" panose="020B0200000000000000" charset="-122"/>
                <a:cs typeface="Noto Sans SC" panose="020B0200000000000000" charset="-122"/>
                <a:sym typeface="+mn-ea"/>
              </a:rPr>
              <a:t>时间演进维度和区域分布维度结果汇总</a:t>
            </a:r>
            <a:r>
              <a:rPr sz="2000">
                <a:solidFill>
                  <a:schemeClr val="tx1"/>
                </a:solidFill>
                <a:latin typeface="Noto Sans SC" panose="020B0200000000000000" charset="-122"/>
                <a:ea typeface="Noto Sans SC" panose="020B0200000000000000" charset="-122"/>
                <a:cs typeface="Noto Sans SC" panose="020B0200000000000000" charset="-122"/>
                <a:sym typeface="+mn-ea"/>
              </a:rPr>
              <a:t>，精准甄别并提炼出影响要素发展的核心关键因素。</a:t>
            </a:r>
            <a:endParaRPr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grpSp>
        <p:nvGrpSpPr>
          <p:cNvPr id="69" name="组合 68"/>
          <p:cNvGrpSpPr/>
          <p:nvPr/>
        </p:nvGrpSpPr>
        <p:grpSpPr>
          <a:xfrm>
            <a:off x="1701800" y="4763770"/>
            <a:ext cx="9004935" cy="1229360"/>
            <a:chOff x="2680" y="5235"/>
            <a:chExt cx="14181" cy="1936"/>
          </a:xfrm>
        </p:grpSpPr>
        <p:sp>
          <p:nvSpPr>
            <p:cNvPr id="70" name="圆角矩形 69"/>
            <p:cNvSpPr/>
            <p:nvPr/>
          </p:nvSpPr>
          <p:spPr>
            <a:xfrm>
              <a:off x="2680" y="5235"/>
              <a:ext cx="14181" cy="1165"/>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sz="2000">
                  <a:solidFill>
                    <a:schemeClr val="tx1"/>
                  </a:solidFill>
                  <a:latin typeface="Noto Sans SC" panose="020B0200000000000000" charset="-122"/>
                  <a:ea typeface="Noto Sans SC" panose="020B0200000000000000" charset="-122"/>
                  <a:cs typeface="Noto Sans SC" panose="020B0200000000000000" charset="-122"/>
                  <a:sym typeface="+mn-ea"/>
                </a:rPr>
                <a:t>从区域分布维度对比分析不同区域间要素布局与市场运行的差异，精准识别推动发展与制约提升的核心因素。</a:t>
              </a:r>
              <a:endParaRPr lang="zh-CN"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71" name="箭头: 右 60"/>
            <p:cNvSpPr/>
            <p:nvPr/>
          </p:nvSpPr>
          <p:spPr>
            <a:xfrm rot="5400000">
              <a:off x="9046" y="6536"/>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3" name="组合 72"/>
          <p:cNvGrpSpPr/>
          <p:nvPr/>
        </p:nvGrpSpPr>
        <p:grpSpPr>
          <a:xfrm>
            <a:off x="1744980" y="2219325"/>
            <a:ext cx="9004935" cy="1296035"/>
            <a:chOff x="2748" y="3280"/>
            <a:chExt cx="14181" cy="2041"/>
          </a:xfrm>
        </p:grpSpPr>
        <p:sp>
          <p:nvSpPr>
            <p:cNvPr id="74" name="圆角矩形 73"/>
            <p:cNvSpPr/>
            <p:nvPr/>
          </p:nvSpPr>
          <p:spPr>
            <a:xfrm>
              <a:off x="2748" y="3280"/>
              <a:ext cx="14181" cy="1244"/>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rPr>
                <a:t>收集</a:t>
              </a:r>
              <a:r>
                <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rPr>
                <a:t>整理各类电力项目的装机、发电、消纳及交易相关数据</a:t>
              </a:r>
              <a:r>
                <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rPr>
                <a:t>信息</a:t>
              </a:r>
              <a:endPar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75" name="箭头: 右 60"/>
            <p:cNvSpPr/>
            <p:nvPr/>
          </p:nvSpPr>
          <p:spPr>
            <a:xfrm rot="5400000">
              <a:off x="9046" y="4686"/>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6" name="组合 75"/>
          <p:cNvGrpSpPr/>
          <p:nvPr/>
        </p:nvGrpSpPr>
        <p:grpSpPr>
          <a:xfrm>
            <a:off x="1701800" y="3533775"/>
            <a:ext cx="9004935" cy="1166495"/>
            <a:chOff x="2680" y="5253"/>
            <a:chExt cx="14181" cy="1837"/>
          </a:xfrm>
        </p:grpSpPr>
        <p:sp>
          <p:nvSpPr>
            <p:cNvPr id="77" name="圆角矩形 76"/>
            <p:cNvSpPr/>
            <p:nvPr/>
          </p:nvSpPr>
          <p:spPr>
            <a:xfrm>
              <a:off x="2680" y="5253"/>
              <a:ext cx="14181" cy="969"/>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sz="2000">
                  <a:solidFill>
                    <a:schemeClr val="tx1"/>
                  </a:solidFill>
                  <a:latin typeface="Noto Sans SC" panose="020B0200000000000000" charset="-122"/>
                  <a:ea typeface="Noto Sans SC" panose="020B0200000000000000" charset="-122"/>
                  <a:cs typeface="Noto Sans SC" panose="020B0200000000000000" charset="-122"/>
                  <a:sym typeface="+mn-ea"/>
                </a:rPr>
                <a:t>从</a:t>
              </a:r>
              <a:r>
                <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rPr>
                <a:t>时间演进维度研判新兴电力要素的发展走向与市场动态变化特征</a:t>
              </a:r>
              <a:endPar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78" name="箭头: 右 60"/>
            <p:cNvSpPr/>
            <p:nvPr/>
          </p:nvSpPr>
          <p:spPr>
            <a:xfrm rot="5400000">
              <a:off x="9046" y="6455"/>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 name="AutoShape 4"/>
          <p:cNvSpPr/>
          <p:nvPr>
            <p:custDataLst>
              <p:tags r:id="rId2"/>
            </p:custDataLst>
          </p:nvPr>
        </p:nvSpPr>
        <p:spPr>
          <a:xfrm>
            <a:off x="762000" y="830580"/>
            <a:ext cx="10668000" cy="1270000"/>
          </a:xfrm>
          <a:prstGeom prst="roundRect">
            <a:avLst>
              <a:gd name="adj" fmla="val 12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grpSp>
        <p:nvGrpSpPr>
          <p:cNvPr id="5" name="第一部分研究内容"/>
          <p:cNvGrpSpPr/>
          <p:nvPr>
            <p:custDataLst>
              <p:tags r:id="rId3"/>
            </p:custDataLst>
          </p:nvPr>
        </p:nvGrpSpPr>
        <p:grpSpPr>
          <a:xfrm>
            <a:off x="952500" y="1059180"/>
            <a:ext cx="2628900" cy="812800"/>
            <a:chOff x="1500" y="7050"/>
            <a:chExt cx="4140" cy="1280"/>
          </a:xfrm>
        </p:grpSpPr>
        <p:sp>
          <p:nvSpPr>
            <p:cNvPr id="10" name="AutoShape 5"/>
            <p:cNvSpPr/>
            <p:nvPr>
              <p:custDataLst>
                <p:tags r:id="rId4"/>
              </p:custDataLst>
            </p:nvPr>
          </p:nvSpPr>
          <p:spPr>
            <a:xfrm>
              <a:off x="150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13" name="AutoShape 6"/>
            <p:cNvSpPr/>
            <p:nvPr>
              <p:custDataLst>
                <p:tags r:id="rId5"/>
              </p:custDataLst>
            </p:nvPr>
          </p:nvSpPr>
          <p:spPr>
            <a:xfrm>
              <a:off x="1500" y="7330"/>
              <a:ext cx="1800" cy="72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收集</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4"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70" y="7524"/>
              <a:ext cx="360" cy="360"/>
            </a:xfrm>
            <a:prstGeom prst="rect">
              <a:avLst/>
            </a:prstGeom>
          </p:spPr>
        </p:pic>
        <p:sp>
          <p:nvSpPr>
            <p:cNvPr id="15" name="AutoShape 8"/>
            <p:cNvSpPr/>
            <p:nvPr>
              <p:custDataLst>
                <p:tags r:id="rId9"/>
              </p:custDataLst>
            </p:nvPr>
          </p:nvSpPr>
          <p:spPr>
            <a:xfrm>
              <a:off x="384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16" name="AutoShape 9"/>
            <p:cNvSpPr/>
            <p:nvPr/>
          </p:nvSpPr>
          <p:spPr>
            <a:xfrm>
              <a:off x="384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20" name="第二部分研究内容"/>
          <p:cNvGrpSpPr/>
          <p:nvPr>
            <p:custDataLst>
              <p:tags r:id="rId10"/>
            </p:custDataLst>
          </p:nvPr>
        </p:nvGrpSpPr>
        <p:grpSpPr>
          <a:xfrm>
            <a:off x="3638550" y="1059180"/>
            <a:ext cx="2921000" cy="812800"/>
            <a:chOff x="5720" y="7050"/>
            <a:chExt cx="4600" cy="1280"/>
          </a:xfrm>
        </p:grpSpPr>
        <p:pic>
          <p:nvPicPr>
            <p:cNvPr id="21" name="Picture 10"/>
            <p:cNvPicPr>
              <a:picLocks noChangeAspect="1"/>
            </p:cNvPicPr>
            <p:nvPr>
              <p:custDataLst>
                <p:tags r:id="rId1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20" y="7524"/>
              <a:ext cx="360" cy="360"/>
            </a:xfrm>
            <a:prstGeom prst="rect">
              <a:avLst/>
            </a:prstGeom>
          </p:spPr>
        </p:pic>
        <p:sp>
          <p:nvSpPr>
            <p:cNvPr id="22" name="AutoShape 11"/>
            <p:cNvSpPr/>
            <p:nvPr>
              <p:custDataLst>
                <p:tags r:id="rId12"/>
              </p:custDataLst>
            </p:nvPr>
          </p:nvSpPr>
          <p:spPr>
            <a:xfrm>
              <a:off x="618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23" name="AutoShape 12"/>
            <p:cNvSpPr/>
            <p:nvPr>
              <p:custDataLst>
                <p:tags r:id="rId13"/>
              </p:custDataLst>
            </p:nvPr>
          </p:nvSpPr>
          <p:spPr>
            <a:xfrm>
              <a:off x="618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r>
                <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维度</a:t>
              </a:r>
              <a:r>
                <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分</a:t>
              </a:r>
              <a:r>
                <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析</a:t>
              </a: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4" name="Picture 13"/>
            <p:cNvPicPr>
              <a:picLocks noChangeAspect="1"/>
            </p:cNvPicPr>
            <p:nvPr>
              <p:custDataLst>
                <p:tags r:id="rId14"/>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80" y="7524"/>
              <a:ext cx="360" cy="360"/>
            </a:xfrm>
            <a:prstGeom prst="rect">
              <a:avLst/>
            </a:prstGeom>
          </p:spPr>
        </p:pic>
        <p:sp>
          <p:nvSpPr>
            <p:cNvPr id="25" name="AutoShape 14"/>
            <p:cNvSpPr/>
            <p:nvPr>
              <p:custDataLst>
                <p:tags r:id="rId15"/>
              </p:custDataLst>
            </p:nvPr>
          </p:nvSpPr>
          <p:spPr>
            <a:xfrm>
              <a:off x="852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15"/>
            <p:cNvSpPr/>
            <p:nvPr/>
          </p:nvSpPr>
          <p:spPr>
            <a:xfrm>
              <a:off x="852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27" name="第三部分研究内容"/>
          <p:cNvGrpSpPr/>
          <p:nvPr>
            <p:custDataLst>
              <p:tags r:id="rId16"/>
            </p:custDataLst>
          </p:nvPr>
        </p:nvGrpSpPr>
        <p:grpSpPr>
          <a:xfrm>
            <a:off x="6613525" y="1059180"/>
            <a:ext cx="2911475" cy="812800"/>
            <a:chOff x="10415" y="7050"/>
            <a:chExt cx="4585" cy="1280"/>
          </a:xfrm>
        </p:grpSpPr>
        <p:pic>
          <p:nvPicPr>
            <p:cNvPr id="28" name="Picture 16"/>
            <p:cNvPicPr>
              <a:picLocks noChangeAspect="1"/>
            </p:cNvPicPr>
            <p:nvPr>
              <p:custDataLst>
                <p:tags r:id="rId17"/>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15" y="7524"/>
              <a:ext cx="360" cy="360"/>
            </a:xfrm>
            <a:prstGeom prst="rect">
              <a:avLst/>
            </a:prstGeom>
          </p:spPr>
        </p:pic>
        <p:sp>
          <p:nvSpPr>
            <p:cNvPr id="29" name="AutoShape 17"/>
            <p:cNvSpPr/>
            <p:nvPr>
              <p:custDataLst>
                <p:tags r:id="rId18"/>
              </p:custDataLst>
            </p:nvPr>
          </p:nvSpPr>
          <p:spPr>
            <a:xfrm>
              <a:off x="1086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pic>
          <p:nvPicPr>
            <p:cNvPr id="32" name="Picture 19"/>
            <p:cNvPicPr>
              <a:picLocks noChangeAspect="1"/>
            </p:cNvPicPr>
            <p:nvPr>
              <p:custDataLst>
                <p:tags r:id="rId19"/>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810" y="7524"/>
              <a:ext cx="360" cy="360"/>
            </a:xfrm>
            <a:prstGeom prst="rect">
              <a:avLst/>
            </a:prstGeom>
          </p:spPr>
        </p:pic>
        <p:sp>
          <p:nvSpPr>
            <p:cNvPr id="33" name="AutoShape 20"/>
            <p:cNvSpPr/>
            <p:nvPr>
              <p:custDataLst>
                <p:tags r:id="rId20"/>
              </p:custDataLst>
            </p:nvPr>
          </p:nvSpPr>
          <p:spPr>
            <a:xfrm>
              <a:off x="1320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34" name="AutoShape 21"/>
            <p:cNvSpPr/>
            <p:nvPr/>
          </p:nvSpPr>
          <p:spPr>
            <a:xfrm>
              <a:off x="1320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35" name="第四部分研究内容"/>
          <p:cNvGrpSpPr/>
          <p:nvPr>
            <p:custDataLst>
              <p:tags r:id="rId21"/>
            </p:custDataLst>
          </p:nvPr>
        </p:nvGrpSpPr>
        <p:grpSpPr>
          <a:xfrm>
            <a:off x="9588500" y="1059180"/>
            <a:ext cx="1676400" cy="812800"/>
            <a:chOff x="15100" y="7050"/>
            <a:chExt cx="2640" cy="1280"/>
          </a:xfrm>
        </p:grpSpPr>
        <p:pic>
          <p:nvPicPr>
            <p:cNvPr id="36" name="Picture 22"/>
            <p:cNvPicPr>
              <a:picLocks noChangeAspect="1"/>
            </p:cNvPicPr>
            <p:nvPr>
              <p:custDataLst>
                <p:tags r:id="rId22"/>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100" y="7524"/>
              <a:ext cx="360" cy="360"/>
            </a:xfrm>
            <a:prstGeom prst="rect">
              <a:avLst/>
            </a:prstGeom>
          </p:spPr>
        </p:pic>
        <p:sp>
          <p:nvSpPr>
            <p:cNvPr id="37" name="AutoShape 23"/>
            <p:cNvSpPr/>
            <p:nvPr>
              <p:custDataLst>
                <p:tags r:id="rId23"/>
              </p:custDataLst>
            </p:nvPr>
          </p:nvSpPr>
          <p:spPr>
            <a:xfrm>
              <a:off x="15540" y="7050"/>
              <a:ext cx="2200" cy="1280"/>
            </a:xfrm>
            <a:prstGeom prst="roundRect">
              <a:avLst>
                <a:gd name="adj" fmla="val 12500"/>
              </a:avLst>
            </a:prstGeom>
            <a:solidFill>
              <a:srgbClr val="029694"/>
            </a:solidFill>
            <a:ln w="25400" cap="flat" cmpd="sng">
              <a:noFill/>
              <a:prstDash val="solid"/>
              <a:round/>
            </a:ln>
          </p:spPr>
          <p:txBody>
            <a:bodyPr vert="horz" wrap="square" lIns="63500" tIns="63500" rIns="63500" bIns="63500" rtlCol="0" anchor="ctr"/>
            <a:p>
              <a:pPr algn="ctr">
                <a:defRPr/>
              </a:pPr>
              <a:endParaRPr>
                <a:solidFill>
                  <a:srgbClr val="029694"/>
                </a:solidFill>
              </a:endParaRPr>
            </a:p>
          </p:txBody>
        </p:sp>
        <p:sp>
          <p:nvSpPr>
            <p:cNvPr id="38" name="AutoShape 24"/>
            <p:cNvSpPr/>
            <p:nvPr>
              <p:custDataLst>
                <p:tags r:id="rId24"/>
              </p:custDataLst>
            </p:nvPr>
          </p:nvSpPr>
          <p:spPr>
            <a:xfrm>
              <a:off x="15540" y="7330"/>
              <a:ext cx="2200" cy="72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建议提炼
成果输出</a:t>
              </a:r>
              <a:endParaRPr lang="en-US" sz="1100"/>
            </a:p>
          </p:txBody>
        </p:sp>
      </p:grpSp>
      <p:sp>
        <p:nvSpPr>
          <p:cNvPr id="39" name="AutoShape 6"/>
          <p:cNvSpPr/>
          <p:nvPr>
            <p:custDataLst>
              <p:tags r:id="rId25"/>
            </p:custDataLst>
          </p:nvPr>
        </p:nvSpPr>
        <p:spPr>
          <a:xfrm>
            <a:off x="2441575" y="12369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6"/>
          <p:cNvSpPr/>
          <p:nvPr>
            <p:custDataLst>
              <p:tags r:id="rId26"/>
            </p:custDataLst>
          </p:nvPr>
        </p:nvSpPr>
        <p:spPr>
          <a:xfrm>
            <a:off x="2432050" y="12369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梳理构建</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圆角矩形 1"/>
          <p:cNvSpPr/>
          <p:nvPr>
            <p:custDataLst>
              <p:tags r:id="rId27"/>
            </p:custDataLst>
          </p:nvPr>
        </p:nvSpPr>
        <p:spPr>
          <a:xfrm>
            <a:off x="3752850" y="889635"/>
            <a:ext cx="3006090" cy="1132840"/>
          </a:xfrm>
          <a:prstGeom prst="roundRect">
            <a:avLst/>
          </a:prstGeom>
          <a:noFill/>
          <a:ln w="28575" cmpd="sng">
            <a:solidFill>
              <a:schemeClr val="accent1">
                <a:shade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 name="AutoShape 12"/>
          <p:cNvSpPr/>
          <p:nvPr>
            <p:custDataLst>
              <p:tags r:id="rId28"/>
            </p:custDataLst>
          </p:nvPr>
        </p:nvSpPr>
        <p:spPr>
          <a:xfrm>
            <a:off x="6936740" y="1360170"/>
            <a:ext cx="1143000" cy="45720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custDataLst>
              <p:tags r:id="rId29"/>
            </p:custDataLst>
          </p:nvPr>
        </p:nvSpPr>
        <p:spPr>
          <a:xfrm>
            <a:off x="6896100" y="1180465"/>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6"/>
          <p:cNvSpPr/>
          <p:nvPr>
            <p:custDataLst>
              <p:tags r:id="rId30"/>
            </p:custDataLst>
          </p:nvPr>
        </p:nvSpPr>
        <p:spPr>
          <a:xfrm>
            <a:off x="5433695" y="124587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因素</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6"/>
          <p:cNvSpPr/>
          <p:nvPr>
            <p:custDataLst>
              <p:tags r:id="rId31"/>
            </p:custDataLst>
          </p:nvPr>
        </p:nvSpPr>
        <p:spPr>
          <a:xfrm>
            <a:off x="6908800" y="1237615"/>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6"/>
          <p:cNvSpPr/>
          <p:nvPr>
            <p:custDataLst>
              <p:tags r:id="rId32"/>
            </p:custDataLst>
          </p:nvPr>
        </p:nvSpPr>
        <p:spPr>
          <a:xfrm>
            <a:off x="8382000" y="12496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效益</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测算</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矩形 11"/>
          <p:cNvSpPr/>
          <p:nvPr/>
        </p:nvSpPr>
        <p:spPr>
          <a:xfrm>
            <a:off x="3638550" y="272415"/>
            <a:ext cx="7456805" cy="440690"/>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r>
              <a:rPr lang="en-US" sz="2200" b="1">
                <a:solidFill>
                  <a:srgbClr val="029694"/>
                </a:solidFill>
                <a:latin typeface="Noto Sans SC" panose="020B0200000000000000" charset="-122"/>
                <a:ea typeface="Noto Sans SC" panose="020B0200000000000000" charset="-122"/>
                <a:cs typeface="Noto Sans SC" panose="020B0200000000000000" charset="-122"/>
                <a:sym typeface="+mn-ea"/>
              </a:rPr>
              <a:t>研究内容2：基于历史数据的多维度统计分析</a:t>
            </a:r>
            <a:endParaRPr lang="en-US" sz="2200" b="1">
              <a:solidFill>
                <a:srgbClr val="029694"/>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p:tgtEl>
                                          <p:spTgt spid="73"/>
                                        </p:tgtEl>
                                        <p:attrNameLst>
                                          <p:attrName>ppt_y</p:attrName>
                                        </p:attrNameLst>
                                      </p:cBhvr>
                                      <p:tavLst>
                                        <p:tav tm="0">
                                          <p:val>
                                            <p:strVal val="#ppt_y-#ppt_h*1.125000"/>
                                          </p:val>
                                        </p:tav>
                                        <p:tav tm="100000">
                                          <p:val>
                                            <p:strVal val="#ppt_y"/>
                                          </p:val>
                                        </p:tav>
                                      </p:tavLst>
                                    </p:anim>
                                    <p:animEffect transition="in" filter="wipe(down)">
                                      <p:cBhvr>
                                        <p:cTn id="8" dur="500"/>
                                        <p:tgtEl>
                                          <p:spTgt spid="73"/>
                                        </p:tgtEl>
                                      </p:cBhvr>
                                    </p:animEffect>
                                  </p:childTnLst>
                                </p:cTn>
                              </p:par>
                            </p:childTnLst>
                          </p:cTn>
                        </p:par>
                        <p:par>
                          <p:cTn id="9" fill="hold">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76"/>
                                        </p:tgtEl>
                                        <p:attrNameLst>
                                          <p:attrName>style.visibility</p:attrName>
                                        </p:attrNameLst>
                                      </p:cBhvr>
                                      <p:to>
                                        <p:strVal val="visible"/>
                                      </p:to>
                                    </p:set>
                                    <p:anim calcmode="lin" valueType="num">
                                      <p:cBhvr additive="base">
                                        <p:cTn id="12" dur="500"/>
                                        <p:tgtEl>
                                          <p:spTgt spid="76"/>
                                        </p:tgtEl>
                                        <p:attrNameLst>
                                          <p:attrName>ppt_y</p:attrName>
                                        </p:attrNameLst>
                                      </p:cBhvr>
                                      <p:tavLst>
                                        <p:tav tm="0">
                                          <p:val>
                                            <p:strVal val="#ppt_y-#ppt_h*1.125000"/>
                                          </p:val>
                                        </p:tav>
                                        <p:tav tm="100000">
                                          <p:val>
                                            <p:strVal val="#ppt_y"/>
                                          </p:val>
                                        </p:tav>
                                      </p:tavLst>
                                    </p:anim>
                                    <p:animEffect transition="in" filter="wipe(down)">
                                      <p:cBhvr>
                                        <p:cTn id="13" dur="500"/>
                                        <p:tgtEl>
                                          <p:spTgt spid="76"/>
                                        </p:tgtEl>
                                      </p:cBhvr>
                                    </p:animEffect>
                                  </p:childTnLst>
                                </p:cTn>
                              </p:par>
                            </p:childTnLst>
                          </p:cTn>
                        </p:par>
                        <p:par>
                          <p:cTn id="14" fill="hold">
                            <p:stCondLst>
                              <p:cond delay="1000"/>
                            </p:stCondLst>
                            <p:childTnLst>
                              <p:par>
                                <p:cTn id="15" presetID="12" presetClass="entr" presetSubtype="1" fill="hold" nodeType="after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additive="base">
                                        <p:cTn id="17" dur="500"/>
                                        <p:tgtEl>
                                          <p:spTgt spid="69"/>
                                        </p:tgtEl>
                                        <p:attrNameLst>
                                          <p:attrName>ppt_y</p:attrName>
                                        </p:attrNameLst>
                                      </p:cBhvr>
                                      <p:tavLst>
                                        <p:tav tm="0">
                                          <p:val>
                                            <p:strVal val="#ppt_y-#ppt_h*1.125000"/>
                                          </p:val>
                                        </p:tav>
                                        <p:tav tm="100000">
                                          <p:val>
                                            <p:strVal val="#ppt_y"/>
                                          </p:val>
                                        </p:tav>
                                      </p:tavLst>
                                    </p:anim>
                                    <p:animEffect transition="in" filter="wipe(down)">
                                      <p:cBhvr>
                                        <p:cTn id="18" dur="500"/>
                                        <p:tgtEl>
                                          <p:spTgt spid="69"/>
                                        </p:tgtEl>
                                      </p:cBhvr>
                                    </p:animEffect>
                                  </p:childTnLst>
                                </p:cTn>
                              </p:par>
                            </p:childTnLst>
                          </p:cTn>
                        </p:par>
                        <p:par>
                          <p:cTn id="19" fill="hold">
                            <p:stCondLst>
                              <p:cond delay="1500"/>
                            </p:stCondLst>
                            <p:childTnLst>
                              <p:par>
                                <p:cTn id="20" presetID="12" presetClass="entr" presetSubtype="1" fill="hold" nodeType="afterEffect">
                                  <p:stCondLst>
                                    <p:cond delay="0"/>
                                  </p:stCondLst>
                                  <p:childTnLst>
                                    <p:set>
                                      <p:cBhvr>
                                        <p:cTn id="21" dur="1" fill="hold">
                                          <p:stCondLst>
                                            <p:cond delay="0"/>
                                          </p:stCondLst>
                                        </p:cTn>
                                        <p:tgtEl>
                                          <p:spTgt spid="68"/>
                                        </p:tgtEl>
                                        <p:attrNameLst>
                                          <p:attrName>style.visibility</p:attrName>
                                        </p:attrNameLst>
                                      </p:cBhvr>
                                      <p:to>
                                        <p:strVal val="visible"/>
                                      </p:to>
                                    </p:set>
                                    <p:anim calcmode="lin" valueType="num">
                                      <p:cBhvr additive="base">
                                        <p:cTn id="22" dur="500"/>
                                        <p:tgtEl>
                                          <p:spTgt spid="68"/>
                                        </p:tgtEl>
                                        <p:attrNameLst>
                                          <p:attrName>ppt_y</p:attrName>
                                        </p:attrNameLst>
                                      </p:cBhvr>
                                      <p:tavLst>
                                        <p:tav tm="0">
                                          <p:val>
                                            <p:strVal val="#ppt_y-#ppt_h*1.125000"/>
                                          </p:val>
                                        </p:tav>
                                        <p:tav tm="100000">
                                          <p:val>
                                            <p:strVal val="#ppt_y"/>
                                          </p:val>
                                        </p:tav>
                                      </p:tavLst>
                                    </p:anim>
                                    <p:animEffect transition="in" filter="wipe(down)">
                                      <p:cBhvr>
                                        <p:cTn id="23" dur="500"/>
                                        <p:tgtEl>
                                          <p:spTgt spid="68"/>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additive="base">
                                        <p:cTn id="26" dur="500"/>
                                        <p:tgtEl>
                                          <p:spTgt spid="61"/>
                                        </p:tgtEl>
                                        <p:attrNameLst>
                                          <p:attrName>ppt_y</p:attrName>
                                        </p:attrNameLst>
                                      </p:cBhvr>
                                      <p:tavLst>
                                        <p:tav tm="0">
                                          <p:val>
                                            <p:strVal val="#ppt_y+#ppt_h*1.125000"/>
                                          </p:val>
                                        </p:tav>
                                        <p:tav tm="100000">
                                          <p:val>
                                            <p:strVal val="#ppt_y"/>
                                          </p:val>
                                        </p:tav>
                                      </p:tavLst>
                                    </p:anim>
                                    <p:animEffect transition="in" filter="wipe(up)">
                                      <p:cBhvr>
                                        <p:cTn id="27" dur="500"/>
                                        <p:tgtEl>
                                          <p:spTgt spid="61"/>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p:tgtEl>
                                          <p:spTgt spid="12"/>
                                        </p:tgtEl>
                                        <p:attrNameLst>
                                          <p:attrName>ppt_y</p:attrName>
                                        </p:attrNameLst>
                                      </p:cBhvr>
                                      <p:tavLst>
                                        <p:tav tm="0">
                                          <p:val>
                                            <p:strVal val="#ppt_y+#ppt_h*1.125000"/>
                                          </p:val>
                                        </p:tav>
                                        <p:tav tm="100000">
                                          <p:val>
                                            <p:strVal val="#ppt_y"/>
                                          </p:val>
                                        </p:tav>
                                      </p:tavLst>
                                    </p:anim>
                                    <p:animEffect transition="in" filter="wipe(up)">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bldLvl="0" animBg="1"/>
      <p:bldP spid="68" grpId="1" animBg="1"/>
      <p:bldP spid="4" grpId="0" bldLvl="0" animBg="1"/>
      <p:bldP spid="4" grpId="1" animBg="1"/>
      <p:bldP spid="61" grpId="0" animBg="1"/>
      <p:bldP spid="61" grpId="1" animBg="1"/>
      <p:bldP spid="12" grpId="0" animBg="1"/>
      <p:bldP spid="1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项目技术路线</a:t>
            </a:r>
            <a:endPar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61" name="左大括号 60"/>
          <p:cNvSpPr/>
          <p:nvPr/>
        </p:nvSpPr>
        <p:spPr>
          <a:xfrm>
            <a:off x="1193165" y="2414270"/>
            <a:ext cx="295275" cy="3480435"/>
          </a:xfrm>
          <a:prstGeom prst="leftBrace">
            <a:avLst>
              <a:gd name="adj1" fmla="val 78506"/>
              <a:gd name="adj2" fmla="val 50147"/>
            </a:avLst>
          </a:prstGeom>
          <a:ln w="34925">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62" name="组合 61"/>
          <p:cNvGrpSpPr/>
          <p:nvPr/>
        </p:nvGrpSpPr>
        <p:grpSpPr>
          <a:xfrm>
            <a:off x="1701800" y="2268855"/>
            <a:ext cx="9004935" cy="1452245"/>
            <a:chOff x="2680" y="3009"/>
            <a:chExt cx="14181" cy="2287"/>
          </a:xfrm>
        </p:grpSpPr>
        <p:sp>
          <p:nvSpPr>
            <p:cNvPr id="63" name="圆角矩形 62"/>
            <p:cNvSpPr/>
            <p:nvPr/>
          </p:nvSpPr>
          <p:spPr>
            <a:xfrm>
              <a:off x="2680" y="3009"/>
              <a:ext cx="14181" cy="1443"/>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rPr>
                <a:t>选取具有代表性的各类电力项目作为研究样本，覆盖不同类型与不同区域，确保样本的广泛代表性。</a:t>
              </a:r>
              <a:endPar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64" name="箭头: 右 60"/>
            <p:cNvSpPr/>
            <p:nvPr/>
          </p:nvSpPr>
          <p:spPr>
            <a:xfrm rot="5400000">
              <a:off x="9046" y="4661"/>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5" name="组合 64"/>
          <p:cNvGrpSpPr/>
          <p:nvPr/>
        </p:nvGrpSpPr>
        <p:grpSpPr>
          <a:xfrm>
            <a:off x="1701800" y="3769360"/>
            <a:ext cx="9004935" cy="1385570"/>
            <a:chOff x="2680" y="5372"/>
            <a:chExt cx="14181" cy="2182"/>
          </a:xfrm>
        </p:grpSpPr>
        <p:sp>
          <p:nvSpPr>
            <p:cNvPr id="66" name="圆角矩形 65"/>
            <p:cNvSpPr/>
            <p:nvPr/>
          </p:nvSpPr>
          <p:spPr>
            <a:xfrm>
              <a:off x="2680" y="5372"/>
              <a:ext cx="14181" cy="1382"/>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sz="2000">
                  <a:solidFill>
                    <a:schemeClr val="tx1"/>
                  </a:solidFill>
                  <a:latin typeface="Noto Sans SC" panose="020B0200000000000000" charset="-122"/>
                  <a:ea typeface="Noto Sans SC" panose="020B0200000000000000" charset="-122"/>
                  <a:cs typeface="Noto Sans SC" panose="020B0200000000000000" charset="-122"/>
                  <a:sym typeface="+mn-ea"/>
                </a:rPr>
                <a:t>构建涵盖投资、运营、减排及成本控制等多维度的效益评估指标体系</a:t>
              </a:r>
              <a:endParaRPr lang="zh-CN"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67" name="箭头: 右 60"/>
            <p:cNvSpPr/>
            <p:nvPr/>
          </p:nvSpPr>
          <p:spPr>
            <a:xfrm rot="5400000">
              <a:off x="9046" y="6919"/>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68" name="圆角矩形 67"/>
          <p:cNvSpPr/>
          <p:nvPr/>
        </p:nvSpPr>
        <p:spPr>
          <a:xfrm>
            <a:off x="1701800" y="5175250"/>
            <a:ext cx="9004935" cy="883920"/>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sz="2000">
                <a:solidFill>
                  <a:schemeClr val="tx1"/>
                </a:solidFill>
                <a:latin typeface="Noto Sans SC" panose="020B0200000000000000" charset="-122"/>
                <a:ea typeface="Noto Sans SC" panose="020B0200000000000000" charset="-122"/>
                <a:cs typeface="Noto Sans SC" panose="020B0200000000000000" charset="-122"/>
                <a:sym typeface="+mn-ea"/>
              </a:rPr>
              <a:t>运用专业分析方法与统计工具，对样本项目的短期及长期经济效益进行综合测算。</a:t>
            </a:r>
            <a:endParaRPr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4" name="矩形 3"/>
          <p:cNvSpPr/>
          <p:nvPr/>
        </p:nvSpPr>
        <p:spPr>
          <a:xfrm>
            <a:off x="3603625" y="247650"/>
            <a:ext cx="7456805" cy="440690"/>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r>
              <a:rPr lang="en-US" sz="2200" b="1">
                <a:solidFill>
                  <a:srgbClr val="029694"/>
                </a:solidFill>
                <a:latin typeface="Noto Sans SC" panose="020B0200000000000000" charset="-122"/>
                <a:ea typeface="Noto Sans SC" panose="020B0200000000000000" charset="-122"/>
                <a:cs typeface="Noto Sans SC" panose="020B0200000000000000" charset="-122"/>
                <a:sym typeface="+mn-ea"/>
              </a:rPr>
              <a:t>研究内容3：典型项目的经济效益测算</a:t>
            </a:r>
            <a:endParaRPr lang="en-US" sz="2200" b="1">
              <a:solidFill>
                <a:srgbClr val="029694"/>
              </a:solidFill>
              <a:latin typeface="Noto Sans SC" panose="020B0200000000000000" charset="-122"/>
              <a:ea typeface="Noto Sans SC" panose="020B0200000000000000" charset="-122"/>
              <a:cs typeface="Noto Sans SC" panose="020B0200000000000000" charset="-122"/>
              <a:sym typeface="+mn-ea"/>
            </a:endParaRPr>
          </a:p>
        </p:txBody>
      </p:sp>
      <p:sp>
        <p:nvSpPr>
          <p:cNvPr id="5" name="AutoShape 4"/>
          <p:cNvSpPr/>
          <p:nvPr>
            <p:custDataLst>
              <p:tags r:id="rId2"/>
            </p:custDataLst>
          </p:nvPr>
        </p:nvSpPr>
        <p:spPr>
          <a:xfrm>
            <a:off x="762000" y="830580"/>
            <a:ext cx="10668000" cy="1270000"/>
          </a:xfrm>
          <a:prstGeom prst="roundRect">
            <a:avLst>
              <a:gd name="adj" fmla="val 12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grpSp>
        <p:nvGrpSpPr>
          <p:cNvPr id="10" name="第一部分研究内容"/>
          <p:cNvGrpSpPr/>
          <p:nvPr>
            <p:custDataLst>
              <p:tags r:id="rId3"/>
            </p:custDataLst>
          </p:nvPr>
        </p:nvGrpSpPr>
        <p:grpSpPr>
          <a:xfrm>
            <a:off x="952500" y="1059180"/>
            <a:ext cx="2628900" cy="812800"/>
            <a:chOff x="1500" y="7050"/>
            <a:chExt cx="4140" cy="1280"/>
          </a:xfrm>
        </p:grpSpPr>
        <p:sp>
          <p:nvSpPr>
            <p:cNvPr id="13" name="AutoShape 5"/>
            <p:cNvSpPr/>
            <p:nvPr>
              <p:custDataLst>
                <p:tags r:id="rId4"/>
              </p:custDataLst>
            </p:nvPr>
          </p:nvSpPr>
          <p:spPr>
            <a:xfrm>
              <a:off x="150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14" name="AutoShape 6"/>
            <p:cNvSpPr/>
            <p:nvPr>
              <p:custDataLst>
                <p:tags r:id="rId5"/>
              </p:custDataLst>
            </p:nvPr>
          </p:nvSpPr>
          <p:spPr>
            <a:xfrm>
              <a:off x="1500" y="7330"/>
              <a:ext cx="1800" cy="72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收集</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5"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70" y="7524"/>
              <a:ext cx="360" cy="360"/>
            </a:xfrm>
            <a:prstGeom prst="rect">
              <a:avLst/>
            </a:prstGeom>
          </p:spPr>
        </p:pic>
        <p:sp>
          <p:nvSpPr>
            <p:cNvPr id="16" name="AutoShape 8"/>
            <p:cNvSpPr/>
            <p:nvPr>
              <p:custDataLst>
                <p:tags r:id="rId9"/>
              </p:custDataLst>
            </p:nvPr>
          </p:nvSpPr>
          <p:spPr>
            <a:xfrm>
              <a:off x="384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20" name="AutoShape 9"/>
            <p:cNvSpPr/>
            <p:nvPr/>
          </p:nvSpPr>
          <p:spPr>
            <a:xfrm>
              <a:off x="384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21" name="第二部分研究内容"/>
          <p:cNvGrpSpPr/>
          <p:nvPr>
            <p:custDataLst>
              <p:tags r:id="rId10"/>
            </p:custDataLst>
          </p:nvPr>
        </p:nvGrpSpPr>
        <p:grpSpPr>
          <a:xfrm>
            <a:off x="3638550" y="1059180"/>
            <a:ext cx="2921000" cy="812800"/>
            <a:chOff x="5720" y="7050"/>
            <a:chExt cx="4600" cy="1280"/>
          </a:xfrm>
        </p:grpSpPr>
        <p:pic>
          <p:nvPicPr>
            <p:cNvPr id="22" name="Picture 10"/>
            <p:cNvPicPr>
              <a:picLocks noChangeAspect="1"/>
            </p:cNvPicPr>
            <p:nvPr>
              <p:custDataLst>
                <p:tags r:id="rId1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20" y="7524"/>
              <a:ext cx="360" cy="360"/>
            </a:xfrm>
            <a:prstGeom prst="rect">
              <a:avLst/>
            </a:prstGeom>
          </p:spPr>
        </p:pic>
        <p:sp>
          <p:nvSpPr>
            <p:cNvPr id="23" name="AutoShape 11"/>
            <p:cNvSpPr/>
            <p:nvPr>
              <p:custDataLst>
                <p:tags r:id="rId12"/>
              </p:custDataLst>
            </p:nvPr>
          </p:nvSpPr>
          <p:spPr>
            <a:xfrm>
              <a:off x="618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24" name="AutoShape 12"/>
            <p:cNvSpPr/>
            <p:nvPr>
              <p:custDataLst>
                <p:tags r:id="rId13"/>
              </p:custDataLst>
            </p:nvPr>
          </p:nvSpPr>
          <p:spPr>
            <a:xfrm>
              <a:off x="618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r>
                <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维度</a:t>
              </a:r>
              <a:r>
                <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分</a:t>
              </a:r>
              <a:r>
                <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析</a:t>
              </a: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5" name="Picture 13"/>
            <p:cNvPicPr>
              <a:picLocks noChangeAspect="1"/>
            </p:cNvPicPr>
            <p:nvPr>
              <p:custDataLst>
                <p:tags r:id="rId14"/>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80" y="7524"/>
              <a:ext cx="360" cy="360"/>
            </a:xfrm>
            <a:prstGeom prst="rect">
              <a:avLst/>
            </a:prstGeom>
          </p:spPr>
        </p:pic>
        <p:sp>
          <p:nvSpPr>
            <p:cNvPr id="26" name="AutoShape 14"/>
            <p:cNvSpPr/>
            <p:nvPr>
              <p:custDataLst>
                <p:tags r:id="rId15"/>
              </p:custDataLst>
            </p:nvPr>
          </p:nvSpPr>
          <p:spPr>
            <a:xfrm>
              <a:off x="852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15"/>
            <p:cNvSpPr/>
            <p:nvPr/>
          </p:nvSpPr>
          <p:spPr>
            <a:xfrm>
              <a:off x="852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28" name="第三部分研究内容"/>
          <p:cNvGrpSpPr/>
          <p:nvPr>
            <p:custDataLst>
              <p:tags r:id="rId16"/>
            </p:custDataLst>
          </p:nvPr>
        </p:nvGrpSpPr>
        <p:grpSpPr>
          <a:xfrm>
            <a:off x="6613525" y="1059180"/>
            <a:ext cx="2911475" cy="812800"/>
            <a:chOff x="10415" y="7050"/>
            <a:chExt cx="4585" cy="1280"/>
          </a:xfrm>
        </p:grpSpPr>
        <p:pic>
          <p:nvPicPr>
            <p:cNvPr id="29" name="Picture 16"/>
            <p:cNvPicPr>
              <a:picLocks noChangeAspect="1"/>
            </p:cNvPicPr>
            <p:nvPr>
              <p:custDataLst>
                <p:tags r:id="rId17"/>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15" y="7524"/>
              <a:ext cx="360" cy="360"/>
            </a:xfrm>
            <a:prstGeom prst="rect">
              <a:avLst/>
            </a:prstGeom>
          </p:spPr>
        </p:pic>
        <p:sp>
          <p:nvSpPr>
            <p:cNvPr id="30" name="AutoShape 17"/>
            <p:cNvSpPr/>
            <p:nvPr>
              <p:custDataLst>
                <p:tags r:id="rId18"/>
              </p:custDataLst>
            </p:nvPr>
          </p:nvSpPr>
          <p:spPr>
            <a:xfrm>
              <a:off x="1086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pic>
          <p:nvPicPr>
            <p:cNvPr id="32" name="Picture 19"/>
            <p:cNvPicPr>
              <a:picLocks noChangeAspect="1"/>
            </p:cNvPicPr>
            <p:nvPr>
              <p:custDataLst>
                <p:tags r:id="rId19"/>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810" y="7524"/>
              <a:ext cx="360" cy="360"/>
            </a:xfrm>
            <a:prstGeom prst="rect">
              <a:avLst/>
            </a:prstGeom>
          </p:spPr>
        </p:pic>
        <p:sp>
          <p:nvSpPr>
            <p:cNvPr id="33" name="AutoShape 20"/>
            <p:cNvSpPr/>
            <p:nvPr>
              <p:custDataLst>
                <p:tags r:id="rId20"/>
              </p:custDataLst>
            </p:nvPr>
          </p:nvSpPr>
          <p:spPr>
            <a:xfrm>
              <a:off x="1320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34" name="AutoShape 21"/>
            <p:cNvSpPr/>
            <p:nvPr/>
          </p:nvSpPr>
          <p:spPr>
            <a:xfrm>
              <a:off x="1320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35" name="第四部分研究内容"/>
          <p:cNvGrpSpPr/>
          <p:nvPr>
            <p:custDataLst>
              <p:tags r:id="rId21"/>
            </p:custDataLst>
          </p:nvPr>
        </p:nvGrpSpPr>
        <p:grpSpPr>
          <a:xfrm>
            <a:off x="9588500" y="1059180"/>
            <a:ext cx="1676400" cy="812800"/>
            <a:chOff x="15100" y="7050"/>
            <a:chExt cx="2640" cy="1280"/>
          </a:xfrm>
        </p:grpSpPr>
        <p:pic>
          <p:nvPicPr>
            <p:cNvPr id="36" name="Picture 22"/>
            <p:cNvPicPr>
              <a:picLocks noChangeAspect="1"/>
            </p:cNvPicPr>
            <p:nvPr>
              <p:custDataLst>
                <p:tags r:id="rId22"/>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100" y="7524"/>
              <a:ext cx="360" cy="360"/>
            </a:xfrm>
            <a:prstGeom prst="rect">
              <a:avLst/>
            </a:prstGeom>
          </p:spPr>
        </p:pic>
        <p:sp>
          <p:nvSpPr>
            <p:cNvPr id="37" name="AutoShape 23"/>
            <p:cNvSpPr/>
            <p:nvPr>
              <p:custDataLst>
                <p:tags r:id="rId23"/>
              </p:custDataLst>
            </p:nvPr>
          </p:nvSpPr>
          <p:spPr>
            <a:xfrm>
              <a:off x="15540" y="7050"/>
              <a:ext cx="2200" cy="1280"/>
            </a:xfrm>
            <a:prstGeom prst="roundRect">
              <a:avLst>
                <a:gd name="adj" fmla="val 12500"/>
              </a:avLst>
            </a:prstGeom>
            <a:solidFill>
              <a:srgbClr val="029694"/>
            </a:solidFill>
            <a:ln w="25400" cap="flat" cmpd="sng">
              <a:noFill/>
              <a:prstDash val="solid"/>
              <a:round/>
            </a:ln>
          </p:spPr>
          <p:txBody>
            <a:bodyPr vert="horz" wrap="square" lIns="63500" tIns="63500" rIns="63500" bIns="63500" rtlCol="0" anchor="ctr"/>
            <a:p>
              <a:pPr algn="ctr">
                <a:defRPr/>
              </a:pPr>
              <a:endParaRPr>
                <a:solidFill>
                  <a:srgbClr val="029694"/>
                </a:solidFill>
              </a:endParaRPr>
            </a:p>
          </p:txBody>
        </p:sp>
        <p:sp>
          <p:nvSpPr>
            <p:cNvPr id="38" name="AutoShape 24"/>
            <p:cNvSpPr/>
            <p:nvPr>
              <p:custDataLst>
                <p:tags r:id="rId24"/>
              </p:custDataLst>
            </p:nvPr>
          </p:nvSpPr>
          <p:spPr>
            <a:xfrm>
              <a:off x="15540" y="7330"/>
              <a:ext cx="2200" cy="72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建议提炼
成果输出</a:t>
              </a:r>
              <a:endParaRPr lang="en-US" sz="1100"/>
            </a:p>
          </p:txBody>
        </p:sp>
      </p:grpSp>
      <p:sp>
        <p:nvSpPr>
          <p:cNvPr id="39" name="AutoShape 6"/>
          <p:cNvSpPr/>
          <p:nvPr>
            <p:custDataLst>
              <p:tags r:id="rId25"/>
            </p:custDataLst>
          </p:nvPr>
        </p:nvSpPr>
        <p:spPr>
          <a:xfrm>
            <a:off x="2441575" y="12369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6"/>
          <p:cNvSpPr/>
          <p:nvPr>
            <p:custDataLst>
              <p:tags r:id="rId26"/>
            </p:custDataLst>
          </p:nvPr>
        </p:nvSpPr>
        <p:spPr>
          <a:xfrm>
            <a:off x="2432050" y="12369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梳理构建</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12"/>
          <p:cNvSpPr/>
          <p:nvPr>
            <p:custDataLst>
              <p:tags r:id="rId27"/>
            </p:custDataLst>
          </p:nvPr>
        </p:nvSpPr>
        <p:spPr>
          <a:xfrm>
            <a:off x="6936740" y="1360170"/>
            <a:ext cx="1143000" cy="45720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3" name="AutoShape 6"/>
          <p:cNvSpPr/>
          <p:nvPr>
            <p:custDataLst>
              <p:tags r:id="rId28"/>
            </p:custDataLst>
          </p:nvPr>
        </p:nvSpPr>
        <p:spPr>
          <a:xfrm>
            <a:off x="6896100" y="1180465"/>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6"/>
          <p:cNvSpPr/>
          <p:nvPr>
            <p:custDataLst>
              <p:tags r:id="rId29"/>
            </p:custDataLst>
          </p:nvPr>
        </p:nvSpPr>
        <p:spPr>
          <a:xfrm>
            <a:off x="5433695" y="124587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因素</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9" name="AutoShape 6"/>
          <p:cNvSpPr/>
          <p:nvPr>
            <p:custDataLst>
              <p:tags r:id="rId30"/>
            </p:custDataLst>
          </p:nvPr>
        </p:nvSpPr>
        <p:spPr>
          <a:xfrm>
            <a:off x="6908800" y="1237615"/>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0" name="AutoShape 6"/>
          <p:cNvSpPr/>
          <p:nvPr>
            <p:custDataLst>
              <p:tags r:id="rId31"/>
            </p:custDataLst>
          </p:nvPr>
        </p:nvSpPr>
        <p:spPr>
          <a:xfrm>
            <a:off x="8382000" y="12496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效益</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测算</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 name="圆角矩形 1"/>
          <p:cNvSpPr/>
          <p:nvPr>
            <p:custDataLst>
              <p:tags r:id="rId32"/>
            </p:custDataLst>
          </p:nvPr>
        </p:nvSpPr>
        <p:spPr>
          <a:xfrm>
            <a:off x="6758940" y="896620"/>
            <a:ext cx="3006090" cy="1132840"/>
          </a:xfrm>
          <a:prstGeom prst="roundRect">
            <a:avLst/>
          </a:prstGeom>
          <a:noFill/>
          <a:ln w="28575" cmpd="sng">
            <a:solidFill>
              <a:schemeClr val="accent1">
                <a:shade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p:tgtEl>
                                          <p:spTgt spid="62"/>
                                        </p:tgtEl>
                                        <p:attrNameLst>
                                          <p:attrName>ppt_y</p:attrName>
                                        </p:attrNameLst>
                                      </p:cBhvr>
                                      <p:tavLst>
                                        <p:tav tm="0">
                                          <p:val>
                                            <p:strVal val="#ppt_y-#ppt_h*1.125000"/>
                                          </p:val>
                                        </p:tav>
                                        <p:tav tm="100000">
                                          <p:val>
                                            <p:strVal val="#ppt_y"/>
                                          </p:val>
                                        </p:tav>
                                      </p:tavLst>
                                    </p:anim>
                                    <p:animEffect transition="in" filter="wipe(down)">
                                      <p:cBhvr>
                                        <p:cTn id="8" dur="500"/>
                                        <p:tgtEl>
                                          <p:spTgt spid="62"/>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65"/>
                                        </p:tgtEl>
                                        <p:attrNameLst>
                                          <p:attrName>style.visibility</p:attrName>
                                        </p:attrNameLst>
                                      </p:cBhvr>
                                      <p:to>
                                        <p:strVal val="visible"/>
                                      </p:to>
                                    </p:set>
                                    <p:anim calcmode="lin" valueType="num">
                                      <p:cBhvr additive="base">
                                        <p:cTn id="12" dur="500"/>
                                        <p:tgtEl>
                                          <p:spTgt spid="65"/>
                                        </p:tgtEl>
                                        <p:attrNameLst>
                                          <p:attrName>ppt_y</p:attrName>
                                        </p:attrNameLst>
                                      </p:cBhvr>
                                      <p:tavLst>
                                        <p:tav tm="0">
                                          <p:val>
                                            <p:strVal val="#ppt_y-#ppt_h*1.125000"/>
                                          </p:val>
                                        </p:tav>
                                        <p:tav tm="100000">
                                          <p:val>
                                            <p:strVal val="#ppt_y"/>
                                          </p:val>
                                        </p:tav>
                                      </p:tavLst>
                                    </p:anim>
                                    <p:animEffect transition="in" filter="wipe(down)">
                                      <p:cBhvr>
                                        <p:cTn id="13" dur="500"/>
                                        <p:tgtEl>
                                          <p:spTgt spid="65"/>
                                        </p:tgtEl>
                                      </p:cBhvr>
                                    </p:animEffect>
                                  </p:childTnLst>
                                </p:cTn>
                              </p:par>
                            </p:childTnLst>
                          </p:cTn>
                        </p:par>
                        <p:par>
                          <p:cTn id="14" fill="hold">
                            <p:stCondLst>
                              <p:cond delay="1000"/>
                            </p:stCondLst>
                            <p:childTnLst>
                              <p:par>
                                <p:cTn id="15" presetID="12" presetClass="entr" presetSubtype="1" fill="hold" grpId="0" nodeType="afterEffect">
                                  <p:stCondLst>
                                    <p:cond delay="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500"/>
                                        <p:tgtEl>
                                          <p:spTgt spid="68"/>
                                        </p:tgtEl>
                                        <p:attrNameLst>
                                          <p:attrName>ppt_y</p:attrName>
                                        </p:attrNameLst>
                                      </p:cBhvr>
                                      <p:tavLst>
                                        <p:tav tm="0">
                                          <p:val>
                                            <p:strVal val="#ppt_y-#ppt_h*1.125000"/>
                                          </p:val>
                                        </p:tav>
                                        <p:tav tm="100000">
                                          <p:val>
                                            <p:strVal val="#ppt_y"/>
                                          </p:val>
                                        </p:tav>
                                      </p:tavLst>
                                    </p:anim>
                                    <p:animEffect transition="in" filter="wipe(down)">
                                      <p:cBhvr>
                                        <p:cTn id="18" dur="500"/>
                                        <p:tgtEl>
                                          <p:spTgt spid="68"/>
                                        </p:tgtEl>
                                      </p:cBhvr>
                                    </p:animEffect>
                                  </p:childTnLst>
                                </p:cTn>
                              </p:par>
                              <p:par>
                                <p:cTn id="19" presetID="1" presetClass="exit"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2" presetClass="entr" presetSubtype="4"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anim calcmode="lin" valueType="num">
                                      <p:cBhvr additive="base">
                                        <p:cTn id="23" dur="500"/>
                                        <p:tgtEl>
                                          <p:spTgt spid="61"/>
                                        </p:tgtEl>
                                        <p:attrNameLst>
                                          <p:attrName>ppt_y</p:attrName>
                                        </p:attrNameLst>
                                      </p:cBhvr>
                                      <p:tavLst>
                                        <p:tav tm="0">
                                          <p:val>
                                            <p:strVal val="#ppt_y+#ppt_h*1.125000"/>
                                          </p:val>
                                        </p:tav>
                                        <p:tav tm="100000">
                                          <p:val>
                                            <p:strVal val="#ppt_y"/>
                                          </p:val>
                                        </p:tav>
                                      </p:tavLst>
                                    </p:anim>
                                    <p:animEffect transition="in" filter="wipe(up)">
                                      <p:cBhvr>
                                        <p:cTn id="24" dur="500"/>
                                        <p:tgtEl>
                                          <p:spTgt spid="61"/>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p:tgtEl>
                                          <p:spTgt spid="4"/>
                                        </p:tgtEl>
                                        <p:attrNameLst>
                                          <p:attrName>ppt_y</p:attrName>
                                        </p:attrNameLst>
                                      </p:cBhvr>
                                      <p:tavLst>
                                        <p:tav tm="0">
                                          <p:val>
                                            <p:strVal val="#ppt_y+#ppt_h*1.125000"/>
                                          </p:val>
                                        </p:tav>
                                        <p:tav tm="100000">
                                          <p:val>
                                            <p:strVal val="#ppt_y"/>
                                          </p:val>
                                        </p:tav>
                                      </p:tavLst>
                                    </p:anim>
                                    <p:animEffect transition="in" filter="wipe(up)">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bldLvl="0" animBg="1"/>
      <p:bldP spid="68" grpId="1" animBg="1"/>
      <p:bldP spid="5" grpId="0" bldLvl="0" animBg="1"/>
      <p:bldP spid="5" grpId="1" animBg="1"/>
      <p:bldP spid="61" grpId="0" animBg="1"/>
      <p:bldP spid="61" grpId="1" animBg="1"/>
      <p:bldP spid="4" grpId="0" animBg="1"/>
      <p:bldP spid="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项目技术路线</a:t>
            </a:r>
            <a:endPar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60" name="矩形 59"/>
          <p:cNvSpPr/>
          <p:nvPr/>
        </p:nvSpPr>
        <p:spPr>
          <a:xfrm>
            <a:off x="3480435" y="247650"/>
            <a:ext cx="7456805" cy="440690"/>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r>
              <a:rPr lang="en-US" sz="2200" b="1">
                <a:solidFill>
                  <a:srgbClr val="029694"/>
                </a:solidFill>
                <a:latin typeface="Noto Sans SC" panose="020B0200000000000000" charset="-122"/>
                <a:ea typeface="Noto Sans SC" panose="020B0200000000000000" charset="-122"/>
                <a:cs typeface="Noto Sans SC" panose="020B0200000000000000" charset="-122"/>
                <a:sym typeface="+mn-ea"/>
              </a:rPr>
              <a:t>研究内容4：电力市场发展趋势研判与建议提出</a:t>
            </a:r>
            <a:endParaRPr lang="en-US" sz="2200" b="1">
              <a:solidFill>
                <a:srgbClr val="029694"/>
              </a:solidFill>
              <a:latin typeface="Noto Sans SC" panose="020B0200000000000000" charset="-122"/>
              <a:ea typeface="Noto Sans SC" panose="020B0200000000000000" charset="-122"/>
              <a:cs typeface="Noto Sans SC" panose="020B0200000000000000" charset="-122"/>
              <a:sym typeface="+mn-ea"/>
            </a:endParaRPr>
          </a:p>
        </p:txBody>
      </p:sp>
      <p:grpSp>
        <p:nvGrpSpPr>
          <p:cNvPr id="62" name="组合 61"/>
          <p:cNvGrpSpPr/>
          <p:nvPr/>
        </p:nvGrpSpPr>
        <p:grpSpPr>
          <a:xfrm>
            <a:off x="1701800" y="2270760"/>
            <a:ext cx="9004300" cy="1501140"/>
            <a:chOff x="2680" y="2988"/>
            <a:chExt cx="14180" cy="2020"/>
          </a:xfrm>
        </p:grpSpPr>
        <p:sp>
          <p:nvSpPr>
            <p:cNvPr id="63" name="圆角矩形 62"/>
            <p:cNvSpPr/>
            <p:nvPr/>
          </p:nvSpPr>
          <p:spPr>
            <a:xfrm>
              <a:off x="2680" y="2988"/>
              <a:ext cx="14181" cy="1244"/>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rPr>
                <a:t>汇总政策解析、数据统计分析及项目效益测算结论，识别新兴要素对电网和电源规划的影响。</a:t>
              </a:r>
              <a:endParaRPr lang="zh-CN" altLang="en-US"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64" name="箭头: 右 60"/>
            <p:cNvSpPr/>
            <p:nvPr/>
          </p:nvSpPr>
          <p:spPr>
            <a:xfrm rot="5400000">
              <a:off x="9045" y="4374"/>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5" name="组合 64"/>
          <p:cNvGrpSpPr/>
          <p:nvPr/>
        </p:nvGrpSpPr>
        <p:grpSpPr>
          <a:xfrm>
            <a:off x="1588770" y="3883025"/>
            <a:ext cx="9117965" cy="1202055"/>
            <a:chOff x="2680" y="5156"/>
            <a:chExt cx="14538" cy="1678"/>
          </a:xfrm>
        </p:grpSpPr>
        <p:sp>
          <p:nvSpPr>
            <p:cNvPr id="66" name="圆角矩形 65"/>
            <p:cNvSpPr/>
            <p:nvPr/>
          </p:nvSpPr>
          <p:spPr>
            <a:xfrm>
              <a:off x="2680" y="5156"/>
              <a:ext cx="14538" cy="850"/>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sz="2000">
                  <a:solidFill>
                    <a:schemeClr val="tx1"/>
                  </a:solidFill>
                  <a:latin typeface="Noto Sans SC" panose="020B0200000000000000" charset="-122"/>
                  <a:ea typeface="Noto Sans SC" panose="020B0200000000000000" charset="-122"/>
                  <a:cs typeface="Noto Sans SC" panose="020B0200000000000000" charset="-122"/>
                  <a:sym typeface="+mn-ea"/>
                </a:rPr>
                <a:t>结合电力行业发展实际，围绕接入消纳、市场机制、项目布局和调节资源提出优化建议。</a:t>
              </a:r>
              <a:endParaRPr lang="zh-CN"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67" name="箭头: 右 60"/>
            <p:cNvSpPr/>
            <p:nvPr/>
          </p:nvSpPr>
          <p:spPr>
            <a:xfrm rot="5400000">
              <a:off x="9223" y="6199"/>
              <a:ext cx="768" cy="501"/>
            </a:xfrm>
            <a:prstGeom prst="rightArrow">
              <a:avLst>
                <a:gd name="adj1" fmla="val 34277"/>
                <a:gd name="adj2" fmla="val 95379"/>
              </a:avLst>
            </a:prstGeom>
            <a:solidFill>
              <a:srgbClr val="3494BA"/>
            </a:solidFill>
            <a:ln w="381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4" name="圆角矩形 13"/>
          <p:cNvSpPr/>
          <p:nvPr/>
        </p:nvSpPr>
        <p:spPr>
          <a:xfrm>
            <a:off x="1588770" y="5179695"/>
            <a:ext cx="9117330" cy="740410"/>
          </a:xfrm>
          <a:prstGeom prst="roundRect">
            <a:avLst>
              <a:gd name="adj" fmla="val 25884"/>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l">
              <a:buClrTx/>
              <a:buSzTx/>
              <a:buFontTx/>
            </a:pPr>
            <a:r>
              <a:rPr lang="zh-CN" sz="2000">
                <a:solidFill>
                  <a:schemeClr val="tx1"/>
                </a:solidFill>
                <a:latin typeface="Noto Sans SC" panose="020B0200000000000000" charset="-122"/>
                <a:ea typeface="Noto Sans SC" panose="020B0200000000000000" charset="-122"/>
                <a:cs typeface="Noto Sans SC" panose="020B0200000000000000" charset="-122"/>
                <a:sym typeface="+mn-ea"/>
              </a:rPr>
              <a:t>形成面向政府部门、电网企业及相关市场主体的决策支撑材料，助力电力市场持续健康发展。</a:t>
            </a:r>
            <a:endParaRPr lang="zh-CN" sz="200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5" name="左大括号 4"/>
          <p:cNvSpPr/>
          <p:nvPr/>
        </p:nvSpPr>
        <p:spPr>
          <a:xfrm>
            <a:off x="1193165" y="2414270"/>
            <a:ext cx="295275" cy="3480435"/>
          </a:xfrm>
          <a:prstGeom prst="leftBrace">
            <a:avLst>
              <a:gd name="adj1" fmla="val 78506"/>
              <a:gd name="adj2" fmla="val 50147"/>
            </a:avLst>
          </a:prstGeom>
          <a:ln w="34925">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4" name="AutoShape 4"/>
          <p:cNvSpPr/>
          <p:nvPr>
            <p:custDataLst>
              <p:tags r:id="rId2"/>
            </p:custDataLst>
          </p:nvPr>
        </p:nvSpPr>
        <p:spPr>
          <a:xfrm>
            <a:off x="762000" y="830580"/>
            <a:ext cx="10668000" cy="1270000"/>
          </a:xfrm>
          <a:prstGeom prst="roundRect">
            <a:avLst>
              <a:gd name="adj" fmla="val 12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grpSp>
        <p:nvGrpSpPr>
          <p:cNvPr id="10" name="第一部分研究内容"/>
          <p:cNvGrpSpPr/>
          <p:nvPr>
            <p:custDataLst>
              <p:tags r:id="rId3"/>
            </p:custDataLst>
          </p:nvPr>
        </p:nvGrpSpPr>
        <p:grpSpPr>
          <a:xfrm>
            <a:off x="952500" y="1059180"/>
            <a:ext cx="2628900" cy="812800"/>
            <a:chOff x="1500" y="7050"/>
            <a:chExt cx="4140" cy="1280"/>
          </a:xfrm>
        </p:grpSpPr>
        <p:sp>
          <p:nvSpPr>
            <p:cNvPr id="13" name="AutoShape 5"/>
            <p:cNvSpPr/>
            <p:nvPr>
              <p:custDataLst>
                <p:tags r:id="rId4"/>
              </p:custDataLst>
            </p:nvPr>
          </p:nvSpPr>
          <p:spPr>
            <a:xfrm>
              <a:off x="150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15" name="AutoShape 6"/>
            <p:cNvSpPr/>
            <p:nvPr>
              <p:custDataLst>
                <p:tags r:id="rId5"/>
              </p:custDataLst>
            </p:nvPr>
          </p:nvSpPr>
          <p:spPr>
            <a:xfrm>
              <a:off x="1500" y="7330"/>
              <a:ext cx="1800" cy="72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收集</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70" y="7524"/>
              <a:ext cx="360" cy="360"/>
            </a:xfrm>
            <a:prstGeom prst="rect">
              <a:avLst/>
            </a:prstGeom>
          </p:spPr>
        </p:pic>
        <p:sp>
          <p:nvSpPr>
            <p:cNvPr id="20" name="AutoShape 8"/>
            <p:cNvSpPr/>
            <p:nvPr>
              <p:custDataLst>
                <p:tags r:id="rId9"/>
              </p:custDataLst>
            </p:nvPr>
          </p:nvSpPr>
          <p:spPr>
            <a:xfrm>
              <a:off x="384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21" name="AutoShape 9"/>
            <p:cNvSpPr/>
            <p:nvPr/>
          </p:nvSpPr>
          <p:spPr>
            <a:xfrm>
              <a:off x="384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22" name="第二部分研究内容"/>
          <p:cNvGrpSpPr/>
          <p:nvPr>
            <p:custDataLst>
              <p:tags r:id="rId10"/>
            </p:custDataLst>
          </p:nvPr>
        </p:nvGrpSpPr>
        <p:grpSpPr>
          <a:xfrm>
            <a:off x="3638550" y="1059180"/>
            <a:ext cx="2921000" cy="812800"/>
            <a:chOff x="5720" y="7050"/>
            <a:chExt cx="4600" cy="1280"/>
          </a:xfrm>
        </p:grpSpPr>
        <p:pic>
          <p:nvPicPr>
            <p:cNvPr id="23" name="Picture 10"/>
            <p:cNvPicPr>
              <a:picLocks noChangeAspect="1"/>
            </p:cNvPicPr>
            <p:nvPr>
              <p:custDataLst>
                <p:tags r:id="rId1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20" y="7524"/>
              <a:ext cx="360" cy="360"/>
            </a:xfrm>
            <a:prstGeom prst="rect">
              <a:avLst/>
            </a:prstGeom>
          </p:spPr>
        </p:pic>
        <p:sp>
          <p:nvSpPr>
            <p:cNvPr id="24" name="AutoShape 11"/>
            <p:cNvSpPr/>
            <p:nvPr>
              <p:custDataLst>
                <p:tags r:id="rId12"/>
              </p:custDataLst>
            </p:nvPr>
          </p:nvSpPr>
          <p:spPr>
            <a:xfrm>
              <a:off x="618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25" name="AutoShape 12"/>
            <p:cNvSpPr/>
            <p:nvPr>
              <p:custDataLst>
                <p:tags r:id="rId13"/>
              </p:custDataLst>
            </p:nvPr>
          </p:nvSpPr>
          <p:spPr>
            <a:xfrm>
              <a:off x="618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r>
                <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维度</a:t>
              </a:r>
              <a:r>
                <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分</a:t>
              </a:r>
              <a:r>
                <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析</a:t>
              </a: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6" name="Picture 13"/>
            <p:cNvPicPr>
              <a:picLocks noChangeAspect="1"/>
            </p:cNvPicPr>
            <p:nvPr>
              <p:custDataLst>
                <p:tags r:id="rId14"/>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80" y="7524"/>
              <a:ext cx="360" cy="360"/>
            </a:xfrm>
            <a:prstGeom prst="rect">
              <a:avLst/>
            </a:prstGeom>
          </p:spPr>
        </p:pic>
        <p:sp>
          <p:nvSpPr>
            <p:cNvPr id="27" name="AutoShape 14"/>
            <p:cNvSpPr/>
            <p:nvPr>
              <p:custDataLst>
                <p:tags r:id="rId15"/>
              </p:custDataLst>
            </p:nvPr>
          </p:nvSpPr>
          <p:spPr>
            <a:xfrm>
              <a:off x="852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15"/>
            <p:cNvSpPr/>
            <p:nvPr/>
          </p:nvSpPr>
          <p:spPr>
            <a:xfrm>
              <a:off x="852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29" name="第三部分研究内容"/>
          <p:cNvGrpSpPr/>
          <p:nvPr>
            <p:custDataLst>
              <p:tags r:id="rId16"/>
            </p:custDataLst>
          </p:nvPr>
        </p:nvGrpSpPr>
        <p:grpSpPr>
          <a:xfrm>
            <a:off x="6613525" y="1059180"/>
            <a:ext cx="2911475" cy="812800"/>
            <a:chOff x="10415" y="7050"/>
            <a:chExt cx="4585" cy="1280"/>
          </a:xfrm>
        </p:grpSpPr>
        <p:pic>
          <p:nvPicPr>
            <p:cNvPr id="30" name="Picture 16"/>
            <p:cNvPicPr>
              <a:picLocks noChangeAspect="1"/>
            </p:cNvPicPr>
            <p:nvPr>
              <p:custDataLst>
                <p:tags r:id="rId17"/>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15" y="7524"/>
              <a:ext cx="360" cy="360"/>
            </a:xfrm>
            <a:prstGeom prst="rect">
              <a:avLst/>
            </a:prstGeom>
          </p:spPr>
        </p:pic>
        <p:sp>
          <p:nvSpPr>
            <p:cNvPr id="32" name="AutoShape 17"/>
            <p:cNvSpPr/>
            <p:nvPr>
              <p:custDataLst>
                <p:tags r:id="rId18"/>
              </p:custDataLst>
            </p:nvPr>
          </p:nvSpPr>
          <p:spPr>
            <a:xfrm>
              <a:off x="1086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pic>
          <p:nvPicPr>
            <p:cNvPr id="33" name="Picture 19"/>
            <p:cNvPicPr>
              <a:picLocks noChangeAspect="1"/>
            </p:cNvPicPr>
            <p:nvPr>
              <p:custDataLst>
                <p:tags r:id="rId19"/>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810" y="7524"/>
              <a:ext cx="360" cy="360"/>
            </a:xfrm>
            <a:prstGeom prst="rect">
              <a:avLst/>
            </a:prstGeom>
          </p:spPr>
        </p:pic>
        <p:sp>
          <p:nvSpPr>
            <p:cNvPr id="34" name="AutoShape 20"/>
            <p:cNvSpPr/>
            <p:nvPr>
              <p:custDataLst>
                <p:tags r:id="rId20"/>
              </p:custDataLst>
            </p:nvPr>
          </p:nvSpPr>
          <p:spPr>
            <a:xfrm>
              <a:off x="13200" y="7050"/>
              <a:ext cx="1800" cy="1280"/>
            </a:xfrm>
            <a:prstGeom prst="roundRect">
              <a:avLst>
                <a:gd name="adj" fmla="val 1250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ym typeface="+mn-ea"/>
              </a:endParaRPr>
            </a:p>
          </p:txBody>
        </p:sp>
        <p:sp>
          <p:nvSpPr>
            <p:cNvPr id="35" name="AutoShape 21"/>
            <p:cNvSpPr/>
            <p:nvPr/>
          </p:nvSpPr>
          <p:spPr>
            <a:xfrm>
              <a:off x="13200" y="7330"/>
              <a:ext cx="1800" cy="72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36" name="第四部分研究内容"/>
          <p:cNvGrpSpPr/>
          <p:nvPr>
            <p:custDataLst>
              <p:tags r:id="rId21"/>
            </p:custDataLst>
          </p:nvPr>
        </p:nvGrpSpPr>
        <p:grpSpPr>
          <a:xfrm>
            <a:off x="9588500" y="1059180"/>
            <a:ext cx="1676400" cy="812800"/>
            <a:chOff x="15100" y="7050"/>
            <a:chExt cx="2640" cy="1280"/>
          </a:xfrm>
        </p:grpSpPr>
        <p:pic>
          <p:nvPicPr>
            <p:cNvPr id="37" name="Picture 22"/>
            <p:cNvPicPr>
              <a:picLocks noChangeAspect="1"/>
            </p:cNvPicPr>
            <p:nvPr>
              <p:custDataLst>
                <p:tags r:id="rId22"/>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100" y="7524"/>
              <a:ext cx="360" cy="360"/>
            </a:xfrm>
            <a:prstGeom prst="rect">
              <a:avLst/>
            </a:prstGeom>
          </p:spPr>
        </p:pic>
        <p:sp>
          <p:nvSpPr>
            <p:cNvPr id="38" name="AutoShape 23"/>
            <p:cNvSpPr/>
            <p:nvPr>
              <p:custDataLst>
                <p:tags r:id="rId23"/>
              </p:custDataLst>
            </p:nvPr>
          </p:nvSpPr>
          <p:spPr>
            <a:xfrm>
              <a:off x="15540" y="7050"/>
              <a:ext cx="2200" cy="1280"/>
            </a:xfrm>
            <a:prstGeom prst="roundRect">
              <a:avLst>
                <a:gd name="adj" fmla="val 12500"/>
              </a:avLst>
            </a:prstGeom>
            <a:solidFill>
              <a:srgbClr val="029694"/>
            </a:solidFill>
            <a:ln w="25400" cap="flat" cmpd="sng">
              <a:noFill/>
              <a:prstDash val="solid"/>
              <a:round/>
            </a:ln>
          </p:spPr>
          <p:txBody>
            <a:bodyPr vert="horz" wrap="square" lIns="63500" tIns="63500" rIns="63500" bIns="63500" rtlCol="0" anchor="ctr"/>
            <a:p>
              <a:pPr algn="ctr">
                <a:defRPr/>
              </a:pPr>
              <a:endParaRPr>
                <a:solidFill>
                  <a:srgbClr val="029694"/>
                </a:solidFill>
              </a:endParaRPr>
            </a:p>
          </p:txBody>
        </p:sp>
        <p:sp>
          <p:nvSpPr>
            <p:cNvPr id="39" name="AutoShape 24"/>
            <p:cNvSpPr/>
            <p:nvPr>
              <p:custDataLst>
                <p:tags r:id="rId24"/>
              </p:custDataLst>
            </p:nvPr>
          </p:nvSpPr>
          <p:spPr>
            <a:xfrm>
              <a:off x="15540" y="7330"/>
              <a:ext cx="2200" cy="72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建议提炼
成果输出</a:t>
              </a:r>
              <a:endParaRPr lang="en-US" sz="1100"/>
            </a:p>
          </p:txBody>
        </p:sp>
      </p:grpSp>
      <p:sp>
        <p:nvSpPr>
          <p:cNvPr id="40" name="AutoShape 6"/>
          <p:cNvSpPr/>
          <p:nvPr>
            <p:custDataLst>
              <p:tags r:id="rId25"/>
            </p:custDataLst>
          </p:nvPr>
        </p:nvSpPr>
        <p:spPr>
          <a:xfrm>
            <a:off x="2441575" y="12369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1" name="AutoShape 6"/>
          <p:cNvSpPr/>
          <p:nvPr>
            <p:custDataLst>
              <p:tags r:id="rId26"/>
            </p:custDataLst>
          </p:nvPr>
        </p:nvSpPr>
        <p:spPr>
          <a:xfrm>
            <a:off x="2432050" y="12369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梳理构建</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3" name="AutoShape 12"/>
          <p:cNvSpPr/>
          <p:nvPr>
            <p:custDataLst>
              <p:tags r:id="rId27"/>
            </p:custDataLst>
          </p:nvPr>
        </p:nvSpPr>
        <p:spPr>
          <a:xfrm>
            <a:off x="6936740" y="1360170"/>
            <a:ext cx="1143000" cy="457200"/>
          </a:xfrm>
          <a:prstGeom prst="rect">
            <a:avLst/>
          </a:prstGeom>
          <a:noFill/>
          <a:ln w="12700" cap="flat" cmpd="sng">
            <a:noFill/>
            <a:prstDash val="solid"/>
            <a:round/>
          </a:ln>
        </p:spPr>
        <p:txBody>
          <a:bodyPr vert="horz" wrap="square" lIns="0" tIns="0" rIns="0" bIns="0" rtlCol="0" anchor="ctr" anchorCtr="0">
            <a:noAutofit/>
          </a:bodyPr>
          <a:p>
            <a:pPr lvl="0" algn="ctr">
              <a:lnSpc>
                <a:spcPct val="125000"/>
              </a:lnSpc>
              <a:buClrTx/>
              <a:buSzTx/>
              <a:buFontTx/>
              <a:defRPr/>
            </a:pPr>
            <a:endParaRPr lang="zh-CN" altLang="en-US" sz="1400" b="1">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6"/>
          <p:cNvSpPr/>
          <p:nvPr>
            <p:custDataLst>
              <p:tags r:id="rId28"/>
            </p:custDataLst>
          </p:nvPr>
        </p:nvSpPr>
        <p:spPr>
          <a:xfrm>
            <a:off x="6896100" y="1180465"/>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9" name="AutoShape 6"/>
          <p:cNvSpPr/>
          <p:nvPr>
            <p:custDataLst>
              <p:tags r:id="rId29"/>
            </p:custDataLst>
          </p:nvPr>
        </p:nvSpPr>
        <p:spPr>
          <a:xfrm>
            <a:off x="5433695" y="124587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因素</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9" name="AutoShape 6"/>
          <p:cNvSpPr/>
          <p:nvPr>
            <p:custDataLst>
              <p:tags r:id="rId30"/>
            </p:custDataLst>
          </p:nvPr>
        </p:nvSpPr>
        <p:spPr>
          <a:xfrm>
            <a:off x="6908800" y="1237615"/>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指标</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0" name="AutoShape 6"/>
          <p:cNvSpPr/>
          <p:nvPr>
            <p:custDataLst>
              <p:tags r:id="rId31"/>
            </p:custDataLst>
          </p:nvPr>
        </p:nvSpPr>
        <p:spPr>
          <a:xfrm>
            <a:off x="8382000" y="1249680"/>
            <a:ext cx="1143000" cy="4572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效益</a:t>
            </a:r>
            <a:r>
              <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rPr>
              <a:t>测算</a:t>
            </a:r>
            <a:endParaRPr lang="zh-CN" altLang="en-US" sz="1400" b="1" i="0" u="none" strike="noStrike">
              <a:solidFill>
                <a:srgbClr val="02969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7813 -0.015000 L -0.670156 -0.004352 " pathEditMode="relative" rAng="0" ptsTypes="">
                                      <p:cBhvr>
                                        <p:cTn id="6" dur="2000" fill="hold"/>
                                        <p:tgtEl>
                                          <p:spTgt spid="36"/>
                                        </p:tgtEl>
                                        <p:attrNameLst>
                                          <p:attrName>ppt_x</p:attrName>
                                          <p:attrName>ppt_y</p:attrName>
                                        </p:attrNameLst>
                                      </p:cBhvr>
                                      <p:rCtr x="-338" y="1"/>
                                    </p:animMotion>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2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2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4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4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4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4"/>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59"/>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6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70"/>
                                        </p:tgtEl>
                                        <p:attrNameLst>
                                          <p:attrName>style.visibility</p:attrName>
                                        </p:attrNameLst>
                                      </p:cBhvr>
                                      <p:to>
                                        <p:strVal val="hidden"/>
                                      </p:to>
                                    </p:set>
                                  </p:childTnLst>
                                </p:cTn>
                              </p:par>
                            </p:childTnLst>
                          </p:cTn>
                        </p:par>
                        <p:par>
                          <p:cTn id="29" fill="hold">
                            <p:stCondLst>
                              <p:cond delay="2000"/>
                            </p:stCondLst>
                            <p:childTnLst>
                              <p:par>
                                <p:cTn id="30" presetID="12" presetClass="entr" presetSubtype="1" fill="hold" nodeType="afterEffect">
                                  <p:stCondLst>
                                    <p:cond delay="0"/>
                                  </p:stCondLst>
                                  <p:childTnLst>
                                    <p:set>
                                      <p:cBhvr>
                                        <p:cTn id="31" dur="1" fill="hold">
                                          <p:stCondLst>
                                            <p:cond delay="0"/>
                                          </p:stCondLst>
                                        </p:cTn>
                                        <p:tgtEl>
                                          <p:spTgt spid="60"/>
                                        </p:tgtEl>
                                        <p:attrNameLst>
                                          <p:attrName>style.visibility</p:attrName>
                                        </p:attrNameLst>
                                      </p:cBhvr>
                                      <p:to>
                                        <p:strVal val="visible"/>
                                      </p:to>
                                    </p:set>
                                    <p:anim calcmode="lin" valueType="num">
                                      <p:cBhvr additive="base">
                                        <p:cTn id="32" dur="500"/>
                                        <p:tgtEl>
                                          <p:spTgt spid="60"/>
                                        </p:tgtEl>
                                        <p:attrNameLst>
                                          <p:attrName>ppt_y</p:attrName>
                                        </p:attrNameLst>
                                      </p:cBhvr>
                                      <p:tavLst>
                                        <p:tav tm="0">
                                          <p:val>
                                            <p:strVal val="#ppt_y-#ppt_h*1.125000"/>
                                          </p:val>
                                        </p:tav>
                                        <p:tav tm="100000">
                                          <p:val>
                                            <p:strVal val="#ppt_y"/>
                                          </p:val>
                                        </p:tav>
                                      </p:tavLst>
                                    </p:anim>
                                    <p:animEffect transition="in" filter="wipe(down)">
                                      <p:cBhvr>
                                        <p:cTn id="33" dur="500"/>
                                        <p:tgtEl>
                                          <p:spTgt spid="60"/>
                                        </p:tgtEl>
                                      </p:cBhvr>
                                    </p:animEffect>
                                  </p:childTnLst>
                                </p:cTn>
                              </p:par>
                            </p:childTnLst>
                          </p:cTn>
                        </p:par>
                        <p:par>
                          <p:cTn id="34" fill="hold">
                            <p:stCondLst>
                              <p:cond delay="2500"/>
                            </p:stCondLst>
                            <p:childTnLst>
                              <p:par>
                                <p:cTn id="35" presetID="12" presetClass="entr" presetSubtype="1" fill="hold" nodeType="afterEffect">
                                  <p:stCondLst>
                                    <p:cond delay="0"/>
                                  </p:stCondLst>
                                  <p:childTnLst>
                                    <p:set>
                                      <p:cBhvr>
                                        <p:cTn id="36" dur="1" fill="hold">
                                          <p:stCondLst>
                                            <p:cond delay="0"/>
                                          </p:stCondLst>
                                        </p:cTn>
                                        <p:tgtEl>
                                          <p:spTgt spid="62"/>
                                        </p:tgtEl>
                                        <p:attrNameLst>
                                          <p:attrName>style.visibility</p:attrName>
                                        </p:attrNameLst>
                                      </p:cBhvr>
                                      <p:to>
                                        <p:strVal val="visible"/>
                                      </p:to>
                                    </p:set>
                                    <p:anim calcmode="lin" valueType="num">
                                      <p:cBhvr additive="base">
                                        <p:cTn id="37" dur="500"/>
                                        <p:tgtEl>
                                          <p:spTgt spid="62"/>
                                        </p:tgtEl>
                                        <p:attrNameLst>
                                          <p:attrName>ppt_y</p:attrName>
                                        </p:attrNameLst>
                                      </p:cBhvr>
                                      <p:tavLst>
                                        <p:tav tm="0">
                                          <p:val>
                                            <p:strVal val="#ppt_y-#ppt_h*1.125000"/>
                                          </p:val>
                                        </p:tav>
                                        <p:tav tm="100000">
                                          <p:val>
                                            <p:strVal val="#ppt_y"/>
                                          </p:val>
                                        </p:tav>
                                      </p:tavLst>
                                    </p:anim>
                                    <p:animEffect transition="in" filter="wipe(down)">
                                      <p:cBhvr>
                                        <p:cTn id="38" dur="500"/>
                                        <p:tgtEl>
                                          <p:spTgt spid="62"/>
                                        </p:tgtEl>
                                      </p:cBhvr>
                                    </p:animEffect>
                                  </p:childTnLst>
                                </p:cTn>
                              </p:par>
                            </p:childTnLst>
                          </p:cTn>
                        </p:par>
                        <p:par>
                          <p:cTn id="39" fill="hold">
                            <p:stCondLst>
                              <p:cond delay="3000"/>
                            </p:stCondLst>
                            <p:childTnLst>
                              <p:par>
                                <p:cTn id="40" presetID="12" presetClass="entr" presetSubtype="1" fill="hold" nodeType="afterEffect">
                                  <p:stCondLst>
                                    <p:cond delay="0"/>
                                  </p:stCondLst>
                                  <p:childTnLst>
                                    <p:set>
                                      <p:cBhvr>
                                        <p:cTn id="41" dur="1" fill="hold">
                                          <p:stCondLst>
                                            <p:cond delay="0"/>
                                          </p:stCondLst>
                                        </p:cTn>
                                        <p:tgtEl>
                                          <p:spTgt spid="65"/>
                                        </p:tgtEl>
                                        <p:attrNameLst>
                                          <p:attrName>style.visibility</p:attrName>
                                        </p:attrNameLst>
                                      </p:cBhvr>
                                      <p:to>
                                        <p:strVal val="visible"/>
                                      </p:to>
                                    </p:set>
                                    <p:anim calcmode="lin" valueType="num">
                                      <p:cBhvr additive="base">
                                        <p:cTn id="42" dur="500"/>
                                        <p:tgtEl>
                                          <p:spTgt spid="65"/>
                                        </p:tgtEl>
                                        <p:attrNameLst>
                                          <p:attrName>ppt_y</p:attrName>
                                        </p:attrNameLst>
                                      </p:cBhvr>
                                      <p:tavLst>
                                        <p:tav tm="0">
                                          <p:val>
                                            <p:strVal val="#ppt_y-#ppt_h*1.125000"/>
                                          </p:val>
                                        </p:tav>
                                        <p:tav tm="100000">
                                          <p:val>
                                            <p:strVal val="#ppt_y"/>
                                          </p:val>
                                        </p:tav>
                                      </p:tavLst>
                                    </p:anim>
                                    <p:animEffect transition="in" filter="wipe(down)">
                                      <p:cBhvr>
                                        <p:cTn id="43" dur="500"/>
                                        <p:tgtEl>
                                          <p:spTgt spid="65"/>
                                        </p:tgtEl>
                                      </p:cBhvr>
                                    </p:animEffect>
                                  </p:childTnLst>
                                </p:cTn>
                              </p:par>
                            </p:childTnLst>
                          </p:cTn>
                        </p:par>
                        <p:par>
                          <p:cTn id="44" fill="hold">
                            <p:stCondLst>
                              <p:cond delay="3500"/>
                            </p:stCondLst>
                            <p:childTnLst>
                              <p:par>
                                <p:cTn id="45" presetID="12" presetClass="entr" presetSubtype="1"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p:tgtEl>
                                          <p:spTgt spid="14"/>
                                        </p:tgtEl>
                                        <p:attrNameLst>
                                          <p:attrName>ppt_y</p:attrName>
                                        </p:attrNameLst>
                                      </p:cBhvr>
                                      <p:tavLst>
                                        <p:tav tm="0">
                                          <p:val>
                                            <p:strVal val="#ppt_y-#ppt_h*1.125000"/>
                                          </p:val>
                                        </p:tav>
                                        <p:tav tm="100000">
                                          <p:val>
                                            <p:strVal val="#ppt_y"/>
                                          </p:val>
                                        </p:tav>
                                      </p:tavLst>
                                    </p:anim>
                                    <p:animEffect transition="in" filter="wipe(down)">
                                      <p:cBhvr>
                                        <p:cTn id="48" dur="500"/>
                                        <p:tgtEl>
                                          <p:spTgt spid="14"/>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additive="base">
                                        <p:cTn id="51" dur="500"/>
                                        <p:tgtEl>
                                          <p:spTgt spid="5"/>
                                        </p:tgtEl>
                                        <p:attrNameLst>
                                          <p:attrName>ppt_y</p:attrName>
                                        </p:attrNameLst>
                                      </p:cBhvr>
                                      <p:tavLst>
                                        <p:tav tm="0">
                                          <p:val>
                                            <p:strVal val="#ppt_y+#ppt_h*1.125000"/>
                                          </p:val>
                                        </p:tav>
                                        <p:tav tm="100000">
                                          <p:val>
                                            <p:strVal val="#ppt_y"/>
                                          </p:val>
                                        </p:tav>
                                      </p:tavLst>
                                    </p:anim>
                                    <p:animEffect transition="in" filter="wipe(up)">
                                      <p:cBhvr>
                                        <p:cTn id="5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4" grpId="1" animBg="1"/>
      <p:bldP spid="5" grpId="0" animBg="1"/>
      <p:bldP spid="5"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关键点与难点</a:t>
            </a:r>
            <a:endParaRPr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2" name="AutoShape 4"/>
          <p:cNvSpPr/>
          <p:nvPr/>
        </p:nvSpPr>
        <p:spPr>
          <a:xfrm>
            <a:off x="762000" y="1412240"/>
            <a:ext cx="5207000" cy="4445000"/>
          </a:xfrm>
          <a:prstGeom prst="roundRect">
            <a:avLst>
              <a:gd name="adj" fmla="val 34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5" name="AutoShape 5"/>
          <p:cNvSpPr/>
          <p:nvPr/>
        </p:nvSpPr>
        <p:spPr>
          <a:xfrm>
            <a:off x="762000" y="1666240"/>
            <a:ext cx="5207000" cy="4445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2000" b="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项目关键点</a:t>
            </a: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2000" b="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KEY POINTS</a:t>
            </a:r>
            <a:endParaRPr lang="en-US" sz="2000" b="1">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016000" y="2435225"/>
            <a:ext cx="2286000" cy="1517015"/>
          </a:xfrm>
          <a:prstGeom prst="roundRect">
            <a:avLst>
              <a:gd name="adj" fmla="val 6666"/>
            </a:avLst>
          </a:prstGeom>
          <a:solidFill>
            <a:srgbClr val="F0FDF4">
              <a:alpha val="100000"/>
            </a:srgbClr>
          </a:solidFill>
          <a:ln w="25400" cap="flat" cmpd="sng">
            <a:noFill/>
            <a:prstDash val="solid"/>
            <a:round/>
          </a:ln>
        </p:spPr>
        <p:txBody>
          <a:bodyPr vert="horz" wrap="square" lIns="63500" tIns="63500" rIns="63500" bIns="63500" rtlCol="0" anchor="ctr"/>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8400" y="2555240"/>
            <a:ext cx="304800" cy="304800"/>
          </a:xfrm>
          <a:prstGeom prst="rect">
            <a:avLst/>
          </a:prstGeom>
        </p:spPr>
      </p:pic>
      <p:sp>
        <p:nvSpPr>
          <p:cNvPr id="3" name="AutoShape 8"/>
          <p:cNvSpPr/>
          <p:nvPr/>
        </p:nvSpPr>
        <p:spPr>
          <a:xfrm>
            <a:off x="1587500" y="2435225"/>
            <a:ext cx="1727200" cy="1520825"/>
          </a:xfrm>
          <a:prstGeom prst="rect">
            <a:avLst/>
          </a:prstGeom>
          <a:noFill/>
          <a:ln w="12700" cap="flat" cmpd="sng">
            <a:noFill/>
            <a:prstDash val="solid"/>
            <a:round/>
          </a:ln>
        </p:spPr>
        <p:txBody>
          <a:bodyPr vert="horz" wrap="square" lIns="0" tIns="0" rIns="0" bIns="0" rtlCol="0" anchor="ctr" anchorCtr="0"/>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数据完整性与准确性
</a:t>
            </a:r>
            <a:r>
              <a:rPr 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多方获取分布式光伏并网、绿电交易等数据，确保分析基础的可靠性，</a:t>
            </a:r>
            <a:r>
              <a:rPr lang="zh-CN" alt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建立牢靠</a:t>
            </a:r>
            <a:r>
              <a:rPr 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数据底座。</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3429000" y="2427605"/>
            <a:ext cx="2286000" cy="1524635"/>
          </a:xfrm>
          <a:prstGeom prst="roundRect">
            <a:avLst>
              <a:gd name="adj" fmla="val 6666"/>
            </a:avLst>
          </a:prstGeom>
          <a:solidFill>
            <a:srgbClr val="F0FDF4">
              <a:alpha val="100000"/>
            </a:srgbClr>
          </a:solidFill>
          <a:ln w="25400" cap="flat" cmpd="sng">
            <a:noFill/>
            <a:prstDash val="solid"/>
            <a:round/>
          </a:ln>
        </p:spPr>
        <p:txBody>
          <a:bodyPr vert="horz" wrap="square" lIns="63500" tIns="63500" rIns="63500" bIns="63500" rtlCol="0" anchor="ctr"/>
          <a:p>
            <a:pPr algn="ctr">
              <a:defRPr/>
            </a:pPr>
          </a:p>
        </p:txBody>
      </p:sp>
      <p:pic>
        <p:nvPicPr>
          <p:cNvPr id="11"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81400" y="2555240"/>
            <a:ext cx="304800" cy="304800"/>
          </a:xfrm>
          <a:prstGeom prst="rect">
            <a:avLst/>
          </a:prstGeom>
        </p:spPr>
      </p:pic>
      <p:sp>
        <p:nvSpPr>
          <p:cNvPr id="12" name="AutoShape 11"/>
          <p:cNvSpPr/>
          <p:nvPr/>
        </p:nvSpPr>
        <p:spPr>
          <a:xfrm>
            <a:off x="3987800" y="2809240"/>
            <a:ext cx="1651000" cy="1143000"/>
          </a:xfrm>
          <a:prstGeom prst="rect">
            <a:avLst/>
          </a:prstGeom>
          <a:noFill/>
          <a:ln w="12700" cap="flat" cmpd="sng">
            <a:noFill/>
            <a:prstDash val="solid"/>
            <a:round/>
          </a:ln>
        </p:spPr>
        <p:txBody>
          <a:bodyPr vert="horz" wrap="square" lIns="0" tIns="0" rIns="0" bIns="0" rtlCol="0" anchor="ctr" anchorCtr="0"/>
          <a:p>
            <a:pPr marL="0" algn="l">
              <a:lnSpc>
                <a:spcPct val="108000"/>
              </a:lnSpc>
              <a:spcBef>
                <a:spcPts val="600"/>
              </a:spcBef>
              <a:buClrTx/>
              <a:buSzTx/>
              <a:buFontTx/>
            </a:pP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2"/>
          <p:cNvSpPr/>
          <p:nvPr/>
        </p:nvSpPr>
        <p:spPr>
          <a:xfrm>
            <a:off x="1016000" y="4079240"/>
            <a:ext cx="2286000" cy="1524000"/>
          </a:xfrm>
          <a:prstGeom prst="roundRect">
            <a:avLst>
              <a:gd name="adj" fmla="val 6666"/>
            </a:avLst>
          </a:prstGeom>
          <a:solidFill>
            <a:srgbClr val="F0FDF4">
              <a:alpha val="100000"/>
            </a:srgbClr>
          </a:solidFill>
          <a:ln w="25400" cap="flat" cmpd="sng">
            <a:noFill/>
            <a:prstDash val="solid"/>
            <a:round/>
          </a:ln>
        </p:spPr>
        <p:txBody>
          <a:bodyPr vert="horz" wrap="square" lIns="63500" tIns="63500" rIns="63500" bIns="63500" rtlCol="0" anchor="ctr"/>
          <a:p>
            <a:pPr algn="ctr">
              <a:defRPr/>
            </a:pPr>
          </a:p>
        </p:txBody>
      </p:sp>
      <p:pic>
        <p:nvPicPr>
          <p:cNvPr id="18"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8400" y="4231640"/>
            <a:ext cx="304800" cy="304800"/>
          </a:xfrm>
          <a:prstGeom prst="rect">
            <a:avLst/>
          </a:prstGeom>
        </p:spPr>
      </p:pic>
      <p:sp>
        <p:nvSpPr>
          <p:cNvPr id="19" name="AutoShape 14"/>
          <p:cNvSpPr/>
          <p:nvPr/>
        </p:nvSpPr>
        <p:spPr>
          <a:xfrm>
            <a:off x="1574800" y="4280535"/>
            <a:ext cx="1651000" cy="1247775"/>
          </a:xfrm>
          <a:prstGeom prst="rect">
            <a:avLst/>
          </a:prstGeom>
          <a:noFill/>
          <a:ln w="12700" cap="flat" cmpd="sng">
            <a:noFill/>
            <a:prstDash val="solid"/>
            <a:round/>
          </a:ln>
        </p:spPr>
        <p:txBody>
          <a:bodyPr vert="horz" wrap="square" lIns="0" tIns="0" rIns="0" bIns="0" rtlCol="0" anchor="ctr" anchorCtr="0"/>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典型案例的代表性
</a:t>
            </a:r>
            <a:r>
              <a:rPr 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覆盖园区综合能源、工商业分布式等场景，兼顾不同投资主体，确保结论具普适性。</a:t>
            </a:r>
            <a:endParaRPr lang="en-US" sz="1400">
              <a:latin typeface="Noto Sans SC" panose="020B0200000000000000" charset="-122"/>
              <a:ea typeface="Noto Sans SC" panose="020B0200000000000000" charset="-122"/>
            </a:endParaRPr>
          </a:p>
          <a:p>
            <a:pPr marL="0" algn="l">
              <a:lnSpc>
                <a:spcPct val="108000"/>
              </a:lnSpc>
              <a:spcBef>
                <a:spcPts val="600"/>
              </a:spcBef>
              <a:buClrTx/>
              <a:buSzTx/>
              <a:buFontTx/>
            </a:pPr>
            <a:endParaRPr lang="en-US" sz="140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15"/>
          <p:cNvSpPr/>
          <p:nvPr/>
        </p:nvSpPr>
        <p:spPr>
          <a:xfrm>
            <a:off x="3429000" y="4079240"/>
            <a:ext cx="2286000" cy="1524000"/>
          </a:xfrm>
          <a:prstGeom prst="roundRect">
            <a:avLst>
              <a:gd name="adj" fmla="val 6666"/>
            </a:avLst>
          </a:prstGeom>
          <a:solidFill>
            <a:srgbClr val="F0FDF4">
              <a:alpha val="100000"/>
            </a:srgbClr>
          </a:solidFill>
          <a:ln w="25400" cap="flat" cmpd="sng">
            <a:noFill/>
            <a:prstDash val="solid"/>
            <a:round/>
          </a:ln>
        </p:spPr>
        <p:txBody>
          <a:bodyPr vert="horz" wrap="square" lIns="63500" tIns="63500" rIns="63500" bIns="63500" rtlCol="0" anchor="ctr"/>
          <a:p>
            <a:pPr algn="ctr">
              <a:defRPr/>
            </a:pPr>
          </a:p>
        </p:txBody>
      </p:sp>
      <p:pic>
        <p:nvPicPr>
          <p:cNvPr id="45"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81400" y="4231640"/>
            <a:ext cx="304800" cy="304800"/>
          </a:xfrm>
          <a:prstGeom prst="rect">
            <a:avLst/>
          </a:prstGeom>
        </p:spPr>
      </p:pic>
      <p:sp>
        <p:nvSpPr>
          <p:cNvPr id="46" name="AutoShape 17"/>
          <p:cNvSpPr/>
          <p:nvPr/>
        </p:nvSpPr>
        <p:spPr>
          <a:xfrm>
            <a:off x="3987800" y="4227830"/>
            <a:ext cx="1651000" cy="1396365"/>
          </a:xfrm>
          <a:prstGeom prst="rect">
            <a:avLst/>
          </a:prstGeom>
          <a:noFill/>
          <a:ln w="12700" cap="flat" cmpd="sng">
            <a:noFill/>
            <a:prstDash val="solid"/>
            <a:round/>
          </a:ln>
        </p:spPr>
        <p:txBody>
          <a:bodyPr vert="horz" wrap="square" lIns="0" tIns="0" rIns="0" bIns="0" rtlCol="0" anchor="ctr" anchorCtr="0"/>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对策建议的落地性
</a:t>
            </a:r>
            <a:r>
              <a:rPr 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深度结合行业实际和企业决策需求，确保研究成果真正可操作、可执行。</a:t>
            </a:r>
            <a:endParaRPr lang="en-US" sz="1100"/>
          </a:p>
          <a:p>
            <a:pPr marL="0" algn="l">
              <a:lnSpc>
                <a:spcPct val="108000"/>
              </a:lnSpc>
              <a:spcBef>
                <a:spcPts val="600"/>
              </a:spcBef>
              <a:buClrTx/>
              <a:buSzTx/>
              <a:buFontTx/>
            </a:pP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7" name="AutoShape 18"/>
          <p:cNvSpPr/>
          <p:nvPr/>
        </p:nvSpPr>
        <p:spPr>
          <a:xfrm>
            <a:off x="6223000" y="1412240"/>
            <a:ext cx="5207000" cy="4445000"/>
          </a:xfrm>
          <a:prstGeom prst="roundRect">
            <a:avLst>
              <a:gd name="adj" fmla="val 34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48" name="AutoShape 19"/>
          <p:cNvSpPr/>
          <p:nvPr/>
        </p:nvSpPr>
        <p:spPr>
          <a:xfrm>
            <a:off x="6223000" y="1666240"/>
            <a:ext cx="5207000" cy="4445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2000" b="1">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项目挑战与难点</a:t>
            </a: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2000" b="1">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DIFFICULTIES</a:t>
            </a:r>
            <a:endParaRPr lang="en-US" sz="2000" b="1">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9" name="AutoShape 20"/>
          <p:cNvSpPr/>
          <p:nvPr/>
        </p:nvSpPr>
        <p:spPr>
          <a:xfrm>
            <a:off x="6477000" y="2428240"/>
            <a:ext cx="2286000" cy="1524000"/>
          </a:xfrm>
          <a:prstGeom prst="roundRect">
            <a:avLst>
              <a:gd name="adj" fmla="val 6666"/>
            </a:avLst>
          </a:prstGeom>
          <a:solidFill>
            <a:srgbClr val="EFF6FF">
              <a:alpha val="100000"/>
            </a:srgbClr>
          </a:solidFill>
          <a:ln w="25400" cap="flat" cmpd="sng">
            <a:noFill/>
            <a:prstDash val="solid"/>
            <a:round/>
          </a:ln>
        </p:spPr>
        <p:txBody>
          <a:bodyPr vert="horz" wrap="square" lIns="63500" tIns="63500" rIns="63500" bIns="63500" rtlCol="0" anchor="ctr"/>
          <a:p>
            <a:pPr algn="ctr">
              <a:defRPr/>
            </a:pPr>
          </a:p>
        </p:txBody>
      </p:sp>
      <p:sp>
        <p:nvSpPr>
          <p:cNvPr id="51" name="AutoShape 22"/>
          <p:cNvSpPr/>
          <p:nvPr/>
        </p:nvSpPr>
        <p:spPr>
          <a:xfrm>
            <a:off x="7035800" y="2555240"/>
            <a:ext cx="1651000" cy="1289050"/>
          </a:xfrm>
          <a:prstGeom prst="rect">
            <a:avLst/>
          </a:prstGeom>
          <a:noFill/>
          <a:ln w="12700" cap="flat" cmpd="sng">
            <a:noFill/>
            <a:prstDash val="solid"/>
            <a:round/>
          </a:ln>
        </p:spPr>
        <p:txBody>
          <a:bodyPr vert="horz" wrap="square" lIns="0" tIns="0" rIns="0" bIns="0" rtlCol="0" anchor="ctr" anchorCtr="0"/>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跨要素耦合关系量化
</a:t>
            </a:r>
            <a:r>
              <a:rPr 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光伏、储能、绿电等要素间存在复杂交互，如何量化分析是研究设计的核心难点。</a:t>
            </a:r>
            <a:endParaRPr lang="en-US" sz="1100"/>
          </a:p>
          <a:p>
            <a:pPr marL="0" algn="l">
              <a:lnSpc>
                <a:spcPct val="108000"/>
              </a:lnSpc>
              <a:spcBef>
                <a:spcPts val="600"/>
              </a:spcBef>
              <a:buClrTx/>
              <a:buSzTx/>
              <a:buFontTx/>
            </a:pP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2" name="AutoShape 23"/>
          <p:cNvSpPr/>
          <p:nvPr/>
        </p:nvSpPr>
        <p:spPr>
          <a:xfrm>
            <a:off x="8890000" y="2428240"/>
            <a:ext cx="2286000" cy="1524000"/>
          </a:xfrm>
          <a:prstGeom prst="roundRect">
            <a:avLst>
              <a:gd name="adj" fmla="val 6666"/>
            </a:avLst>
          </a:prstGeom>
          <a:solidFill>
            <a:srgbClr val="EFF6FF">
              <a:alpha val="100000"/>
            </a:srgbClr>
          </a:solidFill>
          <a:ln w="25400" cap="flat" cmpd="sng">
            <a:noFill/>
            <a:prstDash val="solid"/>
            <a:round/>
          </a:ln>
        </p:spPr>
        <p:txBody>
          <a:bodyPr vert="horz" wrap="square" lIns="63500" tIns="63500" rIns="63500" bIns="63500" rtlCol="0" anchor="ctr"/>
          <a:p>
            <a:pPr algn="ctr">
              <a:defRPr/>
            </a:pPr>
          </a:p>
        </p:txBody>
      </p:sp>
      <p:pic>
        <p:nvPicPr>
          <p:cNvPr id="53"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42400" y="2555240"/>
            <a:ext cx="304800" cy="304800"/>
          </a:xfrm>
          <a:prstGeom prst="rect">
            <a:avLst/>
          </a:prstGeom>
        </p:spPr>
      </p:pic>
      <p:sp>
        <p:nvSpPr>
          <p:cNvPr id="54" name="AutoShape 25"/>
          <p:cNvSpPr/>
          <p:nvPr/>
        </p:nvSpPr>
        <p:spPr>
          <a:xfrm>
            <a:off x="9448800" y="2663190"/>
            <a:ext cx="1651000" cy="1289050"/>
          </a:xfrm>
          <a:prstGeom prst="rect">
            <a:avLst/>
          </a:prstGeom>
          <a:noFill/>
          <a:ln w="12700" cap="flat" cmpd="sng">
            <a:noFill/>
            <a:prstDash val="solid"/>
            <a:round/>
          </a:ln>
        </p:spPr>
        <p:txBody>
          <a:bodyPr vert="horz" wrap="square" lIns="0" tIns="0" rIns="0" bIns="0" rtlCol="0" anchor="ctr" anchorCtr="0"/>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政策效果的科学归因
</a:t>
            </a:r>
            <a:r>
              <a:rPr 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多因素共同影响市场变化，如何分离政策净贡献需要严谨的因果识别策略。</a:t>
            </a:r>
            <a:endParaRPr lang="en-US" sz="1100"/>
          </a:p>
          <a:p>
            <a:pPr marL="0" algn="l">
              <a:lnSpc>
                <a:spcPct val="108000"/>
              </a:lnSpc>
              <a:spcBef>
                <a:spcPts val="600"/>
              </a:spcBef>
              <a:buClrTx/>
              <a:buSzTx/>
              <a:buFontTx/>
            </a:pP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08000"/>
              </a:lnSpc>
              <a:spcBef>
                <a:spcPts val="600"/>
              </a:spcBef>
              <a:buClrTx/>
              <a:buSzTx/>
              <a:buFontTx/>
            </a:pP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5" name="AutoShape 26"/>
          <p:cNvSpPr/>
          <p:nvPr/>
        </p:nvSpPr>
        <p:spPr>
          <a:xfrm>
            <a:off x="6477000" y="4079240"/>
            <a:ext cx="2286000" cy="1524000"/>
          </a:xfrm>
          <a:prstGeom prst="roundRect">
            <a:avLst>
              <a:gd name="adj" fmla="val 6666"/>
            </a:avLst>
          </a:prstGeom>
          <a:solidFill>
            <a:srgbClr val="EFF6FF">
              <a:alpha val="100000"/>
            </a:srgbClr>
          </a:solidFill>
          <a:ln w="25400" cap="flat" cmpd="sng">
            <a:noFill/>
            <a:prstDash val="solid"/>
            <a:round/>
          </a:ln>
        </p:spPr>
        <p:txBody>
          <a:bodyPr vert="horz" wrap="square" lIns="63500" tIns="63500" rIns="63500" bIns="63500" rtlCol="0" anchor="ctr"/>
          <a:p>
            <a:pPr algn="ctr">
              <a:defRPr/>
            </a:pPr>
          </a:p>
        </p:txBody>
      </p:sp>
      <p:pic>
        <p:nvPicPr>
          <p:cNvPr id="56"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29400" y="4231640"/>
            <a:ext cx="304800" cy="304800"/>
          </a:xfrm>
          <a:prstGeom prst="rect">
            <a:avLst/>
          </a:prstGeom>
        </p:spPr>
      </p:pic>
      <p:sp>
        <p:nvSpPr>
          <p:cNvPr id="57" name="AutoShape 28"/>
          <p:cNvSpPr/>
          <p:nvPr/>
        </p:nvSpPr>
        <p:spPr>
          <a:xfrm>
            <a:off x="7035800" y="4288790"/>
            <a:ext cx="1651000" cy="1395730"/>
          </a:xfrm>
          <a:prstGeom prst="rect">
            <a:avLst/>
          </a:prstGeom>
          <a:noFill/>
          <a:ln w="12700" cap="flat" cmpd="sng">
            <a:noFill/>
            <a:prstDash val="solid"/>
            <a:round/>
          </a:ln>
        </p:spPr>
        <p:txBody>
          <a:bodyPr vert="horz" wrap="square" lIns="0" tIns="0" rIns="0" bIns="0" rtlCol="0" anchor="ctr" anchorCtr="0"/>
          <a:p>
            <a:pPr marL="0" indent="0" algn="l">
              <a:lnSpc>
                <a:spcPct val="100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收益</a:t>
            </a: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不确定性建模
</a:t>
            </a:r>
            <a:r>
              <a:rPr lang="en-US" sz="140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电价、绿证、补贴和碳收益存在波动，需要开展多情景敏感性分析。</a:t>
            </a:r>
            <a:endParaRPr lang="en-US" sz="1100"/>
          </a:p>
          <a:p>
            <a:pPr marL="0" indent="0" algn="l">
              <a:lnSpc>
                <a:spcPct val="100000"/>
              </a:lnSpc>
              <a:defRPr/>
            </a:pPr>
            <a:endParaRPr lang="en-US" sz="1100"/>
          </a:p>
          <a:p>
            <a:pPr marL="0" algn="l">
              <a:lnSpc>
                <a:spcPct val="108000"/>
              </a:lnSpc>
              <a:spcBef>
                <a:spcPts val="600"/>
              </a:spcBef>
              <a:buClrTx/>
              <a:buSzTx/>
              <a:buFontTx/>
            </a:pP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8" name="AutoShape 29"/>
          <p:cNvSpPr/>
          <p:nvPr/>
        </p:nvSpPr>
        <p:spPr>
          <a:xfrm>
            <a:off x="8890000" y="4079240"/>
            <a:ext cx="2286000" cy="1524000"/>
          </a:xfrm>
          <a:prstGeom prst="roundRect">
            <a:avLst>
              <a:gd name="adj" fmla="val 6666"/>
            </a:avLst>
          </a:prstGeom>
          <a:solidFill>
            <a:srgbClr val="EFF6FF">
              <a:alpha val="100000"/>
            </a:srgbClr>
          </a:solidFill>
          <a:ln w="25400" cap="flat" cmpd="sng">
            <a:noFill/>
            <a:prstDash val="solid"/>
            <a:round/>
          </a:ln>
        </p:spPr>
        <p:txBody>
          <a:bodyPr vert="horz" wrap="square" lIns="63500" tIns="63500" rIns="63500" bIns="63500" rtlCol="0" anchor="ctr"/>
          <a:p>
            <a:pPr algn="ctr">
              <a:defRPr/>
            </a:pPr>
          </a:p>
        </p:txBody>
      </p:sp>
      <p:pic>
        <p:nvPicPr>
          <p:cNvPr id="59" name="Picture 3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42400" y="4231640"/>
            <a:ext cx="304800" cy="304800"/>
          </a:xfrm>
          <a:prstGeom prst="rect">
            <a:avLst/>
          </a:prstGeom>
        </p:spPr>
      </p:pic>
      <p:sp>
        <p:nvSpPr>
          <p:cNvPr id="60" name="AutoShape 31"/>
          <p:cNvSpPr/>
          <p:nvPr/>
        </p:nvSpPr>
        <p:spPr>
          <a:xfrm>
            <a:off x="9448800" y="4206240"/>
            <a:ext cx="1651000" cy="1395095"/>
          </a:xfrm>
          <a:prstGeom prst="rect">
            <a:avLst/>
          </a:prstGeom>
          <a:noFill/>
          <a:ln w="12700" cap="flat" cmpd="sng">
            <a:noFill/>
            <a:prstDash val="solid"/>
            <a:round/>
          </a:ln>
        </p:spPr>
        <p:txBody>
          <a:bodyPr vert="horz" wrap="square" lIns="0" tIns="0" rIns="0" bIns="0" rtlCol="0" anchor="ctr" anchorCtr="0"/>
          <a:p>
            <a:pPr marL="0" indent="0" algn="l">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多方数据获取与协调
</a:t>
            </a:r>
            <a:r>
              <a:rPr lang="en-US" sz="140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涉及多利益相关方，需建立有效的数据共享与成果沟通协调机制。</a:t>
            </a:r>
            <a:endParaRPr lang="en-US" sz="1400">
              <a:latin typeface="Noto Sans SC" panose="020B0200000000000000" charset="-122"/>
              <a:ea typeface="Noto Sans SC" panose="020B0200000000000000" charset="-122"/>
            </a:endParaRPr>
          </a:p>
          <a:p>
            <a:pPr marL="0" algn="l">
              <a:lnSpc>
                <a:spcPct val="108000"/>
              </a:lnSpc>
              <a:spcBef>
                <a:spcPts val="600"/>
              </a:spcBef>
              <a:buClrTx/>
              <a:buSzTx/>
              <a:buFontTx/>
            </a:pPr>
            <a:endParaRPr lang="en-US" sz="140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1"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29400" y="2555240"/>
            <a:ext cx="304800" cy="304800"/>
          </a:xfrm>
          <a:prstGeom prst="rect">
            <a:avLst/>
          </a:prstGeom>
        </p:spPr>
      </p:pic>
      <p:sp>
        <p:nvSpPr>
          <p:cNvPr id="13" name="AutoShape 8"/>
          <p:cNvSpPr/>
          <p:nvPr/>
        </p:nvSpPr>
        <p:spPr>
          <a:xfrm>
            <a:off x="3987800" y="2546985"/>
            <a:ext cx="1727200" cy="1520825"/>
          </a:xfrm>
          <a:prstGeom prst="rect">
            <a:avLst/>
          </a:prstGeom>
          <a:noFill/>
          <a:ln w="12700" cap="flat" cmpd="sng">
            <a:noFill/>
            <a:prstDash val="solid"/>
            <a:round/>
          </a:ln>
        </p:spPr>
        <p:txBody>
          <a:bodyPr vert="horz" wrap="square" lIns="0" tIns="0" rIns="0" bIns="0" rtlCol="0" anchor="ctr" anchorCtr="0"/>
          <a:p>
            <a:pPr marL="0" indent="0" algn="l">
              <a:lnSpc>
                <a:spcPct val="100000"/>
              </a:lnSpc>
              <a:defRPr/>
            </a:pPr>
            <a:r>
              <a:rPr lang="en-US" sz="1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政策分析的深度与精度
</a:t>
            </a:r>
            <a:r>
              <a:rPr lang="en-US" sz="140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在数百份政策文件中提取传导变量，避免简单罗列，构建有解释力的分析框架。</a:t>
            </a:r>
            <a:endParaRPr lang="en-US" sz="1400"/>
          </a:p>
          <a:p>
            <a:pPr marL="0" indent="0" algn="l">
              <a:lnSpc>
                <a:spcPct val="100000"/>
              </a:lnSpc>
              <a:defRPr/>
            </a:pP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up)">
                                      <p:cBhvr>
                                        <p:cTn id="12" dur="500"/>
                                        <p:tgtEl>
                                          <p:spTgt spid="5"/>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p:tgtEl>
                                          <p:spTgt spid="6"/>
                                        </p:tgtEl>
                                        <p:attrNameLst>
                                          <p:attrName>ppt_y</p:attrName>
                                        </p:attrNameLst>
                                      </p:cBhvr>
                                      <p:tavLst>
                                        <p:tav tm="0">
                                          <p:val>
                                            <p:strVal val="#ppt_y+#ppt_h*1.125000"/>
                                          </p:val>
                                        </p:tav>
                                        <p:tav tm="100000">
                                          <p:val>
                                            <p:strVal val="#ppt_y"/>
                                          </p:val>
                                        </p:tav>
                                      </p:tavLst>
                                    </p:anim>
                                    <p:animEffect transition="in" filter="wipe(up)">
                                      <p:cBhvr>
                                        <p:cTn id="16" dur="500"/>
                                        <p:tgtEl>
                                          <p:spTgt spid="6"/>
                                        </p:tgtEl>
                                      </p:cBhvr>
                                    </p:animEffect>
                                  </p:childTnLst>
                                </p:cTn>
                              </p:par>
                              <p:par>
                                <p:cTn id="17" presetID="1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p:tgtEl>
                                          <p:spTgt spid="7"/>
                                        </p:tgtEl>
                                        <p:attrNameLst>
                                          <p:attrName>ppt_y</p:attrName>
                                        </p:attrNameLst>
                                      </p:cBhvr>
                                      <p:tavLst>
                                        <p:tav tm="0">
                                          <p:val>
                                            <p:strVal val="#ppt_y+#ppt_h*1.125000"/>
                                          </p:val>
                                        </p:tav>
                                        <p:tav tm="100000">
                                          <p:val>
                                            <p:strVal val="#ppt_y"/>
                                          </p:val>
                                        </p:tav>
                                      </p:tavLst>
                                    </p:anim>
                                    <p:animEffect transition="in" filter="wipe(up)">
                                      <p:cBhvr>
                                        <p:cTn id="20" dur="500"/>
                                        <p:tgtEl>
                                          <p:spTgt spid="7"/>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p:tgtEl>
                                          <p:spTgt spid="3"/>
                                        </p:tgtEl>
                                        <p:attrNameLst>
                                          <p:attrName>ppt_y</p:attrName>
                                        </p:attrNameLst>
                                      </p:cBhvr>
                                      <p:tavLst>
                                        <p:tav tm="0">
                                          <p:val>
                                            <p:strVal val="#ppt_y+#ppt_h*1.125000"/>
                                          </p:val>
                                        </p:tav>
                                        <p:tav tm="100000">
                                          <p:val>
                                            <p:strVal val="#ppt_y"/>
                                          </p:val>
                                        </p:tav>
                                      </p:tavLst>
                                    </p:anim>
                                    <p:animEffect transition="in" filter="wipe(up)">
                                      <p:cBhvr>
                                        <p:cTn id="24" dur="500"/>
                                        <p:tgtEl>
                                          <p:spTgt spid="3"/>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p:tgtEl>
                                          <p:spTgt spid="9"/>
                                        </p:tgtEl>
                                        <p:attrNameLst>
                                          <p:attrName>ppt_y</p:attrName>
                                        </p:attrNameLst>
                                      </p:cBhvr>
                                      <p:tavLst>
                                        <p:tav tm="0">
                                          <p:val>
                                            <p:strVal val="#ppt_y+#ppt_h*1.125000"/>
                                          </p:val>
                                        </p:tav>
                                        <p:tav tm="100000">
                                          <p:val>
                                            <p:strVal val="#ppt_y"/>
                                          </p:val>
                                        </p:tav>
                                      </p:tavLst>
                                    </p:anim>
                                    <p:animEffect transition="in" filter="wipe(up)">
                                      <p:cBhvr>
                                        <p:cTn id="28" dur="500"/>
                                        <p:tgtEl>
                                          <p:spTgt spid="9"/>
                                        </p:tgtEl>
                                      </p:cBhvr>
                                    </p:animEffect>
                                  </p:childTnLst>
                                </p:cTn>
                              </p:par>
                              <p:par>
                                <p:cTn id="29" presetID="12" presetClass="entr" presetSubtype="4"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p:tgtEl>
                                          <p:spTgt spid="11"/>
                                        </p:tgtEl>
                                        <p:attrNameLst>
                                          <p:attrName>ppt_y</p:attrName>
                                        </p:attrNameLst>
                                      </p:cBhvr>
                                      <p:tavLst>
                                        <p:tav tm="0">
                                          <p:val>
                                            <p:strVal val="#ppt_y+#ppt_h*1.125000"/>
                                          </p:val>
                                        </p:tav>
                                        <p:tav tm="100000">
                                          <p:val>
                                            <p:strVal val="#ppt_y"/>
                                          </p:val>
                                        </p:tav>
                                      </p:tavLst>
                                    </p:anim>
                                    <p:animEffect transition="in" filter="wipe(up)">
                                      <p:cBhvr>
                                        <p:cTn id="32" dur="500"/>
                                        <p:tgtEl>
                                          <p:spTgt spid="11"/>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p:tgtEl>
                                          <p:spTgt spid="12"/>
                                        </p:tgtEl>
                                        <p:attrNameLst>
                                          <p:attrName>ppt_y</p:attrName>
                                        </p:attrNameLst>
                                      </p:cBhvr>
                                      <p:tavLst>
                                        <p:tav tm="0">
                                          <p:val>
                                            <p:strVal val="#ppt_y+#ppt_h*1.125000"/>
                                          </p:val>
                                        </p:tav>
                                        <p:tav tm="100000">
                                          <p:val>
                                            <p:strVal val="#ppt_y"/>
                                          </p:val>
                                        </p:tav>
                                      </p:tavLst>
                                    </p:anim>
                                    <p:animEffect transition="in" filter="wipe(up)">
                                      <p:cBhvr>
                                        <p:cTn id="36" dur="500"/>
                                        <p:tgtEl>
                                          <p:spTgt spid="12"/>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p:tgtEl>
                                          <p:spTgt spid="17"/>
                                        </p:tgtEl>
                                        <p:attrNameLst>
                                          <p:attrName>ppt_y</p:attrName>
                                        </p:attrNameLst>
                                      </p:cBhvr>
                                      <p:tavLst>
                                        <p:tav tm="0">
                                          <p:val>
                                            <p:strVal val="#ppt_y+#ppt_h*1.125000"/>
                                          </p:val>
                                        </p:tav>
                                        <p:tav tm="100000">
                                          <p:val>
                                            <p:strVal val="#ppt_y"/>
                                          </p:val>
                                        </p:tav>
                                      </p:tavLst>
                                    </p:anim>
                                    <p:animEffect transition="in" filter="wipe(up)">
                                      <p:cBhvr>
                                        <p:cTn id="40" dur="500"/>
                                        <p:tgtEl>
                                          <p:spTgt spid="17"/>
                                        </p:tgtEl>
                                      </p:cBhvr>
                                    </p:animEffect>
                                  </p:childTnLst>
                                </p:cTn>
                              </p:par>
                              <p:par>
                                <p:cTn id="41" presetID="12" presetClass="entr" presetSubtype="4"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p:tgtEl>
                                          <p:spTgt spid="18"/>
                                        </p:tgtEl>
                                        <p:attrNameLst>
                                          <p:attrName>ppt_y</p:attrName>
                                        </p:attrNameLst>
                                      </p:cBhvr>
                                      <p:tavLst>
                                        <p:tav tm="0">
                                          <p:val>
                                            <p:strVal val="#ppt_y+#ppt_h*1.125000"/>
                                          </p:val>
                                        </p:tav>
                                        <p:tav tm="100000">
                                          <p:val>
                                            <p:strVal val="#ppt_y"/>
                                          </p:val>
                                        </p:tav>
                                      </p:tavLst>
                                    </p:anim>
                                    <p:animEffect transition="in" filter="wipe(up)">
                                      <p:cBhvr>
                                        <p:cTn id="44" dur="500"/>
                                        <p:tgtEl>
                                          <p:spTgt spid="18"/>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p:tgtEl>
                                          <p:spTgt spid="19"/>
                                        </p:tgtEl>
                                        <p:attrNameLst>
                                          <p:attrName>ppt_y</p:attrName>
                                        </p:attrNameLst>
                                      </p:cBhvr>
                                      <p:tavLst>
                                        <p:tav tm="0">
                                          <p:val>
                                            <p:strVal val="#ppt_y+#ppt_h*1.125000"/>
                                          </p:val>
                                        </p:tav>
                                        <p:tav tm="100000">
                                          <p:val>
                                            <p:strVal val="#ppt_y"/>
                                          </p:val>
                                        </p:tav>
                                      </p:tavLst>
                                    </p:anim>
                                    <p:animEffect transition="in" filter="wipe(up)">
                                      <p:cBhvr>
                                        <p:cTn id="48" dur="500"/>
                                        <p:tgtEl>
                                          <p:spTgt spid="19"/>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p:tgtEl>
                                          <p:spTgt spid="31"/>
                                        </p:tgtEl>
                                        <p:attrNameLst>
                                          <p:attrName>ppt_y</p:attrName>
                                        </p:attrNameLst>
                                      </p:cBhvr>
                                      <p:tavLst>
                                        <p:tav tm="0">
                                          <p:val>
                                            <p:strVal val="#ppt_y+#ppt_h*1.125000"/>
                                          </p:val>
                                        </p:tav>
                                        <p:tav tm="100000">
                                          <p:val>
                                            <p:strVal val="#ppt_y"/>
                                          </p:val>
                                        </p:tav>
                                      </p:tavLst>
                                    </p:anim>
                                    <p:animEffect transition="in" filter="wipe(up)">
                                      <p:cBhvr>
                                        <p:cTn id="52" dur="500"/>
                                        <p:tgtEl>
                                          <p:spTgt spid="31"/>
                                        </p:tgtEl>
                                      </p:cBhvr>
                                    </p:animEffect>
                                  </p:childTnLst>
                                </p:cTn>
                              </p:par>
                              <p:par>
                                <p:cTn id="53" presetID="12" presetClass="entr" presetSubtype="4" fill="hold" nodeType="withEffect">
                                  <p:stCondLst>
                                    <p:cond delay="0"/>
                                  </p:stCondLst>
                                  <p:childTnLst>
                                    <p:set>
                                      <p:cBhvr>
                                        <p:cTn id="54" dur="1" fill="hold">
                                          <p:stCondLst>
                                            <p:cond delay="0"/>
                                          </p:stCondLst>
                                        </p:cTn>
                                        <p:tgtEl>
                                          <p:spTgt spid="45"/>
                                        </p:tgtEl>
                                        <p:attrNameLst>
                                          <p:attrName>style.visibility</p:attrName>
                                        </p:attrNameLst>
                                      </p:cBhvr>
                                      <p:to>
                                        <p:strVal val="visible"/>
                                      </p:to>
                                    </p:set>
                                    <p:anim calcmode="lin" valueType="num">
                                      <p:cBhvr additive="base">
                                        <p:cTn id="55" dur="500"/>
                                        <p:tgtEl>
                                          <p:spTgt spid="45"/>
                                        </p:tgtEl>
                                        <p:attrNameLst>
                                          <p:attrName>ppt_y</p:attrName>
                                        </p:attrNameLst>
                                      </p:cBhvr>
                                      <p:tavLst>
                                        <p:tav tm="0">
                                          <p:val>
                                            <p:strVal val="#ppt_y+#ppt_h*1.125000"/>
                                          </p:val>
                                        </p:tav>
                                        <p:tav tm="100000">
                                          <p:val>
                                            <p:strVal val="#ppt_y"/>
                                          </p:val>
                                        </p:tav>
                                      </p:tavLst>
                                    </p:anim>
                                    <p:animEffect transition="in" filter="wipe(up)">
                                      <p:cBhvr>
                                        <p:cTn id="56" dur="500"/>
                                        <p:tgtEl>
                                          <p:spTgt spid="45"/>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anim calcmode="lin" valueType="num">
                                      <p:cBhvr additive="base">
                                        <p:cTn id="59" dur="500"/>
                                        <p:tgtEl>
                                          <p:spTgt spid="46"/>
                                        </p:tgtEl>
                                        <p:attrNameLst>
                                          <p:attrName>ppt_y</p:attrName>
                                        </p:attrNameLst>
                                      </p:cBhvr>
                                      <p:tavLst>
                                        <p:tav tm="0">
                                          <p:val>
                                            <p:strVal val="#ppt_y+#ppt_h*1.125000"/>
                                          </p:val>
                                        </p:tav>
                                        <p:tav tm="100000">
                                          <p:val>
                                            <p:strVal val="#ppt_y"/>
                                          </p:val>
                                        </p:tav>
                                      </p:tavLst>
                                    </p:anim>
                                    <p:animEffect transition="in" filter="wipe(up)">
                                      <p:cBhvr>
                                        <p:cTn id="60" dur="500"/>
                                        <p:tgtEl>
                                          <p:spTgt spid="46"/>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 calcmode="lin" valueType="num">
                                      <p:cBhvr additive="base">
                                        <p:cTn id="63" dur="500"/>
                                        <p:tgtEl>
                                          <p:spTgt spid="47"/>
                                        </p:tgtEl>
                                        <p:attrNameLst>
                                          <p:attrName>ppt_y</p:attrName>
                                        </p:attrNameLst>
                                      </p:cBhvr>
                                      <p:tavLst>
                                        <p:tav tm="0">
                                          <p:val>
                                            <p:strVal val="#ppt_y+#ppt_h*1.125000"/>
                                          </p:val>
                                        </p:tav>
                                        <p:tav tm="100000">
                                          <p:val>
                                            <p:strVal val="#ppt_y"/>
                                          </p:val>
                                        </p:tav>
                                      </p:tavLst>
                                    </p:anim>
                                    <p:animEffect transition="in" filter="wipe(up)">
                                      <p:cBhvr>
                                        <p:cTn id="64" dur="500"/>
                                        <p:tgtEl>
                                          <p:spTgt spid="47"/>
                                        </p:tgtEl>
                                      </p:cBhvr>
                                    </p:animEffect>
                                  </p:childTnLst>
                                </p:cTn>
                              </p:par>
                              <p:par>
                                <p:cTn id="65" presetID="12" presetClass="entr" presetSubtype="4"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 calcmode="lin" valueType="num">
                                      <p:cBhvr additive="base">
                                        <p:cTn id="67" dur="500"/>
                                        <p:tgtEl>
                                          <p:spTgt spid="48"/>
                                        </p:tgtEl>
                                        <p:attrNameLst>
                                          <p:attrName>ppt_y</p:attrName>
                                        </p:attrNameLst>
                                      </p:cBhvr>
                                      <p:tavLst>
                                        <p:tav tm="0">
                                          <p:val>
                                            <p:strVal val="#ppt_y+#ppt_h*1.125000"/>
                                          </p:val>
                                        </p:tav>
                                        <p:tav tm="100000">
                                          <p:val>
                                            <p:strVal val="#ppt_y"/>
                                          </p:val>
                                        </p:tav>
                                      </p:tavLst>
                                    </p:anim>
                                    <p:animEffect transition="in" filter="wipe(up)">
                                      <p:cBhvr>
                                        <p:cTn id="68" dur="500"/>
                                        <p:tgtEl>
                                          <p:spTgt spid="48"/>
                                        </p:tgtEl>
                                      </p:cBhvr>
                                    </p:animEffect>
                                  </p:childTnLst>
                                </p:cTn>
                              </p:par>
                              <p:par>
                                <p:cTn id="69" presetID="12" presetClass="entr" presetSubtype="4"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 calcmode="lin" valueType="num">
                                      <p:cBhvr additive="base">
                                        <p:cTn id="71" dur="500"/>
                                        <p:tgtEl>
                                          <p:spTgt spid="49"/>
                                        </p:tgtEl>
                                        <p:attrNameLst>
                                          <p:attrName>ppt_y</p:attrName>
                                        </p:attrNameLst>
                                      </p:cBhvr>
                                      <p:tavLst>
                                        <p:tav tm="0">
                                          <p:val>
                                            <p:strVal val="#ppt_y+#ppt_h*1.125000"/>
                                          </p:val>
                                        </p:tav>
                                        <p:tav tm="100000">
                                          <p:val>
                                            <p:strVal val="#ppt_y"/>
                                          </p:val>
                                        </p:tav>
                                      </p:tavLst>
                                    </p:anim>
                                    <p:animEffect transition="in" filter="wipe(up)">
                                      <p:cBhvr>
                                        <p:cTn id="72" dur="500"/>
                                        <p:tgtEl>
                                          <p:spTgt spid="49"/>
                                        </p:tgtEl>
                                      </p:cBhvr>
                                    </p:animEffect>
                                  </p:childTnLst>
                                </p:cTn>
                              </p:par>
                              <p:par>
                                <p:cTn id="73" presetID="12" presetClass="entr" presetSubtype="4"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anim calcmode="lin" valueType="num">
                                      <p:cBhvr additive="base">
                                        <p:cTn id="75" dur="500"/>
                                        <p:tgtEl>
                                          <p:spTgt spid="51"/>
                                        </p:tgtEl>
                                        <p:attrNameLst>
                                          <p:attrName>ppt_y</p:attrName>
                                        </p:attrNameLst>
                                      </p:cBhvr>
                                      <p:tavLst>
                                        <p:tav tm="0">
                                          <p:val>
                                            <p:strVal val="#ppt_y+#ppt_h*1.125000"/>
                                          </p:val>
                                        </p:tav>
                                        <p:tav tm="100000">
                                          <p:val>
                                            <p:strVal val="#ppt_y"/>
                                          </p:val>
                                        </p:tav>
                                      </p:tavLst>
                                    </p:anim>
                                    <p:animEffect transition="in" filter="wipe(up)">
                                      <p:cBhvr>
                                        <p:cTn id="76" dur="500"/>
                                        <p:tgtEl>
                                          <p:spTgt spid="51"/>
                                        </p:tgtEl>
                                      </p:cBhvr>
                                    </p:animEffect>
                                  </p:childTnLst>
                                </p:cTn>
                              </p:par>
                              <p:par>
                                <p:cTn id="77" presetID="12" presetClass="entr" presetSubtype="4" fill="hold" grpId="0" nodeType="withEffect">
                                  <p:stCondLst>
                                    <p:cond delay="0"/>
                                  </p:stCondLst>
                                  <p:childTnLst>
                                    <p:set>
                                      <p:cBhvr>
                                        <p:cTn id="78" dur="1" fill="hold">
                                          <p:stCondLst>
                                            <p:cond delay="0"/>
                                          </p:stCondLst>
                                        </p:cTn>
                                        <p:tgtEl>
                                          <p:spTgt spid="52"/>
                                        </p:tgtEl>
                                        <p:attrNameLst>
                                          <p:attrName>style.visibility</p:attrName>
                                        </p:attrNameLst>
                                      </p:cBhvr>
                                      <p:to>
                                        <p:strVal val="visible"/>
                                      </p:to>
                                    </p:set>
                                    <p:anim calcmode="lin" valueType="num">
                                      <p:cBhvr additive="base">
                                        <p:cTn id="79" dur="500"/>
                                        <p:tgtEl>
                                          <p:spTgt spid="52"/>
                                        </p:tgtEl>
                                        <p:attrNameLst>
                                          <p:attrName>ppt_y</p:attrName>
                                        </p:attrNameLst>
                                      </p:cBhvr>
                                      <p:tavLst>
                                        <p:tav tm="0">
                                          <p:val>
                                            <p:strVal val="#ppt_y+#ppt_h*1.125000"/>
                                          </p:val>
                                        </p:tav>
                                        <p:tav tm="100000">
                                          <p:val>
                                            <p:strVal val="#ppt_y"/>
                                          </p:val>
                                        </p:tav>
                                      </p:tavLst>
                                    </p:anim>
                                    <p:animEffect transition="in" filter="wipe(up)">
                                      <p:cBhvr>
                                        <p:cTn id="80" dur="500"/>
                                        <p:tgtEl>
                                          <p:spTgt spid="52"/>
                                        </p:tgtEl>
                                      </p:cBhvr>
                                    </p:animEffect>
                                  </p:childTnLst>
                                </p:cTn>
                              </p:par>
                              <p:par>
                                <p:cTn id="81" presetID="12" presetClass="entr" presetSubtype="4" fill="hold" nodeType="withEffect">
                                  <p:stCondLst>
                                    <p:cond delay="0"/>
                                  </p:stCondLst>
                                  <p:childTnLst>
                                    <p:set>
                                      <p:cBhvr>
                                        <p:cTn id="82" dur="1" fill="hold">
                                          <p:stCondLst>
                                            <p:cond delay="0"/>
                                          </p:stCondLst>
                                        </p:cTn>
                                        <p:tgtEl>
                                          <p:spTgt spid="53"/>
                                        </p:tgtEl>
                                        <p:attrNameLst>
                                          <p:attrName>style.visibility</p:attrName>
                                        </p:attrNameLst>
                                      </p:cBhvr>
                                      <p:to>
                                        <p:strVal val="visible"/>
                                      </p:to>
                                    </p:set>
                                    <p:anim calcmode="lin" valueType="num">
                                      <p:cBhvr additive="base">
                                        <p:cTn id="83" dur="500"/>
                                        <p:tgtEl>
                                          <p:spTgt spid="53"/>
                                        </p:tgtEl>
                                        <p:attrNameLst>
                                          <p:attrName>ppt_y</p:attrName>
                                        </p:attrNameLst>
                                      </p:cBhvr>
                                      <p:tavLst>
                                        <p:tav tm="0">
                                          <p:val>
                                            <p:strVal val="#ppt_y+#ppt_h*1.125000"/>
                                          </p:val>
                                        </p:tav>
                                        <p:tav tm="100000">
                                          <p:val>
                                            <p:strVal val="#ppt_y"/>
                                          </p:val>
                                        </p:tav>
                                      </p:tavLst>
                                    </p:anim>
                                    <p:animEffect transition="in" filter="wipe(up)">
                                      <p:cBhvr>
                                        <p:cTn id="84" dur="500"/>
                                        <p:tgtEl>
                                          <p:spTgt spid="53"/>
                                        </p:tgtEl>
                                      </p:cBhvr>
                                    </p:animEffect>
                                  </p:childTnLst>
                                </p:cTn>
                              </p:par>
                              <p:par>
                                <p:cTn id="85" presetID="12" presetClass="entr" presetSubtype="4" fill="hold" grpId="0" nodeType="withEffect">
                                  <p:stCondLst>
                                    <p:cond delay="0"/>
                                  </p:stCondLst>
                                  <p:childTnLst>
                                    <p:set>
                                      <p:cBhvr>
                                        <p:cTn id="86" dur="1" fill="hold">
                                          <p:stCondLst>
                                            <p:cond delay="0"/>
                                          </p:stCondLst>
                                        </p:cTn>
                                        <p:tgtEl>
                                          <p:spTgt spid="54"/>
                                        </p:tgtEl>
                                        <p:attrNameLst>
                                          <p:attrName>style.visibility</p:attrName>
                                        </p:attrNameLst>
                                      </p:cBhvr>
                                      <p:to>
                                        <p:strVal val="visible"/>
                                      </p:to>
                                    </p:set>
                                    <p:anim calcmode="lin" valueType="num">
                                      <p:cBhvr additive="base">
                                        <p:cTn id="87" dur="500"/>
                                        <p:tgtEl>
                                          <p:spTgt spid="54"/>
                                        </p:tgtEl>
                                        <p:attrNameLst>
                                          <p:attrName>ppt_y</p:attrName>
                                        </p:attrNameLst>
                                      </p:cBhvr>
                                      <p:tavLst>
                                        <p:tav tm="0">
                                          <p:val>
                                            <p:strVal val="#ppt_y+#ppt_h*1.125000"/>
                                          </p:val>
                                        </p:tav>
                                        <p:tav tm="100000">
                                          <p:val>
                                            <p:strVal val="#ppt_y"/>
                                          </p:val>
                                        </p:tav>
                                      </p:tavLst>
                                    </p:anim>
                                    <p:animEffect transition="in" filter="wipe(up)">
                                      <p:cBhvr>
                                        <p:cTn id="88" dur="500"/>
                                        <p:tgtEl>
                                          <p:spTgt spid="54"/>
                                        </p:tgtEl>
                                      </p:cBhvr>
                                    </p:animEffect>
                                  </p:childTnLst>
                                </p:cTn>
                              </p:par>
                              <p:par>
                                <p:cTn id="89" presetID="12" presetClass="entr" presetSubtype="4" fill="hold" grpId="0" nodeType="withEffect">
                                  <p:stCondLst>
                                    <p:cond delay="0"/>
                                  </p:stCondLst>
                                  <p:childTnLst>
                                    <p:set>
                                      <p:cBhvr>
                                        <p:cTn id="90" dur="1" fill="hold">
                                          <p:stCondLst>
                                            <p:cond delay="0"/>
                                          </p:stCondLst>
                                        </p:cTn>
                                        <p:tgtEl>
                                          <p:spTgt spid="55"/>
                                        </p:tgtEl>
                                        <p:attrNameLst>
                                          <p:attrName>style.visibility</p:attrName>
                                        </p:attrNameLst>
                                      </p:cBhvr>
                                      <p:to>
                                        <p:strVal val="visible"/>
                                      </p:to>
                                    </p:set>
                                    <p:anim calcmode="lin" valueType="num">
                                      <p:cBhvr additive="base">
                                        <p:cTn id="91" dur="500"/>
                                        <p:tgtEl>
                                          <p:spTgt spid="55"/>
                                        </p:tgtEl>
                                        <p:attrNameLst>
                                          <p:attrName>ppt_y</p:attrName>
                                        </p:attrNameLst>
                                      </p:cBhvr>
                                      <p:tavLst>
                                        <p:tav tm="0">
                                          <p:val>
                                            <p:strVal val="#ppt_y+#ppt_h*1.125000"/>
                                          </p:val>
                                        </p:tav>
                                        <p:tav tm="100000">
                                          <p:val>
                                            <p:strVal val="#ppt_y"/>
                                          </p:val>
                                        </p:tav>
                                      </p:tavLst>
                                    </p:anim>
                                    <p:animEffect transition="in" filter="wipe(up)">
                                      <p:cBhvr>
                                        <p:cTn id="92" dur="500"/>
                                        <p:tgtEl>
                                          <p:spTgt spid="55"/>
                                        </p:tgtEl>
                                      </p:cBhvr>
                                    </p:animEffect>
                                  </p:childTnLst>
                                </p:cTn>
                              </p:par>
                              <p:par>
                                <p:cTn id="93" presetID="12" presetClass="entr" presetSubtype="4"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anim calcmode="lin" valueType="num">
                                      <p:cBhvr additive="base">
                                        <p:cTn id="95" dur="500"/>
                                        <p:tgtEl>
                                          <p:spTgt spid="56"/>
                                        </p:tgtEl>
                                        <p:attrNameLst>
                                          <p:attrName>ppt_y</p:attrName>
                                        </p:attrNameLst>
                                      </p:cBhvr>
                                      <p:tavLst>
                                        <p:tav tm="0">
                                          <p:val>
                                            <p:strVal val="#ppt_y+#ppt_h*1.125000"/>
                                          </p:val>
                                        </p:tav>
                                        <p:tav tm="100000">
                                          <p:val>
                                            <p:strVal val="#ppt_y"/>
                                          </p:val>
                                        </p:tav>
                                      </p:tavLst>
                                    </p:anim>
                                    <p:animEffect transition="in" filter="wipe(up)">
                                      <p:cBhvr>
                                        <p:cTn id="96" dur="500"/>
                                        <p:tgtEl>
                                          <p:spTgt spid="56"/>
                                        </p:tgtEl>
                                      </p:cBhvr>
                                    </p:animEffect>
                                  </p:childTnLst>
                                </p:cTn>
                              </p:par>
                              <p:par>
                                <p:cTn id="97" presetID="12" presetClass="entr" presetSubtype="4" fill="hold" grpId="0" nodeType="withEffect">
                                  <p:stCondLst>
                                    <p:cond delay="0"/>
                                  </p:stCondLst>
                                  <p:childTnLst>
                                    <p:set>
                                      <p:cBhvr>
                                        <p:cTn id="98" dur="1" fill="hold">
                                          <p:stCondLst>
                                            <p:cond delay="0"/>
                                          </p:stCondLst>
                                        </p:cTn>
                                        <p:tgtEl>
                                          <p:spTgt spid="57"/>
                                        </p:tgtEl>
                                        <p:attrNameLst>
                                          <p:attrName>style.visibility</p:attrName>
                                        </p:attrNameLst>
                                      </p:cBhvr>
                                      <p:to>
                                        <p:strVal val="visible"/>
                                      </p:to>
                                    </p:set>
                                    <p:anim calcmode="lin" valueType="num">
                                      <p:cBhvr additive="base">
                                        <p:cTn id="99" dur="500"/>
                                        <p:tgtEl>
                                          <p:spTgt spid="57"/>
                                        </p:tgtEl>
                                        <p:attrNameLst>
                                          <p:attrName>ppt_y</p:attrName>
                                        </p:attrNameLst>
                                      </p:cBhvr>
                                      <p:tavLst>
                                        <p:tav tm="0">
                                          <p:val>
                                            <p:strVal val="#ppt_y+#ppt_h*1.125000"/>
                                          </p:val>
                                        </p:tav>
                                        <p:tav tm="100000">
                                          <p:val>
                                            <p:strVal val="#ppt_y"/>
                                          </p:val>
                                        </p:tav>
                                      </p:tavLst>
                                    </p:anim>
                                    <p:animEffect transition="in" filter="wipe(up)">
                                      <p:cBhvr>
                                        <p:cTn id="100" dur="500"/>
                                        <p:tgtEl>
                                          <p:spTgt spid="57"/>
                                        </p:tgtEl>
                                      </p:cBhvr>
                                    </p:animEffect>
                                  </p:childTnLst>
                                </p:cTn>
                              </p:par>
                              <p:par>
                                <p:cTn id="101" presetID="12" presetClass="entr" presetSubtype="4" fill="hold" grpId="0" nodeType="withEffect">
                                  <p:stCondLst>
                                    <p:cond delay="0"/>
                                  </p:stCondLst>
                                  <p:childTnLst>
                                    <p:set>
                                      <p:cBhvr>
                                        <p:cTn id="102" dur="1" fill="hold">
                                          <p:stCondLst>
                                            <p:cond delay="0"/>
                                          </p:stCondLst>
                                        </p:cTn>
                                        <p:tgtEl>
                                          <p:spTgt spid="58"/>
                                        </p:tgtEl>
                                        <p:attrNameLst>
                                          <p:attrName>style.visibility</p:attrName>
                                        </p:attrNameLst>
                                      </p:cBhvr>
                                      <p:to>
                                        <p:strVal val="visible"/>
                                      </p:to>
                                    </p:set>
                                    <p:anim calcmode="lin" valueType="num">
                                      <p:cBhvr additive="base">
                                        <p:cTn id="103" dur="500"/>
                                        <p:tgtEl>
                                          <p:spTgt spid="58"/>
                                        </p:tgtEl>
                                        <p:attrNameLst>
                                          <p:attrName>ppt_y</p:attrName>
                                        </p:attrNameLst>
                                      </p:cBhvr>
                                      <p:tavLst>
                                        <p:tav tm="0">
                                          <p:val>
                                            <p:strVal val="#ppt_y+#ppt_h*1.125000"/>
                                          </p:val>
                                        </p:tav>
                                        <p:tav tm="100000">
                                          <p:val>
                                            <p:strVal val="#ppt_y"/>
                                          </p:val>
                                        </p:tav>
                                      </p:tavLst>
                                    </p:anim>
                                    <p:animEffect transition="in" filter="wipe(up)">
                                      <p:cBhvr>
                                        <p:cTn id="104" dur="500"/>
                                        <p:tgtEl>
                                          <p:spTgt spid="58"/>
                                        </p:tgtEl>
                                      </p:cBhvr>
                                    </p:animEffect>
                                  </p:childTnLst>
                                </p:cTn>
                              </p:par>
                              <p:par>
                                <p:cTn id="105" presetID="12" presetClass="entr" presetSubtype="4" fill="hold" nodeType="withEffect">
                                  <p:stCondLst>
                                    <p:cond delay="0"/>
                                  </p:stCondLst>
                                  <p:childTnLst>
                                    <p:set>
                                      <p:cBhvr>
                                        <p:cTn id="106" dur="1" fill="hold">
                                          <p:stCondLst>
                                            <p:cond delay="0"/>
                                          </p:stCondLst>
                                        </p:cTn>
                                        <p:tgtEl>
                                          <p:spTgt spid="59"/>
                                        </p:tgtEl>
                                        <p:attrNameLst>
                                          <p:attrName>style.visibility</p:attrName>
                                        </p:attrNameLst>
                                      </p:cBhvr>
                                      <p:to>
                                        <p:strVal val="visible"/>
                                      </p:to>
                                    </p:set>
                                    <p:anim calcmode="lin" valueType="num">
                                      <p:cBhvr additive="base">
                                        <p:cTn id="107" dur="500"/>
                                        <p:tgtEl>
                                          <p:spTgt spid="59"/>
                                        </p:tgtEl>
                                        <p:attrNameLst>
                                          <p:attrName>ppt_y</p:attrName>
                                        </p:attrNameLst>
                                      </p:cBhvr>
                                      <p:tavLst>
                                        <p:tav tm="0">
                                          <p:val>
                                            <p:strVal val="#ppt_y+#ppt_h*1.125000"/>
                                          </p:val>
                                        </p:tav>
                                        <p:tav tm="100000">
                                          <p:val>
                                            <p:strVal val="#ppt_y"/>
                                          </p:val>
                                        </p:tav>
                                      </p:tavLst>
                                    </p:anim>
                                    <p:animEffect transition="in" filter="wipe(up)">
                                      <p:cBhvr>
                                        <p:cTn id="108" dur="500"/>
                                        <p:tgtEl>
                                          <p:spTgt spid="59"/>
                                        </p:tgtEl>
                                      </p:cBhvr>
                                    </p:animEffect>
                                  </p:childTnLst>
                                </p:cTn>
                              </p:par>
                              <p:par>
                                <p:cTn id="109" presetID="12" presetClass="entr" presetSubtype="4"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 calcmode="lin" valueType="num">
                                      <p:cBhvr additive="base">
                                        <p:cTn id="111" dur="500"/>
                                        <p:tgtEl>
                                          <p:spTgt spid="60"/>
                                        </p:tgtEl>
                                        <p:attrNameLst>
                                          <p:attrName>ppt_y</p:attrName>
                                        </p:attrNameLst>
                                      </p:cBhvr>
                                      <p:tavLst>
                                        <p:tav tm="0">
                                          <p:val>
                                            <p:strVal val="#ppt_y+#ppt_h*1.125000"/>
                                          </p:val>
                                        </p:tav>
                                        <p:tav tm="100000">
                                          <p:val>
                                            <p:strVal val="#ppt_y"/>
                                          </p:val>
                                        </p:tav>
                                      </p:tavLst>
                                    </p:anim>
                                    <p:animEffect transition="in" filter="wipe(up)">
                                      <p:cBhvr>
                                        <p:cTn id="112" dur="500"/>
                                        <p:tgtEl>
                                          <p:spTgt spid="60"/>
                                        </p:tgtEl>
                                      </p:cBhvr>
                                    </p:animEffect>
                                  </p:childTnLst>
                                </p:cTn>
                              </p:par>
                              <p:par>
                                <p:cTn id="113" presetID="12" presetClass="entr" presetSubtype="4" fill="hold" nodeType="withEffect">
                                  <p:stCondLst>
                                    <p:cond delay="0"/>
                                  </p:stCondLst>
                                  <p:childTnLst>
                                    <p:set>
                                      <p:cBhvr>
                                        <p:cTn id="114" dur="1" fill="hold">
                                          <p:stCondLst>
                                            <p:cond delay="0"/>
                                          </p:stCondLst>
                                        </p:cTn>
                                        <p:tgtEl>
                                          <p:spTgt spid="61"/>
                                        </p:tgtEl>
                                        <p:attrNameLst>
                                          <p:attrName>style.visibility</p:attrName>
                                        </p:attrNameLst>
                                      </p:cBhvr>
                                      <p:to>
                                        <p:strVal val="visible"/>
                                      </p:to>
                                    </p:set>
                                    <p:anim calcmode="lin" valueType="num">
                                      <p:cBhvr additive="base">
                                        <p:cTn id="115" dur="500"/>
                                        <p:tgtEl>
                                          <p:spTgt spid="61"/>
                                        </p:tgtEl>
                                        <p:attrNameLst>
                                          <p:attrName>ppt_y</p:attrName>
                                        </p:attrNameLst>
                                      </p:cBhvr>
                                      <p:tavLst>
                                        <p:tav tm="0">
                                          <p:val>
                                            <p:strVal val="#ppt_y+#ppt_h*1.125000"/>
                                          </p:val>
                                        </p:tav>
                                        <p:tav tm="100000">
                                          <p:val>
                                            <p:strVal val="#ppt_y"/>
                                          </p:val>
                                        </p:tav>
                                      </p:tavLst>
                                    </p:anim>
                                    <p:animEffect transition="in" filter="wipe(up)">
                                      <p:cBhvr>
                                        <p:cTn id="116" dur="500"/>
                                        <p:tgtEl>
                                          <p:spTgt spid="61"/>
                                        </p:tgtEl>
                                      </p:cBhvr>
                                    </p:animEffect>
                                  </p:childTnLst>
                                </p:cTn>
                              </p:par>
                              <p:par>
                                <p:cTn id="117" presetID="12" presetClass="entr" presetSubtype="4" fill="hold" grpId="0" nodeType="withEffect">
                                  <p:stCondLst>
                                    <p:cond delay="0"/>
                                  </p:stCondLst>
                                  <p:childTnLst>
                                    <p:set>
                                      <p:cBhvr>
                                        <p:cTn id="118" dur="1" fill="hold">
                                          <p:stCondLst>
                                            <p:cond delay="0"/>
                                          </p:stCondLst>
                                        </p:cTn>
                                        <p:tgtEl>
                                          <p:spTgt spid="13"/>
                                        </p:tgtEl>
                                        <p:attrNameLst>
                                          <p:attrName>style.visibility</p:attrName>
                                        </p:attrNameLst>
                                      </p:cBhvr>
                                      <p:to>
                                        <p:strVal val="visible"/>
                                      </p:to>
                                    </p:set>
                                    <p:anim calcmode="lin" valueType="num">
                                      <p:cBhvr additive="base">
                                        <p:cTn id="119" dur="500"/>
                                        <p:tgtEl>
                                          <p:spTgt spid="13"/>
                                        </p:tgtEl>
                                        <p:attrNameLst>
                                          <p:attrName>ppt_y</p:attrName>
                                        </p:attrNameLst>
                                      </p:cBhvr>
                                      <p:tavLst>
                                        <p:tav tm="0">
                                          <p:val>
                                            <p:strVal val="#ppt_y+#ppt_h*1.125000"/>
                                          </p:val>
                                        </p:tav>
                                        <p:tav tm="100000">
                                          <p:val>
                                            <p:strVal val="#ppt_y"/>
                                          </p:val>
                                        </p:tav>
                                      </p:tavLst>
                                    </p:anim>
                                    <p:animEffect transition="in" filter="wipe(up)">
                                      <p:cBhvr>
                                        <p:cTn id="1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bldLvl="0" animBg="1"/>
      <p:bldP spid="3" grpId="0"/>
      <p:bldP spid="9" grpId="0" bldLvl="0" animBg="1"/>
      <p:bldP spid="12" grpId="0"/>
      <p:bldP spid="17" grpId="0" animBg="1"/>
      <p:bldP spid="19" grpId="0"/>
      <p:bldP spid="31" grpId="0" animBg="1"/>
      <p:bldP spid="46" grpId="0"/>
      <p:bldP spid="2" grpId="1" animBg="1"/>
      <p:bldP spid="5" grpId="1"/>
      <p:bldP spid="6" grpId="1" animBg="1"/>
      <p:bldP spid="3" grpId="1"/>
      <p:bldP spid="9" grpId="1" animBg="1"/>
      <p:bldP spid="12" grpId="1"/>
      <p:bldP spid="17" grpId="1" animBg="1"/>
      <p:bldP spid="19" grpId="1"/>
      <p:bldP spid="31" grpId="1" animBg="1"/>
      <p:bldP spid="46" grpId="1"/>
      <p:bldP spid="47" grpId="0" animBg="1"/>
      <p:bldP spid="48" grpId="0"/>
      <p:bldP spid="49" grpId="0" animBg="1"/>
      <p:bldP spid="51" grpId="0"/>
      <p:bldP spid="52" grpId="0" animBg="1"/>
      <p:bldP spid="54" grpId="0"/>
      <p:bldP spid="55" grpId="0" animBg="1"/>
      <p:bldP spid="57" grpId="0"/>
      <p:bldP spid="58" grpId="0" animBg="1"/>
      <p:bldP spid="60" grpId="0"/>
      <p:bldP spid="47" grpId="1" animBg="1"/>
      <p:bldP spid="48" grpId="1"/>
      <p:bldP spid="49" grpId="1" animBg="1"/>
      <p:bldP spid="51" grpId="1"/>
      <p:bldP spid="52" grpId="1" animBg="1"/>
      <p:bldP spid="54" grpId="1"/>
      <p:bldP spid="55" grpId="1" animBg="1"/>
      <p:bldP spid="57" grpId="1"/>
      <p:bldP spid="58" grpId="1" animBg="1"/>
      <p:bldP spid="60" grpId="1"/>
      <p:bldP spid="13" grpId="0"/>
      <p:bldP spid="13"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矩形 8"/>
          <p:cNvSpPr/>
          <p:nvPr>
            <p:custDataLst>
              <p:tags r:id="rId1"/>
            </p:custDataLst>
          </p:nvPr>
        </p:nvSpPr>
        <p:spPr>
          <a:xfrm>
            <a:off x="800012" y="257801"/>
            <a:ext cx="6849190" cy="430530"/>
          </a:xfrm>
          <a:prstGeom prst="rect">
            <a:avLst/>
          </a:prstGeom>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
                <a:srgbClr val="E36C09"/>
              </a:buClr>
              <a:buSzTx/>
              <a:buFontTx/>
              <a:buNone/>
              <a:defRPr/>
            </a:pPr>
            <a:r>
              <a:rPr lang="zh-CN"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rPr>
              <a:t>预期成果与计划</a:t>
            </a:r>
            <a:endParaRPr lang="zh-CN" sz="2800" b="1" dirty="0">
              <a:gradFill>
                <a:gsLst>
                  <a:gs pos="100000">
                    <a:srgbClr val="187D82"/>
                  </a:gs>
                  <a:gs pos="0">
                    <a:srgbClr val="1D9BA1"/>
                  </a:gs>
                </a:gsLst>
                <a:lin ang="5400000" scaled="1"/>
              </a:gradFill>
              <a:latin typeface="微软雅黑" panose="020B0503020204020204" pitchFamily="34" charset="-122"/>
              <a:ea typeface="微软雅黑" panose="020B0503020204020204" pitchFamily="34" charset="-122"/>
              <a:sym typeface="+mn-ea"/>
            </a:endParaRPr>
          </a:p>
        </p:txBody>
      </p:sp>
      <p:sp>
        <p:nvSpPr>
          <p:cNvPr id="4" name="AutoShape 4"/>
          <p:cNvSpPr/>
          <p:nvPr>
            <p:custDataLst>
              <p:tags r:id="rId2"/>
            </p:custDataLst>
          </p:nvPr>
        </p:nvSpPr>
        <p:spPr>
          <a:xfrm>
            <a:off x="508000" y="2912110"/>
            <a:ext cx="2082800" cy="3336290"/>
          </a:xfrm>
          <a:prstGeom prst="roundRect">
            <a:avLst>
              <a:gd name="adj" fmla="val 731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10" name="AutoShape 5"/>
          <p:cNvSpPr/>
          <p:nvPr>
            <p:custDataLst>
              <p:tags r:id="rId3"/>
            </p:custDataLst>
          </p:nvPr>
        </p:nvSpPr>
        <p:spPr>
          <a:xfrm>
            <a:off x="508000" y="2803525"/>
            <a:ext cx="2082800" cy="753110"/>
          </a:xfrm>
          <a:prstGeom prst="roundRect">
            <a:avLst>
              <a:gd name="adj" fmla="val 13333"/>
            </a:avLst>
          </a:prstGeom>
          <a:solidFill>
            <a:srgbClr val="00706B"/>
          </a:solidFill>
          <a:ln w="25400" cap="flat" cmpd="sng">
            <a:noFill/>
            <a:prstDash val="solid"/>
            <a:round/>
          </a:ln>
        </p:spPr>
        <p:txBody>
          <a:bodyPr vert="horz" wrap="square" lIns="63500" tIns="63500" rIns="63500" bIns="63500" rtlCol="0" anchor="ctr"/>
          <a:p>
            <a:pPr algn="ctr">
              <a:defRPr/>
            </a:pPr>
          </a:p>
        </p:txBody>
      </p:sp>
      <p:sp>
        <p:nvSpPr>
          <p:cNvPr id="13" name="AutoShape 6"/>
          <p:cNvSpPr/>
          <p:nvPr>
            <p:custDataLst>
              <p:tags r:id="rId4"/>
            </p:custDataLst>
          </p:nvPr>
        </p:nvSpPr>
        <p:spPr>
          <a:xfrm>
            <a:off x="508000" y="280225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14" name="AutoShape 7"/>
          <p:cNvSpPr/>
          <p:nvPr>
            <p:custDataLst>
              <p:tags r:id="rId5"/>
            </p:custDataLst>
          </p:nvPr>
        </p:nvSpPr>
        <p:spPr>
          <a:xfrm>
            <a:off x="635000" y="4112895"/>
            <a:ext cx="1828800" cy="2286000"/>
          </a:xfrm>
          <a:prstGeom prst="rect">
            <a:avLst/>
          </a:prstGeom>
          <a:noFill/>
          <a:ln w="12700" cap="flat" cmpd="sng">
            <a:noFill/>
            <a:prstDash val="solid"/>
            <a:round/>
          </a:ln>
        </p:spPr>
        <p:txBody>
          <a:bodyPr vert="horz" wrap="square" lIns="0" tIns="0" rIns="0" bIns="0" rtlCol="0" anchor="ctr" anchorCtr="0"/>
          <a:p>
            <a:pPr marL="0" indent="0" algn="ctr">
              <a:lnSpc>
                <a:spcPct val="100000"/>
              </a:lnSpc>
              <a:spcAft>
                <a:spcPts val="1200"/>
              </a:spcAft>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第一阶段
2026.06 - 2026.07
收集梳理国家及省内分布式光伏、绿电直连、零碳园区等政策文件，开展政策演进脉络</a:t>
            </a:r>
            <a:r>
              <a:rPr lang="zh-CN" alt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与全链条解析</a:t>
            </a: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marL="0" indent="0" algn="ctr">
              <a:lnSpc>
                <a:spcPct val="100000"/>
              </a:lnSpc>
              <a:spcAft>
                <a:spcPts val="1600"/>
              </a:spcAft>
            </a:pP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8"/>
          <p:cNvSpPr/>
          <p:nvPr>
            <p:custDataLst>
              <p:tags r:id="rId6"/>
            </p:custDataLst>
          </p:nvPr>
        </p:nvSpPr>
        <p:spPr>
          <a:xfrm>
            <a:off x="2794000" y="2912110"/>
            <a:ext cx="2082800" cy="3336290"/>
          </a:xfrm>
          <a:prstGeom prst="roundRect">
            <a:avLst>
              <a:gd name="adj" fmla="val 731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16" name="AutoShape 9"/>
          <p:cNvSpPr/>
          <p:nvPr>
            <p:custDataLst>
              <p:tags r:id="rId7"/>
            </p:custDataLst>
          </p:nvPr>
        </p:nvSpPr>
        <p:spPr>
          <a:xfrm>
            <a:off x="2794000" y="2803525"/>
            <a:ext cx="2082800" cy="753110"/>
          </a:xfrm>
          <a:prstGeom prst="roundRect">
            <a:avLst>
              <a:gd name="adj" fmla="val 13333"/>
            </a:avLst>
          </a:prstGeom>
          <a:solidFill>
            <a:srgbClr val="00706B"/>
          </a:solidFill>
          <a:ln w="25400" cap="flat" cmpd="sng">
            <a:noFill/>
            <a:prstDash val="solid"/>
            <a:round/>
          </a:ln>
        </p:spPr>
        <p:txBody>
          <a:bodyPr vert="horz" wrap="square" lIns="63500" tIns="63500" rIns="63500" bIns="63500" rtlCol="0" anchor="ctr">
            <a:noAutofit/>
          </a:bodyPr>
          <a:p>
            <a:pPr lvl="0" algn="ctr">
              <a:buClrTx/>
              <a:buSzTx/>
              <a:buFontTx/>
              <a:defRPr/>
            </a:pPr>
            <a:endParaRPr>
              <a:sym typeface="+mn-ea"/>
            </a:endParaRPr>
          </a:p>
        </p:txBody>
      </p:sp>
      <p:sp>
        <p:nvSpPr>
          <p:cNvPr id="20" name="AutoShape 10"/>
          <p:cNvSpPr/>
          <p:nvPr>
            <p:custDataLst>
              <p:tags r:id="rId8"/>
            </p:custDataLst>
          </p:nvPr>
        </p:nvSpPr>
        <p:spPr>
          <a:xfrm>
            <a:off x="2794000" y="278701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21" name="AutoShape 11"/>
          <p:cNvSpPr/>
          <p:nvPr>
            <p:custDataLst>
              <p:tags r:id="rId9"/>
            </p:custDataLst>
          </p:nvPr>
        </p:nvSpPr>
        <p:spPr>
          <a:xfrm>
            <a:off x="2921000" y="4241800"/>
            <a:ext cx="1828800" cy="2286000"/>
          </a:xfrm>
          <a:prstGeom prst="rect">
            <a:avLst/>
          </a:prstGeom>
          <a:noFill/>
          <a:ln w="12700" cap="flat" cmpd="sng">
            <a:noFill/>
            <a:prstDash val="solid"/>
            <a:round/>
          </a:ln>
        </p:spPr>
        <p:txBody>
          <a:bodyPr vert="horz" wrap="square" lIns="0" tIns="0" rIns="0" bIns="0" rtlCol="0" anchor="ctr" anchorCtr="0"/>
          <a:p>
            <a:pPr marL="0" indent="0" algn="ctr">
              <a:lnSpc>
                <a:spcPct val="100000"/>
              </a:lnSpc>
              <a:spcAft>
                <a:spcPts val="1200"/>
              </a:spcAft>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第二阶段
2026.07 - 2026.08
收集分布式光伏并网、绿电交易等运行数据，开展多维</a:t>
            </a:r>
            <a:r>
              <a:rPr lang="zh-CN" alt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度</a:t>
            </a: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统计分析，识别核心驱动与制约因素。</a:t>
            </a:r>
            <a:endParaRPr lang="en-US" sz="1100"/>
          </a:p>
          <a:p>
            <a:pPr marL="0" indent="0" algn="ctr">
              <a:lnSpc>
                <a:spcPct val="100000"/>
              </a:lnSpc>
              <a:spcAft>
                <a:spcPts val="1600"/>
              </a:spcAft>
            </a:pP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12"/>
          <p:cNvSpPr/>
          <p:nvPr>
            <p:custDataLst>
              <p:tags r:id="rId10"/>
            </p:custDataLst>
          </p:nvPr>
        </p:nvSpPr>
        <p:spPr>
          <a:xfrm>
            <a:off x="5080000" y="2912110"/>
            <a:ext cx="2082800" cy="3336290"/>
          </a:xfrm>
          <a:prstGeom prst="roundRect">
            <a:avLst>
              <a:gd name="adj" fmla="val 731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23" name="AutoShape 13"/>
          <p:cNvSpPr/>
          <p:nvPr>
            <p:custDataLst>
              <p:tags r:id="rId11"/>
            </p:custDataLst>
          </p:nvPr>
        </p:nvSpPr>
        <p:spPr>
          <a:xfrm>
            <a:off x="5080000" y="2803525"/>
            <a:ext cx="2082800" cy="753110"/>
          </a:xfrm>
          <a:prstGeom prst="roundRect">
            <a:avLst>
              <a:gd name="adj" fmla="val 13333"/>
            </a:avLst>
          </a:prstGeom>
          <a:solidFill>
            <a:srgbClr val="00706B"/>
          </a:solidFill>
          <a:ln w="25400" cap="flat" cmpd="sng">
            <a:noFill/>
            <a:prstDash val="solid"/>
            <a:round/>
          </a:ln>
        </p:spPr>
        <p:txBody>
          <a:bodyPr vert="horz" wrap="square" lIns="63500" tIns="63500" rIns="63500" bIns="63500" rtlCol="0" anchor="ctr">
            <a:noAutofit/>
          </a:bodyPr>
          <a:p>
            <a:pPr lvl="0" algn="ctr">
              <a:buClrTx/>
              <a:buSzTx/>
              <a:buFontTx/>
              <a:defRPr/>
            </a:pPr>
            <a:endParaRPr>
              <a:sym typeface="+mn-ea"/>
            </a:endParaRPr>
          </a:p>
        </p:txBody>
      </p:sp>
      <p:sp>
        <p:nvSpPr>
          <p:cNvPr id="24" name="AutoShape 14"/>
          <p:cNvSpPr/>
          <p:nvPr>
            <p:custDataLst>
              <p:tags r:id="rId12"/>
            </p:custDataLst>
          </p:nvPr>
        </p:nvSpPr>
        <p:spPr>
          <a:xfrm>
            <a:off x="5080000" y="277939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25" name="AutoShape 15"/>
          <p:cNvSpPr/>
          <p:nvPr>
            <p:custDataLst>
              <p:tags r:id="rId13"/>
            </p:custDataLst>
          </p:nvPr>
        </p:nvSpPr>
        <p:spPr>
          <a:xfrm>
            <a:off x="5207000" y="4112895"/>
            <a:ext cx="1828800" cy="2286000"/>
          </a:xfrm>
          <a:prstGeom prst="rect">
            <a:avLst/>
          </a:prstGeom>
          <a:noFill/>
          <a:ln w="12700" cap="flat" cmpd="sng">
            <a:noFill/>
            <a:prstDash val="solid"/>
            <a:round/>
          </a:ln>
        </p:spPr>
        <p:txBody>
          <a:bodyPr vert="horz" wrap="square" lIns="0" tIns="0" rIns="0" bIns="0" rtlCol="0" anchor="ctr" anchorCtr="0"/>
          <a:p>
            <a:pPr marL="0" indent="0" algn="ctr">
              <a:lnSpc>
                <a:spcPct val="100000"/>
              </a:lnSpc>
              <a:spcAft>
                <a:spcPts val="1200"/>
              </a:spcAft>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第三阶段
2026.08 - 2026.10
选取典型项目开展效益测算与</a:t>
            </a:r>
            <a:r>
              <a:rPr lang="zh-CN" alt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a:t>
            </a:r>
            <a:r>
              <a:rPr lang="en-US" altLang="zh-CN"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收益</a:t>
            </a: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分析，研判</a:t>
            </a:r>
            <a:r>
              <a:rPr lang="zh-CN" alt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a:t>
            </a: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电力市场长期影响。</a:t>
            </a:r>
            <a:endParaRPr lang="en-US" sz="1100"/>
          </a:p>
          <a:p>
            <a:pPr marL="0" indent="0" algn="ctr">
              <a:lnSpc>
                <a:spcPct val="100000"/>
              </a:lnSpc>
              <a:spcAft>
                <a:spcPts val="1600"/>
              </a:spcAft>
            </a:pP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16"/>
          <p:cNvSpPr/>
          <p:nvPr>
            <p:custDataLst>
              <p:tags r:id="rId14"/>
            </p:custDataLst>
          </p:nvPr>
        </p:nvSpPr>
        <p:spPr>
          <a:xfrm>
            <a:off x="7366000" y="2912110"/>
            <a:ext cx="2082800" cy="3336290"/>
          </a:xfrm>
          <a:prstGeom prst="roundRect">
            <a:avLst>
              <a:gd name="adj" fmla="val 731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27" name="AutoShape 17"/>
          <p:cNvSpPr/>
          <p:nvPr>
            <p:custDataLst>
              <p:tags r:id="rId15"/>
            </p:custDataLst>
          </p:nvPr>
        </p:nvSpPr>
        <p:spPr>
          <a:xfrm>
            <a:off x="7366000" y="2803525"/>
            <a:ext cx="2082800" cy="753110"/>
          </a:xfrm>
          <a:prstGeom prst="roundRect">
            <a:avLst>
              <a:gd name="adj" fmla="val 13333"/>
            </a:avLst>
          </a:prstGeom>
          <a:solidFill>
            <a:srgbClr val="00706B"/>
          </a:solidFill>
          <a:ln w="25400" cap="flat" cmpd="sng">
            <a:noFill/>
            <a:prstDash val="solid"/>
            <a:round/>
          </a:ln>
        </p:spPr>
        <p:txBody>
          <a:bodyPr vert="horz" wrap="square" lIns="63500" tIns="63500" rIns="63500" bIns="63500" rtlCol="0" anchor="ctr">
            <a:noAutofit/>
          </a:bodyPr>
          <a:p>
            <a:pPr lvl="0" algn="ctr">
              <a:buClrTx/>
              <a:buSzTx/>
              <a:buFontTx/>
              <a:defRPr/>
            </a:pPr>
            <a:endParaRPr>
              <a:sym typeface="+mn-ea"/>
            </a:endParaRPr>
          </a:p>
        </p:txBody>
      </p:sp>
      <p:sp>
        <p:nvSpPr>
          <p:cNvPr id="28" name="AutoShape 18"/>
          <p:cNvSpPr/>
          <p:nvPr>
            <p:custDataLst>
              <p:tags r:id="rId16"/>
            </p:custDataLst>
          </p:nvPr>
        </p:nvSpPr>
        <p:spPr>
          <a:xfrm>
            <a:off x="7366000" y="276415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9" name="AutoShape 19"/>
          <p:cNvSpPr/>
          <p:nvPr>
            <p:custDataLst>
              <p:tags r:id="rId17"/>
            </p:custDataLst>
          </p:nvPr>
        </p:nvSpPr>
        <p:spPr>
          <a:xfrm>
            <a:off x="7493000" y="4241800"/>
            <a:ext cx="1828800" cy="2286000"/>
          </a:xfrm>
          <a:prstGeom prst="rect">
            <a:avLst/>
          </a:prstGeom>
          <a:noFill/>
          <a:ln w="12700" cap="flat" cmpd="sng">
            <a:noFill/>
            <a:prstDash val="solid"/>
            <a:round/>
          </a:ln>
        </p:spPr>
        <p:txBody>
          <a:bodyPr vert="horz" wrap="square" lIns="0" tIns="0" rIns="0" bIns="0" rtlCol="0" anchor="ctr" anchorCtr="0"/>
          <a:p>
            <a:pPr marL="0" indent="0" algn="ctr">
              <a:lnSpc>
                <a:spcPct val="100000"/>
              </a:lnSpc>
              <a:spcAft>
                <a:spcPts val="1200"/>
              </a:spcAft>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第四阶段
2026.10 - 2026.11
综合各阶段结论提炼发展建议，撰写研究报告初稿，征求相关部门和专家意见。</a:t>
            </a:r>
            <a:endParaRPr lang="en-US" sz="1100"/>
          </a:p>
          <a:p>
            <a:pPr marL="0" indent="0" algn="ctr">
              <a:lnSpc>
                <a:spcPct val="100000"/>
              </a:lnSpc>
              <a:spcAft>
                <a:spcPts val="1600"/>
              </a:spcAft>
            </a:pP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20"/>
          <p:cNvSpPr/>
          <p:nvPr>
            <p:custDataLst>
              <p:tags r:id="rId18"/>
            </p:custDataLst>
          </p:nvPr>
        </p:nvSpPr>
        <p:spPr>
          <a:xfrm>
            <a:off x="9652000" y="2912110"/>
            <a:ext cx="2082800" cy="3336290"/>
          </a:xfrm>
          <a:prstGeom prst="roundRect">
            <a:avLst>
              <a:gd name="adj" fmla="val 731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32" name="AutoShape 21"/>
          <p:cNvSpPr/>
          <p:nvPr>
            <p:custDataLst>
              <p:tags r:id="rId19"/>
            </p:custDataLst>
          </p:nvPr>
        </p:nvSpPr>
        <p:spPr>
          <a:xfrm>
            <a:off x="9652000" y="2803525"/>
            <a:ext cx="2082800" cy="753110"/>
          </a:xfrm>
          <a:prstGeom prst="roundRect">
            <a:avLst>
              <a:gd name="adj" fmla="val 13333"/>
            </a:avLst>
          </a:prstGeom>
          <a:solidFill>
            <a:srgbClr val="00706B"/>
          </a:solidFill>
          <a:ln w="25400" cap="flat" cmpd="sng">
            <a:noFill/>
            <a:prstDash val="solid"/>
            <a:round/>
          </a:ln>
        </p:spPr>
        <p:txBody>
          <a:bodyPr vert="horz" wrap="square" lIns="63500" tIns="63500" rIns="63500" bIns="63500" rtlCol="0" anchor="ctr">
            <a:noAutofit/>
          </a:bodyPr>
          <a:p>
            <a:pPr lvl="0" algn="ctr">
              <a:buClrTx/>
              <a:buSzTx/>
              <a:buFontTx/>
              <a:defRPr/>
            </a:pPr>
            <a:endParaRPr>
              <a:sym typeface="+mn-ea"/>
            </a:endParaRPr>
          </a:p>
        </p:txBody>
      </p:sp>
      <p:sp>
        <p:nvSpPr>
          <p:cNvPr id="33" name="AutoShape 22"/>
          <p:cNvSpPr/>
          <p:nvPr>
            <p:custDataLst>
              <p:tags r:id="rId20"/>
            </p:custDataLst>
          </p:nvPr>
        </p:nvSpPr>
        <p:spPr>
          <a:xfrm>
            <a:off x="9652000" y="276415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34" name="AutoShape 23"/>
          <p:cNvSpPr/>
          <p:nvPr>
            <p:custDataLst>
              <p:tags r:id="rId21"/>
            </p:custDataLst>
          </p:nvPr>
        </p:nvSpPr>
        <p:spPr>
          <a:xfrm>
            <a:off x="9779000" y="4112895"/>
            <a:ext cx="1828800" cy="2286000"/>
          </a:xfrm>
          <a:prstGeom prst="rect">
            <a:avLst/>
          </a:prstGeom>
          <a:noFill/>
          <a:ln w="12700" cap="flat" cmpd="sng">
            <a:noFill/>
            <a:prstDash val="solid"/>
            <a:round/>
          </a:ln>
        </p:spPr>
        <p:txBody>
          <a:bodyPr vert="horz" wrap="square" lIns="0" tIns="0" rIns="0" bIns="0" rtlCol="0" anchor="ctr" anchorCtr="0"/>
          <a:p>
            <a:pPr marL="0" indent="0" algn="ctr">
              <a:lnSpc>
                <a:spcPct val="100000"/>
              </a:lnSpc>
              <a:spcAft>
                <a:spcPts val="1200"/>
              </a:spcAft>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第五阶段
2026.11 - 2026.12
根据反馈修改完善报告与论文，整理归档资料，组织成果验收。</a:t>
            </a:r>
            <a:endParaRPr lang="en-US" sz="1100"/>
          </a:p>
          <a:p>
            <a:pPr marL="0" indent="0" algn="ctr">
              <a:lnSpc>
                <a:spcPct val="100000"/>
              </a:lnSpc>
              <a:spcAft>
                <a:spcPts val="1600"/>
              </a:spcAft>
            </a:pP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ctr">
              <a:lnSpc>
                <a:spcPct val="117000"/>
              </a:lnSpc>
              <a:buClrTx/>
              <a:buSzTx/>
              <a:buFontTx/>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5" name="AutoShape 6"/>
          <p:cNvSpPr/>
          <p:nvPr/>
        </p:nvSpPr>
        <p:spPr>
          <a:xfrm>
            <a:off x="508000" y="276415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en-US" sz="1100"/>
          </a:p>
        </p:txBody>
      </p:sp>
      <p:sp>
        <p:nvSpPr>
          <p:cNvPr id="36" name="AutoShape 10"/>
          <p:cNvSpPr/>
          <p:nvPr/>
        </p:nvSpPr>
        <p:spPr>
          <a:xfrm>
            <a:off x="2794000" y="276415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en-US" sz="1100"/>
          </a:p>
        </p:txBody>
      </p:sp>
      <p:sp>
        <p:nvSpPr>
          <p:cNvPr id="37" name="AutoShape 14"/>
          <p:cNvSpPr/>
          <p:nvPr/>
        </p:nvSpPr>
        <p:spPr>
          <a:xfrm>
            <a:off x="5080000" y="276415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en-US" sz="1100"/>
          </a:p>
        </p:txBody>
      </p:sp>
      <p:sp>
        <p:nvSpPr>
          <p:cNvPr id="38" name="AutoShape 6"/>
          <p:cNvSpPr/>
          <p:nvPr/>
        </p:nvSpPr>
        <p:spPr>
          <a:xfrm>
            <a:off x="508000" y="2787015"/>
            <a:ext cx="2082800" cy="762000"/>
          </a:xfrm>
          <a:prstGeom prst="rect">
            <a:avLst/>
          </a:prstGeom>
          <a:noFill/>
          <a:ln w="12700" cap="flat" cmpd="sng">
            <a:noFill/>
            <a:prstDash val="solid"/>
            <a:round/>
          </a:ln>
        </p:spPr>
        <p:txBody>
          <a:bodyPr vert="horz" wrap="square" lIns="0" tIns="0" rIns="0" bIns="0" rtlCol="0" anchor="ctr" anchorCtr="0"/>
          <a:p>
            <a:pPr marL="0" indent="0" algn="ctr">
              <a:lnSpc>
                <a:spcPct val="125000"/>
              </a:lnSpc>
              <a:defRPr/>
            </a:pPr>
            <a:endParaRPr lang="en-US" sz="1100"/>
          </a:p>
        </p:txBody>
      </p:sp>
      <p:sp>
        <p:nvSpPr>
          <p:cNvPr id="44" name="AutoShape 4"/>
          <p:cNvSpPr/>
          <p:nvPr/>
        </p:nvSpPr>
        <p:spPr>
          <a:xfrm>
            <a:off x="800100" y="1016000"/>
            <a:ext cx="10807700" cy="1355725"/>
          </a:xfrm>
          <a:prstGeom prst="roundRect">
            <a:avLst>
              <a:gd name="adj" fmla="val 7058"/>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p>
            <a:pPr algn="ctr">
              <a:defRPr/>
            </a:pPr>
          </a:p>
        </p:txBody>
      </p:sp>
      <p:sp>
        <p:nvSpPr>
          <p:cNvPr id="62" name="AutoShape 5"/>
          <p:cNvSpPr/>
          <p:nvPr/>
        </p:nvSpPr>
        <p:spPr>
          <a:xfrm>
            <a:off x="800100" y="1016000"/>
            <a:ext cx="76200" cy="1355725"/>
          </a:xfrm>
          <a:prstGeom prst="roundRect">
            <a:avLst>
              <a:gd name="adj" fmla="val 0"/>
            </a:avLst>
          </a:prstGeom>
          <a:solidFill>
            <a:srgbClr val="00706B"/>
          </a:solidFill>
          <a:ln w="25400" cap="flat" cmpd="sng">
            <a:noFill/>
            <a:prstDash val="solid"/>
            <a:round/>
          </a:ln>
        </p:spPr>
        <p:txBody>
          <a:bodyPr vert="horz" wrap="square" lIns="63500" tIns="63500" rIns="63500" bIns="63500" rtlCol="0" anchor="ctr"/>
          <a:p>
            <a:pPr algn="ctr">
              <a:defRPr/>
            </a:pPr>
          </a:p>
        </p:txBody>
      </p:sp>
      <p:sp>
        <p:nvSpPr>
          <p:cNvPr id="64" name="AutoShape 7"/>
          <p:cNvSpPr/>
          <p:nvPr/>
        </p:nvSpPr>
        <p:spPr>
          <a:xfrm>
            <a:off x="1816100" y="1113155"/>
            <a:ext cx="8415655" cy="508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zh-CN" alt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2026年面向分布式光伏等要素对电力市场影响的电力经济统计分析咨询服务</a:t>
            </a:r>
            <a:r>
              <a:rPr lang="zh-CN" alt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》报告1份。</a:t>
            </a:r>
            <a:endParaRPr lang="zh-CN" alt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7" name="AutoShape 7"/>
          <p:cNvSpPr/>
          <p:nvPr/>
        </p:nvSpPr>
        <p:spPr>
          <a:xfrm>
            <a:off x="1827530" y="1669415"/>
            <a:ext cx="6679565" cy="50800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录用或发表期刊论文2篇。</a:t>
            </a:r>
            <a:endPar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8" name="图形 33"/>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67765" y="1748790"/>
            <a:ext cx="382905" cy="349885"/>
          </a:xfrm>
          <a:prstGeom prst="rect">
            <a:avLst/>
          </a:prstGeom>
        </p:spPr>
      </p:pic>
      <p:pic>
        <p:nvPicPr>
          <p:cNvPr id="69" name="图片 68" descr="图书"/>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122680" y="1172210"/>
            <a:ext cx="427990" cy="42799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ppt_x</p:attrName>
                                        </p:attrNameLst>
                                      </p:cBhvr>
                                      <p:tavLst>
                                        <p:tav tm="0">
                                          <p:val>
                                            <p:strVal val="#ppt_x-#ppt_w*1.125000"/>
                                          </p:val>
                                        </p:tav>
                                        <p:tav tm="100000">
                                          <p:val>
                                            <p:strVal val="#ppt_x"/>
                                          </p:val>
                                        </p:tav>
                                      </p:tavLst>
                                    </p:anim>
                                    <p:animEffect transition="in" filter="wipe(right)">
                                      <p:cBhvr>
                                        <p:cTn id="8" dur="500"/>
                                        <p:tgtEl>
                                          <p:spTgt spid="44"/>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anim calcmode="lin" valueType="num">
                                      <p:cBhvr additive="base">
                                        <p:cTn id="11" dur="500"/>
                                        <p:tgtEl>
                                          <p:spTgt spid="62"/>
                                        </p:tgtEl>
                                        <p:attrNameLst>
                                          <p:attrName>ppt_x</p:attrName>
                                        </p:attrNameLst>
                                      </p:cBhvr>
                                      <p:tavLst>
                                        <p:tav tm="0">
                                          <p:val>
                                            <p:strVal val="#ppt_x-#ppt_w*1.125000"/>
                                          </p:val>
                                        </p:tav>
                                        <p:tav tm="100000">
                                          <p:val>
                                            <p:strVal val="#ppt_x"/>
                                          </p:val>
                                        </p:tav>
                                      </p:tavLst>
                                    </p:anim>
                                    <p:animEffect transition="in" filter="wipe(right)">
                                      <p:cBhvr>
                                        <p:cTn id="12" dur="500"/>
                                        <p:tgtEl>
                                          <p:spTgt spid="62"/>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anim calcmode="lin" valueType="num">
                                      <p:cBhvr additive="base">
                                        <p:cTn id="15" dur="500"/>
                                        <p:tgtEl>
                                          <p:spTgt spid="64"/>
                                        </p:tgtEl>
                                        <p:attrNameLst>
                                          <p:attrName>ppt_x</p:attrName>
                                        </p:attrNameLst>
                                      </p:cBhvr>
                                      <p:tavLst>
                                        <p:tav tm="0">
                                          <p:val>
                                            <p:strVal val="#ppt_x-#ppt_w*1.125000"/>
                                          </p:val>
                                        </p:tav>
                                        <p:tav tm="100000">
                                          <p:val>
                                            <p:strVal val="#ppt_x"/>
                                          </p:val>
                                        </p:tav>
                                      </p:tavLst>
                                    </p:anim>
                                    <p:animEffect transition="in" filter="wipe(right)">
                                      <p:cBhvr>
                                        <p:cTn id="16" dur="500"/>
                                        <p:tgtEl>
                                          <p:spTgt spid="64"/>
                                        </p:tgtEl>
                                      </p:cBhvr>
                                    </p:animEffect>
                                  </p:childTnLst>
                                </p:cTn>
                              </p:par>
                              <p:par>
                                <p:cTn id="17" presetID="12" presetClass="entr" presetSubtype="8" fill="hold" grpId="0"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p:tgtEl>
                                          <p:spTgt spid="67"/>
                                        </p:tgtEl>
                                        <p:attrNameLst>
                                          <p:attrName>ppt_x</p:attrName>
                                        </p:attrNameLst>
                                      </p:cBhvr>
                                      <p:tavLst>
                                        <p:tav tm="0">
                                          <p:val>
                                            <p:strVal val="#ppt_x-#ppt_w*1.125000"/>
                                          </p:val>
                                        </p:tav>
                                        <p:tav tm="100000">
                                          <p:val>
                                            <p:strVal val="#ppt_x"/>
                                          </p:val>
                                        </p:tav>
                                      </p:tavLst>
                                    </p:anim>
                                    <p:animEffect transition="in" filter="wipe(right)">
                                      <p:cBhvr>
                                        <p:cTn id="20" dur="500"/>
                                        <p:tgtEl>
                                          <p:spTgt spid="67"/>
                                        </p:tgtEl>
                                      </p:cBhvr>
                                    </p:animEffect>
                                  </p:childTnLst>
                                </p:cTn>
                              </p:par>
                              <p:par>
                                <p:cTn id="21" presetID="12" presetClass="entr" presetSubtype="8"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anim calcmode="lin" valueType="num">
                                      <p:cBhvr additive="base">
                                        <p:cTn id="23" dur="500"/>
                                        <p:tgtEl>
                                          <p:spTgt spid="68"/>
                                        </p:tgtEl>
                                        <p:attrNameLst>
                                          <p:attrName>ppt_x</p:attrName>
                                        </p:attrNameLst>
                                      </p:cBhvr>
                                      <p:tavLst>
                                        <p:tav tm="0">
                                          <p:val>
                                            <p:strVal val="#ppt_x-#ppt_w*1.125000"/>
                                          </p:val>
                                        </p:tav>
                                        <p:tav tm="100000">
                                          <p:val>
                                            <p:strVal val="#ppt_x"/>
                                          </p:val>
                                        </p:tav>
                                      </p:tavLst>
                                    </p:anim>
                                    <p:animEffect transition="in" filter="wipe(right)">
                                      <p:cBhvr>
                                        <p:cTn id="24" dur="500"/>
                                        <p:tgtEl>
                                          <p:spTgt spid="68"/>
                                        </p:tgtEl>
                                      </p:cBhvr>
                                    </p:animEffect>
                                  </p:childTnLst>
                                </p:cTn>
                              </p:par>
                              <p:par>
                                <p:cTn id="25" presetID="12" presetClass="entr" presetSubtype="8"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anim calcmode="lin" valueType="num">
                                      <p:cBhvr additive="base">
                                        <p:cTn id="27" dur="500"/>
                                        <p:tgtEl>
                                          <p:spTgt spid="69"/>
                                        </p:tgtEl>
                                        <p:attrNameLst>
                                          <p:attrName>ppt_x</p:attrName>
                                        </p:attrNameLst>
                                      </p:cBhvr>
                                      <p:tavLst>
                                        <p:tav tm="0">
                                          <p:val>
                                            <p:strVal val="#ppt_x-#ppt_w*1.125000"/>
                                          </p:val>
                                        </p:tav>
                                        <p:tav tm="100000">
                                          <p:val>
                                            <p:strVal val="#ppt_x"/>
                                          </p:val>
                                        </p:tav>
                                      </p:tavLst>
                                    </p:anim>
                                    <p:animEffect transition="in" filter="wipe(right)">
                                      <p:cBhvr>
                                        <p:cTn id="28" dur="500"/>
                                        <p:tgtEl>
                                          <p:spTgt spid="69"/>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p:tgtEl>
                                          <p:spTgt spid="4"/>
                                        </p:tgtEl>
                                        <p:attrNameLst>
                                          <p:attrName>ppt_y</p:attrName>
                                        </p:attrNameLst>
                                      </p:cBhvr>
                                      <p:tavLst>
                                        <p:tav tm="0">
                                          <p:val>
                                            <p:strVal val="#ppt_y+#ppt_h*1.125000"/>
                                          </p:val>
                                        </p:tav>
                                        <p:tav tm="100000">
                                          <p:val>
                                            <p:strVal val="#ppt_y"/>
                                          </p:val>
                                        </p:tav>
                                      </p:tavLst>
                                    </p:anim>
                                    <p:animEffect transition="in" filter="wipe(up)">
                                      <p:cBhvr>
                                        <p:cTn id="32" dur="500"/>
                                        <p:tgtEl>
                                          <p:spTgt spid="4"/>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p:tgtEl>
                                          <p:spTgt spid="10"/>
                                        </p:tgtEl>
                                        <p:attrNameLst>
                                          <p:attrName>ppt_y</p:attrName>
                                        </p:attrNameLst>
                                      </p:cBhvr>
                                      <p:tavLst>
                                        <p:tav tm="0">
                                          <p:val>
                                            <p:strVal val="#ppt_y+#ppt_h*1.125000"/>
                                          </p:val>
                                        </p:tav>
                                        <p:tav tm="100000">
                                          <p:val>
                                            <p:strVal val="#ppt_y"/>
                                          </p:val>
                                        </p:tav>
                                      </p:tavLst>
                                    </p:anim>
                                    <p:animEffect transition="in" filter="wipe(up)">
                                      <p:cBhvr>
                                        <p:cTn id="36" dur="500"/>
                                        <p:tgtEl>
                                          <p:spTgt spid="10"/>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p:tgtEl>
                                          <p:spTgt spid="13"/>
                                        </p:tgtEl>
                                        <p:attrNameLst>
                                          <p:attrName>ppt_y</p:attrName>
                                        </p:attrNameLst>
                                      </p:cBhvr>
                                      <p:tavLst>
                                        <p:tav tm="0">
                                          <p:val>
                                            <p:strVal val="#ppt_y+#ppt_h*1.125000"/>
                                          </p:val>
                                        </p:tav>
                                        <p:tav tm="100000">
                                          <p:val>
                                            <p:strVal val="#ppt_y"/>
                                          </p:val>
                                        </p:tav>
                                      </p:tavLst>
                                    </p:anim>
                                    <p:animEffect transition="in" filter="wipe(up)">
                                      <p:cBhvr>
                                        <p:cTn id="40" dur="500"/>
                                        <p:tgtEl>
                                          <p:spTgt spid="13"/>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p:tgtEl>
                                          <p:spTgt spid="14"/>
                                        </p:tgtEl>
                                        <p:attrNameLst>
                                          <p:attrName>ppt_y</p:attrName>
                                        </p:attrNameLst>
                                      </p:cBhvr>
                                      <p:tavLst>
                                        <p:tav tm="0">
                                          <p:val>
                                            <p:strVal val="#ppt_y+#ppt_h*1.125000"/>
                                          </p:val>
                                        </p:tav>
                                        <p:tav tm="100000">
                                          <p:val>
                                            <p:strVal val="#ppt_y"/>
                                          </p:val>
                                        </p:tav>
                                      </p:tavLst>
                                    </p:anim>
                                    <p:animEffect transition="in" filter="wipe(up)">
                                      <p:cBhvr>
                                        <p:cTn id="44" dur="500"/>
                                        <p:tgtEl>
                                          <p:spTgt spid="14"/>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p:tgtEl>
                                          <p:spTgt spid="15"/>
                                        </p:tgtEl>
                                        <p:attrNameLst>
                                          <p:attrName>ppt_y</p:attrName>
                                        </p:attrNameLst>
                                      </p:cBhvr>
                                      <p:tavLst>
                                        <p:tav tm="0">
                                          <p:val>
                                            <p:strVal val="#ppt_y+#ppt_h*1.125000"/>
                                          </p:val>
                                        </p:tav>
                                        <p:tav tm="100000">
                                          <p:val>
                                            <p:strVal val="#ppt_y"/>
                                          </p:val>
                                        </p:tav>
                                      </p:tavLst>
                                    </p:anim>
                                    <p:animEffect transition="in" filter="wipe(up)">
                                      <p:cBhvr>
                                        <p:cTn id="48" dur="500"/>
                                        <p:tgtEl>
                                          <p:spTgt spid="15"/>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p:tgtEl>
                                          <p:spTgt spid="16"/>
                                        </p:tgtEl>
                                        <p:attrNameLst>
                                          <p:attrName>ppt_y</p:attrName>
                                        </p:attrNameLst>
                                      </p:cBhvr>
                                      <p:tavLst>
                                        <p:tav tm="0">
                                          <p:val>
                                            <p:strVal val="#ppt_y+#ppt_h*1.125000"/>
                                          </p:val>
                                        </p:tav>
                                        <p:tav tm="100000">
                                          <p:val>
                                            <p:strVal val="#ppt_y"/>
                                          </p:val>
                                        </p:tav>
                                      </p:tavLst>
                                    </p:anim>
                                    <p:animEffect transition="in" filter="wipe(up)">
                                      <p:cBhvr>
                                        <p:cTn id="52" dur="500"/>
                                        <p:tgtEl>
                                          <p:spTgt spid="16"/>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p:tgtEl>
                                          <p:spTgt spid="20"/>
                                        </p:tgtEl>
                                        <p:attrNameLst>
                                          <p:attrName>ppt_y</p:attrName>
                                        </p:attrNameLst>
                                      </p:cBhvr>
                                      <p:tavLst>
                                        <p:tav tm="0">
                                          <p:val>
                                            <p:strVal val="#ppt_y+#ppt_h*1.125000"/>
                                          </p:val>
                                        </p:tav>
                                        <p:tav tm="100000">
                                          <p:val>
                                            <p:strVal val="#ppt_y"/>
                                          </p:val>
                                        </p:tav>
                                      </p:tavLst>
                                    </p:anim>
                                    <p:animEffect transition="in" filter="wipe(up)">
                                      <p:cBhvr>
                                        <p:cTn id="56" dur="500"/>
                                        <p:tgtEl>
                                          <p:spTgt spid="20"/>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p:tgtEl>
                                          <p:spTgt spid="21"/>
                                        </p:tgtEl>
                                        <p:attrNameLst>
                                          <p:attrName>ppt_y</p:attrName>
                                        </p:attrNameLst>
                                      </p:cBhvr>
                                      <p:tavLst>
                                        <p:tav tm="0">
                                          <p:val>
                                            <p:strVal val="#ppt_y+#ppt_h*1.125000"/>
                                          </p:val>
                                        </p:tav>
                                        <p:tav tm="100000">
                                          <p:val>
                                            <p:strVal val="#ppt_y"/>
                                          </p:val>
                                        </p:tav>
                                      </p:tavLst>
                                    </p:anim>
                                    <p:animEffect transition="in" filter="wipe(up)">
                                      <p:cBhvr>
                                        <p:cTn id="60" dur="500"/>
                                        <p:tgtEl>
                                          <p:spTgt spid="21"/>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p:tgtEl>
                                          <p:spTgt spid="22"/>
                                        </p:tgtEl>
                                        <p:attrNameLst>
                                          <p:attrName>ppt_y</p:attrName>
                                        </p:attrNameLst>
                                      </p:cBhvr>
                                      <p:tavLst>
                                        <p:tav tm="0">
                                          <p:val>
                                            <p:strVal val="#ppt_y+#ppt_h*1.125000"/>
                                          </p:val>
                                        </p:tav>
                                        <p:tav tm="100000">
                                          <p:val>
                                            <p:strVal val="#ppt_y"/>
                                          </p:val>
                                        </p:tav>
                                      </p:tavLst>
                                    </p:anim>
                                    <p:animEffect transition="in" filter="wipe(up)">
                                      <p:cBhvr>
                                        <p:cTn id="64" dur="500"/>
                                        <p:tgtEl>
                                          <p:spTgt spid="22"/>
                                        </p:tgtEl>
                                      </p:cBhvr>
                                    </p:animEffect>
                                  </p:childTnLst>
                                </p:cTn>
                              </p:par>
                              <p:par>
                                <p:cTn id="65" presetID="12" presetClass="entr" presetSubtype="4"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p:tgtEl>
                                          <p:spTgt spid="23"/>
                                        </p:tgtEl>
                                        <p:attrNameLst>
                                          <p:attrName>ppt_y</p:attrName>
                                        </p:attrNameLst>
                                      </p:cBhvr>
                                      <p:tavLst>
                                        <p:tav tm="0">
                                          <p:val>
                                            <p:strVal val="#ppt_y+#ppt_h*1.125000"/>
                                          </p:val>
                                        </p:tav>
                                        <p:tav tm="100000">
                                          <p:val>
                                            <p:strVal val="#ppt_y"/>
                                          </p:val>
                                        </p:tav>
                                      </p:tavLst>
                                    </p:anim>
                                    <p:animEffect transition="in" filter="wipe(up)">
                                      <p:cBhvr>
                                        <p:cTn id="68" dur="500"/>
                                        <p:tgtEl>
                                          <p:spTgt spid="23"/>
                                        </p:tgtEl>
                                      </p:cBhvr>
                                    </p:animEffect>
                                  </p:childTnLst>
                                </p:cTn>
                              </p:par>
                              <p:par>
                                <p:cTn id="69" presetID="12" presetClass="entr" presetSubtype="4"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p:tgtEl>
                                          <p:spTgt spid="24"/>
                                        </p:tgtEl>
                                        <p:attrNameLst>
                                          <p:attrName>ppt_y</p:attrName>
                                        </p:attrNameLst>
                                      </p:cBhvr>
                                      <p:tavLst>
                                        <p:tav tm="0">
                                          <p:val>
                                            <p:strVal val="#ppt_y+#ppt_h*1.125000"/>
                                          </p:val>
                                        </p:tav>
                                        <p:tav tm="100000">
                                          <p:val>
                                            <p:strVal val="#ppt_y"/>
                                          </p:val>
                                        </p:tav>
                                      </p:tavLst>
                                    </p:anim>
                                    <p:animEffect transition="in" filter="wipe(up)">
                                      <p:cBhvr>
                                        <p:cTn id="72" dur="500"/>
                                        <p:tgtEl>
                                          <p:spTgt spid="24"/>
                                        </p:tgtEl>
                                      </p:cBhvr>
                                    </p:animEffect>
                                  </p:childTnLst>
                                </p:cTn>
                              </p:par>
                              <p:par>
                                <p:cTn id="73" presetID="12" presetClass="entr" presetSubtype="4"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 calcmode="lin" valueType="num">
                                      <p:cBhvr additive="base">
                                        <p:cTn id="75" dur="500"/>
                                        <p:tgtEl>
                                          <p:spTgt spid="25"/>
                                        </p:tgtEl>
                                        <p:attrNameLst>
                                          <p:attrName>ppt_y</p:attrName>
                                        </p:attrNameLst>
                                      </p:cBhvr>
                                      <p:tavLst>
                                        <p:tav tm="0">
                                          <p:val>
                                            <p:strVal val="#ppt_y+#ppt_h*1.125000"/>
                                          </p:val>
                                        </p:tav>
                                        <p:tav tm="100000">
                                          <p:val>
                                            <p:strVal val="#ppt_y"/>
                                          </p:val>
                                        </p:tav>
                                      </p:tavLst>
                                    </p:anim>
                                    <p:animEffect transition="in" filter="wipe(up)">
                                      <p:cBhvr>
                                        <p:cTn id="76" dur="500"/>
                                        <p:tgtEl>
                                          <p:spTgt spid="25"/>
                                        </p:tgtEl>
                                      </p:cBhvr>
                                    </p:animEffect>
                                  </p:childTnLst>
                                </p:cTn>
                              </p:par>
                              <p:par>
                                <p:cTn id="77" presetID="12" presetClass="entr" presetSubtype="4"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p:tgtEl>
                                          <p:spTgt spid="26"/>
                                        </p:tgtEl>
                                        <p:attrNameLst>
                                          <p:attrName>ppt_y</p:attrName>
                                        </p:attrNameLst>
                                      </p:cBhvr>
                                      <p:tavLst>
                                        <p:tav tm="0">
                                          <p:val>
                                            <p:strVal val="#ppt_y+#ppt_h*1.125000"/>
                                          </p:val>
                                        </p:tav>
                                        <p:tav tm="100000">
                                          <p:val>
                                            <p:strVal val="#ppt_y"/>
                                          </p:val>
                                        </p:tav>
                                      </p:tavLst>
                                    </p:anim>
                                    <p:animEffect transition="in" filter="wipe(up)">
                                      <p:cBhvr>
                                        <p:cTn id="80" dur="500"/>
                                        <p:tgtEl>
                                          <p:spTgt spid="26"/>
                                        </p:tgtEl>
                                      </p:cBhvr>
                                    </p:animEffect>
                                  </p:childTnLst>
                                </p:cTn>
                              </p:par>
                              <p:par>
                                <p:cTn id="81" presetID="12" presetClass="entr" presetSubtype="4"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p:tgtEl>
                                          <p:spTgt spid="27"/>
                                        </p:tgtEl>
                                        <p:attrNameLst>
                                          <p:attrName>ppt_y</p:attrName>
                                        </p:attrNameLst>
                                      </p:cBhvr>
                                      <p:tavLst>
                                        <p:tav tm="0">
                                          <p:val>
                                            <p:strVal val="#ppt_y+#ppt_h*1.125000"/>
                                          </p:val>
                                        </p:tav>
                                        <p:tav tm="100000">
                                          <p:val>
                                            <p:strVal val="#ppt_y"/>
                                          </p:val>
                                        </p:tav>
                                      </p:tavLst>
                                    </p:anim>
                                    <p:animEffect transition="in" filter="wipe(up)">
                                      <p:cBhvr>
                                        <p:cTn id="84" dur="500"/>
                                        <p:tgtEl>
                                          <p:spTgt spid="27"/>
                                        </p:tgtEl>
                                      </p:cBhvr>
                                    </p:animEffect>
                                  </p:childTnLst>
                                </p:cTn>
                              </p:par>
                              <p:par>
                                <p:cTn id="85" presetID="12" presetClass="entr" presetSubtype="4"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p:tgtEl>
                                          <p:spTgt spid="28"/>
                                        </p:tgtEl>
                                        <p:attrNameLst>
                                          <p:attrName>ppt_y</p:attrName>
                                        </p:attrNameLst>
                                      </p:cBhvr>
                                      <p:tavLst>
                                        <p:tav tm="0">
                                          <p:val>
                                            <p:strVal val="#ppt_y+#ppt_h*1.125000"/>
                                          </p:val>
                                        </p:tav>
                                        <p:tav tm="100000">
                                          <p:val>
                                            <p:strVal val="#ppt_y"/>
                                          </p:val>
                                        </p:tav>
                                      </p:tavLst>
                                    </p:anim>
                                    <p:animEffect transition="in" filter="wipe(up)">
                                      <p:cBhvr>
                                        <p:cTn id="88" dur="500"/>
                                        <p:tgtEl>
                                          <p:spTgt spid="28"/>
                                        </p:tgtEl>
                                      </p:cBhvr>
                                    </p:animEffect>
                                  </p:childTnLst>
                                </p:cTn>
                              </p:par>
                              <p:par>
                                <p:cTn id="89" presetID="12" presetClass="entr" presetSubtype="4"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p:tgtEl>
                                          <p:spTgt spid="29"/>
                                        </p:tgtEl>
                                        <p:attrNameLst>
                                          <p:attrName>ppt_y</p:attrName>
                                        </p:attrNameLst>
                                      </p:cBhvr>
                                      <p:tavLst>
                                        <p:tav tm="0">
                                          <p:val>
                                            <p:strVal val="#ppt_y+#ppt_h*1.125000"/>
                                          </p:val>
                                        </p:tav>
                                        <p:tav tm="100000">
                                          <p:val>
                                            <p:strVal val="#ppt_y"/>
                                          </p:val>
                                        </p:tav>
                                      </p:tavLst>
                                    </p:anim>
                                    <p:animEffect transition="in" filter="wipe(up)">
                                      <p:cBhvr>
                                        <p:cTn id="92" dur="500"/>
                                        <p:tgtEl>
                                          <p:spTgt spid="29"/>
                                        </p:tgtEl>
                                      </p:cBhvr>
                                    </p:animEffect>
                                  </p:childTnLst>
                                </p:cTn>
                              </p:par>
                              <p:par>
                                <p:cTn id="93" presetID="12" presetClass="entr" presetSubtype="4"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 calcmode="lin" valueType="num">
                                      <p:cBhvr additive="base">
                                        <p:cTn id="95" dur="500"/>
                                        <p:tgtEl>
                                          <p:spTgt spid="30"/>
                                        </p:tgtEl>
                                        <p:attrNameLst>
                                          <p:attrName>ppt_y</p:attrName>
                                        </p:attrNameLst>
                                      </p:cBhvr>
                                      <p:tavLst>
                                        <p:tav tm="0">
                                          <p:val>
                                            <p:strVal val="#ppt_y+#ppt_h*1.125000"/>
                                          </p:val>
                                        </p:tav>
                                        <p:tav tm="100000">
                                          <p:val>
                                            <p:strVal val="#ppt_y"/>
                                          </p:val>
                                        </p:tav>
                                      </p:tavLst>
                                    </p:anim>
                                    <p:animEffect transition="in" filter="wipe(up)">
                                      <p:cBhvr>
                                        <p:cTn id="96" dur="500"/>
                                        <p:tgtEl>
                                          <p:spTgt spid="30"/>
                                        </p:tgtEl>
                                      </p:cBhvr>
                                    </p:animEffect>
                                  </p:childTnLst>
                                </p:cTn>
                              </p:par>
                              <p:par>
                                <p:cTn id="97" presetID="12" presetClass="entr" presetSubtype="4"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 calcmode="lin" valueType="num">
                                      <p:cBhvr additive="base">
                                        <p:cTn id="99" dur="500"/>
                                        <p:tgtEl>
                                          <p:spTgt spid="32"/>
                                        </p:tgtEl>
                                        <p:attrNameLst>
                                          <p:attrName>ppt_y</p:attrName>
                                        </p:attrNameLst>
                                      </p:cBhvr>
                                      <p:tavLst>
                                        <p:tav tm="0">
                                          <p:val>
                                            <p:strVal val="#ppt_y+#ppt_h*1.125000"/>
                                          </p:val>
                                        </p:tav>
                                        <p:tav tm="100000">
                                          <p:val>
                                            <p:strVal val="#ppt_y"/>
                                          </p:val>
                                        </p:tav>
                                      </p:tavLst>
                                    </p:anim>
                                    <p:animEffect transition="in" filter="wipe(up)">
                                      <p:cBhvr>
                                        <p:cTn id="100" dur="500"/>
                                        <p:tgtEl>
                                          <p:spTgt spid="32"/>
                                        </p:tgtEl>
                                      </p:cBhvr>
                                    </p:animEffect>
                                  </p:childTnLst>
                                </p:cTn>
                              </p:par>
                              <p:par>
                                <p:cTn id="101" presetID="12" presetClass="entr" presetSubtype="4"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anim calcmode="lin" valueType="num">
                                      <p:cBhvr additive="base">
                                        <p:cTn id="103" dur="500"/>
                                        <p:tgtEl>
                                          <p:spTgt spid="33"/>
                                        </p:tgtEl>
                                        <p:attrNameLst>
                                          <p:attrName>ppt_y</p:attrName>
                                        </p:attrNameLst>
                                      </p:cBhvr>
                                      <p:tavLst>
                                        <p:tav tm="0">
                                          <p:val>
                                            <p:strVal val="#ppt_y+#ppt_h*1.125000"/>
                                          </p:val>
                                        </p:tav>
                                        <p:tav tm="100000">
                                          <p:val>
                                            <p:strVal val="#ppt_y"/>
                                          </p:val>
                                        </p:tav>
                                      </p:tavLst>
                                    </p:anim>
                                    <p:animEffect transition="in" filter="wipe(up)">
                                      <p:cBhvr>
                                        <p:cTn id="104" dur="500"/>
                                        <p:tgtEl>
                                          <p:spTgt spid="33"/>
                                        </p:tgtEl>
                                      </p:cBhvr>
                                    </p:animEffect>
                                  </p:childTnLst>
                                </p:cTn>
                              </p:par>
                              <p:par>
                                <p:cTn id="105" presetID="12" presetClass="entr" presetSubtype="4"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 calcmode="lin" valueType="num">
                                      <p:cBhvr additive="base">
                                        <p:cTn id="107" dur="500"/>
                                        <p:tgtEl>
                                          <p:spTgt spid="34"/>
                                        </p:tgtEl>
                                        <p:attrNameLst>
                                          <p:attrName>ppt_y</p:attrName>
                                        </p:attrNameLst>
                                      </p:cBhvr>
                                      <p:tavLst>
                                        <p:tav tm="0">
                                          <p:val>
                                            <p:strVal val="#ppt_y+#ppt_h*1.125000"/>
                                          </p:val>
                                        </p:tav>
                                        <p:tav tm="100000">
                                          <p:val>
                                            <p:strVal val="#ppt_y"/>
                                          </p:val>
                                        </p:tav>
                                      </p:tavLst>
                                    </p:anim>
                                    <p:animEffect transition="in" filter="wipe(up)">
                                      <p:cBhvr>
                                        <p:cTn id="108" dur="500"/>
                                        <p:tgtEl>
                                          <p:spTgt spid="34"/>
                                        </p:tgtEl>
                                      </p:cBhvr>
                                    </p:animEffect>
                                  </p:childTnLst>
                                </p:cTn>
                              </p:par>
                              <p:par>
                                <p:cTn id="109" presetID="12" presetClass="entr" presetSubtype="4" fill="hold" grpId="0" nodeType="withEffect">
                                  <p:stCondLst>
                                    <p:cond delay="0"/>
                                  </p:stCondLst>
                                  <p:childTnLst>
                                    <p:set>
                                      <p:cBhvr>
                                        <p:cTn id="110" dur="1" fill="hold">
                                          <p:stCondLst>
                                            <p:cond delay="0"/>
                                          </p:stCondLst>
                                        </p:cTn>
                                        <p:tgtEl>
                                          <p:spTgt spid="35"/>
                                        </p:tgtEl>
                                        <p:attrNameLst>
                                          <p:attrName>style.visibility</p:attrName>
                                        </p:attrNameLst>
                                      </p:cBhvr>
                                      <p:to>
                                        <p:strVal val="visible"/>
                                      </p:to>
                                    </p:set>
                                    <p:anim calcmode="lin" valueType="num">
                                      <p:cBhvr additive="base">
                                        <p:cTn id="111" dur="500"/>
                                        <p:tgtEl>
                                          <p:spTgt spid="35"/>
                                        </p:tgtEl>
                                        <p:attrNameLst>
                                          <p:attrName>ppt_y</p:attrName>
                                        </p:attrNameLst>
                                      </p:cBhvr>
                                      <p:tavLst>
                                        <p:tav tm="0">
                                          <p:val>
                                            <p:strVal val="#ppt_y+#ppt_h*1.125000"/>
                                          </p:val>
                                        </p:tav>
                                        <p:tav tm="100000">
                                          <p:val>
                                            <p:strVal val="#ppt_y"/>
                                          </p:val>
                                        </p:tav>
                                      </p:tavLst>
                                    </p:anim>
                                    <p:animEffect transition="in" filter="wipe(up)">
                                      <p:cBhvr>
                                        <p:cTn id="112" dur="500"/>
                                        <p:tgtEl>
                                          <p:spTgt spid="35"/>
                                        </p:tgtEl>
                                      </p:cBhvr>
                                    </p:animEffect>
                                  </p:childTnLst>
                                </p:cTn>
                              </p:par>
                              <p:par>
                                <p:cTn id="113" presetID="12" presetClass="entr" presetSubtype="4" fill="hold" grpId="0" nodeType="withEffect">
                                  <p:stCondLst>
                                    <p:cond delay="0"/>
                                  </p:stCondLst>
                                  <p:childTnLst>
                                    <p:set>
                                      <p:cBhvr>
                                        <p:cTn id="114" dur="1" fill="hold">
                                          <p:stCondLst>
                                            <p:cond delay="0"/>
                                          </p:stCondLst>
                                        </p:cTn>
                                        <p:tgtEl>
                                          <p:spTgt spid="36"/>
                                        </p:tgtEl>
                                        <p:attrNameLst>
                                          <p:attrName>style.visibility</p:attrName>
                                        </p:attrNameLst>
                                      </p:cBhvr>
                                      <p:to>
                                        <p:strVal val="visible"/>
                                      </p:to>
                                    </p:set>
                                    <p:anim calcmode="lin" valueType="num">
                                      <p:cBhvr additive="base">
                                        <p:cTn id="115" dur="500"/>
                                        <p:tgtEl>
                                          <p:spTgt spid="36"/>
                                        </p:tgtEl>
                                        <p:attrNameLst>
                                          <p:attrName>ppt_y</p:attrName>
                                        </p:attrNameLst>
                                      </p:cBhvr>
                                      <p:tavLst>
                                        <p:tav tm="0">
                                          <p:val>
                                            <p:strVal val="#ppt_y+#ppt_h*1.125000"/>
                                          </p:val>
                                        </p:tav>
                                        <p:tav tm="100000">
                                          <p:val>
                                            <p:strVal val="#ppt_y"/>
                                          </p:val>
                                        </p:tav>
                                      </p:tavLst>
                                    </p:anim>
                                    <p:animEffect transition="in" filter="wipe(up)">
                                      <p:cBhvr>
                                        <p:cTn id="116" dur="500"/>
                                        <p:tgtEl>
                                          <p:spTgt spid="36"/>
                                        </p:tgtEl>
                                      </p:cBhvr>
                                    </p:animEffect>
                                  </p:childTnLst>
                                </p:cTn>
                              </p:par>
                              <p:par>
                                <p:cTn id="117" presetID="12" presetClass="entr" presetSubtype="4" fill="hold" grpId="0" nodeType="withEffect">
                                  <p:stCondLst>
                                    <p:cond delay="0"/>
                                  </p:stCondLst>
                                  <p:childTnLst>
                                    <p:set>
                                      <p:cBhvr>
                                        <p:cTn id="118" dur="1" fill="hold">
                                          <p:stCondLst>
                                            <p:cond delay="0"/>
                                          </p:stCondLst>
                                        </p:cTn>
                                        <p:tgtEl>
                                          <p:spTgt spid="37"/>
                                        </p:tgtEl>
                                        <p:attrNameLst>
                                          <p:attrName>style.visibility</p:attrName>
                                        </p:attrNameLst>
                                      </p:cBhvr>
                                      <p:to>
                                        <p:strVal val="visible"/>
                                      </p:to>
                                    </p:set>
                                    <p:anim calcmode="lin" valueType="num">
                                      <p:cBhvr additive="base">
                                        <p:cTn id="119" dur="500"/>
                                        <p:tgtEl>
                                          <p:spTgt spid="37"/>
                                        </p:tgtEl>
                                        <p:attrNameLst>
                                          <p:attrName>ppt_y</p:attrName>
                                        </p:attrNameLst>
                                      </p:cBhvr>
                                      <p:tavLst>
                                        <p:tav tm="0">
                                          <p:val>
                                            <p:strVal val="#ppt_y+#ppt_h*1.125000"/>
                                          </p:val>
                                        </p:tav>
                                        <p:tav tm="100000">
                                          <p:val>
                                            <p:strVal val="#ppt_y"/>
                                          </p:val>
                                        </p:tav>
                                      </p:tavLst>
                                    </p:anim>
                                    <p:animEffect transition="in" filter="wipe(up)">
                                      <p:cBhvr>
                                        <p:cTn id="120" dur="500"/>
                                        <p:tgtEl>
                                          <p:spTgt spid="37"/>
                                        </p:tgtEl>
                                      </p:cBhvr>
                                    </p:animEffect>
                                  </p:childTnLst>
                                </p:cTn>
                              </p:par>
                              <p:par>
                                <p:cTn id="121" presetID="12" presetClass="entr" presetSubtype="4" fill="hold" grpId="0" nodeType="withEffect">
                                  <p:stCondLst>
                                    <p:cond delay="0"/>
                                  </p:stCondLst>
                                  <p:childTnLst>
                                    <p:set>
                                      <p:cBhvr>
                                        <p:cTn id="122" dur="1" fill="hold">
                                          <p:stCondLst>
                                            <p:cond delay="0"/>
                                          </p:stCondLst>
                                        </p:cTn>
                                        <p:tgtEl>
                                          <p:spTgt spid="38"/>
                                        </p:tgtEl>
                                        <p:attrNameLst>
                                          <p:attrName>style.visibility</p:attrName>
                                        </p:attrNameLst>
                                      </p:cBhvr>
                                      <p:to>
                                        <p:strVal val="visible"/>
                                      </p:to>
                                    </p:set>
                                    <p:anim calcmode="lin" valueType="num">
                                      <p:cBhvr additive="base">
                                        <p:cTn id="123" dur="500"/>
                                        <p:tgtEl>
                                          <p:spTgt spid="38"/>
                                        </p:tgtEl>
                                        <p:attrNameLst>
                                          <p:attrName>ppt_y</p:attrName>
                                        </p:attrNameLst>
                                      </p:cBhvr>
                                      <p:tavLst>
                                        <p:tav tm="0">
                                          <p:val>
                                            <p:strVal val="#ppt_y+#ppt_h*1.125000"/>
                                          </p:val>
                                        </p:tav>
                                        <p:tav tm="100000">
                                          <p:val>
                                            <p:strVal val="#ppt_y"/>
                                          </p:val>
                                        </p:tav>
                                      </p:tavLst>
                                    </p:anim>
                                    <p:animEffect transition="in" filter="wipe(up)">
                                      <p:cBhvr>
                                        <p:cTn id="12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62" grpId="0" animBg="1"/>
      <p:bldP spid="64" grpId="0"/>
      <p:bldP spid="67" grpId="0"/>
      <p:bldP spid="44" grpId="1" animBg="1"/>
      <p:bldP spid="62" grpId="1" animBg="1"/>
      <p:bldP spid="64" grpId="1"/>
      <p:bldP spid="67" grpId="1"/>
      <p:bldP spid="4" grpId="0" animBg="1"/>
      <p:bldP spid="10" grpId="0" animBg="1"/>
      <p:bldP spid="13" grpId="0"/>
      <p:bldP spid="14" grpId="0"/>
      <p:bldP spid="15" grpId="0" animBg="1"/>
      <p:bldP spid="16" grpId="0" animBg="1"/>
      <p:bldP spid="20" grpId="0"/>
      <p:bldP spid="21" grpId="0"/>
      <p:bldP spid="22" grpId="0" animBg="1"/>
      <p:bldP spid="23" grpId="0" animBg="1"/>
      <p:bldP spid="24" grpId="0"/>
      <p:bldP spid="25" grpId="0"/>
      <p:bldP spid="26" grpId="0" animBg="1"/>
      <p:bldP spid="27" grpId="0" animBg="1"/>
      <p:bldP spid="28" grpId="0"/>
      <p:bldP spid="29" grpId="0"/>
      <p:bldP spid="30" grpId="0" animBg="1"/>
      <p:bldP spid="32" grpId="0" animBg="1"/>
      <p:bldP spid="33" grpId="0"/>
      <p:bldP spid="34" grpId="0"/>
      <p:bldP spid="35" grpId="0"/>
      <p:bldP spid="36" grpId="0"/>
      <p:bldP spid="37" grpId="0"/>
      <p:bldP spid="38" grpId="0"/>
      <p:bldP spid="4" grpId="1" animBg="1"/>
      <p:bldP spid="10" grpId="1" animBg="1"/>
      <p:bldP spid="13" grpId="1"/>
      <p:bldP spid="14" grpId="1"/>
      <p:bldP spid="15" grpId="1" animBg="1"/>
      <p:bldP spid="16" grpId="1" animBg="1"/>
      <p:bldP spid="20" grpId="1"/>
      <p:bldP spid="21" grpId="1"/>
      <p:bldP spid="22" grpId="1" animBg="1"/>
      <p:bldP spid="23" grpId="1" animBg="1"/>
      <p:bldP spid="24" grpId="1"/>
      <p:bldP spid="25" grpId="1"/>
      <p:bldP spid="26" grpId="1" animBg="1"/>
      <p:bldP spid="27" grpId="1" animBg="1"/>
      <p:bldP spid="28" grpId="1"/>
      <p:bldP spid="29" grpId="1"/>
      <p:bldP spid="30" grpId="1" animBg="1"/>
      <p:bldP spid="32" grpId="1" animBg="1"/>
      <p:bldP spid="33" grpId="1"/>
      <p:bldP spid="34" grpId="1"/>
      <p:bldP spid="35" grpId="1"/>
      <p:bldP spid="36" grpId="1"/>
      <p:bldP spid="37" grpId="1"/>
      <p:bldP spid="38" grpId="1"/>
    </p:bldLst>
  </p:timing>
</p:sld>
</file>

<file path=ppt/tags/tag1.xml><?xml version="1.0" encoding="utf-8"?>
<p:tagLst xmlns:p="http://schemas.openxmlformats.org/presentationml/2006/main">
  <p:tag name="PA" val="v5.2.9"/>
</p:tagLst>
</file>

<file path=ppt/tags/tag2.xml><?xml version="1.0" encoding="utf-8"?>
<p:tagLst xmlns:p="http://schemas.openxmlformats.org/presentationml/2006/main">
  <p:tag name="PA" val="v5.2.9"/>
</p:tagLst>
</file>

<file path=ppt/tags/tag3.xml><?xml version="1.0" encoding="utf-8"?>
<p:tagLst xmlns:p="http://schemas.openxmlformats.org/presentationml/2006/main">
  <p:tag name="PA" val="v5.2.9"/>
</p:tagLst>
</file>

<file path=ppt/tags/tag4.xml><?xml version="1.0" encoding="utf-8"?>
<p:tagLst xmlns:p="http://schemas.openxmlformats.org/presentationml/2006/main">
  <p:tag name="PA" val="v5.2.9"/>
</p:tagLst>
</file>

<file path=ppt/tags/tag5.xml><?xml version="1.0" encoding="utf-8"?>
<p:tagLst xmlns:p="http://schemas.openxmlformats.org/presentationml/2006/main">
  <p:tag name="PA" val="v5.2.9"/>
</p:tagLst>
</file>

<file path=ppt/tags/tag6.xml><?xml version="1.0" encoding="utf-8"?>
<p:tagLst xmlns:p="http://schemas.openxmlformats.org/presentationml/2006/main">
  <p:tag name="PA" val="v5.2.9"/>
</p:tagLst>
</file>

<file path=ppt/tags/tag7.xml><?xml version="1.0" encoding="utf-8"?>
<p:tagLst xmlns:p="http://schemas.openxmlformats.org/presentationml/2006/main">
  <p:tag name="PA" val="v5.2.9"/>
</p:tagLst>
</file>

<file path=ppt/tags/tag8.xml><?xml version="1.0" encoding="utf-8"?>
<p:tagLst xmlns:p="http://schemas.openxmlformats.org/presentationml/2006/main">
  <p:tag name="PA" val="v5.2.9"/>
</p:tagLst>
</file>

<file path=ppt/tags/tag9.xml><?xml version="1.0" encoding="utf-8"?>
<p:tagLst xmlns:p="http://schemas.openxmlformats.org/presentationml/2006/main">
  <p:tag name="PA" val="v5.2.9"/>
</p:tagLst>
</file>

<file path=ppt/tags/tag10.xml><?xml version="1.0" encoding="utf-8"?>
<p:tagLst xmlns:p="http://schemas.openxmlformats.org/presentationml/2006/main">
  <p:tag name="PA" val="v5.2.9"/>
</p:tagLst>
</file>

<file path=ppt/tags/tag11.xml><?xml version="1.0" encoding="utf-8"?>
<p:tagLst xmlns:p="http://schemas.openxmlformats.org/presentationml/2006/main">
  <p:tag name="PA" val="v5.2.9"/>
</p:tagLst>
</file>

<file path=ppt/tags/tag12.xml><?xml version="1.0" encoding="utf-8"?>
<p:tagLst xmlns:p="http://schemas.openxmlformats.org/presentationml/2006/main">
  <p:tag name="PA" val="v5.2.9"/>
</p:tagLst>
</file>

<file path=ppt/tags/tag13.xml><?xml version="1.0" encoding="utf-8"?>
<p:tagLst xmlns:p="http://schemas.openxmlformats.org/presentationml/2006/main">
  <p:tag name="PA" val="v5.2.9"/>
</p:tagLst>
</file>

<file path=ppt/tags/tag14.xml><?xml version="1.0" encoding="utf-8"?>
<p:tagLst xmlns:p="http://schemas.openxmlformats.org/presentationml/2006/main">
  <p:tag name="PA" val="v5.2.9"/>
</p:tagLst>
</file>

<file path=ppt/tags/tag15.xml><?xml version="1.0" encoding="utf-8"?>
<p:tagLst xmlns:p="http://schemas.openxmlformats.org/presentationml/2006/main">
  <p:tag name="PA" val="v5.2.9"/>
</p:tagLst>
</file>

<file path=ppt/tags/tag16.xml><?xml version="1.0" encoding="utf-8"?>
<p:tagLst xmlns:p="http://schemas.openxmlformats.org/presentationml/2006/main">
  <p:tag name="PA" val="v5.2.9"/>
</p:tagLst>
</file>

<file path=ppt/tags/tag17.xml><?xml version="1.0" encoding="utf-8"?>
<p:tagLst xmlns:p="http://schemas.openxmlformats.org/presentationml/2006/main">
  <p:tag name="PA" val="v5.2.9"/>
</p:tagLst>
</file>

<file path=ppt/tags/tag18.xml><?xml version="1.0" encoding="utf-8"?>
<p:tagLst xmlns:p="http://schemas.openxmlformats.org/presentationml/2006/main">
  <p:tag name="PA" val="v5.2.9"/>
</p:tagLst>
</file>

<file path=ppt/tags/tag19.xml><?xml version="1.0" encoding="utf-8"?>
<p:tagLst xmlns:p="http://schemas.openxmlformats.org/presentationml/2006/main">
  <p:tag name="PA" val="v5.2.9"/>
</p:tagLst>
</file>

<file path=ppt/tags/tag20.xml><?xml version="1.0" encoding="utf-8"?>
<p:tagLst xmlns:p="http://schemas.openxmlformats.org/presentationml/2006/main">
  <p:tag name="PA" val="v5.2.9"/>
</p:tagLst>
</file>

<file path=ppt/tags/tag21.xml><?xml version="1.0" encoding="utf-8"?>
<p:tagLst xmlns:p="http://schemas.openxmlformats.org/presentationml/2006/main">
  <p:tag name="PA" val="v5.2.9"/>
</p:tagLst>
</file>

<file path=ppt/tags/tag22.xml><?xml version="1.0" encoding="utf-8"?>
<p:tagLst xmlns:p="http://schemas.openxmlformats.org/presentationml/2006/main">
  <p:tag name="PA" val="v5.2.9"/>
</p:tagLst>
</file>

<file path=ppt/tags/tag23.xml><?xml version="1.0" encoding="utf-8"?>
<p:tagLst xmlns:p="http://schemas.openxmlformats.org/presentationml/2006/main">
  <p:tag name="PA" val="v5.2.9"/>
</p:tagLst>
</file>

<file path=ppt/tags/tag24.xml><?xml version="1.0" encoding="utf-8"?>
<p:tagLst xmlns:p="http://schemas.openxmlformats.org/presentationml/2006/main">
  <p:tag name="PA" val="v5.2.9"/>
</p:tagLst>
</file>

<file path=ppt/tags/tag25.xml><?xml version="1.0" encoding="utf-8"?>
<p:tagLst xmlns:p="http://schemas.openxmlformats.org/presentationml/2006/main">
  <p:tag name="PA" val="v5.2.9"/>
</p:tagLst>
</file>

<file path=ppt/tags/tag26.xml><?xml version="1.0" encoding="utf-8"?>
<p:tagLst xmlns:p="http://schemas.openxmlformats.org/presentationml/2006/main">
  <p:tag name="PA" val="v5.2.9"/>
</p:tagLst>
</file>

<file path=ppt/tags/tag27.xml><?xml version="1.0" encoding="utf-8"?>
<p:tagLst xmlns:p="http://schemas.openxmlformats.org/presentationml/2006/main">
  <p:tag name="PA" val="v5.2.9"/>
</p:tagLst>
</file>

<file path=ppt/tags/tag28.xml><?xml version="1.0" encoding="utf-8"?>
<p:tagLst xmlns:p="http://schemas.openxmlformats.org/presentationml/2006/main">
  <p:tag name="PA" val="v5.2.9"/>
</p:tagLst>
</file>

<file path=ppt/tags/tag29.xml><?xml version="1.0" encoding="utf-8"?>
<p:tagLst xmlns:p="http://schemas.openxmlformats.org/presentationml/2006/main">
  <p:tag name="PA" val="v5.2.9"/>
</p:tagLst>
</file>

<file path=ppt/tags/tag30.xml><?xml version="1.0" encoding="utf-8"?>
<p:tagLst xmlns:p="http://schemas.openxmlformats.org/presentationml/2006/main">
  <p:tag name="PA" val="v5.2.9"/>
</p:tagLst>
</file>

<file path=ppt/tags/tag31.xml><?xml version="1.0" encoding="utf-8"?>
<p:tagLst xmlns:p="http://schemas.openxmlformats.org/presentationml/2006/main">
  <p:tag name="PA" val="v5.2.9"/>
</p:tagLst>
</file>

<file path=ppt/tags/tag32.xml><?xml version="1.0" encoding="utf-8"?>
<p:tagLst xmlns:p="http://schemas.openxmlformats.org/presentationml/2006/main">
  <p:tag name="PA" val="v5.2.11"/>
</p:tagLst>
</file>

<file path=ppt/tags/tag33.xml><?xml version="1.0" encoding="utf-8"?>
<p:tagLst xmlns:p="http://schemas.openxmlformats.org/presentationml/2006/main">
  <p:tag name="TYPE" val="icon"/>
</p:tagLst>
</file>

<file path=ppt/tags/tag34.xml><?xml version="1.0" encoding="utf-8"?>
<p:tagLst xmlns:p="http://schemas.openxmlformats.org/presentationml/2006/main">
  <p:tag name="PA" val="v5.2.11"/>
</p:tagLst>
</file>

<file path=ppt/tags/tag35.xml><?xml version="1.0" encoding="utf-8"?>
<p:tagLst xmlns:p="http://schemas.openxmlformats.org/presentationml/2006/main">
  <p:tag name="PA" val="v5.2.9"/>
</p:tagLst>
</file>

<file path=ppt/tags/tag36.xml><?xml version="1.0" encoding="utf-8"?>
<p:tagLst xmlns:p="http://schemas.openxmlformats.org/presentationml/2006/main">
  <p:tag name="PA" val="v5.2.9"/>
</p:tagLst>
</file>

<file path=ppt/tags/tag37.xml><?xml version="1.0" encoding="utf-8"?>
<p:tagLst xmlns:p="http://schemas.openxmlformats.org/presentationml/2006/main">
  <p:tag name="PA" val="v5.2.9"/>
</p:tagLst>
</file>

<file path=ppt/tags/tag38.xml><?xml version="1.0" encoding="utf-8"?>
<p:tagLst xmlns:p="http://schemas.openxmlformats.org/presentationml/2006/main">
  <p:tag name="PA" val="v5.2.9"/>
</p:tagLst>
</file>

<file path=ppt/tags/tag39.xml><?xml version="1.0" encoding="utf-8"?>
<p:tagLst xmlns:p="http://schemas.openxmlformats.org/presentationml/2006/main">
  <p:tag name="PA" val="v5.2.9"/>
</p:tagLst>
</file>

<file path=ppt/tags/tag40.xml><?xml version="1.0" encoding="utf-8"?>
<p:tagLst xmlns:p="http://schemas.openxmlformats.org/presentationml/2006/main">
  <p:tag name="PA" val="v5.2.9"/>
</p:tagLst>
</file>

<file path=ppt/tags/tag41.xml><?xml version="1.0" encoding="utf-8"?>
<p:tagLst xmlns:p="http://schemas.openxmlformats.org/presentationml/2006/main">
  <p:tag name="PA" val="v5.2.9"/>
</p:tagLst>
</file>

<file path=ppt/tags/tag42.xml><?xml version="1.0" encoding="utf-8"?>
<p:tagLst xmlns:p="http://schemas.openxmlformats.org/presentationml/2006/main">
  <p:tag name="PA" val="v5.2.9"/>
</p:tagLst>
</file>

<file path=ppt/tags/tag43.xml><?xml version="1.0" encoding="utf-8"?>
<p:tagLst xmlns:p="http://schemas.openxmlformats.org/presentationml/2006/main">
  <p:tag name="PA" val="v5.2.9"/>
</p:tagLst>
</file>

<file path=ppt/tags/tag44.xml><?xml version="1.0" encoding="utf-8"?>
<p:tagLst xmlns:p="http://schemas.openxmlformats.org/presentationml/2006/main">
  <p:tag name="PA" val="v5.2.9"/>
</p:tagLst>
</file>

<file path=ppt/tags/tag45.xml><?xml version="1.0" encoding="utf-8"?>
<p:tagLst xmlns:p="http://schemas.openxmlformats.org/presentationml/2006/main">
  <p:tag name="PA" val="v5.2.9"/>
</p:tagLst>
</file>

<file path=ppt/tags/tag46.xml><?xml version="1.0" encoding="utf-8"?>
<p:tagLst xmlns:p="http://schemas.openxmlformats.org/presentationml/2006/main">
  <p:tag name="PA" val="v5.2.9"/>
</p:tagLst>
</file>

<file path=ppt/tags/tag47.xml><?xml version="1.0" encoding="utf-8"?>
<p:tagLst xmlns:p="http://schemas.openxmlformats.org/presentationml/2006/main">
  <p:tag name="PA" val="v5.2.9"/>
</p:tagLst>
</file>

<file path=ppt/tags/tag48.xml><?xml version="1.0" encoding="utf-8"?>
<p:tagLst xmlns:p="http://schemas.openxmlformats.org/presentationml/2006/main">
  <p:tag name="PA" val="v5.2.9"/>
</p:tagLst>
</file>

<file path=ppt/tags/tag49.xml><?xml version="1.0" encoding="utf-8"?>
<p:tagLst xmlns:p="http://schemas.openxmlformats.org/presentationml/2006/main">
  <p:tag name="PA" val="v5.2.9"/>
</p:tagLst>
</file>

<file path=ppt/tags/tag50.xml><?xml version="1.0" encoding="utf-8"?>
<p:tagLst xmlns:p="http://schemas.openxmlformats.org/presentationml/2006/main">
  <p:tag name="PA" val="v5.2.9"/>
</p:tagLst>
</file>

<file path=ppt/tags/tag51.xml><?xml version="1.0" encoding="utf-8"?>
<p:tagLst xmlns:p="http://schemas.openxmlformats.org/presentationml/2006/main">
  <p:tag name="PA" val="v5.2.9"/>
</p:tagLst>
</file>

<file path=ppt/tags/tag52.xml><?xml version="1.0" encoding="utf-8"?>
<p:tagLst xmlns:p="http://schemas.openxmlformats.org/presentationml/2006/main">
  <p:tag name="PA" val="v5.2.9"/>
</p:tagLst>
</file>

<file path=ppt/tags/tag53.xml><?xml version="1.0" encoding="utf-8"?>
<p:tagLst xmlns:p="http://schemas.openxmlformats.org/presentationml/2006/main">
  <p:tag name="PA" val="v5.2.9"/>
</p:tagLst>
</file>

<file path=ppt/tags/tag54.xml><?xml version="1.0" encoding="utf-8"?>
<p:tagLst xmlns:p="http://schemas.openxmlformats.org/presentationml/2006/main">
  <p:tag name="PA" val="v5.2.9"/>
</p:tagLst>
</file>

<file path=ppt/tags/tag55.xml><?xml version="1.0" encoding="utf-8"?>
<p:tagLst xmlns:p="http://schemas.openxmlformats.org/presentationml/2006/main">
  <p:tag name="PA" val="v5.2.9"/>
</p:tagLst>
</file>

<file path=ppt/tags/tag56.xml><?xml version="1.0" encoding="utf-8"?>
<p:tagLst xmlns:p="http://schemas.openxmlformats.org/presentationml/2006/main">
  <p:tag name="PA" val="v5.2.9"/>
</p:tagLst>
</file>

<file path=ppt/tags/tag57.xml><?xml version="1.0" encoding="utf-8"?>
<p:tagLst xmlns:p="http://schemas.openxmlformats.org/presentationml/2006/main">
  <p:tag name="PA" val="v5.2.9"/>
</p:tagLst>
</file>

<file path=ppt/tags/tag58.xml><?xml version="1.0" encoding="utf-8"?>
<p:tagLst xmlns:p="http://schemas.openxmlformats.org/presentationml/2006/main">
  <p:tag name="PA" val="v5.2.9"/>
</p:tagLst>
</file>

<file path=ppt/tags/tag59.xml><?xml version="1.0" encoding="utf-8"?>
<p:tagLst xmlns:p="http://schemas.openxmlformats.org/presentationml/2006/main">
  <p:tag name="PA" val="v5.2.9"/>
</p:tagLst>
</file>

<file path=ppt/tags/tag60.xml><?xml version="1.0" encoding="utf-8"?>
<p:tagLst xmlns:p="http://schemas.openxmlformats.org/presentationml/2006/main">
  <p:tag name="PA" val="v5.2.9"/>
</p:tagLst>
</file>

<file path=ppt/tags/tag61.xml><?xml version="1.0" encoding="utf-8"?>
<p:tagLst xmlns:p="http://schemas.openxmlformats.org/presentationml/2006/main">
  <p:tag name="PA" val="v5.2.9"/>
</p:tagLst>
</file>

<file path=ppt/tags/tag62.xml><?xml version="1.0" encoding="utf-8"?>
<p:tagLst xmlns:p="http://schemas.openxmlformats.org/presentationml/2006/main">
  <p:tag name="PA" val="v5.2.9"/>
</p:tagLst>
</file>

<file path=ppt/tags/tag63.xml><?xml version="1.0" encoding="utf-8"?>
<p:tagLst xmlns:p="http://schemas.openxmlformats.org/presentationml/2006/main">
  <p:tag name="PA" val="v5.2.9"/>
</p:tagLst>
</file>

<file path=ppt/tags/tag64.xml><?xml version="1.0" encoding="utf-8"?>
<p:tagLst xmlns:p="http://schemas.openxmlformats.org/presentationml/2006/main">
  <p:tag name="PA" val="v5.2.9"/>
</p:tagLst>
</file>

<file path=ppt/tags/tag65.xml><?xml version="1.0" encoding="utf-8"?>
<p:tagLst xmlns:p="http://schemas.openxmlformats.org/presentationml/2006/main">
  <p:tag name="PA" val="v5.2.9"/>
</p:tagLst>
</file>

<file path=ppt/tags/tag66.xml><?xml version="1.0" encoding="utf-8"?>
<p:tagLst xmlns:p="http://schemas.openxmlformats.org/presentationml/2006/main">
  <p:tag name="PA" val="v5.2.11"/>
</p:tagLst>
</file>

<file path=ppt/tags/tag67.xml><?xml version="1.0" encoding="utf-8"?>
<p:tagLst xmlns:p="http://schemas.openxmlformats.org/presentationml/2006/main">
  <p:tag name="TYPE" val="icon"/>
</p:tagLst>
</file>

<file path=ppt/tags/tag68.xml><?xml version="1.0" encoding="utf-8"?>
<p:tagLst xmlns:p="http://schemas.openxmlformats.org/presentationml/2006/main">
  <p:tag name="PA" val="v5.2.11"/>
</p:tagLst>
</file>

<file path=ppt/tags/tag69.xml><?xml version="1.0" encoding="utf-8"?>
<p:tagLst xmlns:p="http://schemas.openxmlformats.org/presentationml/2006/main">
  <p:tag name="PA" val="v5.2.9"/>
</p:tagLst>
</file>

<file path=ppt/tags/tag70.xml><?xml version="1.0" encoding="utf-8"?>
<p:tagLst xmlns:p="http://schemas.openxmlformats.org/presentationml/2006/main">
  <p:tag name="PA" val="v5.2.9"/>
</p:tagLst>
</file>

<file path=ppt/tags/tag71.xml><?xml version="1.0" encoding="utf-8"?>
<p:tagLst xmlns:p="http://schemas.openxmlformats.org/presentationml/2006/main">
  <p:tag name="PA" val="v5.2.9"/>
</p:tagLst>
</file>

<file path=ppt/tags/tag72.xml><?xml version="1.0" encoding="utf-8"?>
<p:tagLst xmlns:p="http://schemas.openxmlformats.org/presentationml/2006/main">
  <p:tag name="PA" val="v5.2.9"/>
</p:tagLst>
</file>

<file path=ppt/tags/tag73.xml><?xml version="1.0" encoding="utf-8"?>
<p:tagLst xmlns:p="http://schemas.openxmlformats.org/presentationml/2006/main">
  <p:tag name="PA" val="v5.2.9"/>
</p:tagLst>
</file>

<file path=ppt/tags/tag74.xml><?xml version="1.0" encoding="utf-8"?>
<p:tagLst xmlns:p="http://schemas.openxmlformats.org/presentationml/2006/main">
  <p:tag name="PA" val="v5.2.9"/>
</p:tagLst>
</file>

<file path=ppt/tags/tag75.xml><?xml version="1.0" encoding="utf-8"?>
<p:tagLst xmlns:p="http://schemas.openxmlformats.org/presentationml/2006/main">
  <p:tag name="PA" val="v5.2.9"/>
</p:tagLst>
</file>

<file path=ppt/tags/tag76.xml><?xml version="1.0" encoding="utf-8"?>
<p:tagLst xmlns:p="http://schemas.openxmlformats.org/presentationml/2006/main">
  <p:tag name="PA" val="v5.2.9"/>
</p:tagLst>
</file>

<file path=ppt/tags/tag77.xml><?xml version="1.0" encoding="utf-8"?>
<p:tagLst xmlns:p="http://schemas.openxmlformats.org/presentationml/2006/main">
  <p:tag name="PA" val="v5.2.9"/>
</p:tagLst>
</file>

<file path=ppt/tags/tag78.xml><?xml version="1.0" encoding="utf-8"?>
<p:tagLst xmlns:p="http://schemas.openxmlformats.org/presentationml/2006/main">
  <p:tag name="PA" val="v5.2.9"/>
</p:tagLst>
</file>

<file path=ppt/tags/tag79.xml><?xml version="1.0" encoding="utf-8"?>
<p:tagLst xmlns:p="http://schemas.openxmlformats.org/presentationml/2006/main">
  <p:tag name="PA" val="v5.2.9"/>
</p:tagLst>
</file>

<file path=ppt/tags/tag80.xml><?xml version="1.0" encoding="utf-8"?>
<p:tagLst xmlns:p="http://schemas.openxmlformats.org/presentationml/2006/main">
  <p:tag name="PA" val="v5.2.9"/>
</p:tagLst>
</file>

<file path=ppt/tags/tag81.xml><?xml version="1.0" encoding="utf-8"?>
<p:tagLst xmlns:p="http://schemas.openxmlformats.org/presentationml/2006/main">
  <p:tag name="PA" val="v5.2.9"/>
</p:tagLst>
</file>

<file path=ppt/tags/tag82.xml><?xml version="1.0" encoding="utf-8"?>
<p:tagLst xmlns:p="http://schemas.openxmlformats.org/presentationml/2006/main">
  <p:tag name="PA" val="v5.2.9"/>
</p:tagLst>
</file>

<file path=ppt/tags/tag83.xml><?xml version="1.0" encoding="utf-8"?>
<p:tagLst xmlns:p="http://schemas.openxmlformats.org/presentationml/2006/main">
  <p:tag name="PA" val="v5.2.9"/>
</p:tagLst>
</file>

<file path=ppt/tags/tag84.xml><?xml version="1.0" encoding="utf-8"?>
<p:tagLst xmlns:p="http://schemas.openxmlformats.org/presentationml/2006/main">
  <p:tag name="PA" val="v5.2.9"/>
</p:tagLst>
</file>

<file path=ppt/tags/tag85.xml><?xml version="1.0" encoding="utf-8"?>
<p:tagLst xmlns:p="http://schemas.openxmlformats.org/presentationml/2006/main">
  <p:tag name="PA" val="v5.2.9"/>
</p:tagLst>
</file>

<file path=ppt/tags/tag86.xml><?xml version="1.0" encoding="utf-8"?>
<p:tagLst xmlns:p="http://schemas.openxmlformats.org/presentationml/2006/main">
  <p:tag name="PA" val="v5.2.9"/>
</p:tagLst>
</file>

<file path=ppt/tags/tag87.xml><?xml version="1.0" encoding="utf-8"?>
<p:tagLst xmlns:p="http://schemas.openxmlformats.org/presentationml/2006/main">
  <p:tag name="PA" val="v5.2.9"/>
</p:tagLst>
</file>

<file path=ppt/tags/tag88.xml><?xml version="1.0" encoding="utf-8"?>
<p:tagLst xmlns:p="http://schemas.openxmlformats.org/presentationml/2006/main">
  <p:tag name="PA" val="v5.2.9"/>
</p:tagLst>
</file>

<file path=ppt/tags/tag89.xml><?xml version="1.0" encoding="utf-8"?>
<p:tagLst xmlns:p="http://schemas.openxmlformats.org/presentationml/2006/main">
  <p:tag name="PA" val="v5.2.9"/>
</p:tagLst>
</file>

<file path=ppt/tags/tag90.xml><?xml version="1.0" encoding="utf-8"?>
<p:tagLst xmlns:p="http://schemas.openxmlformats.org/presentationml/2006/main">
  <p:tag name="PA" val="v5.2.9"/>
</p:tagLst>
</file>

<file path=ppt/tags/tag91.xml><?xml version="1.0" encoding="utf-8"?>
<p:tagLst xmlns:p="http://schemas.openxmlformats.org/presentationml/2006/main">
  <p:tag name="PA" val="v5.2.9"/>
</p:tagLst>
</file>

<file path=ppt/tags/tag92.xml><?xml version="1.0" encoding="utf-8"?>
<p:tagLst xmlns:p="http://schemas.openxmlformats.org/presentationml/2006/main">
  <p:tag name="PA" val="v5.2.9"/>
</p:tagLst>
</file>

<file path=ppt/tags/tag93.xml><?xml version="1.0" encoding="utf-8"?>
<p:tagLst xmlns:p="http://schemas.openxmlformats.org/presentationml/2006/main">
  <p:tag name="PA" val="v5.2.9"/>
</p:tagLst>
</file>

<file path=ppt/tags/tag94.xml><?xml version="1.0" encoding="utf-8"?>
<p:tagLst xmlns:p="http://schemas.openxmlformats.org/presentationml/2006/main">
  <p:tag name="PA" val="v5.2.9"/>
</p:tagLst>
</file>

<file path=ppt/tags/tag95.xml><?xml version="1.0" encoding="utf-8"?>
<p:tagLst xmlns:p="http://schemas.openxmlformats.org/presentationml/2006/main">
  <p:tag name="PA" val="v5.2.9"/>
</p:tagLst>
</file>

<file path=ppt/tags/tag96.xml><?xml version="1.0" encoding="utf-8"?>
<p:tagLst xmlns:p="http://schemas.openxmlformats.org/presentationml/2006/main">
  <p:tag name="PA" val="v5.2.9"/>
</p:tagLst>
</file>

<file path=ppt/tags/tag97.xml><?xml version="1.0" encoding="utf-8"?>
<p:tagLst xmlns:p="http://schemas.openxmlformats.org/presentationml/2006/main">
  <p:tag name="PA" val="v5.2.9"/>
</p:tagLst>
</file>

<file path=ppt/tags/tag98.xml><?xml version="1.0" encoding="utf-8"?>
<p:tagLst xmlns:p="http://schemas.openxmlformats.org/presentationml/2006/main">
  <p:tag name="PA" val="v5.2.9"/>
</p:tagLst>
</file>

<file path=ppt/tags/tag99.xml><?xml version="1.0" encoding="utf-8"?>
<p:tagLst xmlns:p="http://schemas.openxmlformats.org/presentationml/2006/main">
  <p:tag name="PA" val="v5.2.9"/>
</p:tagLst>
</file>

<file path=ppt/tags/tag100.xml><?xml version="1.0" encoding="utf-8"?>
<p:tagLst xmlns:p="http://schemas.openxmlformats.org/presentationml/2006/main">
  <p:tag name="PA" val="v5.2.11"/>
</p:tagLst>
</file>

<file path=ppt/tags/tag101.xml><?xml version="1.0" encoding="utf-8"?>
<p:tagLst xmlns:p="http://schemas.openxmlformats.org/presentationml/2006/main">
  <p:tag name="TYPE" val="icon"/>
</p:tagLst>
</file>

<file path=ppt/tags/tag102.xml><?xml version="1.0" encoding="utf-8"?>
<p:tagLst xmlns:p="http://schemas.openxmlformats.org/presentationml/2006/main">
  <p:tag name="PA" val="v5.2.11"/>
</p:tagLst>
</file>

<file path=ppt/tags/tag103.xml><?xml version="1.0" encoding="utf-8"?>
<p:tagLst xmlns:p="http://schemas.openxmlformats.org/presentationml/2006/main">
  <p:tag name="PA" val="v5.2.9"/>
</p:tagLst>
</file>

<file path=ppt/tags/tag104.xml><?xml version="1.0" encoding="utf-8"?>
<p:tagLst xmlns:p="http://schemas.openxmlformats.org/presentationml/2006/main">
  <p:tag name="PA" val="v5.2.9"/>
</p:tagLst>
</file>

<file path=ppt/tags/tag105.xml><?xml version="1.0" encoding="utf-8"?>
<p:tagLst xmlns:p="http://schemas.openxmlformats.org/presentationml/2006/main">
  <p:tag name="PA" val="v5.2.9"/>
</p:tagLst>
</file>

<file path=ppt/tags/tag106.xml><?xml version="1.0" encoding="utf-8"?>
<p:tagLst xmlns:p="http://schemas.openxmlformats.org/presentationml/2006/main">
  <p:tag name="PA" val="v5.2.9"/>
</p:tagLst>
</file>

<file path=ppt/tags/tag107.xml><?xml version="1.0" encoding="utf-8"?>
<p:tagLst xmlns:p="http://schemas.openxmlformats.org/presentationml/2006/main">
  <p:tag name="PA" val="v5.2.9"/>
</p:tagLst>
</file>

<file path=ppt/tags/tag108.xml><?xml version="1.0" encoding="utf-8"?>
<p:tagLst xmlns:p="http://schemas.openxmlformats.org/presentationml/2006/main">
  <p:tag name="PA" val="v5.2.9"/>
</p:tagLst>
</file>

<file path=ppt/tags/tag109.xml><?xml version="1.0" encoding="utf-8"?>
<p:tagLst xmlns:p="http://schemas.openxmlformats.org/presentationml/2006/main">
  <p:tag name="PA" val="v5.2.9"/>
</p:tagLst>
</file>

<file path=ppt/tags/tag110.xml><?xml version="1.0" encoding="utf-8"?>
<p:tagLst xmlns:p="http://schemas.openxmlformats.org/presentationml/2006/main">
  <p:tag name="PA" val="v5.2.9"/>
</p:tagLst>
</file>

<file path=ppt/tags/tag111.xml><?xml version="1.0" encoding="utf-8"?>
<p:tagLst xmlns:p="http://schemas.openxmlformats.org/presentationml/2006/main">
  <p:tag name="PA" val="v5.2.9"/>
</p:tagLst>
</file>

<file path=ppt/tags/tag112.xml><?xml version="1.0" encoding="utf-8"?>
<p:tagLst xmlns:p="http://schemas.openxmlformats.org/presentationml/2006/main">
  <p:tag name="PA" val="v5.2.9"/>
</p:tagLst>
</file>

<file path=ppt/tags/tag113.xml><?xml version="1.0" encoding="utf-8"?>
<p:tagLst xmlns:p="http://schemas.openxmlformats.org/presentationml/2006/main">
  <p:tag name="PA" val="v5.2.9"/>
</p:tagLst>
</file>

<file path=ppt/tags/tag114.xml><?xml version="1.0" encoding="utf-8"?>
<p:tagLst xmlns:p="http://schemas.openxmlformats.org/presentationml/2006/main">
  <p:tag name="PA" val="v5.2.9"/>
</p:tagLst>
</file>

<file path=ppt/tags/tag115.xml><?xml version="1.0" encoding="utf-8"?>
<p:tagLst xmlns:p="http://schemas.openxmlformats.org/presentationml/2006/main">
  <p:tag name="PA" val="v5.2.9"/>
</p:tagLst>
</file>

<file path=ppt/tags/tag116.xml><?xml version="1.0" encoding="utf-8"?>
<p:tagLst xmlns:p="http://schemas.openxmlformats.org/presentationml/2006/main">
  <p:tag name="PA" val="v5.2.9"/>
</p:tagLst>
</file>

<file path=ppt/tags/tag117.xml><?xml version="1.0" encoding="utf-8"?>
<p:tagLst xmlns:p="http://schemas.openxmlformats.org/presentationml/2006/main">
  <p:tag name="PA" val="v5.2.9"/>
</p:tagLst>
</file>

<file path=ppt/tags/tag118.xml><?xml version="1.0" encoding="utf-8"?>
<p:tagLst xmlns:p="http://schemas.openxmlformats.org/presentationml/2006/main">
  <p:tag name="PA" val="v5.2.9"/>
</p:tagLst>
</file>

<file path=ppt/tags/tag119.xml><?xml version="1.0" encoding="utf-8"?>
<p:tagLst xmlns:p="http://schemas.openxmlformats.org/presentationml/2006/main">
  <p:tag name="PA" val="v5.2.9"/>
</p:tagLst>
</file>

<file path=ppt/tags/tag120.xml><?xml version="1.0" encoding="utf-8"?>
<p:tagLst xmlns:p="http://schemas.openxmlformats.org/presentationml/2006/main">
  <p:tag name="PA" val="v5.2.9"/>
</p:tagLst>
</file>

<file path=ppt/tags/tag121.xml><?xml version="1.0" encoding="utf-8"?>
<p:tagLst xmlns:p="http://schemas.openxmlformats.org/presentationml/2006/main">
  <p:tag name="PA" val="v5.2.9"/>
</p:tagLst>
</file>

<file path=ppt/tags/tag122.xml><?xml version="1.0" encoding="utf-8"?>
<p:tagLst xmlns:p="http://schemas.openxmlformats.org/presentationml/2006/main">
  <p:tag name="PA" val="v5.2.9"/>
</p:tagLst>
</file>

<file path=ppt/tags/tag123.xml><?xml version="1.0" encoding="utf-8"?>
<p:tagLst xmlns:p="http://schemas.openxmlformats.org/presentationml/2006/main">
  <p:tag name="PA" val="v5.2.9"/>
</p:tagLst>
</file>

<file path=ppt/tags/tag124.xml><?xml version="1.0" encoding="utf-8"?>
<p:tagLst xmlns:p="http://schemas.openxmlformats.org/presentationml/2006/main">
  <p:tag name="PA" val="v5.2.9"/>
</p:tagLst>
</file>

<file path=ppt/tags/tag125.xml><?xml version="1.0" encoding="utf-8"?>
<p:tagLst xmlns:p="http://schemas.openxmlformats.org/presentationml/2006/main">
  <p:tag name="PA" val="v5.2.9"/>
</p:tagLst>
</file>

<file path=ppt/tags/tag126.xml><?xml version="1.0" encoding="utf-8"?>
<p:tagLst xmlns:p="http://schemas.openxmlformats.org/presentationml/2006/main">
  <p:tag name="PA" val="v5.2.9"/>
</p:tagLst>
</file>

<file path=ppt/tags/tag127.xml><?xml version="1.0" encoding="utf-8"?>
<p:tagLst xmlns:p="http://schemas.openxmlformats.org/presentationml/2006/main">
  <p:tag name="PA" val="v5.2.9"/>
</p:tagLst>
</file>

<file path=ppt/tags/tag128.xml><?xml version="1.0" encoding="utf-8"?>
<p:tagLst xmlns:p="http://schemas.openxmlformats.org/presentationml/2006/main">
  <p:tag name="PA" val="v5.2.9"/>
</p:tagLst>
</file>

<file path=ppt/tags/tag129.xml><?xml version="1.0" encoding="utf-8"?>
<p:tagLst xmlns:p="http://schemas.openxmlformats.org/presentationml/2006/main">
  <p:tag name="PA" val="v5.2.9"/>
</p:tagLst>
</file>

<file path=ppt/tags/tag130.xml><?xml version="1.0" encoding="utf-8"?>
<p:tagLst xmlns:p="http://schemas.openxmlformats.org/presentationml/2006/main">
  <p:tag name="PA" val="v5.2.9"/>
</p:tagLst>
</file>

<file path=ppt/tags/tag131.xml><?xml version="1.0" encoding="utf-8"?>
<p:tagLst xmlns:p="http://schemas.openxmlformats.org/presentationml/2006/main">
  <p:tag name="PA" val="v5.2.9"/>
</p:tagLst>
</file>

<file path=ppt/tags/tag132.xml><?xml version="1.0" encoding="utf-8"?>
<p:tagLst xmlns:p="http://schemas.openxmlformats.org/presentationml/2006/main">
  <p:tag name="PA" val="v5.2.9"/>
</p:tagLst>
</file>

<file path=ppt/tags/tag133.xml><?xml version="1.0" encoding="utf-8"?>
<p:tagLst xmlns:p="http://schemas.openxmlformats.org/presentationml/2006/main">
  <p:tag name="PA" val="v5.2.9"/>
</p:tagLst>
</file>

<file path=ppt/tags/tag134.xml><?xml version="1.0" encoding="utf-8"?>
<p:tagLst xmlns:p="http://schemas.openxmlformats.org/presentationml/2006/main">
  <p:tag name="PA" val="v5.2.11"/>
</p:tagLst>
</file>

<file path=ppt/tags/tag135.xml><?xml version="1.0" encoding="utf-8"?>
<p:tagLst xmlns:p="http://schemas.openxmlformats.org/presentationml/2006/main">
  <p:tag name="TYPE" val="icon"/>
</p:tagLst>
</file>

<file path=ppt/tags/tag136.xml><?xml version="1.0" encoding="utf-8"?>
<p:tagLst xmlns:p="http://schemas.openxmlformats.org/presentationml/2006/main">
  <p:tag name="PA" val="v5.2.11"/>
</p:tagLst>
</file>

<file path=ppt/tags/tag137.xml><?xml version="1.0" encoding="utf-8"?>
<p:tagLst xmlns:p="http://schemas.openxmlformats.org/presentationml/2006/main">
  <p:tag name="PA" val="v5.2.9"/>
</p:tagLst>
</file>

<file path=ppt/tags/tag138.xml><?xml version="1.0" encoding="utf-8"?>
<p:tagLst xmlns:p="http://schemas.openxmlformats.org/presentationml/2006/main">
  <p:tag name="PA" val="v5.2.9"/>
</p:tagLst>
</file>

<file path=ppt/tags/tag139.xml><?xml version="1.0" encoding="utf-8"?>
<p:tagLst xmlns:p="http://schemas.openxmlformats.org/presentationml/2006/main">
  <p:tag name="PA" val="v5.2.9"/>
</p:tagLst>
</file>

<file path=ppt/tags/tag140.xml><?xml version="1.0" encoding="utf-8"?>
<p:tagLst xmlns:p="http://schemas.openxmlformats.org/presentationml/2006/main">
  <p:tag name="PA" val="v5.2.9"/>
</p:tagLst>
</file>

<file path=ppt/tags/tag141.xml><?xml version="1.0" encoding="utf-8"?>
<p:tagLst xmlns:p="http://schemas.openxmlformats.org/presentationml/2006/main">
  <p:tag name="PA" val="v5.2.9"/>
</p:tagLst>
</file>

<file path=ppt/tags/tag142.xml><?xml version="1.0" encoding="utf-8"?>
<p:tagLst xmlns:p="http://schemas.openxmlformats.org/presentationml/2006/main">
  <p:tag name="PA" val="v5.2.9"/>
</p:tagLst>
</file>

<file path=ppt/tags/tag143.xml><?xml version="1.0" encoding="utf-8"?>
<p:tagLst xmlns:p="http://schemas.openxmlformats.org/presentationml/2006/main">
  <p:tag name="PA" val="v5.2.9"/>
</p:tagLst>
</file>

<file path=ppt/tags/tag144.xml><?xml version="1.0" encoding="utf-8"?>
<p:tagLst xmlns:p="http://schemas.openxmlformats.org/presentationml/2006/main">
  <p:tag name="PA" val="v5.2.9"/>
</p:tagLst>
</file>

<file path=ppt/tags/tag145.xml><?xml version="1.0" encoding="utf-8"?>
<p:tagLst xmlns:p="http://schemas.openxmlformats.org/presentationml/2006/main">
  <p:tag name="PA" val="v5.2.9"/>
</p:tagLst>
</file>

<file path=ppt/tags/tag146.xml><?xml version="1.0" encoding="utf-8"?>
<p:tagLst xmlns:p="http://schemas.openxmlformats.org/presentationml/2006/main">
  <p:tag name="PA" val="v5.2.9"/>
</p:tagLst>
</file>

<file path=ppt/tags/tag147.xml><?xml version="1.0" encoding="utf-8"?>
<p:tagLst xmlns:p="http://schemas.openxmlformats.org/presentationml/2006/main">
  <p:tag name="PA" val="v5.2.9"/>
</p:tagLst>
</file>

<file path=ppt/tags/tag148.xml><?xml version="1.0" encoding="utf-8"?>
<p:tagLst xmlns:p="http://schemas.openxmlformats.org/presentationml/2006/main">
  <p:tag name="PA" val="v5.2.9"/>
</p:tagLst>
</file>

<file path=ppt/tags/tag149.xml><?xml version="1.0" encoding="utf-8"?>
<p:tagLst xmlns:p="http://schemas.openxmlformats.org/presentationml/2006/main">
  <p:tag name="PA" val="v5.2.9"/>
</p:tagLst>
</file>

<file path=ppt/tags/tag150.xml><?xml version="1.0" encoding="utf-8"?>
<p:tagLst xmlns:p="http://schemas.openxmlformats.org/presentationml/2006/main">
  <p:tag name="PA" val="v5.2.9"/>
</p:tagLst>
</file>

<file path=ppt/tags/tag151.xml><?xml version="1.0" encoding="utf-8"?>
<p:tagLst xmlns:p="http://schemas.openxmlformats.org/presentationml/2006/main">
  <p:tag name="PA" val="v5.2.9"/>
</p:tagLst>
</file>

<file path=ppt/tags/tag152.xml><?xml version="1.0" encoding="utf-8"?>
<p:tagLst xmlns:p="http://schemas.openxmlformats.org/presentationml/2006/main">
  <p:tag name="PA" val="v5.2.9"/>
</p:tagLst>
</file>

<file path=ppt/tags/tag153.xml><?xml version="1.0" encoding="utf-8"?>
<p:tagLst xmlns:p="http://schemas.openxmlformats.org/presentationml/2006/main">
  <p:tag name="PA" val="v5.2.9"/>
</p:tagLst>
</file>

<file path=ppt/tags/tag154.xml><?xml version="1.0" encoding="utf-8"?>
<p:tagLst xmlns:p="http://schemas.openxmlformats.org/presentationml/2006/main">
  <p:tag name="PA" val="v5.2.9"/>
</p:tagLst>
</file>

<file path=ppt/tags/tag155.xml><?xml version="1.0" encoding="utf-8"?>
<p:tagLst xmlns:p="http://schemas.openxmlformats.org/presentationml/2006/main">
  <p:tag name="PA" val="v5.2.9"/>
</p:tagLst>
</file>

<file path=ppt/tags/tag156.xml><?xml version="1.0" encoding="utf-8"?>
<p:tagLst xmlns:p="http://schemas.openxmlformats.org/presentationml/2006/main">
  <p:tag name="PA" val="v5.2.9"/>
</p:tagLst>
</file>

<file path=ppt/tags/tag157.xml><?xml version="1.0" encoding="utf-8"?>
<p:tagLst xmlns:p="http://schemas.openxmlformats.org/presentationml/2006/main">
  <p:tag name="PA" val="v5.2.9"/>
</p:tagLst>
</file>

<file path=ppt/tags/tag158.xml><?xml version="1.0" encoding="utf-8"?>
<p:tagLst xmlns:p="http://schemas.openxmlformats.org/presentationml/2006/main">
  <p:tag name="PA" val="v5.2.9"/>
</p:tagLst>
</file>

<file path=ppt/tags/tag159.xml><?xml version="1.0" encoding="utf-8"?>
<p:tagLst xmlns:p="http://schemas.openxmlformats.org/presentationml/2006/main">
  <p:tag name="PA" val="v5.2.9"/>
</p:tagLst>
</file>

<file path=ppt/tags/tag160.xml><?xml version="1.0" encoding="utf-8"?>
<p:tagLst xmlns:p="http://schemas.openxmlformats.org/presentationml/2006/main">
  <p:tag name="PA" val="v5.2.9"/>
</p:tagLst>
</file>

<file path=ppt/tags/tag161.xml><?xml version="1.0" encoding="utf-8"?>
<p:tagLst xmlns:p="http://schemas.openxmlformats.org/presentationml/2006/main">
  <p:tag name="PA" val="v5.2.9"/>
</p:tagLst>
</file>

<file path=ppt/tags/tag162.xml><?xml version="1.0" encoding="utf-8"?>
<p:tagLst xmlns:p="http://schemas.openxmlformats.org/presentationml/2006/main">
  <p:tag name="PA" val="v5.2.9"/>
</p:tagLst>
</file>

<file path=ppt/tags/tag163.xml><?xml version="1.0" encoding="utf-8"?>
<p:tagLst xmlns:p="http://schemas.openxmlformats.org/presentationml/2006/main">
  <p:tag name="PA" val="v5.2.9"/>
</p:tagLst>
</file>

<file path=ppt/tags/tag164.xml><?xml version="1.0" encoding="utf-8"?>
<p:tagLst xmlns:p="http://schemas.openxmlformats.org/presentationml/2006/main">
  <p:tag name="PA" val="v5.2.9"/>
</p:tagLst>
</file>

<file path=ppt/tags/tag165.xml><?xml version="1.0" encoding="utf-8"?>
<p:tagLst xmlns:p="http://schemas.openxmlformats.org/presentationml/2006/main">
  <p:tag name="PA" val="v5.2.9"/>
</p:tagLst>
</file>

<file path=ppt/tags/tag166.xml><?xml version="1.0" encoding="utf-8"?>
<p:tagLst xmlns:p="http://schemas.openxmlformats.org/presentationml/2006/main">
  <p:tag name="PA" val="v5.2.9"/>
</p:tagLst>
</file>

<file path=ppt/tags/tag167.xml><?xml version="1.0" encoding="utf-8"?>
<p:tagLst xmlns:p="http://schemas.openxmlformats.org/presentationml/2006/main">
  <p:tag name="PA" val="v5.2.9"/>
</p:tagLst>
</file>

<file path=ppt/tags/tag168.xml><?xml version="1.0" encoding="utf-8"?>
<p:tagLst xmlns:p="http://schemas.openxmlformats.org/presentationml/2006/main">
  <p:tag name="PA" val="v5.2.11"/>
</p:tagLst>
</file>

<file path=ppt/tags/tag169.xml><?xml version="1.0" encoding="utf-8"?>
<p:tagLst xmlns:p="http://schemas.openxmlformats.org/presentationml/2006/main">
  <p:tag name="TYPE" val="icon"/>
</p:tagLst>
</file>

<file path=ppt/tags/tag170.xml><?xml version="1.0" encoding="utf-8"?>
<p:tagLst xmlns:p="http://schemas.openxmlformats.org/presentationml/2006/main">
  <p:tag name="PA" val="v5.2.11"/>
</p:tagLst>
</file>

<file path=ppt/tags/tag171.xml><?xml version="1.0" encoding="utf-8"?>
<p:tagLst xmlns:p="http://schemas.openxmlformats.org/presentationml/2006/main">
  <p:tag name="PA" val="v5.2.9"/>
</p:tagLst>
</file>

<file path=ppt/tags/tag172.xml><?xml version="1.0" encoding="utf-8"?>
<p:tagLst xmlns:p="http://schemas.openxmlformats.org/presentationml/2006/main">
  <p:tag name="PA" val="v5.2.9"/>
</p:tagLst>
</file>

<file path=ppt/tags/tag173.xml><?xml version="1.0" encoding="utf-8"?>
<p:tagLst xmlns:p="http://schemas.openxmlformats.org/presentationml/2006/main">
  <p:tag name="PA" val="v5.2.9"/>
</p:tagLst>
</file>

<file path=ppt/tags/tag174.xml><?xml version="1.0" encoding="utf-8"?>
<p:tagLst xmlns:p="http://schemas.openxmlformats.org/presentationml/2006/main">
  <p:tag name="PA" val="v5.2.9"/>
</p:tagLst>
</file>

<file path=ppt/tags/tag175.xml><?xml version="1.0" encoding="utf-8"?>
<p:tagLst xmlns:p="http://schemas.openxmlformats.org/presentationml/2006/main">
  <p:tag name="PA" val="v5.2.9"/>
</p:tagLst>
</file>

<file path=ppt/tags/tag176.xml><?xml version="1.0" encoding="utf-8"?>
<p:tagLst xmlns:p="http://schemas.openxmlformats.org/presentationml/2006/main">
  <p:tag name="PA" val="v5.2.9"/>
</p:tagLst>
</file>

<file path=ppt/tags/tag177.xml><?xml version="1.0" encoding="utf-8"?>
<p:tagLst xmlns:p="http://schemas.openxmlformats.org/presentationml/2006/main">
  <p:tag name="PA" val="v5.2.9"/>
</p:tagLst>
</file>

<file path=ppt/tags/tag178.xml><?xml version="1.0" encoding="utf-8"?>
<p:tagLst xmlns:p="http://schemas.openxmlformats.org/presentationml/2006/main">
  <p:tag name="PA" val="v5.2.9"/>
</p:tagLst>
</file>

<file path=ppt/tags/tag179.xml><?xml version="1.0" encoding="utf-8"?>
<p:tagLst xmlns:p="http://schemas.openxmlformats.org/presentationml/2006/main">
  <p:tag name="PA" val="v5.2.9"/>
</p:tagLst>
</file>

<file path=ppt/tags/tag180.xml><?xml version="1.0" encoding="utf-8"?>
<p:tagLst xmlns:p="http://schemas.openxmlformats.org/presentationml/2006/main">
  <p:tag name="PA" val="v5.2.9"/>
</p:tagLst>
</file>

<file path=ppt/tags/tag181.xml><?xml version="1.0" encoding="utf-8"?>
<p:tagLst xmlns:p="http://schemas.openxmlformats.org/presentationml/2006/main">
  <p:tag name="PA" val="v5.2.9"/>
</p:tagLst>
</file>

<file path=ppt/tags/tag182.xml><?xml version="1.0" encoding="utf-8"?>
<p:tagLst xmlns:p="http://schemas.openxmlformats.org/presentationml/2006/main">
  <p:tag name="PA" val="v5.2.9"/>
</p:tagLst>
</file>

<file path=ppt/tags/tag183.xml><?xml version="1.0" encoding="utf-8"?>
<p:tagLst xmlns:p="http://schemas.openxmlformats.org/presentationml/2006/main">
  <p:tag name="PA" val="v5.2.9"/>
</p:tagLst>
</file>

<file path=ppt/tags/tag184.xml><?xml version="1.0" encoding="utf-8"?>
<p:tagLst xmlns:p="http://schemas.openxmlformats.org/presentationml/2006/main">
  <p:tag name="PA" val="v5.2.9"/>
</p:tagLst>
</file>

<file path=ppt/tags/tag185.xml><?xml version="1.0" encoding="utf-8"?>
<p:tagLst xmlns:p="http://schemas.openxmlformats.org/presentationml/2006/main">
  <p:tag name="PA" val="v5.2.9"/>
</p:tagLst>
</file>

<file path=ppt/tags/tag186.xml><?xml version="1.0" encoding="utf-8"?>
<p:tagLst xmlns:p="http://schemas.openxmlformats.org/presentationml/2006/main">
  <p:tag name="PA" val="v5.2.9"/>
</p:tagLst>
</file>

<file path=ppt/tags/tag187.xml><?xml version="1.0" encoding="utf-8"?>
<p:tagLst xmlns:p="http://schemas.openxmlformats.org/presentationml/2006/main">
  <p:tag name="PA" val="v5.2.9"/>
</p:tagLst>
</file>

<file path=ppt/tags/tag188.xml><?xml version="1.0" encoding="utf-8"?>
<p:tagLst xmlns:p="http://schemas.openxmlformats.org/presentationml/2006/main">
  <p:tag name="PA" val="v5.2.9"/>
</p:tagLst>
</file>

<file path=ppt/tags/tag189.xml><?xml version="1.0" encoding="utf-8"?>
<p:tagLst xmlns:p="http://schemas.openxmlformats.org/presentationml/2006/main">
  <p:tag name="PA" val="v5.2.9"/>
</p:tagLst>
</file>

<file path=ppt/tags/tag190.xml><?xml version="1.0" encoding="utf-8"?>
<p:tagLst xmlns:p="http://schemas.openxmlformats.org/presentationml/2006/main">
  <p:tag name="PA" val="v5.2.9"/>
</p:tagLst>
</file>

<file path=ppt/tags/tag191.xml><?xml version="1.0" encoding="utf-8"?>
<p:tagLst xmlns:p="http://schemas.openxmlformats.org/presentationml/2006/main">
  <p:tag name="PA" val="v5.2.9"/>
</p:tagLst>
</file>

<file path=ppt/tags/tag192.xml><?xml version="1.0" encoding="utf-8"?>
<p:tagLst xmlns:p="http://schemas.openxmlformats.org/presentationml/2006/main">
  <p:tag name="PA" val="v5.2.9"/>
</p:tagLst>
</file>

<file path=ppt/tags/tag193.xml><?xml version="1.0" encoding="utf-8"?>
<p:tagLst xmlns:p="http://schemas.openxmlformats.org/presentationml/2006/main">
  <p:tag name="PA" val="v5.2.9"/>
</p:tagLst>
</file>

<file path=ppt/tags/tag194.xml><?xml version="1.0" encoding="utf-8"?>
<p:tagLst xmlns:p="http://schemas.openxmlformats.org/presentationml/2006/main">
  <p:tag name="PA" val="v5.2.9"/>
</p:tagLst>
</file>

<file path=ppt/tags/tag195.xml><?xml version="1.0" encoding="utf-8"?>
<p:tagLst xmlns:p="http://schemas.openxmlformats.org/presentationml/2006/main">
  <p:tag name="PA" val="v5.2.9"/>
</p:tagLst>
</file>

<file path=ppt/tags/tag196.xml><?xml version="1.0" encoding="utf-8"?>
<p:tagLst xmlns:p="http://schemas.openxmlformats.org/presentationml/2006/main">
  <p:tag name="PA" val="v5.2.9"/>
</p:tagLst>
</file>

<file path=ppt/tags/tag197.xml><?xml version="1.0" encoding="utf-8"?>
<p:tagLst xmlns:p="http://schemas.openxmlformats.org/presentationml/2006/main">
  <p:tag name="PA" val="v5.2.9"/>
</p:tagLst>
</file>

<file path=ppt/tags/tag198.xml><?xml version="1.0" encoding="utf-8"?>
<p:tagLst xmlns:p="http://schemas.openxmlformats.org/presentationml/2006/main">
  <p:tag name="PA" val="v5.2.9"/>
</p:tagLst>
</file>

<file path=ppt/tags/tag199.xml><?xml version="1.0" encoding="utf-8"?>
<p:tagLst xmlns:p="http://schemas.openxmlformats.org/presentationml/2006/main">
  <p:tag name="PA" val="v5.2.9"/>
</p:tagLst>
</file>

<file path=ppt/tags/tag200.xml><?xml version="1.0" encoding="utf-8"?>
<p:tagLst xmlns:p="http://schemas.openxmlformats.org/presentationml/2006/main">
  <p:tag name="PA" val="v5.2.9"/>
</p:tagLst>
</file>

<file path=ppt/tags/tag201.xml><?xml version="1.0" encoding="utf-8"?>
<p:tagLst xmlns:p="http://schemas.openxmlformats.org/presentationml/2006/main">
  <p:tag name="PA" val="v5.2.9"/>
</p:tagLst>
</file>

<file path=ppt/tags/tag202.xml><?xml version="1.0" encoding="utf-8"?>
<p:tagLst xmlns:p="http://schemas.openxmlformats.org/presentationml/2006/main">
  <p:tag name="PA" val="v5.2.11"/>
</p:tagLst>
</file>

<file path=ppt/tags/tag203.xml><?xml version="1.0" encoding="utf-8"?>
<p:tagLst xmlns:p="http://schemas.openxmlformats.org/presentationml/2006/main">
  <p:tag name="TYPE" val="icon"/>
</p:tagLst>
</file>

<file path=ppt/tags/tag204.xml><?xml version="1.0" encoding="utf-8"?>
<p:tagLst xmlns:p="http://schemas.openxmlformats.org/presentationml/2006/main">
  <p:tag name="PA" val="v5.2.11"/>
</p:tagLst>
</file>

<file path=ppt/tags/tag205.xml><?xml version="1.0" encoding="utf-8"?>
<p:tagLst xmlns:p="http://schemas.openxmlformats.org/presentationml/2006/main">
  <p:tag name="PA" val="v5.2.9"/>
</p:tagLst>
</file>

<file path=ppt/tags/tag206.xml><?xml version="1.0" encoding="utf-8"?>
<p:tagLst xmlns:p="http://schemas.openxmlformats.org/presentationml/2006/main">
  <p:tag name="PA" val="v5.2.9"/>
</p:tagLst>
</file>

<file path=ppt/tags/tag207.xml><?xml version="1.0" encoding="utf-8"?>
<p:tagLst xmlns:p="http://schemas.openxmlformats.org/presentationml/2006/main">
  <p:tag name="PA" val="v5.2.9"/>
</p:tagLst>
</file>

<file path=ppt/tags/tag208.xml><?xml version="1.0" encoding="utf-8"?>
<p:tagLst xmlns:p="http://schemas.openxmlformats.org/presentationml/2006/main">
  <p:tag name="PA" val="v5.2.9"/>
</p:tagLst>
</file>

<file path=ppt/tags/tag209.xml><?xml version="1.0" encoding="utf-8"?>
<p:tagLst xmlns:p="http://schemas.openxmlformats.org/presentationml/2006/main">
  <p:tag name="PA" val="v5.2.9"/>
</p:tagLst>
</file>

<file path=ppt/tags/tag210.xml><?xml version="1.0" encoding="utf-8"?>
<p:tagLst xmlns:p="http://schemas.openxmlformats.org/presentationml/2006/main">
  <p:tag name="PA" val="v5.2.9"/>
</p:tagLst>
</file>

<file path=ppt/tags/tag211.xml><?xml version="1.0" encoding="utf-8"?>
<p:tagLst xmlns:p="http://schemas.openxmlformats.org/presentationml/2006/main">
  <p:tag name="PA" val="v5.2.9"/>
</p:tagLst>
</file>

<file path=ppt/tags/tag212.xml><?xml version="1.0" encoding="utf-8"?>
<p:tagLst xmlns:p="http://schemas.openxmlformats.org/presentationml/2006/main">
  <p:tag name="PA" val="v5.2.9"/>
</p:tagLst>
</file>

<file path=ppt/tags/tag213.xml><?xml version="1.0" encoding="utf-8"?>
<p:tagLst xmlns:p="http://schemas.openxmlformats.org/presentationml/2006/main">
  <p:tag name="PA" val="v5.2.9"/>
</p:tagLst>
</file>

<file path=ppt/tags/tag214.xml><?xml version="1.0" encoding="utf-8"?>
<p:tagLst xmlns:p="http://schemas.openxmlformats.org/presentationml/2006/main">
  <p:tag name="PA" val="v5.2.9"/>
</p:tagLst>
</file>

<file path=ppt/tags/tag215.xml><?xml version="1.0" encoding="utf-8"?>
<p:tagLst xmlns:p="http://schemas.openxmlformats.org/presentationml/2006/main">
  <p:tag name="PA" val="v5.2.9"/>
</p:tagLst>
</file>

<file path=ppt/tags/tag216.xml><?xml version="1.0" encoding="utf-8"?>
<p:tagLst xmlns:p="http://schemas.openxmlformats.org/presentationml/2006/main">
  <p:tag name="PA" val="v5.2.9"/>
</p:tagLst>
</file>

<file path=ppt/tags/tag217.xml><?xml version="1.0" encoding="utf-8"?>
<p:tagLst xmlns:p="http://schemas.openxmlformats.org/presentationml/2006/main">
  <p:tag name="PA" val="v5.2.9"/>
</p:tagLst>
</file>

<file path=ppt/tags/tag218.xml><?xml version="1.0" encoding="utf-8"?>
<p:tagLst xmlns:p="http://schemas.openxmlformats.org/presentationml/2006/main">
  <p:tag name="PA" val="v5.2.9"/>
</p:tagLst>
</file>

<file path=ppt/tags/tag219.xml><?xml version="1.0" encoding="utf-8"?>
<p:tagLst xmlns:p="http://schemas.openxmlformats.org/presentationml/2006/main">
  <p:tag name="PA" val="v5.2.9"/>
</p:tagLst>
</file>

<file path=ppt/tags/tag220.xml><?xml version="1.0" encoding="utf-8"?>
<p:tagLst xmlns:p="http://schemas.openxmlformats.org/presentationml/2006/main">
  <p:tag name="PA" val="v5.2.9"/>
</p:tagLst>
</file>

<file path=ppt/tags/tag221.xml><?xml version="1.0" encoding="utf-8"?>
<p:tagLst xmlns:p="http://schemas.openxmlformats.org/presentationml/2006/main">
  <p:tag name="PA" val="v5.2.9"/>
</p:tagLst>
</file>

<file path=ppt/tags/tag222.xml><?xml version="1.0" encoding="utf-8"?>
<p:tagLst xmlns:p="http://schemas.openxmlformats.org/presentationml/2006/main">
  <p:tag name="PA" val="v5.2.9"/>
</p:tagLst>
</file>

<file path=ppt/tags/tag223.xml><?xml version="1.0" encoding="utf-8"?>
<p:tagLst xmlns:p="http://schemas.openxmlformats.org/presentationml/2006/main">
  <p:tag name="PA" val="v5.2.9"/>
</p:tagLst>
</file>

<file path=ppt/tags/tag224.xml><?xml version="1.0" encoding="utf-8"?>
<p:tagLst xmlns:p="http://schemas.openxmlformats.org/presentationml/2006/main">
  <p:tag name="PA" val="v5.2.9"/>
</p:tagLst>
</file>

<file path=ppt/tags/tag225.xml><?xml version="1.0" encoding="utf-8"?>
<p:tagLst xmlns:p="http://schemas.openxmlformats.org/presentationml/2006/main">
  <p:tag name="PA" val="v5.2.9"/>
</p:tagLst>
</file>

<file path=ppt/tags/tag226.xml><?xml version="1.0" encoding="utf-8"?>
<p:tagLst xmlns:p="http://schemas.openxmlformats.org/presentationml/2006/main">
  <p:tag name="PA" val="v5.2.9"/>
</p:tagLst>
</file>

<file path=ppt/tags/tag227.xml><?xml version="1.0" encoding="utf-8"?>
<p:tagLst xmlns:p="http://schemas.openxmlformats.org/presentationml/2006/main">
  <p:tag name="PA" val="v5.2.9"/>
</p:tagLst>
</file>

<file path=ppt/tags/tag228.xml><?xml version="1.0" encoding="utf-8"?>
<p:tagLst xmlns:p="http://schemas.openxmlformats.org/presentationml/2006/main">
  <p:tag name="PA" val="v5.2.9"/>
</p:tagLst>
</file>

<file path=ppt/tags/tag229.xml><?xml version="1.0" encoding="utf-8"?>
<p:tagLst xmlns:p="http://schemas.openxmlformats.org/presentationml/2006/main">
  <p:tag name="PA" val="v5.2.9"/>
</p:tagLst>
</file>

<file path=ppt/tags/tag230.xml><?xml version="1.0" encoding="utf-8"?>
<p:tagLst xmlns:p="http://schemas.openxmlformats.org/presentationml/2006/main">
  <p:tag name="PA" val="v5.2.9"/>
</p:tagLst>
</file>

<file path=ppt/tags/tag231.xml><?xml version="1.0" encoding="utf-8"?>
<p:tagLst xmlns:p="http://schemas.openxmlformats.org/presentationml/2006/main">
  <p:tag name="PA" val="v5.2.9"/>
</p:tagLst>
</file>

<file path=ppt/tags/tag232.xml><?xml version="1.0" encoding="utf-8"?>
<p:tagLst xmlns:p="http://schemas.openxmlformats.org/presentationml/2006/main">
  <p:tag name="PA" val="v5.2.9"/>
</p:tagLst>
</file>

<file path=ppt/tags/tag233.xml><?xml version="1.0" encoding="utf-8"?>
<p:tagLst xmlns:p="http://schemas.openxmlformats.org/presentationml/2006/main">
  <p:tag name="PA" val="v5.2.9"/>
</p:tagLst>
</file>

<file path=ppt/tags/tag234.xml><?xml version="1.0" encoding="utf-8"?>
<p:tagLst xmlns:p="http://schemas.openxmlformats.org/presentationml/2006/main">
  <p:tag name="PA" val="v5.2.9"/>
</p:tagLst>
</file>

<file path=ppt/tags/tag235.xml><?xml version="1.0" encoding="utf-8"?>
<p:tagLst xmlns:p="http://schemas.openxmlformats.org/presentationml/2006/main">
  <p:tag name="PA" val="v5.2.9"/>
</p:tagLst>
</file>

<file path=ppt/tags/tag236.xml><?xml version="1.0" encoding="utf-8"?>
<p:tagLst xmlns:p="http://schemas.openxmlformats.org/presentationml/2006/main">
  <p:tag name="PA" val="v5.2.11"/>
</p:tagLst>
</file>

<file path=ppt/tags/tag237.xml><?xml version="1.0" encoding="utf-8"?>
<p:tagLst xmlns:p="http://schemas.openxmlformats.org/presentationml/2006/main">
  <p:tag name="TYPE" val="icon"/>
</p:tagLst>
</file>

<file path=ppt/tags/tag238.xml><?xml version="1.0" encoding="utf-8"?>
<p:tagLst xmlns:p="http://schemas.openxmlformats.org/presentationml/2006/main">
  <p:tag name="PA" val="v5.2.11"/>
</p:tagLst>
</file>

<file path=ppt/tags/tag239.xml><?xml version="1.0" encoding="utf-8"?>
<p:tagLst xmlns:p="http://schemas.openxmlformats.org/presentationml/2006/main">
  <p:tag name="PA" val="v5.2.9"/>
</p:tagLst>
</file>

<file path=ppt/tags/tag240.xml><?xml version="1.0" encoding="utf-8"?>
<p:tagLst xmlns:p="http://schemas.openxmlformats.org/presentationml/2006/main">
  <p:tag name="PA" val="v5.2.9"/>
</p:tagLst>
</file>

<file path=ppt/tags/tag241.xml><?xml version="1.0" encoding="utf-8"?>
<p:tagLst xmlns:p="http://schemas.openxmlformats.org/presentationml/2006/main">
  <p:tag name="PA" val="v5.2.9"/>
</p:tagLst>
</file>

<file path=ppt/tags/tag242.xml><?xml version="1.0" encoding="utf-8"?>
<p:tagLst xmlns:p="http://schemas.openxmlformats.org/presentationml/2006/main">
  <p:tag name="PA" val="v5.2.9"/>
</p:tagLst>
</file>

<file path=ppt/tags/tag243.xml><?xml version="1.0" encoding="utf-8"?>
<p:tagLst xmlns:p="http://schemas.openxmlformats.org/presentationml/2006/main">
  <p:tag name="PA" val="v5.2.9"/>
</p:tagLst>
</file>

<file path=ppt/tags/tag244.xml><?xml version="1.0" encoding="utf-8"?>
<p:tagLst xmlns:p="http://schemas.openxmlformats.org/presentationml/2006/main">
  <p:tag name="PA" val="v5.2.9"/>
</p:tagLst>
</file>

<file path=ppt/tags/tag245.xml><?xml version="1.0" encoding="utf-8"?>
<p:tagLst xmlns:p="http://schemas.openxmlformats.org/presentationml/2006/main">
  <p:tag name="PA" val="v5.2.9"/>
</p:tagLst>
</file>

<file path=ppt/tags/tag246.xml><?xml version="1.0" encoding="utf-8"?>
<p:tagLst xmlns:p="http://schemas.openxmlformats.org/presentationml/2006/main">
  <p:tag name="PA" val="v5.2.9"/>
</p:tagLst>
</file>

<file path=ppt/tags/tag247.xml><?xml version="1.0" encoding="utf-8"?>
<p:tagLst xmlns:p="http://schemas.openxmlformats.org/presentationml/2006/main">
  <p:tag name="PA" val="v5.2.9"/>
</p:tagLst>
</file>

<file path=ppt/tags/tag248.xml><?xml version="1.0" encoding="utf-8"?>
<p:tagLst xmlns:p="http://schemas.openxmlformats.org/presentationml/2006/main">
  <p:tag name="PA" val="v5.2.9"/>
</p:tagLst>
</file>

<file path=ppt/tags/tag249.xml><?xml version="1.0" encoding="utf-8"?>
<p:tagLst xmlns:p="http://schemas.openxmlformats.org/presentationml/2006/main">
  <p:tag name="PA" val="v5.2.9"/>
</p:tagLst>
</file>

<file path=ppt/tags/tag250.xml><?xml version="1.0" encoding="utf-8"?>
<p:tagLst xmlns:p="http://schemas.openxmlformats.org/presentationml/2006/main">
  <p:tag name="PA" val="v5.2.9"/>
</p:tagLst>
</file>

<file path=ppt/tags/tag251.xml><?xml version="1.0" encoding="utf-8"?>
<p:tagLst xmlns:p="http://schemas.openxmlformats.org/presentationml/2006/main">
  <p:tag name="PA" val="v5.2.9"/>
</p:tagLst>
</file>

<file path=ppt/tags/tag252.xml><?xml version="1.0" encoding="utf-8"?>
<p:tagLst xmlns:p="http://schemas.openxmlformats.org/presentationml/2006/main">
  <p:tag name="PA" val="v5.2.9"/>
</p:tagLst>
</file>

<file path=ppt/tags/tag253.xml><?xml version="1.0" encoding="utf-8"?>
<p:tagLst xmlns:p="http://schemas.openxmlformats.org/presentationml/2006/main">
  <p:tag name="PA" val="v5.2.9"/>
</p:tagLst>
</file>

<file path=ppt/tags/tag254.xml><?xml version="1.0" encoding="utf-8"?>
<p:tagLst xmlns:p="http://schemas.openxmlformats.org/presentationml/2006/main">
  <p:tag name="PA" val="v5.2.9"/>
</p:tagLst>
</file>

<file path=ppt/tags/tag255.xml><?xml version="1.0" encoding="utf-8"?>
<p:tagLst xmlns:p="http://schemas.openxmlformats.org/presentationml/2006/main">
  <p:tag name="PA" val="v5.2.9"/>
</p:tagLst>
</file>

<file path=ppt/tags/tag256.xml><?xml version="1.0" encoding="utf-8"?>
<p:tagLst xmlns:p="http://schemas.openxmlformats.org/presentationml/2006/main">
  <p:tag name="PA" val="v5.2.9"/>
</p:tagLst>
</file>

<file path=ppt/tags/tag257.xml><?xml version="1.0" encoding="utf-8"?>
<p:tagLst xmlns:p="http://schemas.openxmlformats.org/presentationml/2006/main">
  <p:tag name="PA" val="v5.2.9"/>
</p:tagLst>
</file>

<file path=ppt/tags/tag258.xml><?xml version="1.0" encoding="utf-8"?>
<p:tagLst xmlns:p="http://schemas.openxmlformats.org/presentationml/2006/main">
  <p:tag name="PA" val="v5.2.9"/>
</p:tagLst>
</file>

<file path=ppt/tags/tag259.xml><?xml version="1.0" encoding="utf-8"?>
<p:tagLst xmlns:p="http://schemas.openxmlformats.org/presentationml/2006/main">
  <p:tag name="PA" val="v5.2.9"/>
</p:tagLst>
</file>

<file path=ppt/tags/tag260.xml><?xml version="1.0" encoding="utf-8"?>
<p:tagLst xmlns:p="http://schemas.openxmlformats.org/presentationml/2006/main">
  <p:tag name="PA" val="v5.2.9"/>
</p:tagLst>
</file>

<file path=ppt/tags/tag261.xml><?xml version="1.0" encoding="utf-8"?>
<p:tagLst xmlns:p="http://schemas.openxmlformats.org/presentationml/2006/main">
  <p:tag name="PA" val="v5.2.9"/>
</p:tagLst>
</file>

<file path=ppt/tags/tag262.xml><?xml version="1.0" encoding="utf-8"?>
<p:tagLst xmlns:p="http://schemas.openxmlformats.org/presentationml/2006/main">
  <p:tag name="PA" val="v5.2.9"/>
</p:tagLst>
</file>

<file path=ppt/tags/tag263.xml><?xml version="1.0" encoding="utf-8"?>
<p:tagLst xmlns:p="http://schemas.openxmlformats.org/presentationml/2006/main">
  <p:tag name="PA" val="v5.2.9"/>
</p:tagLst>
</file>

<file path=ppt/tags/tag264.xml><?xml version="1.0" encoding="utf-8"?>
<p:tagLst xmlns:p="http://schemas.openxmlformats.org/presentationml/2006/main">
  <p:tag name="PA" val="v5.2.9"/>
</p:tagLst>
</file>

<file path=ppt/tags/tag265.xml><?xml version="1.0" encoding="utf-8"?>
<p:tagLst xmlns:p="http://schemas.openxmlformats.org/presentationml/2006/main">
  <p:tag name="PA" val="v5.2.9"/>
</p:tagLst>
</file>

<file path=ppt/tags/tag266.xml><?xml version="1.0" encoding="utf-8"?>
<p:tagLst xmlns:p="http://schemas.openxmlformats.org/presentationml/2006/main">
  <p:tag name="PA" val="v5.2.9"/>
</p:tagLst>
</file>

<file path=ppt/tags/tag267.xml><?xml version="1.0" encoding="utf-8"?>
<p:tagLst xmlns:p="http://schemas.openxmlformats.org/presentationml/2006/main">
  <p:tag name="PA" val="v5.2.9"/>
</p:tagLst>
</file>

<file path=ppt/tags/tag268.xml><?xml version="1.0" encoding="utf-8"?>
<p:tagLst xmlns:p="http://schemas.openxmlformats.org/presentationml/2006/main">
  <p:tag name="PA" val="v5.2.9"/>
</p:tagLst>
</file>

<file path=ppt/tags/tag269.xml><?xml version="1.0" encoding="utf-8"?>
<p:tagLst xmlns:p="http://schemas.openxmlformats.org/presentationml/2006/main">
  <p:tag name="PA" val="v5.2.9"/>
</p:tagLst>
</file>

<file path=ppt/tags/tag270.xml><?xml version="1.0" encoding="utf-8"?>
<p:tagLst xmlns:p="http://schemas.openxmlformats.org/presentationml/2006/main">
  <p:tag name="PA" val="v5.2.11"/>
</p:tagLst>
</file>

<file path=ppt/tags/tag271.xml><?xml version="1.0" encoding="utf-8"?>
<p:tagLst xmlns:p="http://schemas.openxmlformats.org/presentationml/2006/main">
  <p:tag name="TYPE" val="icon"/>
</p:tagLst>
</file>

<file path=ppt/tags/tag272.xml><?xml version="1.0" encoding="utf-8"?>
<p:tagLst xmlns:p="http://schemas.openxmlformats.org/presentationml/2006/main">
  <p:tag name="PA" val="v5.2.11"/>
</p:tagLst>
</file>

<file path=ppt/tags/tag273.xml><?xml version="1.0" encoding="utf-8"?>
<p:tagLst xmlns:p="http://schemas.openxmlformats.org/presentationml/2006/main">
  <p:tag name="PA" val="v5.2.9"/>
</p:tagLst>
</file>

<file path=ppt/tags/tag274.xml><?xml version="1.0" encoding="utf-8"?>
<p:tagLst xmlns:p="http://schemas.openxmlformats.org/presentationml/2006/main">
  <p:tag name="PA" val="v5.2.9"/>
</p:tagLst>
</file>

<file path=ppt/tags/tag275.xml><?xml version="1.0" encoding="utf-8"?>
<p:tagLst xmlns:p="http://schemas.openxmlformats.org/presentationml/2006/main">
  <p:tag name="PA" val="v5.2.9"/>
</p:tagLst>
</file>

<file path=ppt/tags/tag276.xml><?xml version="1.0" encoding="utf-8"?>
<p:tagLst xmlns:p="http://schemas.openxmlformats.org/presentationml/2006/main">
  <p:tag name="PA" val="v5.2.9"/>
</p:tagLst>
</file>

<file path=ppt/tags/tag277.xml><?xml version="1.0" encoding="utf-8"?>
<p:tagLst xmlns:p="http://schemas.openxmlformats.org/presentationml/2006/main">
  <p:tag name="PA" val="v5.2.9"/>
</p:tagLst>
</file>

<file path=ppt/tags/tag278.xml><?xml version="1.0" encoding="utf-8"?>
<p:tagLst xmlns:p="http://schemas.openxmlformats.org/presentationml/2006/main">
  <p:tag name="PA" val="v5.2.9"/>
</p:tagLst>
</file>

<file path=ppt/tags/tag279.xml><?xml version="1.0" encoding="utf-8"?>
<p:tagLst xmlns:p="http://schemas.openxmlformats.org/presentationml/2006/main">
  <p:tag name="PA" val="v5.2.9"/>
</p:tagLst>
</file>

<file path=ppt/tags/tag280.xml><?xml version="1.0" encoding="utf-8"?>
<p:tagLst xmlns:p="http://schemas.openxmlformats.org/presentationml/2006/main">
  <p:tag name="PA" val="v5.2.9"/>
</p:tagLst>
</file>

<file path=ppt/tags/tag281.xml><?xml version="1.0" encoding="utf-8"?>
<p:tagLst xmlns:p="http://schemas.openxmlformats.org/presentationml/2006/main">
  <p:tag name="PA" val="v5.2.9"/>
</p:tagLst>
</file>

<file path=ppt/tags/tag282.xml><?xml version="1.0" encoding="utf-8"?>
<p:tagLst xmlns:p="http://schemas.openxmlformats.org/presentationml/2006/main">
  <p:tag name="PA" val="v5.2.9"/>
</p:tagLst>
</file>

<file path=ppt/tags/tag283.xml><?xml version="1.0" encoding="utf-8"?>
<p:tagLst xmlns:p="http://schemas.openxmlformats.org/presentationml/2006/main">
  <p:tag name="PA" val="v5.2.9"/>
</p:tagLst>
</file>

<file path=ppt/tags/tag284.xml><?xml version="1.0" encoding="utf-8"?>
<p:tagLst xmlns:p="http://schemas.openxmlformats.org/presentationml/2006/main">
  <p:tag name="PA" val="v5.2.9"/>
</p:tagLst>
</file>

<file path=ppt/tags/tag285.xml><?xml version="1.0" encoding="utf-8"?>
<p:tagLst xmlns:p="http://schemas.openxmlformats.org/presentationml/2006/main">
  <p:tag name="PA" val="v5.2.9"/>
</p:tagLst>
</file>

<file path=ppt/tags/tag286.xml><?xml version="1.0" encoding="utf-8"?>
<p:tagLst xmlns:p="http://schemas.openxmlformats.org/presentationml/2006/main">
  <p:tag name="PA" val="v5.2.9"/>
</p:tagLst>
</file>

<file path=ppt/tags/tag287.xml><?xml version="1.0" encoding="utf-8"?>
<p:tagLst xmlns:p="http://schemas.openxmlformats.org/presentationml/2006/main">
  <p:tag name="PA" val="v5.2.9"/>
</p:tagLst>
</file>

<file path=ppt/tags/tag288.xml><?xml version="1.0" encoding="utf-8"?>
<p:tagLst xmlns:p="http://schemas.openxmlformats.org/presentationml/2006/main">
  <p:tag name="PA" val="v5.2.9"/>
</p:tagLst>
</file>

<file path=ppt/tags/tag289.xml><?xml version="1.0" encoding="utf-8"?>
<p:tagLst xmlns:p="http://schemas.openxmlformats.org/presentationml/2006/main">
  <p:tag name="PA" val="v5.2.9"/>
</p:tagLst>
</file>

<file path=ppt/tags/tag290.xml><?xml version="1.0" encoding="utf-8"?>
<p:tagLst xmlns:p="http://schemas.openxmlformats.org/presentationml/2006/main">
  <p:tag name="PA" val="v5.2.9"/>
</p:tagLst>
</file>

<file path=ppt/tags/tag291.xml><?xml version="1.0" encoding="utf-8"?>
<p:tagLst xmlns:p="http://schemas.openxmlformats.org/presentationml/2006/main">
  <p:tag name="PA" val="v5.2.9"/>
</p:tagLst>
</file>

<file path=ppt/tags/tag292.xml><?xml version="1.0" encoding="utf-8"?>
<p:tagLst xmlns:p="http://schemas.openxmlformats.org/presentationml/2006/main">
  <p:tag name="PA" val="v5.2.9"/>
</p:tagLst>
</file>

<file path=ppt/tags/tag293.xml><?xml version="1.0" encoding="utf-8"?>
<p:tagLst xmlns:p="http://schemas.openxmlformats.org/presentationml/2006/main">
  <p:tag name="PA" val="v5.2.9"/>
</p:tagLst>
</file>

<file path=ppt/tags/tag294.xml><?xml version="1.0" encoding="utf-8"?>
<p:tagLst xmlns:p="http://schemas.openxmlformats.org/presentationml/2006/main">
  <p:tag name="PA" val="v5.2.9"/>
</p:tagLst>
</file>

<file path=ppt/tags/tag295.xml><?xml version="1.0" encoding="utf-8"?>
<p:tagLst xmlns:p="http://schemas.openxmlformats.org/presentationml/2006/main">
  <p:tag name="PA" val="v5.2.9"/>
</p:tagLst>
</file>

<file path=ppt/tags/tag296.xml><?xml version="1.0" encoding="utf-8"?>
<p:tagLst xmlns:p="http://schemas.openxmlformats.org/presentationml/2006/main">
  <p:tag name="PA" val="v5.2.9"/>
</p:tagLst>
</file>

<file path=ppt/tags/tag297.xml><?xml version="1.0" encoding="utf-8"?>
<p:tagLst xmlns:p="http://schemas.openxmlformats.org/presentationml/2006/main">
  <p:tag name="PA" val="v5.2.9"/>
</p:tagLst>
</file>

<file path=ppt/tags/tag298.xml><?xml version="1.0" encoding="utf-8"?>
<p:tagLst xmlns:p="http://schemas.openxmlformats.org/presentationml/2006/main">
  <p:tag name="PA" val="v5.2.9"/>
</p:tagLst>
</file>

<file path=ppt/tags/tag299.xml><?xml version="1.0" encoding="utf-8"?>
<p:tagLst xmlns:p="http://schemas.openxmlformats.org/presentationml/2006/main">
  <p:tag name="PA" val="v5.2.9"/>
</p:tagLst>
</file>

<file path=ppt/tags/tag300.xml><?xml version="1.0" encoding="utf-8"?>
<p:tagLst xmlns:p="http://schemas.openxmlformats.org/presentationml/2006/main">
  <p:tag name="PA" val="v5.2.9"/>
</p:tagLst>
</file>

<file path=ppt/tags/tag301.xml><?xml version="1.0" encoding="utf-8"?>
<p:tagLst xmlns:p="http://schemas.openxmlformats.org/presentationml/2006/main">
  <p:tag name="PA" val="v5.2.9"/>
</p:tagLst>
</file>

<file path=ppt/tags/tag302.xml><?xml version="1.0" encoding="utf-8"?>
<p:tagLst xmlns:p="http://schemas.openxmlformats.org/presentationml/2006/main">
  <p:tag name="PA" val="v5.2.9"/>
</p:tagLst>
</file>

<file path=ppt/tags/tag303.xml><?xml version="1.0" encoding="utf-8"?>
<p:tagLst xmlns:p="http://schemas.openxmlformats.org/presentationml/2006/main">
  <p:tag name="PA" val="v5.2.9"/>
</p:tagLst>
</file>

<file path=ppt/tags/tag304.xml><?xml version="1.0" encoding="utf-8"?>
<p:tagLst xmlns:p="http://schemas.openxmlformats.org/presentationml/2006/main">
  <p:tag name="PA" val="v5.2.11"/>
</p:tagLst>
</file>

<file path=ppt/tags/tag305.xml><?xml version="1.0" encoding="utf-8"?>
<p:tagLst xmlns:p="http://schemas.openxmlformats.org/presentationml/2006/main">
  <p:tag name="TYPE" val="icon"/>
</p:tagLst>
</file>

<file path=ppt/tags/tag306.xml><?xml version="1.0" encoding="utf-8"?>
<p:tagLst xmlns:p="http://schemas.openxmlformats.org/presentationml/2006/main">
  <p:tag name="PA" val="v5.2.11"/>
</p:tagLst>
</file>

<file path=ppt/tags/tag307.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08.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09.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0.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1.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2.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3.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4.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5.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6.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7.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8.xml><?xml version="1.0" encoding="utf-8"?>
<p:tagLst xmlns:p="http://schemas.openxmlformats.org/presentationml/2006/main">
  <p:tag name="KSO_WM_DIAGRAM_VIRTUALLY_FRAME" val="{&quot;height&quot;:223.72606299212597,&quot;left&quot;:218.24811023622047,&quot;top&quot;:98.87708661417324,&quot;width&quot;:479.3518897637796}"/>
</p:tagLst>
</file>

<file path=ppt/tags/tag319.xml><?xml version="1.0" encoding="utf-8"?>
<p:tagLst xmlns:p="http://schemas.openxmlformats.org/presentationml/2006/main">
  <p:tag name="PA" val="v5.2.11"/>
</p:tagLst>
</file>

<file path=ppt/tags/tag320.xml><?xml version="1.0" encoding="utf-8"?>
<p:tagLst xmlns:p="http://schemas.openxmlformats.org/presentationml/2006/main">
  <p:tag name="KSO_WM_DIAGRAM_VIRTUALLY_FRAME" val="{&quot;height&quot;:512.4,&quot;left&quot;:38.35,&quot;top&quot;:84.95,&quot;width&quot;:894.05}"/>
</p:tagLst>
</file>

<file path=ppt/tags/tag321.xml><?xml version="1.0" encoding="utf-8"?>
<p:tagLst xmlns:p="http://schemas.openxmlformats.org/presentationml/2006/main">
  <p:tag name="KSO_WM_DIAGRAM_VIRTUALLY_FRAME" val="{&quot;height&quot;:512.4,&quot;left&quot;:38.35,&quot;top&quot;:84.95,&quot;width&quot;:894.05}"/>
</p:tagLst>
</file>

<file path=ppt/tags/tag322.xml><?xml version="1.0" encoding="utf-8"?>
<p:tagLst xmlns:p="http://schemas.openxmlformats.org/presentationml/2006/main">
  <p:tag name="KSO_WM_DIAGRAM_VIRTUALLY_FRAME" val="{&quot;height&quot;:512.4,&quot;left&quot;:38.35,&quot;top&quot;:84.95,&quot;width&quot;:894.05}"/>
</p:tagLst>
</file>

<file path=ppt/tags/tag323.xml><?xml version="1.0" encoding="utf-8"?>
<p:tagLst xmlns:p="http://schemas.openxmlformats.org/presentationml/2006/main">
  <p:tag name="KSO_WM_DIAGRAM_VIRTUALLY_FRAME" val="{&quot;height&quot;:512.4,&quot;left&quot;:38.35,&quot;top&quot;:84.95,&quot;width&quot;:894.05}"/>
</p:tagLst>
</file>

<file path=ppt/tags/tag324.xml><?xml version="1.0" encoding="utf-8"?>
<p:tagLst xmlns:p="http://schemas.openxmlformats.org/presentationml/2006/main">
  <p:tag name="KSO_WM_DIAGRAM_VIRTUALLY_FRAME" val="{&quot;height&quot;:512.4,&quot;left&quot;:38.35,&quot;top&quot;:84.95,&quot;width&quot;:894.05}"/>
</p:tagLst>
</file>

<file path=ppt/tags/tag325.xml><?xml version="1.0" encoding="utf-8"?>
<p:tagLst xmlns:p="http://schemas.openxmlformats.org/presentationml/2006/main">
  <p:tag name="KSO_WM_DIAGRAM_VIRTUALLY_FRAME" val="{&quot;height&quot;:512.4,&quot;left&quot;:38.35,&quot;top&quot;:84.95,&quot;width&quot;:894.05}"/>
</p:tagLst>
</file>

<file path=ppt/tags/tag326.xml><?xml version="1.0" encoding="utf-8"?>
<p:tagLst xmlns:p="http://schemas.openxmlformats.org/presentationml/2006/main">
  <p:tag name="KSO_WM_DIAGRAM_VIRTUALLY_FRAME" val="{&quot;height&quot;:512.4,&quot;left&quot;:38.35,&quot;top&quot;:84.95,&quot;width&quot;:894.05}"/>
</p:tagLst>
</file>

<file path=ppt/tags/tag327.xml><?xml version="1.0" encoding="utf-8"?>
<p:tagLst xmlns:p="http://schemas.openxmlformats.org/presentationml/2006/main">
  <p:tag name="KSO_WM_DIAGRAM_VIRTUALLY_FRAME" val="{&quot;height&quot;:512.4,&quot;left&quot;:38.35,&quot;top&quot;:84.95,&quot;width&quot;:894.05}"/>
</p:tagLst>
</file>

<file path=ppt/tags/tag328.xml><?xml version="1.0" encoding="utf-8"?>
<p:tagLst xmlns:p="http://schemas.openxmlformats.org/presentationml/2006/main">
  <p:tag name="KSO_WM_DIAGRAM_VIRTUALLY_FRAME" val="{&quot;height&quot;:512.4,&quot;left&quot;:38.35,&quot;top&quot;:84.95,&quot;width&quot;:894.05}"/>
</p:tagLst>
</file>

<file path=ppt/tags/tag329.xml><?xml version="1.0" encoding="utf-8"?>
<p:tagLst xmlns:p="http://schemas.openxmlformats.org/presentationml/2006/main">
  <p:tag name="KSO_WM_DIAGRAM_VIRTUALLY_FRAME" val="{&quot;height&quot;:512.4,&quot;left&quot;:38.35,&quot;top&quot;:84.95,&quot;width&quot;:894.05}"/>
</p:tagLst>
</file>

<file path=ppt/tags/tag330.xml><?xml version="1.0" encoding="utf-8"?>
<p:tagLst xmlns:p="http://schemas.openxmlformats.org/presentationml/2006/main">
  <p:tag name="KSO_WM_DIAGRAM_VIRTUALLY_FRAME" val="{&quot;height&quot;:512.4,&quot;left&quot;:38.35,&quot;top&quot;:84.95,&quot;width&quot;:894.05}"/>
</p:tagLst>
</file>

<file path=ppt/tags/tag331.xml><?xml version="1.0" encoding="utf-8"?>
<p:tagLst xmlns:p="http://schemas.openxmlformats.org/presentationml/2006/main">
  <p:tag name="KSO_WM_DIAGRAM_VIRTUALLY_FRAME" val="{&quot;height&quot;:512.4,&quot;left&quot;:38.35,&quot;top&quot;:84.95,&quot;width&quot;:894.05}"/>
</p:tagLst>
</file>

<file path=ppt/tags/tag332.xml><?xml version="1.0" encoding="utf-8"?>
<p:tagLst xmlns:p="http://schemas.openxmlformats.org/presentationml/2006/main">
  <p:tag name="PA" val="v5.2.11"/>
</p:tagLst>
</file>

<file path=ppt/tags/tag333.xml><?xml version="1.0" encoding="utf-8"?>
<p:tagLst xmlns:p="http://schemas.openxmlformats.org/presentationml/2006/main">
  <p:tag name="KSO_WM_DIAGRAM_VIRTUALLY_FRAME" val="{&quot;height&quot;:287.6,&quot;left&quot;:35.8,&quot;top&quot;:169.7,&quot;width&quot;:887.9}"/>
</p:tagLst>
</file>

<file path=ppt/tags/tag334.xml><?xml version="1.0" encoding="utf-8"?>
<p:tagLst xmlns:p="http://schemas.openxmlformats.org/presentationml/2006/main">
  <p:tag name="KSO_WM_DIAGRAM_VIRTUALLY_FRAME" val="{&quot;height&quot;:287.6,&quot;left&quot;:35.8,&quot;top&quot;:169.7,&quot;width&quot;:887.9}"/>
</p:tagLst>
</file>

<file path=ppt/tags/tag335.xml><?xml version="1.0" encoding="utf-8"?>
<p:tagLst xmlns:p="http://schemas.openxmlformats.org/presentationml/2006/main">
  <p:tag name="KSO_WM_DIAGRAM_VIRTUALLY_FRAME" val="{&quot;height&quot;:287.6,&quot;left&quot;:35.8,&quot;top&quot;:169.7,&quot;width&quot;:887.9}"/>
</p:tagLst>
</file>

<file path=ppt/tags/tag336.xml><?xml version="1.0" encoding="utf-8"?>
<p:tagLst xmlns:p="http://schemas.openxmlformats.org/presentationml/2006/main">
  <p:tag name="KSO_WM_DIAGRAM_VIRTUALLY_FRAME" val="{&quot;height&quot;:287.6,&quot;left&quot;:35.8,&quot;top&quot;:169.7,&quot;width&quot;:887.9}"/>
</p:tagLst>
</file>

<file path=ppt/tags/tag337.xml><?xml version="1.0" encoding="utf-8"?>
<p:tagLst xmlns:p="http://schemas.openxmlformats.org/presentationml/2006/main">
  <p:tag name="KSO_WM_DIAGRAM_VIRTUALLY_FRAME" val="{&quot;height&quot;:287.6,&quot;left&quot;:35.8,&quot;top&quot;:169.7,&quot;width&quot;:887.9}"/>
</p:tagLst>
</file>

<file path=ppt/tags/tag338.xml><?xml version="1.0" encoding="utf-8"?>
<p:tagLst xmlns:p="http://schemas.openxmlformats.org/presentationml/2006/main">
  <p:tag name="KSO_WM_DIAGRAM_VIRTUALLY_FRAME" val="{&quot;height&quot;:287.6,&quot;left&quot;:35.8,&quot;top&quot;:169.7,&quot;width&quot;:887.9}"/>
</p:tagLst>
</file>

<file path=ppt/tags/tag339.xml><?xml version="1.0" encoding="utf-8"?>
<p:tagLst xmlns:p="http://schemas.openxmlformats.org/presentationml/2006/main">
  <p:tag name="KSO_WM_DIAGRAM_VIRTUALLY_FRAME" val="{&quot;height&quot;:287.6,&quot;left&quot;:35.8,&quot;top&quot;:169.7,&quot;width&quot;:887.9}"/>
</p:tagLst>
</file>

<file path=ppt/tags/tag340.xml><?xml version="1.0" encoding="utf-8"?>
<p:tagLst xmlns:p="http://schemas.openxmlformats.org/presentationml/2006/main">
  <p:tag name="KSO_WM_DIAGRAM_VIRTUALLY_FRAME" val="{&quot;height&quot;:287.6,&quot;left&quot;:35.8,&quot;top&quot;:169.7,&quot;width&quot;:887.9}"/>
</p:tagLst>
</file>

<file path=ppt/tags/tag341.xml><?xml version="1.0" encoding="utf-8"?>
<p:tagLst xmlns:p="http://schemas.openxmlformats.org/presentationml/2006/main">
  <p:tag name="KSO_WM_DIAGRAM_VIRTUALLY_FRAME" val="{&quot;height&quot;:287.6,&quot;left&quot;:35.8,&quot;top&quot;:169.7,&quot;width&quot;:887.9}"/>
</p:tagLst>
</file>

<file path=ppt/tags/tag342.xml><?xml version="1.0" encoding="utf-8"?>
<p:tagLst xmlns:p="http://schemas.openxmlformats.org/presentationml/2006/main">
  <p:tag name="KSO_WM_DIAGRAM_VIRTUALLY_FRAME" val="{&quot;height&quot;:287.6,&quot;left&quot;:35.8,&quot;top&quot;:169.7,&quot;width&quot;:887.9}"/>
</p:tagLst>
</file>

<file path=ppt/tags/tag343.xml><?xml version="1.0" encoding="utf-8"?>
<p:tagLst xmlns:p="http://schemas.openxmlformats.org/presentationml/2006/main">
  <p:tag name="KSO_WM_DIAGRAM_VIRTUALLY_FRAME" val="{&quot;height&quot;:287.6,&quot;left&quot;:35.8,&quot;top&quot;:169.7,&quot;width&quot;:887.9}"/>
</p:tagLst>
</file>

<file path=ppt/tags/tag344.xml><?xml version="1.0" encoding="utf-8"?>
<p:tagLst xmlns:p="http://schemas.openxmlformats.org/presentationml/2006/main">
  <p:tag name="KSO_WM_DIAGRAM_VIRTUALLY_FRAME" val="{&quot;height&quot;:287.6,&quot;left&quot;:35.8,&quot;top&quot;:169.7,&quot;width&quot;:887.9}"/>
</p:tagLst>
</file>

<file path=ppt/tags/tag345.xml><?xml version="1.0" encoding="utf-8"?>
<p:tagLst xmlns:p="http://schemas.openxmlformats.org/presentationml/2006/main">
  <p:tag name="KSO_WM_DIAGRAM_VIRTUALLY_FRAME" val="{&quot;height&quot;:287.6,&quot;left&quot;:35.8,&quot;top&quot;:169.7,&quot;width&quot;:887.9}"/>
</p:tagLst>
</file>

<file path=ppt/tags/tag346.xml><?xml version="1.0" encoding="utf-8"?>
<p:tagLst xmlns:p="http://schemas.openxmlformats.org/presentationml/2006/main">
  <p:tag name="KSO_WM_DIAGRAM_VIRTUALLY_FRAME" val="{&quot;height&quot;:287.6,&quot;left&quot;:35.8,&quot;top&quot;:169.7,&quot;width&quot;:887.9}"/>
</p:tagLst>
</file>

<file path=ppt/tags/tag347.xml><?xml version="1.0" encoding="utf-8"?>
<p:tagLst xmlns:p="http://schemas.openxmlformats.org/presentationml/2006/main">
  <p:tag name="KSO_WM_DIAGRAM_VIRTUALLY_FRAME" val="{&quot;height&quot;:287.6,&quot;left&quot;:35.8,&quot;top&quot;:169.7,&quot;width&quot;:887.9}"/>
</p:tagLst>
</file>

<file path=ppt/tags/tag348.xml><?xml version="1.0" encoding="utf-8"?>
<p:tagLst xmlns:p="http://schemas.openxmlformats.org/presentationml/2006/main">
  <p:tag name="KSO_WM_DIAGRAM_VIRTUALLY_FRAME" val="{&quot;height&quot;:287.6,&quot;left&quot;:35.8,&quot;top&quot;:169.7,&quot;width&quot;:887.9}"/>
</p:tagLst>
</file>

<file path=ppt/tags/tag349.xml><?xml version="1.0" encoding="utf-8"?>
<p:tagLst xmlns:p="http://schemas.openxmlformats.org/presentationml/2006/main">
  <p:tag name="PA" val="v5.2.11"/>
</p:tagLst>
</file>

<file path=ppt/tags/tag350.xml><?xml version="1.0" encoding="utf-8"?>
<p:tagLst xmlns:p="http://schemas.openxmlformats.org/presentationml/2006/main">
  <p:tag name="KSO_WM_DIAGRAM_VIRTUALLY_FRAME" val="{&quot;height&quot;:390,&quot;left&quot;:60,&quot;top&quot;:130,&quot;width&quot;:840}"/>
</p:tagLst>
</file>

<file path=ppt/tags/tag351.xml><?xml version="1.0" encoding="utf-8"?>
<p:tagLst xmlns:p="http://schemas.openxmlformats.org/presentationml/2006/main">
  <p:tag name="KSO_WM_DIAGRAM_VIRTUALLY_FRAME" val="{&quot;height&quot;:390,&quot;left&quot;:60,&quot;top&quot;:130,&quot;width&quot;:840}"/>
</p:tagLst>
</file>

<file path=ppt/tags/tag352.xml><?xml version="1.0" encoding="utf-8"?>
<p:tagLst xmlns:p="http://schemas.openxmlformats.org/presentationml/2006/main">
  <p:tag name="KSO_WM_DIAGRAM_VIRTUALLY_FRAME" val="{&quot;height&quot;:390,&quot;left&quot;:60,&quot;top&quot;:130,&quot;width&quot;:840}"/>
</p:tagLst>
</file>

<file path=ppt/tags/tag353.xml><?xml version="1.0" encoding="utf-8"?>
<p:tagLst xmlns:p="http://schemas.openxmlformats.org/presentationml/2006/main">
  <p:tag name="KSO_WM_DIAGRAM_VIRTUALLY_FRAME" val="{&quot;height&quot;:390,&quot;left&quot;:60,&quot;top&quot;:130,&quot;width&quot;:840}"/>
</p:tagLst>
</file>

<file path=ppt/tags/tag354.xml><?xml version="1.0" encoding="utf-8"?>
<p:tagLst xmlns:p="http://schemas.openxmlformats.org/presentationml/2006/main">
  <p:tag name="KSO_WM_DIAGRAM_VIRTUALLY_FRAME" val="{&quot;height&quot;:390,&quot;left&quot;:60,&quot;top&quot;:130,&quot;width&quot;:840}"/>
</p:tagLst>
</file>

<file path=ppt/tags/tag355.xml><?xml version="1.0" encoding="utf-8"?>
<p:tagLst xmlns:p="http://schemas.openxmlformats.org/presentationml/2006/main">
  <p:tag name="KSO_WM_DIAGRAM_VIRTUALLY_FRAME" val="{&quot;height&quot;:390,&quot;left&quot;:60,&quot;top&quot;:130,&quot;width&quot;:840}"/>
</p:tagLst>
</file>

<file path=ppt/tags/tag356.xml><?xml version="1.0" encoding="utf-8"?>
<p:tagLst xmlns:p="http://schemas.openxmlformats.org/presentationml/2006/main">
  <p:tag name="KSO_WM_DIAGRAM_VIRTUALLY_FRAME" val="{&quot;height&quot;:390,&quot;left&quot;:60,&quot;top&quot;:130,&quot;width&quot;:840}"/>
</p:tagLst>
</file>

<file path=ppt/tags/tag357.xml><?xml version="1.0" encoding="utf-8"?>
<p:tagLst xmlns:p="http://schemas.openxmlformats.org/presentationml/2006/main">
  <p:tag name="KSO_WM_DIAGRAM_VIRTUALLY_FRAME" val="{&quot;height&quot;:390,&quot;left&quot;:60,&quot;top&quot;:130,&quot;width&quot;:840}"/>
</p:tagLst>
</file>

<file path=ppt/tags/tag358.xml><?xml version="1.0" encoding="utf-8"?>
<p:tagLst xmlns:p="http://schemas.openxmlformats.org/presentationml/2006/main">
  <p:tag name="KSO_WM_DIAGRAM_VIRTUALLY_FRAME" val="{&quot;height&quot;:390,&quot;left&quot;:60,&quot;top&quot;:130,&quot;width&quot;:840}"/>
</p:tagLst>
</file>

<file path=ppt/tags/tag359.xml><?xml version="1.0" encoding="utf-8"?>
<p:tagLst xmlns:p="http://schemas.openxmlformats.org/presentationml/2006/main">
  <p:tag name="KSO_WM_DIAGRAM_VIRTUALLY_FRAME" val="{&quot;height&quot;:390,&quot;left&quot;:60,&quot;top&quot;:130,&quot;width&quot;:840}"/>
</p:tagLst>
</file>

<file path=ppt/tags/tag360.xml><?xml version="1.0" encoding="utf-8"?>
<p:tagLst xmlns:p="http://schemas.openxmlformats.org/presentationml/2006/main">
  <p:tag name="KSO_WM_DIAGRAM_VIRTUALLY_FRAME" val="{&quot;height&quot;:390,&quot;left&quot;:60,&quot;top&quot;:130,&quot;width&quot;:840}"/>
</p:tagLst>
</file>

<file path=ppt/tags/tag361.xml><?xml version="1.0" encoding="utf-8"?>
<p:tagLst xmlns:p="http://schemas.openxmlformats.org/presentationml/2006/main">
  <p:tag name="KSO_WM_DIAGRAM_VIRTUALLY_FRAME" val="{&quot;height&quot;:390,&quot;left&quot;:60,&quot;top&quot;:130,&quot;width&quot;:840}"/>
</p:tagLst>
</file>

<file path=ppt/tags/tag362.xml><?xml version="1.0" encoding="utf-8"?>
<p:tagLst xmlns:p="http://schemas.openxmlformats.org/presentationml/2006/main">
  <p:tag name="KSO_WM_DIAGRAM_VIRTUALLY_FRAME" val="{&quot;height&quot;:390,&quot;left&quot;:60,&quot;top&quot;:130,&quot;width&quot;:840}"/>
</p:tagLst>
</file>

<file path=ppt/tags/tag363.xml><?xml version="1.0" encoding="utf-8"?>
<p:tagLst xmlns:p="http://schemas.openxmlformats.org/presentationml/2006/main">
  <p:tag name="KSO_WM_DIAGRAM_VIRTUALLY_FRAME" val="{&quot;height&quot;:390,&quot;left&quot;:60,&quot;top&quot;:130,&quot;width&quot;:840}"/>
</p:tagLst>
</file>

<file path=ppt/tags/tag364.xml><?xml version="1.0" encoding="utf-8"?>
<p:tagLst xmlns:p="http://schemas.openxmlformats.org/presentationml/2006/main">
  <p:tag name="KSO_WM_DIAGRAM_VIRTUALLY_FRAME" val="{&quot;height&quot;:390,&quot;left&quot;:60,&quot;top&quot;:130,&quot;width&quot;:840}"/>
</p:tagLst>
</file>

<file path=ppt/tags/tag365.xml><?xml version="1.0" encoding="utf-8"?>
<p:tagLst xmlns:p="http://schemas.openxmlformats.org/presentationml/2006/main">
  <p:tag name="KSO_WM_DIAGRAM_VIRTUALLY_FRAME" val="{&quot;height&quot;:390,&quot;left&quot;:60,&quot;top&quot;:130,&quot;width&quot;:840}"/>
</p:tagLst>
</file>

<file path=ppt/tags/tag366.xml><?xml version="1.0" encoding="utf-8"?>
<p:tagLst xmlns:p="http://schemas.openxmlformats.org/presentationml/2006/main">
  <p:tag name="KSO_WM_DIAGRAM_VIRTUALLY_FRAME" val="{&quot;height&quot;:390,&quot;left&quot;:60,&quot;top&quot;:130,&quot;width&quot;:840}"/>
</p:tagLst>
</file>

<file path=ppt/tags/tag367.xml><?xml version="1.0" encoding="utf-8"?>
<p:tagLst xmlns:p="http://schemas.openxmlformats.org/presentationml/2006/main">
  <p:tag name="KSO_WM_DIAGRAM_VIRTUALLY_FRAME" val="{&quot;height&quot;:390,&quot;left&quot;:60,&quot;top&quot;:130,&quot;width&quot;:840}"/>
</p:tagLst>
</file>

<file path=ppt/tags/tag368.xml><?xml version="1.0" encoding="utf-8"?>
<p:tagLst xmlns:p="http://schemas.openxmlformats.org/presentationml/2006/main">
  <p:tag name="KSO_WM_DIAGRAM_VIRTUALLY_FRAME" val="{&quot;height&quot;:390,&quot;left&quot;:60,&quot;top&quot;:130,&quot;width&quot;:840}"/>
</p:tagLst>
</file>

<file path=ppt/tags/tag369.xml><?xml version="1.0" encoding="utf-8"?>
<p:tagLst xmlns:p="http://schemas.openxmlformats.org/presentationml/2006/main">
  <p:tag name="KSO_WM_DIAGRAM_VIRTUALLY_FRAME" val="{&quot;height&quot;:390,&quot;left&quot;:60,&quot;top&quot;:130,&quot;width&quot;:840}"/>
</p:tagLst>
</file>

<file path=ppt/tags/tag370.xml><?xml version="1.0" encoding="utf-8"?>
<p:tagLst xmlns:p="http://schemas.openxmlformats.org/presentationml/2006/main">
  <p:tag name="KSO_WM_DIAGRAM_VIRTUALLY_FRAME" val="{&quot;height&quot;:390,&quot;left&quot;:60,&quot;top&quot;:130,&quot;width&quot;:840}"/>
</p:tagLst>
</file>

<file path=ppt/tags/tag371.xml><?xml version="1.0" encoding="utf-8"?>
<p:tagLst xmlns:p="http://schemas.openxmlformats.org/presentationml/2006/main">
  <p:tag name="PA" val="v5.2.11"/>
</p:tagLst>
</file>

<file path=ppt/tags/tag372.xml><?xml version="1.0" encoding="utf-8"?>
<p:tagLst xmlns:p="http://schemas.openxmlformats.org/presentationml/2006/main">
  <p:tag name="KSO_WM_DIAGRAM_VIRTUALLY_FRAME" val="{&quot;height&quot;:100,&quot;left&quot;:60,&quot;top&quot;:65.4,&quot;width&quot;:840}"/>
</p:tagLst>
</file>

<file path=ppt/tags/tag373.xml><?xml version="1.0" encoding="utf-8"?>
<p:tagLst xmlns:p="http://schemas.openxmlformats.org/presentationml/2006/main">
  <p:tag name="KSO_WM_DIAGRAM_VIRTUALLY_FRAME" val="{&quot;height&quot;:100,&quot;left&quot;:60,&quot;top&quot;:65.4,&quot;width&quot;:840}"/>
</p:tagLst>
</file>

<file path=ppt/tags/tag374.xml><?xml version="1.0" encoding="utf-8"?>
<p:tagLst xmlns:p="http://schemas.openxmlformats.org/presentationml/2006/main">
  <p:tag name="KSO_WM_DIAGRAM_VIRTUALLY_FRAME" val="{&quot;height&quot;:100,&quot;left&quot;:60,&quot;top&quot;:65.4,&quot;width&quot;:840}"/>
</p:tagLst>
</file>

<file path=ppt/tags/tag375.xml><?xml version="1.0" encoding="utf-8"?>
<p:tagLst xmlns:p="http://schemas.openxmlformats.org/presentationml/2006/main">
  <p:tag name="KSO_WM_DIAGRAM_VIRTUALLY_FRAME" val="{&quot;height&quot;:100,&quot;left&quot;:60,&quot;top&quot;:65.4,&quot;width&quot;:840}"/>
</p:tagLst>
</file>

<file path=ppt/tags/tag376.xml><?xml version="1.0" encoding="utf-8"?>
<p:tagLst xmlns:p="http://schemas.openxmlformats.org/presentationml/2006/main">
  <p:tag name="KSO_WM_DIAGRAM_VIRTUALLY_FRAME" val="{&quot;height&quot;:100,&quot;left&quot;:60,&quot;top&quot;:65.4,&quot;width&quot;:840}"/>
</p:tagLst>
</file>

<file path=ppt/tags/tag377.xml><?xml version="1.0" encoding="utf-8"?>
<p:tagLst xmlns:p="http://schemas.openxmlformats.org/presentationml/2006/main">
  <p:tag name="KSO_WM_DIAGRAM_VIRTUALLY_FRAME" val="{&quot;height&quot;:100,&quot;left&quot;:60,&quot;top&quot;:65.4,&quot;width&quot;:840}"/>
</p:tagLst>
</file>

<file path=ppt/tags/tag378.xml><?xml version="1.0" encoding="utf-8"?>
<p:tagLst xmlns:p="http://schemas.openxmlformats.org/presentationml/2006/main">
  <p:tag name="KSO_WM_DIAGRAM_VIRTUALLY_FRAME" val="{&quot;height&quot;:100,&quot;left&quot;:60,&quot;top&quot;:65.4,&quot;width&quot;:840}"/>
</p:tagLst>
</file>

<file path=ppt/tags/tag379.xml><?xml version="1.0" encoding="utf-8"?>
<p:tagLst xmlns:p="http://schemas.openxmlformats.org/presentationml/2006/main">
  <p:tag name="KSO_WM_DIAGRAM_VIRTUALLY_FRAME" val="{&quot;height&quot;:100,&quot;left&quot;:60,&quot;top&quot;:65.4,&quot;width&quot;:840}"/>
</p:tagLst>
</file>

<file path=ppt/tags/tag380.xml><?xml version="1.0" encoding="utf-8"?>
<p:tagLst xmlns:p="http://schemas.openxmlformats.org/presentationml/2006/main">
  <p:tag name="KSO_WM_DIAGRAM_VIRTUALLY_FRAME" val="{&quot;height&quot;:100,&quot;left&quot;:60,&quot;top&quot;:65.4,&quot;width&quot;:840}"/>
</p:tagLst>
</file>

<file path=ppt/tags/tag381.xml><?xml version="1.0" encoding="utf-8"?>
<p:tagLst xmlns:p="http://schemas.openxmlformats.org/presentationml/2006/main">
  <p:tag name="KSO_WM_DIAGRAM_VIRTUALLY_FRAME" val="{&quot;height&quot;:100,&quot;left&quot;:60,&quot;top&quot;:65.4,&quot;width&quot;:840}"/>
</p:tagLst>
</file>

<file path=ppt/tags/tag382.xml><?xml version="1.0" encoding="utf-8"?>
<p:tagLst xmlns:p="http://schemas.openxmlformats.org/presentationml/2006/main">
  <p:tag name="KSO_WM_DIAGRAM_VIRTUALLY_FRAME" val="{&quot;height&quot;:100,&quot;left&quot;:60,&quot;top&quot;:65.4,&quot;width&quot;:840}"/>
</p:tagLst>
</file>

<file path=ppt/tags/tag383.xml><?xml version="1.0" encoding="utf-8"?>
<p:tagLst xmlns:p="http://schemas.openxmlformats.org/presentationml/2006/main">
  <p:tag name="KSO_WM_DIAGRAM_VIRTUALLY_FRAME" val="{&quot;height&quot;:100,&quot;left&quot;:60,&quot;top&quot;:65.4,&quot;width&quot;:840}"/>
</p:tagLst>
</file>

<file path=ppt/tags/tag384.xml><?xml version="1.0" encoding="utf-8"?>
<p:tagLst xmlns:p="http://schemas.openxmlformats.org/presentationml/2006/main">
  <p:tag name="KSO_WM_DIAGRAM_VIRTUALLY_FRAME" val="{&quot;height&quot;:100,&quot;left&quot;:60,&quot;top&quot;:65.4,&quot;width&quot;:840}"/>
</p:tagLst>
</file>

<file path=ppt/tags/tag385.xml><?xml version="1.0" encoding="utf-8"?>
<p:tagLst xmlns:p="http://schemas.openxmlformats.org/presentationml/2006/main">
  <p:tag name="KSO_WM_DIAGRAM_VIRTUALLY_FRAME" val="{&quot;height&quot;:100,&quot;left&quot;:60,&quot;top&quot;:65.4,&quot;width&quot;:840}"/>
</p:tagLst>
</file>

<file path=ppt/tags/tag386.xml><?xml version="1.0" encoding="utf-8"?>
<p:tagLst xmlns:p="http://schemas.openxmlformats.org/presentationml/2006/main">
  <p:tag name="KSO_WM_DIAGRAM_VIRTUALLY_FRAME" val="{&quot;height&quot;:100,&quot;left&quot;:60,&quot;top&quot;:65.4,&quot;width&quot;:840}"/>
</p:tagLst>
</file>

<file path=ppt/tags/tag387.xml><?xml version="1.0" encoding="utf-8"?>
<p:tagLst xmlns:p="http://schemas.openxmlformats.org/presentationml/2006/main">
  <p:tag name="KSO_WM_DIAGRAM_VIRTUALLY_FRAME" val="{&quot;height&quot;:100,&quot;left&quot;:60,&quot;top&quot;:65.4,&quot;width&quot;:840}"/>
</p:tagLst>
</file>

<file path=ppt/tags/tag388.xml><?xml version="1.0" encoding="utf-8"?>
<p:tagLst xmlns:p="http://schemas.openxmlformats.org/presentationml/2006/main">
  <p:tag name="KSO_WM_DIAGRAM_VIRTUALLY_FRAME" val="{&quot;height&quot;:100,&quot;left&quot;:60,&quot;top&quot;:65.4,&quot;width&quot;:840}"/>
</p:tagLst>
</file>

<file path=ppt/tags/tag389.xml><?xml version="1.0" encoding="utf-8"?>
<p:tagLst xmlns:p="http://schemas.openxmlformats.org/presentationml/2006/main">
  <p:tag name="KSO_WM_DIAGRAM_VIRTUALLY_FRAME" val="{&quot;height&quot;:100,&quot;left&quot;:60,&quot;top&quot;:65.4,&quot;width&quot;:840}"/>
</p:tagLst>
</file>

<file path=ppt/tags/tag390.xml><?xml version="1.0" encoding="utf-8"?>
<p:tagLst xmlns:p="http://schemas.openxmlformats.org/presentationml/2006/main">
  <p:tag name="KSO_WM_DIAGRAM_VIRTUALLY_FRAME" val="{&quot;height&quot;:100,&quot;left&quot;:60,&quot;top&quot;:65.4,&quot;width&quot;:840}"/>
</p:tagLst>
</file>

<file path=ppt/tags/tag391.xml><?xml version="1.0" encoding="utf-8"?>
<p:tagLst xmlns:p="http://schemas.openxmlformats.org/presentationml/2006/main">
  <p:tag name="KSO_WM_DIAGRAM_VIRTUALLY_FRAME" val="{&quot;height&quot;:100,&quot;left&quot;:60,&quot;top&quot;:65.4,&quot;width&quot;:840}"/>
</p:tagLst>
</file>

<file path=ppt/tags/tag392.xml><?xml version="1.0" encoding="utf-8"?>
<p:tagLst xmlns:p="http://schemas.openxmlformats.org/presentationml/2006/main">
  <p:tag name="KSO_WM_DIAGRAM_VIRTUALLY_FRAME" val="{&quot;height&quot;:100,&quot;left&quot;:60,&quot;top&quot;:65.4,&quot;width&quot;:840}"/>
</p:tagLst>
</file>

<file path=ppt/tags/tag393.xml><?xml version="1.0" encoding="utf-8"?>
<p:tagLst xmlns:p="http://schemas.openxmlformats.org/presentationml/2006/main">
  <p:tag name="KSO_WM_DIAGRAM_VIRTUALLY_FRAME" val="{&quot;height&quot;:100,&quot;left&quot;:60,&quot;top&quot;:65.4,&quot;width&quot;:840}"/>
</p:tagLst>
</file>

<file path=ppt/tags/tag394.xml><?xml version="1.0" encoding="utf-8"?>
<p:tagLst xmlns:p="http://schemas.openxmlformats.org/presentationml/2006/main">
  <p:tag name="KSO_WM_DIAGRAM_VIRTUALLY_FRAME" val="{&quot;height&quot;:100,&quot;left&quot;:60,&quot;top&quot;:65.4,&quot;width&quot;:840}"/>
</p:tagLst>
</file>

<file path=ppt/tags/tag395.xml><?xml version="1.0" encoding="utf-8"?>
<p:tagLst xmlns:p="http://schemas.openxmlformats.org/presentationml/2006/main">
  <p:tag name="KSO_WM_DIAGRAM_VIRTUALLY_FRAME" val="{&quot;height&quot;:100,&quot;left&quot;:60,&quot;top&quot;:65.4,&quot;width&quot;:840}"/>
</p:tagLst>
</file>

<file path=ppt/tags/tag396.xml><?xml version="1.0" encoding="utf-8"?>
<p:tagLst xmlns:p="http://schemas.openxmlformats.org/presentationml/2006/main">
  <p:tag name="KSO_WM_DIAGRAM_VIRTUALLY_FRAME" val="{&quot;height&quot;:100,&quot;left&quot;:60,&quot;top&quot;:65.4,&quot;width&quot;:840}"/>
</p:tagLst>
</file>

<file path=ppt/tags/tag397.xml><?xml version="1.0" encoding="utf-8"?>
<p:tagLst xmlns:p="http://schemas.openxmlformats.org/presentationml/2006/main">
  <p:tag name="KSO_WM_DIAGRAM_VIRTUALLY_FRAME" val="{&quot;height&quot;:100,&quot;left&quot;:60,&quot;top&quot;:65.4,&quot;width&quot;:840}"/>
</p:tagLst>
</file>

<file path=ppt/tags/tag398.xml><?xml version="1.0" encoding="utf-8"?>
<p:tagLst xmlns:p="http://schemas.openxmlformats.org/presentationml/2006/main">
  <p:tag name="KSO_WM_DIAGRAM_VIRTUALLY_FRAME" val="{&quot;height&quot;:100,&quot;left&quot;:60,&quot;top&quot;:65.4,&quot;width&quot;:840}"/>
</p:tagLst>
</file>

<file path=ppt/tags/tag399.xml><?xml version="1.0" encoding="utf-8"?>
<p:tagLst xmlns:p="http://schemas.openxmlformats.org/presentationml/2006/main">
  <p:tag name="KSO_WM_DIAGRAM_VIRTUALLY_FRAME" val="{&quot;height&quot;:100,&quot;left&quot;:60,&quot;top&quot;:65.4,&quot;width&quot;:840}"/>
</p:tagLst>
</file>

<file path=ppt/tags/tag400.xml><?xml version="1.0" encoding="utf-8"?>
<p:tagLst xmlns:p="http://schemas.openxmlformats.org/presentationml/2006/main">
  <p:tag name="KSO_WM_DIAGRAM_VIRTUALLY_FRAME" val="{&quot;height&quot;:100,&quot;left&quot;:60,&quot;top&quot;:65.4,&quot;width&quot;:840}"/>
</p:tagLst>
</file>

<file path=ppt/tags/tag401.xml><?xml version="1.0" encoding="utf-8"?>
<p:tagLst xmlns:p="http://schemas.openxmlformats.org/presentationml/2006/main">
  <p:tag name="PA" val="v5.2.11"/>
</p:tagLst>
</file>

<file path=ppt/tags/tag402.xml><?xml version="1.0" encoding="utf-8"?>
<p:tagLst xmlns:p="http://schemas.openxmlformats.org/presentationml/2006/main">
  <p:tag name="KSO_WM_DIAGRAM_VIRTUALLY_FRAME" val="{&quot;height&quot;:100,&quot;left&quot;:60,&quot;top&quot;:65.4,&quot;width&quot;:840}"/>
</p:tagLst>
</file>

<file path=ppt/tags/tag403.xml><?xml version="1.0" encoding="utf-8"?>
<p:tagLst xmlns:p="http://schemas.openxmlformats.org/presentationml/2006/main">
  <p:tag name="KSO_WM_DIAGRAM_VIRTUALLY_FRAME" val="{&quot;height&quot;:100,&quot;left&quot;:60,&quot;top&quot;:65.4,&quot;width&quot;:840}"/>
</p:tagLst>
</file>

<file path=ppt/tags/tag404.xml><?xml version="1.0" encoding="utf-8"?>
<p:tagLst xmlns:p="http://schemas.openxmlformats.org/presentationml/2006/main">
  <p:tag name="KSO_WM_DIAGRAM_VIRTUALLY_FRAME" val="{&quot;height&quot;:100,&quot;left&quot;:60,&quot;top&quot;:65.4,&quot;width&quot;:840}"/>
</p:tagLst>
</file>

<file path=ppt/tags/tag405.xml><?xml version="1.0" encoding="utf-8"?>
<p:tagLst xmlns:p="http://schemas.openxmlformats.org/presentationml/2006/main">
  <p:tag name="KSO_WM_DIAGRAM_VIRTUALLY_FRAME" val="{&quot;height&quot;:100,&quot;left&quot;:60,&quot;top&quot;:65.4,&quot;width&quot;:840}"/>
</p:tagLst>
</file>

<file path=ppt/tags/tag406.xml><?xml version="1.0" encoding="utf-8"?>
<p:tagLst xmlns:p="http://schemas.openxmlformats.org/presentationml/2006/main">
  <p:tag name="KSO_WM_DIAGRAM_VIRTUALLY_FRAME" val="{&quot;height&quot;:100,&quot;left&quot;:60,&quot;top&quot;:65.4,&quot;width&quot;:840}"/>
</p:tagLst>
</file>

<file path=ppt/tags/tag407.xml><?xml version="1.0" encoding="utf-8"?>
<p:tagLst xmlns:p="http://schemas.openxmlformats.org/presentationml/2006/main">
  <p:tag name="KSO_WM_DIAGRAM_VIRTUALLY_FRAME" val="{&quot;height&quot;:100,&quot;left&quot;:60,&quot;top&quot;:65.4,&quot;width&quot;:840}"/>
</p:tagLst>
</file>

<file path=ppt/tags/tag408.xml><?xml version="1.0" encoding="utf-8"?>
<p:tagLst xmlns:p="http://schemas.openxmlformats.org/presentationml/2006/main">
  <p:tag name="KSO_WM_DIAGRAM_VIRTUALLY_FRAME" val="{&quot;height&quot;:100,&quot;left&quot;:60,&quot;top&quot;:65.4,&quot;width&quot;:840}"/>
</p:tagLst>
</file>

<file path=ppt/tags/tag409.xml><?xml version="1.0" encoding="utf-8"?>
<p:tagLst xmlns:p="http://schemas.openxmlformats.org/presentationml/2006/main">
  <p:tag name="KSO_WM_DIAGRAM_VIRTUALLY_FRAME" val="{&quot;height&quot;:100,&quot;left&quot;:60,&quot;top&quot;:65.4,&quot;width&quot;:840}"/>
</p:tagLst>
</file>

<file path=ppt/tags/tag410.xml><?xml version="1.0" encoding="utf-8"?>
<p:tagLst xmlns:p="http://schemas.openxmlformats.org/presentationml/2006/main">
  <p:tag name="KSO_WM_DIAGRAM_VIRTUALLY_FRAME" val="{&quot;height&quot;:100,&quot;left&quot;:60,&quot;top&quot;:65.4,&quot;width&quot;:840}"/>
</p:tagLst>
</file>

<file path=ppt/tags/tag411.xml><?xml version="1.0" encoding="utf-8"?>
<p:tagLst xmlns:p="http://schemas.openxmlformats.org/presentationml/2006/main">
  <p:tag name="KSO_WM_DIAGRAM_VIRTUALLY_FRAME" val="{&quot;height&quot;:100,&quot;left&quot;:60,&quot;top&quot;:65.4,&quot;width&quot;:840}"/>
</p:tagLst>
</file>

<file path=ppt/tags/tag412.xml><?xml version="1.0" encoding="utf-8"?>
<p:tagLst xmlns:p="http://schemas.openxmlformats.org/presentationml/2006/main">
  <p:tag name="KSO_WM_DIAGRAM_VIRTUALLY_FRAME" val="{&quot;height&quot;:100,&quot;left&quot;:60,&quot;top&quot;:65.4,&quot;width&quot;:840}"/>
</p:tagLst>
</file>

<file path=ppt/tags/tag413.xml><?xml version="1.0" encoding="utf-8"?>
<p:tagLst xmlns:p="http://schemas.openxmlformats.org/presentationml/2006/main">
  <p:tag name="KSO_WM_DIAGRAM_VIRTUALLY_FRAME" val="{&quot;height&quot;:100,&quot;left&quot;:60,&quot;top&quot;:65.4,&quot;width&quot;:840}"/>
</p:tagLst>
</file>

<file path=ppt/tags/tag414.xml><?xml version="1.0" encoding="utf-8"?>
<p:tagLst xmlns:p="http://schemas.openxmlformats.org/presentationml/2006/main">
  <p:tag name="KSO_WM_DIAGRAM_VIRTUALLY_FRAME" val="{&quot;height&quot;:100,&quot;left&quot;:60,&quot;top&quot;:65.4,&quot;width&quot;:840}"/>
</p:tagLst>
</file>

<file path=ppt/tags/tag415.xml><?xml version="1.0" encoding="utf-8"?>
<p:tagLst xmlns:p="http://schemas.openxmlformats.org/presentationml/2006/main">
  <p:tag name="KSO_WM_DIAGRAM_VIRTUALLY_FRAME" val="{&quot;height&quot;:100,&quot;left&quot;:60,&quot;top&quot;:65.4,&quot;width&quot;:840}"/>
</p:tagLst>
</file>

<file path=ppt/tags/tag416.xml><?xml version="1.0" encoding="utf-8"?>
<p:tagLst xmlns:p="http://schemas.openxmlformats.org/presentationml/2006/main">
  <p:tag name="KSO_WM_DIAGRAM_VIRTUALLY_FRAME" val="{&quot;height&quot;:100,&quot;left&quot;:60,&quot;top&quot;:65.4,&quot;width&quot;:840}"/>
</p:tagLst>
</file>

<file path=ppt/tags/tag417.xml><?xml version="1.0" encoding="utf-8"?>
<p:tagLst xmlns:p="http://schemas.openxmlformats.org/presentationml/2006/main">
  <p:tag name="KSO_WM_DIAGRAM_VIRTUALLY_FRAME" val="{&quot;height&quot;:100,&quot;left&quot;:60,&quot;top&quot;:65.4,&quot;width&quot;:840}"/>
</p:tagLst>
</file>

<file path=ppt/tags/tag418.xml><?xml version="1.0" encoding="utf-8"?>
<p:tagLst xmlns:p="http://schemas.openxmlformats.org/presentationml/2006/main">
  <p:tag name="KSO_WM_DIAGRAM_VIRTUALLY_FRAME" val="{&quot;height&quot;:100,&quot;left&quot;:60,&quot;top&quot;:65.4,&quot;width&quot;:840}"/>
</p:tagLst>
</file>

<file path=ppt/tags/tag419.xml><?xml version="1.0" encoding="utf-8"?>
<p:tagLst xmlns:p="http://schemas.openxmlformats.org/presentationml/2006/main">
  <p:tag name="KSO_WM_DIAGRAM_VIRTUALLY_FRAME" val="{&quot;height&quot;:100,&quot;left&quot;:60,&quot;top&quot;:65.4,&quot;width&quot;:840}"/>
</p:tagLst>
</file>

<file path=ppt/tags/tag420.xml><?xml version="1.0" encoding="utf-8"?>
<p:tagLst xmlns:p="http://schemas.openxmlformats.org/presentationml/2006/main">
  <p:tag name="KSO_WM_DIAGRAM_VIRTUALLY_FRAME" val="{&quot;height&quot;:100,&quot;left&quot;:60,&quot;top&quot;:65.4,&quot;width&quot;:840}"/>
</p:tagLst>
</file>

<file path=ppt/tags/tag421.xml><?xml version="1.0" encoding="utf-8"?>
<p:tagLst xmlns:p="http://schemas.openxmlformats.org/presentationml/2006/main">
  <p:tag name="KSO_WM_DIAGRAM_VIRTUALLY_FRAME" val="{&quot;height&quot;:100,&quot;left&quot;:60,&quot;top&quot;:65.4,&quot;width&quot;:840}"/>
</p:tagLst>
</file>

<file path=ppt/tags/tag422.xml><?xml version="1.0" encoding="utf-8"?>
<p:tagLst xmlns:p="http://schemas.openxmlformats.org/presentationml/2006/main">
  <p:tag name="KSO_WM_DIAGRAM_VIRTUALLY_FRAME" val="{&quot;height&quot;:100,&quot;left&quot;:60,&quot;top&quot;:65.4,&quot;width&quot;:840}"/>
</p:tagLst>
</file>

<file path=ppt/tags/tag423.xml><?xml version="1.0" encoding="utf-8"?>
<p:tagLst xmlns:p="http://schemas.openxmlformats.org/presentationml/2006/main">
  <p:tag name="KSO_WM_DIAGRAM_VIRTUALLY_FRAME" val="{&quot;height&quot;:100,&quot;left&quot;:60,&quot;top&quot;:65.4,&quot;width&quot;:840}"/>
</p:tagLst>
</file>

<file path=ppt/tags/tag424.xml><?xml version="1.0" encoding="utf-8"?>
<p:tagLst xmlns:p="http://schemas.openxmlformats.org/presentationml/2006/main">
  <p:tag name="KSO_WM_DIAGRAM_VIRTUALLY_FRAME" val="{&quot;height&quot;:100,&quot;left&quot;:60,&quot;top&quot;:65.4,&quot;width&quot;:840}"/>
</p:tagLst>
</file>

<file path=ppt/tags/tag425.xml><?xml version="1.0" encoding="utf-8"?>
<p:tagLst xmlns:p="http://schemas.openxmlformats.org/presentationml/2006/main">
  <p:tag name="KSO_WM_DIAGRAM_VIRTUALLY_FRAME" val="{&quot;height&quot;:100,&quot;left&quot;:60,&quot;top&quot;:65.4,&quot;width&quot;:840}"/>
</p:tagLst>
</file>

<file path=ppt/tags/tag426.xml><?xml version="1.0" encoding="utf-8"?>
<p:tagLst xmlns:p="http://schemas.openxmlformats.org/presentationml/2006/main">
  <p:tag name="KSO_WM_DIAGRAM_VIRTUALLY_FRAME" val="{&quot;height&quot;:100,&quot;left&quot;:60,&quot;top&quot;:65.4,&quot;width&quot;:840}"/>
</p:tagLst>
</file>

<file path=ppt/tags/tag427.xml><?xml version="1.0" encoding="utf-8"?>
<p:tagLst xmlns:p="http://schemas.openxmlformats.org/presentationml/2006/main">
  <p:tag name="KSO_WM_DIAGRAM_VIRTUALLY_FRAME" val="{&quot;height&quot;:100,&quot;left&quot;:60,&quot;top&quot;:65.4,&quot;width&quot;:840}"/>
</p:tagLst>
</file>

<file path=ppt/tags/tag428.xml><?xml version="1.0" encoding="utf-8"?>
<p:tagLst xmlns:p="http://schemas.openxmlformats.org/presentationml/2006/main">
  <p:tag name="KSO_WM_DIAGRAM_VIRTUALLY_FRAME" val="{&quot;height&quot;:100,&quot;left&quot;:60,&quot;top&quot;:65.4,&quot;width&quot;:840}"/>
</p:tagLst>
</file>

<file path=ppt/tags/tag429.xml><?xml version="1.0" encoding="utf-8"?>
<p:tagLst xmlns:p="http://schemas.openxmlformats.org/presentationml/2006/main">
  <p:tag name="KSO_WM_DIAGRAM_VIRTUALLY_FRAME" val="{&quot;height&quot;:100,&quot;left&quot;:60,&quot;top&quot;:65.4,&quot;width&quot;:840}"/>
</p:tagLst>
</file>

<file path=ppt/tags/tag430.xml><?xml version="1.0" encoding="utf-8"?>
<p:tagLst xmlns:p="http://schemas.openxmlformats.org/presentationml/2006/main">
  <p:tag name="KSO_WM_DIAGRAM_VIRTUALLY_FRAME" val="{&quot;height&quot;:100,&quot;left&quot;:60,&quot;top&quot;:65.4,&quot;width&quot;:840}"/>
</p:tagLst>
</file>

<file path=ppt/tags/tag431.xml><?xml version="1.0" encoding="utf-8"?>
<p:tagLst xmlns:p="http://schemas.openxmlformats.org/presentationml/2006/main">
  <p:tag name="PA" val="v5.2.11"/>
</p:tagLst>
</file>

<file path=ppt/tags/tag432.xml><?xml version="1.0" encoding="utf-8"?>
<p:tagLst xmlns:p="http://schemas.openxmlformats.org/presentationml/2006/main">
  <p:tag name="KSO_WM_DIAGRAM_VIRTUALLY_FRAME" val="{&quot;height&quot;:100,&quot;left&quot;:60,&quot;top&quot;:65.4,&quot;width&quot;:840}"/>
</p:tagLst>
</file>

<file path=ppt/tags/tag433.xml><?xml version="1.0" encoding="utf-8"?>
<p:tagLst xmlns:p="http://schemas.openxmlformats.org/presentationml/2006/main">
  <p:tag name="KSO_WM_DIAGRAM_VIRTUALLY_FRAME" val="{&quot;height&quot;:100,&quot;left&quot;:60,&quot;top&quot;:65.4,&quot;width&quot;:840}"/>
</p:tagLst>
</file>

<file path=ppt/tags/tag434.xml><?xml version="1.0" encoding="utf-8"?>
<p:tagLst xmlns:p="http://schemas.openxmlformats.org/presentationml/2006/main">
  <p:tag name="KSO_WM_DIAGRAM_VIRTUALLY_FRAME" val="{&quot;height&quot;:100,&quot;left&quot;:60,&quot;top&quot;:65.4,&quot;width&quot;:840}"/>
</p:tagLst>
</file>

<file path=ppt/tags/tag435.xml><?xml version="1.0" encoding="utf-8"?>
<p:tagLst xmlns:p="http://schemas.openxmlformats.org/presentationml/2006/main">
  <p:tag name="KSO_WM_DIAGRAM_VIRTUALLY_FRAME" val="{&quot;height&quot;:100,&quot;left&quot;:60,&quot;top&quot;:65.4,&quot;width&quot;:840}"/>
</p:tagLst>
</file>

<file path=ppt/tags/tag436.xml><?xml version="1.0" encoding="utf-8"?>
<p:tagLst xmlns:p="http://schemas.openxmlformats.org/presentationml/2006/main">
  <p:tag name="KSO_WM_DIAGRAM_VIRTUALLY_FRAME" val="{&quot;height&quot;:100,&quot;left&quot;:60,&quot;top&quot;:65.4,&quot;width&quot;:840}"/>
</p:tagLst>
</file>

<file path=ppt/tags/tag437.xml><?xml version="1.0" encoding="utf-8"?>
<p:tagLst xmlns:p="http://schemas.openxmlformats.org/presentationml/2006/main">
  <p:tag name="KSO_WM_DIAGRAM_VIRTUALLY_FRAME" val="{&quot;height&quot;:100,&quot;left&quot;:60,&quot;top&quot;:65.4,&quot;width&quot;:840}"/>
</p:tagLst>
</file>

<file path=ppt/tags/tag438.xml><?xml version="1.0" encoding="utf-8"?>
<p:tagLst xmlns:p="http://schemas.openxmlformats.org/presentationml/2006/main">
  <p:tag name="KSO_WM_DIAGRAM_VIRTUALLY_FRAME" val="{&quot;height&quot;:100,&quot;left&quot;:60,&quot;top&quot;:65.4,&quot;width&quot;:840}"/>
</p:tagLst>
</file>

<file path=ppt/tags/tag439.xml><?xml version="1.0" encoding="utf-8"?>
<p:tagLst xmlns:p="http://schemas.openxmlformats.org/presentationml/2006/main">
  <p:tag name="KSO_WM_DIAGRAM_VIRTUALLY_FRAME" val="{&quot;height&quot;:100,&quot;left&quot;:60,&quot;top&quot;:65.4,&quot;width&quot;:840}"/>
</p:tagLst>
</file>

<file path=ppt/tags/tag440.xml><?xml version="1.0" encoding="utf-8"?>
<p:tagLst xmlns:p="http://schemas.openxmlformats.org/presentationml/2006/main">
  <p:tag name="KSO_WM_DIAGRAM_VIRTUALLY_FRAME" val="{&quot;height&quot;:100,&quot;left&quot;:60,&quot;top&quot;:65.4,&quot;width&quot;:840}"/>
</p:tagLst>
</file>

<file path=ppt/tags/tag441.xml><?xml version="1.0" encoding="utf-8"?>
<p:tagLst xmlns:p="http://schemas.openxmlformats.org/presentationml/2006/main">
  <p:tag name="KSO_WM_DIAGRAM_VIRTUALLY_FRAME" val="{&quot;height&quot;:100,&quot;left&quot;:60,&quot;top&quot;:65.4,&quot;width&quot;:840}"/>
</p:tagLst>
</file>

<file path=ppt/tags/tag442.xml><?xml version="1.0" encoding="utf-8"?>
<p:tagLst xmlns:p="http://schemas.openxmlformats.org/presentationml/2006/main">
  <p:tag name="KSO_WM_DIAGRAM_VIRTUALLY_FRAME" val="{&quot;height&quot;:100,&quot;left&quot;:60,&quot;top&quot;:65.4,&quot;width&quot;:840}"/>
</p:tagLst>
</file>

<file path=ppt/tags/tag443.xml><?xml version="1.0" encoding="utf-8"?>
<p:tagLst xmlns:p="http://schemas.openxmlformats.org/presentationml/2006/main">
  <p:tag name="KSO_WM_DIAGRAM_VIRTUALLY_FRAME" val="{&quot;height&quot;:100,&quot;left&quot;:60,&quot;top&quot;:65.4,&quot;width&quot;:840}"/>
</p:tagLst>
</file>

<file path=ppt/tags/tag444.xml><?xml version="1.0" encoding="utf-8"?>
<p:tagLst xmlns:p="http://schemas.openxmlformats.org/presentationml/2006/main">
  <p:tag name="KSO_WM_DIAGRAM_VIRTUALLY_FRAME" val="{&quot;height&quot;:100,&quot;left&quot;:60,&quot;top&quot;:65.4,&quot;width&quot;:840}"/>
</p:tagLst>
</file>

<file path=ppt/tags/tag445.xml><?xml version="1.0" encoding="utf-8"?>
<p:tagLst xmlns:p="http://schemas.openxmlformats.org/presentationml/2006/main">
  <p:tag name="KSO_WM_DIAGRAM_VIRTUALLY_FRAME" val="{&quot;height&quot;:100,&quot;left&quot;:60,&quot;top&quot;:65.4,&quot;width&quot;:840}"/>
</p:tagLst>
</file>

<file path=ppt/tags/tag446.xml><?xml version="1.0" encoding="utf-8"?>
<p:tagLst xmlns:p="http://schemas.openxmlformats.org/presentationml/2006/main">
  <p:tag name="KSO_WM_DIAGRAM_VIRTUALLY_FRAME" val="{&quot;height&quot;:100,&quot;left&quot;:60,&quot;top&quot;:65.4,&quot;width&quot;:840}"/>
</p:tagLst>
</file>

<file path=ppt/tags/tag447.xml><?xml version="1.0" encoding="utf-8"?>
<p:tagLst xmlns:p="http://schemas.openxmlformats.org/presentationml/2006/main">
  <p:tag name="KSO_WM_DIAGRAM_VIRTUALLY_FRAME" val="{&quot;height&quot;:100,&quot;left&quot;:60,&quot;top&quot;:65.4,&quot;width&quot;:840}"/>
</p:tagLst>
</file>

<file path=ppt/tags/tag448.xml><?xml version="1.0" encoding="utf-8"?>
<p:tagLst xmlns:p="http://schemas.openxmlformats.org/presentationml/2006/main">
  <p:tag name="KSO_WM_DIAGRAM_VIRTUALLY_FRAME" val="{&quot;height&quot;:100,&quot;left&quot;:60,&quot;top&quot;:65.4,&quot;width&quot;:840}"/>
</p:tagLst>
</file>

<file path=ppt/tags/tag449.xml><?xml version="1.0" encoding="utf-8"?>
<p:tagLst xmlns:p="http://schemas.openxmlformats.org/presentationml/2006/main">
  <p:tag name="KSO_WM_DIAGRAM_VIRTUALLY_FRAME" val="{&quot;height&quot;:100,&quot;left&quot;:60,&quot;top&quot;:65.4,&quot;width&quot;:840}"/>
</p:tagLst>
</file>

<file path=ppt/tags/tag450.xml><?xml version="1.0" encoding="utf-8"?>
<p:tagLst xmlns:p="http://schemas.openxmlformats.org/presentationml/2006/main">
  <p:tag name="KSO_WM_DIAGRAM_VIRTUALLY_FRAME" val="{&quot;height&quot;:100,&quot;left&quot;:60,&quot;top&quot;:65.4,&quot;width&quot;:840}"/>
</p:tagLst>
</file>

<file path=ppt/tags/tag451.xml><?xml version="1.0" encoding="utf-8"?>
<p:tagLst xmlns:p="http://schemas.openxmlformats.org/presentationml/2006/main">
  <p:tag name="KSO_WM_DIAGRAM_VIRTUALLY_FRAME" val="{&quot;height&quot;:100,&quot;left&quot;:60,&quot;top&quot;:65.4,&quot;width&quot;:840}"/>
</p:tagLst>
</file>

<file path=ppt/tags/tag452.xml><?xml version="1.0" encoding="utf-8"?>
<p:tagLst xmlns:p="http://schemas.openxmlformats.org/presentationml/2006/main">
  <p:tag name="KSO_WM_DIAGRAM_VIRTUALLY_FRAME" val="{&quot;height&quot;:100,&quot;left&quot;:60,&quot;top&quot;:65.4,&quot;width&quot;:840}"/>
</p:tagLst>
</file>

<file path=ppt/tags/tag453.xml><?xml version="1.0" encoding="utf-8"?>
<p:tagLst xmlns:p="http://schemas.openxmlformats.org/presentationml/2006/main">
  <p:tag name="KSO_WM_DIAGRAM_VIRTUALLY_FRAME" val="{&quot;height&quot;:100,&quot;left&quot;:60,&quot;top&quot;:65.4,&quot;width&quot;:840}"/>
</p:tagLst>
</file>

<file path=ppt/tags/tag454.xml><?xml version="1.0" encoding="utf-8"?>
<p:tagLst xmlns:p="http://schemas.openxmlformats.org/presentationml/2006/main">
  <p:tag name="KSO_WM_DIAGRAM_VIRTUALLY_FRAME" val="{&quot;height&quot;:100,&quot;left&quot;:60,&quot;top&quot;:65.4,&quot;width&quot;:840}"/>
</p:tagLst>
</file>

<file path=ppt/tags/tag455.xml><?xml version="1.0" encoding="utf-8"?>
<p:tagLst xmlns:p="http://schemas.openxmlformats.org/presentationml/2006/main">
  <p:tag name="KSO_WM_DIAGRAM_VIRTUALLY_FRAME" val="{&quot;height&quot;:100,&quot;left&quot;:60,&quot;top&quot;:65.4,&quot;width&quot;:840}"/>
</p:tagLst>
</file>

<file path=ppt/tags/tag456.xml><?xml version="1.0" encoding="utf-8"?>
<p:tagLst xmlns:p="http://schemas.openxmlformats.org/presentationml/2006/main">
  <p:tag name="KSO_WM_DIAGRAM_VIRTUALLY_FRAME" val="{&quot;height&quot;:100,&quot;left&quot;:60,&quot;top&quot;:65.4,&quot;width&quot;:840}"/>
</p:tagLst>
</file>

<file path=ppt/tags/tag457.xml><?xml version="1.0" encoding="utf-8"?>
<p:tagLst xmlns:p="http://schemas.openxmlformats.org/presentationml/2006/main">
  <p:tag name="KSO_WM_DIAGRAM_VIRTUALLY_FRAME" val="{&quot;height&quot;:100,&quot;left&quot;:60,&quot;top&quot;:65.4,&quot;width&quot;:840}"/>
</p:tagLst>
</file>

<file path=ppt/tags/tag458.xml><?xml version="1.0" encoding="utf-8"?>
<p:tagLst xmlns:p="http://schemas.openxmlformats.org/presentationml/2006/main">
  <p:tag name="KSO_WM_DIAGRAM_VIRTUALLY_FRAME" val="{&quot;height&quot;:100,&quot;left&quot;:60,&quot;top&quot;:65.4,&quot;width&quot;:840}"/>
</p:tagLst>
</file>

<file path=ppt/tags/tag459.xml><?xml version="1.0" encoding="utf-8"?>
<p:tagLst xmlns:p="http://schemas.openxmlformats.org/presentationml/2006/main">
  <p:tag name="KSO_WM_DIAGRAM_VIRTUALLY_FRAME" val="{&quot;height&quot;:100,&quot;left&quot;:60,&quot;top&quot;:65.4,&quot;width&quot;:840}"/>
</p:tagLst>
</file>

<file path=ppt/tags/tag460.xml><?xml version="1.0" encoding="utf-8"?>
<p:tagLst xmlns:p="http://schemas.openxmlformats.org/presentationml/2006/main">
  <p:tag name="KSO_WM_DIAGRAM_VIRTUALLY_FRAME" val="{&quot;height&quot;:100,&quot;left&quot;:60,&quot;top&quot;:65.4,&quot;width&quot;:840}"/>
</p:tagLst>
</file>

<file path=ppt/tags/tag461.xml><?xml version="1.0" encoding="utf-8"?>
<p:tagLst xmlns:p="http://schemas.openxmlformats.org/presentationml/2006/main">
  <p:tag name="PA" val="v5.2.11"/>
</p:tagLst>
</file>

<file path=ppt/tags/tag462.xml><?xml version="1.0" encoding="utf-8"?>
<p:tagLst xmlns:p="http://schemas.openxmlformats.org/presentationml/2006/main">
  <p:tag name="KSO_WM_DIAGRAM_VIRTUALLY_FRAME" val="{&quot;height&quot;:100,&quot;left&quot;:60,&quot;top&quot;:65.4,&quot;width&quot;:840}"/>
</p:tagLst>
</file>

<file path=ppt/tags/tag463.xml><?xml version="1.0" encoding="utf-8"?>
<p:tagLst xmlns:p="http://schemas.openxmlformats.org/presentationml/2006/main">
  <p:tag name="KSO_WM_DIAGRAM_VIRTUALLY_FRAME" val="{&quot;height&quot;:100,&quot;left&quot;:60,&quot;top&quot;:65.4,&quot;width&quot;:840}"/>
</p:tagLst>
</file>

<file path=ppt/tags/tag464.xml><?xml version="1.0" encoding="utf-8"?>
<p:tagLst xmlns:p="http://schemas.openxmlformats.org/presentationml/2006/main">
  <p:tag name="KSO_WM_DIAGRAM_VIRTUALLY_FRAME" val="{&quot;height&quot;:100,&quot;left&quot;:60,&quot;top&quot;:65.4,&quot;width&quot;:840}"/>
</p:tagLst>
</file>

<file path=ppt/tags/tag465.xml><?xml version="1.0" encoding="utf-8"?>
<p:tagLst xmlns:p="http://schemas.openxmlformats.org/presentationml/2006/main">
  <p:tag name="KSO_WM_DIAGRAM_VIRTUALLY_FRAME" val="{&quot;height&quot;:100,&quot;left&quot;:60,&quot;top&quot;:65.4,&quot;width&quot;:840}"/>
</p:tagLst>
</file>

<file path=ppt/tags/tag466.xml><?xml version="1.0" encoding="utf-8"?>
<p:tagLst xmlns:p="http://schemas.openxmlformats.org/presentationml/2006/main">
  <p:tag name="KSO_WM_DIAGRAM_VIRTUALLY_FRAME" val="{&quot;height&quot;:100,&quot;left&quot;:60,&quot;top&quot;:65.4,&quot;width&quot;:840}"/>
</p:tagLst>
</file>

<file path=ppt/tags/tag467.xml><?xml version="1.0" encoding="utf-8"?>
<p:tagLst xmlns:p="http://schemas.openxmlformats.org/presentationml/2006/main">
  <p:tag name="KSO_WM_DIAGRAM_VIRTUALLY_FRAME" val="{&quot;height&quot;:100,&quot;left&quot;:60,&quot;top&quot;:65.4,&quot;width&quot;:840}"/>
</p:tagLst>
</file>

<file path=ppt/tags/tag468.xml><?xml version="1.0" encoding="utf-8"?>
<p:tagLst xmlns:p="http://schemas.openxmlformats.org/presentationml/2006/main">
  <p:tag name="KSO_WM_DIAGRAM_VIRTUALLY_FRAME" val="{&quot;height&quot;:100,&quot;left&quot;:60,&quot;top&quot;:65.4,&quot;width&quot;:840}"/>
</p:tagLst>
</file>

<file path=ppt/tags/tag469.xml><?xml version="1.0" encoding="utf-8"?>
<p:tagLst xmlns:p="http://schemas.openxmlformats.org/presentationml/2006/main">
  <p:tag name="KSO_WM_DIAGRAM_VIRTUALLY_FRAME" val="{&quot;height&quot;:100,&quot;left&quot;:60,&quot;top&quot;:65.4,&quot;width&quot;:840}"/>
</p:tagLst>
</file>

<file path=ppt/tags/tag470.xml><?xml version="1.0" encoding="utf-8"?>
<p:tagLst xmlns:p="http://schemas.openxmlformats.org/presentationml/2006/main">
  <p:tag name="KSO_WM_DIAGRAM_VIRTUALLY_FRAME" val="{&quot;height&quot;:100,&quot;left&quot;:60,&quot;top&quot;:65.4,&quot;width&quot;:840}"/>
</p:tagLst>
</file>

<file path=ppt/tags/tag471.xml><?xml version="1.0" encoding="utf-8"?>
<p:tagLst xmlns:p="http://schemas.openxmlformats.org/presentationml/2006/main">
  <p:tag name="KSO_WM_DIAGRAM_VIRTUALLY_FRAME" val="{&quot;height&quot;:100,&quot;left&quot;:60,&quot;top&quot;:65.4,&quot;width&quot;:840}"/>
</p:tagLst>
</file>

<file path=ppt/tags/tag472.xml><?xml version="1.0" encoding="utf-8"?>
<p:tagLst xmlns:p="http://schemas.openxmlformats.org/presentationml/2006/main">
  <p:tag name="KSO_WM_DIAGRAM_VIRTUALLY_FRAME" val="{&quot;height&quot;:100,&quot;left&quot;:60,&quot;top&quot;:65.4,&quot;width&quot;:840}"/>
</p:tagLst>
</file>

<file path=ppt/tags/tag473.xml><?xml version="1.0" encoding="utf-8"?>
<p:tagLst xmlns:p="http://schemas.openxmlformats.org/presentationml/2006/main">
  <p:tag name="KSO_WM_DIAGRAM_VIRTUALLY_FRAME" val="{&quot;height&quot;:100,&quot;left&quot;:60,&quot;top&quot;:65.4,&quot;width&quot;:840}"/>
</p:tagLst>
</file>

<file path=ppt/tags/tag474.xml><?xml version="1.0" encoding="utf-8"?>
<p:tagLst xmlns:p="http://schemas.openxmlformats.org/presentationml/2006/main">
  <p:tag name="KSO_WM_DIAGRAM_VIRTUALLY_FRAME" val="{&quot;height&quot;:100,&quot;left&quot;:60,&quot;top&quot;:65.4,&quot;width&quot;:840}"/>
</p:tagLst>
</file>

<file path=ppt/tags/tag475.xml><?xml version="1.0" encoding="utf-8"?>
<p:tagLst xmlns:p="http://schemas.openxmlformats.org/presentationml/2006/main">
  <p:tag name="KSO_WM_DIAGRAM_VIRTUALLY_FRAME" val="{&quot;height&quot;:100,&quot;left&quot;:60,&quot;top&quot;:65.4,&quot;width&quot;:840}"/>
</p:tagLst>
</file>

<file path=ppt/tags/tag476.xml><?xml version="1.0" encoding="utf-8"?>
<p:tagLst xmlns:p="http://schemas.openxmlformats.org/presentationml/2006/main">
  <p:tag name="KSO_WM_DIAGRAM_VIRTUALLY_FRAME" val="{&quot;height&quot;:100,&quot;left&quot;:60,&quot;top&quot;:65.4,&quot;width&quot;:840}"/>
</p:tagLst>
</file>

<file path=ppt/tags/tag477.xml><?xml version="1.0" encoding="utf-8"?>
<p:tagLst xmlns:p="http://schemas.openxmlformats.org/presentationml/2006/main">
  <p:tag name="KSO_WM_DIAGRAM_VIRTUALLY_FRAME" val="{&quot;height&quot;:100,&quot;left&quot;:60,&quot;top&quot;:65.4,&quot;width&quot;:840}"/>
</p:tagLst>
</file>

<file path=ppt/tags/tag478.xml><?xml version="1.0" encoding="utf-8"?>
<p:tagLst xmlns:p="http://schemas.openxmlformats.org/presentationml/2006/main">
  <p:tag name="KSO_WM_DIAGRAM_VIRTUALLY_FRAME" val="{&quot;height&quot;:100,&quot;left&quot;:60,&quot;top&quot;:65.4,&quot;width&quot;:840}"/>
</p:tagLst>
</file>

<file path=ppt/tags/tag479.xml><?xml version="1.0" encoding="utf-8"?>
<p:tagLst xmlns:p="http://schemas.openxmlformats.org/presentationml/2006/main">
  <p:tag name="KSO_WM_DIAGRAM_VIRTUALLY_FRAME" val="{&quot;height&quot;:100,&quot;left&quot;:60,&quot;top&quot;:65.4,&quot;width&quot;:840}"/>
</p:tagLst>
</file>

<file path=ppt/tags/tag480.xml><?xml version="1.0" encoding="utf-8"?>
<p:tagLst xmlns:p="http://schemas.openxmlformats.org/presentationml/2006/main">
  <p:tag name="KSO_WM_DIAGRAM_VIRTUALLY_FRAME" val="{&quot;height&quot;:100,&quot;left&quot;:60,&quot;top&quot;:65.4,&quot;width&quot;:840}"/>
</p:tagLst>
</file>

<file path=ppt/tags/tag481.xml><?xml version="1.0" encoding="utf-8"?>
<p:tagLst xmlns:p="http://schemas.openxmlformats.org/presentationml/2006/main">
  <p:tag name="KSO_WM_DIAGRAM_VIRTUALLY_FRAME" val="{&quot;height&quot;:100,&quot;left&quot;:60,&quot;top&quot;:65.4,&quot;width&quot;:840}"/>
</p:tagLst>
</file>

<file path=ppt/tags/tag482.xml><?xml version="1.0" encoding="utf-8"?>
<p:tagLst xmlns:p="http://schemas.openxmlformats.org/presentationml/2006/main">
  <p:tag name="KSO_WM_DIAGRAM_VIRTUALLY_FRAME" val="{&quot;height&quot;:100,&quot;left&quot;:60,&quot;top&quot;:65.4,&quot;width&quot;:840}"/>
</p:tagLst>
</file>

<file path=ppt/tags/tag483.xml><?xml version="1.0" encoding="utf-8"?>
<p:tagLst xmlns:p="http://schemas.openxmlformats.org/presentationml/2006/main">
  <p:tag name="KSO_WM_DIAGRAM_VIRTUALLY_FRAME" val="{&quot;height&quot;:100,&quot;left&quot;:60,&quot;top&quot;:65.4,&quot;width&quot;:840}"/>
</p:tagLst>
</file>

<file path=ppt/tags/tag484.xml><?xml version="1.0" encoding="utf-8"?>
<p:tagLst xmlns:p="http://schemas.openxmlformats.org/presentationml/2006/main">
  <p:tag name="KSO_WM_DIAGRAM_VIRTUALLY_FRAME" val="{&quot;height&quot;:100,&quot;left&quot;:60,&quot;top&quot;:65.4,&quot;width&quot;:840}"/>
</p:tagLst>
</file>

<file path=ppt/tags/tag485.xml><?xml version="1.0" encoding="utf-8"?>
<p:tagLst xmlns:p="http://schemas.openxmlformats.org/presentationml/2006/main">
  <p:tag name="KSO_WM_DIAGRAM_VIRTUALLY_FRAME" val="{&quot;height&quot;:100,&quot;left&quot;:60,&quot;top&quot;:65.4,&quot;width&quot;:840}"/>
</p:tagLst>
</file>

<file path=ppt/tags/tag486.xml><?xml version="1.0" encoding="utf-8"?>
<p:tagLst xmlns:p="http://schemas.openxmlformats.org/presentationml/2006/main">
  <p:tag name="KSO_WM_DIAGRAM_VIRTUALLY_FRAME" val="{&quot;height&quot;:100,&quot;left&quot;:60,&quot;top&quot;:65.4,&quot;width&quot;:840}"/>
</p:tagLst>
</file>

<file path=ppt/tags/tag487.xml><?xml version="1.0" encoding="utf-8"?>
<p:tagLst xmlns:p="http://schemas.openxmlformats.org/presentationml/2006/main">
  <p:tag name="KSO_WM_DIAGRAM_VIRTUALLY_FRAME" val="{&quot;height&quot;:100,&quot;left&quot;:60,&quot;top&quot;:65.4,&quot;width&quot;:840}"/>
</p:tagLst>
</file>

<file path=ppt/tags/tag488.xml><?xml version="1.0" encoding="utf-8"?>
<p:tagLst xmlns:p="http://schemas.openxmlformats.org/presentationml/2006/main">
  <p:tag name="KSO_WM_DIAGRAM_VIRTUALLY_FRAME" val="{&quot;height&quot;:100,&quot;left&quot;:60,&quot;top&quot;:65.4,&quot;width&quot;:840}"/>
</p:tagLst>
</file>

<file path=ppt/tags/tag489.xml><?xml version="1.0" encoding="utf-8"?>
<p:tagLst xmlns:p="http://schemas.openxmlformats.org/presentationml/2006/main">
  <p:tag name="KSO_WM_DIAGRAM_VIRTUALLY_FRAME" val="{&quot;height&quot;:100,&quot;left&quot;:60,&quot;top&quot;:65.4,&quot;width&quot;:840}"/>
</p:tagLst>
</file>

<file path=ppt/tags/tag490.xml><?xml version="1.0" encoding="utf-8"?>
<p:tagLst xmlns:p="http://schemas.openxmlformats.org/presentationml/2006/main">
  <p:tag name="PA" val="v5.2.11"/>
</p:tagLst>
</file>

<file path=ppt/tags/tag491.xml><?xml version="1.0" encoding="utf-8"?>
<p:tagLst xmlns:p="http://schemas.openxmlformats.org/presentationml/2006/main">
  <p:tag name="PA" val="v5.2.11"/>
</p:tagLst>
</file>

<file path=ppt/tags/tag492.xml><?xml version="1.0" encoding="utf-8"?>
<p:tagLst xmlns:p="http://schemas.openxmlformats.org/presentationml/2006/main">
  <p:tag name="KSO_WM_DIAGRAM_VIRTUALLY_FRAME" val="{&quot;height&quot;:296.35,&quot;left&quot;:40,&quot;top&quot;:217.65,&quot;width&quot;:884}"/>
</p:tagLst>
</file>

<file path=ppt/tags/tag493.xml><?xml version="1.0" encoding="utf-8"?>
<p:tagLst xmlns:p="http://schemas.openxmlformats.org/presentationml/2006/main">
  <p:tag name="KSO_WM_DIAGRAM_VIRTUALLY_FRAME" val="{&quot;height&quot;:296.35,&quot;left&quot;:40,&quot;top&quot;:217.65,&quot;width&quot;:884}"/>
</p:tagLst>
</file>

<file path=ppt/tags/tag494.xml><?xml version="1.0" encoding="utf-8"?>
<p:tagLst xmlns:p="http://schemas.openxmlformats.org/presentationml/2006/main">
  <p:tag name="KSO_WM_DIAGRAM_VIRTUALLY_FRAME" val="{&quot;height&quot;:296.35,&quot;left&quot;:40,&quot;top&quot;:217.65,&quot;width&quot;:884}"/>
</p:tagLst>
</file>

<file path=ppt/tags/tag495.xml><?xml version="1.0" encoding="utf-8"?>
<p:tagLst xmlns:p="http://schemas.openxmlformats.org/presentationml/2006/main">
  <p:tag name="KSO_WM_DIAGRAM_VIRTUALLY_FRAME" val="{&quot;height&quot;:296.35,&quot;left&quot;:40,&quot;top&quot;:217.65,&quot;width&quot;:884}"/>
</p:tagLst>
</file>

<file path=ppt/tags/tag496.xml><?xml version="1.0" encoding="utf-8"?>
<p:tagLst xmlns:p="http://schemas.openxmlformats.org/presentationml/2006/main">
  <p:tag name="KSO_WM_DIAGRAM_VIRTUALLY_FRAME" val="{&quot;height&quot;:296.35,&quot;left&quot;:40,&quot;top&quot;:217.65,&quot;width&quot;:884}"/>
</p:tagLst>
</file>

<file path=ppt/tags/tag497.xml><?xml version="1.0" encoding="utf-8"?>
<p:tagLst xmlns:p="http://schemas.openxmlformats.org/presentationml/2006/main">
  <p:tag name="KSO_WM_DIAGRAM_VIRTUALLY_FRAME" val="{&quot;height&quot;:296.35,&quot;left&quot;:40,&quot;top&quot;:217.65,&quot;width&quot;:884}"/>
</p:tagLst>
</file>

<file path=ppt/tags/tag498.xml><?xml version="1.0" encoding="utf-8"?>
<p:tagLst xmlns:p="http://schemas.openxmlformats.org/presentationml/2006/main">
  <p:tag name="KSO_WM_DIAGRAM_VIRTUALLY_FRAME" val="{&quot;height&quot;:296.35,&quot;left&quot;:40,&quot;top&quot;:217.65,&quot;width&quot;:884}"/>
</p:tagLst>
</file>

<file path=ppt/tags/tag499.xml><?xml version="1.0" encoding="utf-8"?>
<p:tagLst xmlns:p="http://schemas.openxmlformats.org/presentationml/2006/main">
  <p:tag name="KSO_WM_DIAGRAM_VIRTUALLY_FRAME" val="{&quot;height&quot;:296.35,&quot;left&quot;:40,&quot;top&quot;:217.65,&quot;width&quot;:884}"/>
</p:tagLst>
</file>

<file path=ppt/tags/tag500.xml><?xml version="1.0" encoding="utf-8"?>
<p:tagLst xmlns:p="http://schemas.openxmlformats.org/presentationml/2006/main">
  <p:tag name="KSO_WM_DIAGRAM_VIRTUALLY_FRAME" val="{&quot;height&quot;:296.35,&quot;left&quot;:40,&quot;top&quot;:217.65,&quot;width&quot;:884}"/>
</p:tagLst>
</file>

<file path=ppt/tags/tag501.xml><?xml version="1.0" encoding="utf-8"?>
<p:tagLst xmlns:p="http://schemas.openxmlformats.org/presentationml/2006/main">
  <p:tag name="KSO_WM_DIAGRAM_VIRTUALLY_FRAME" val="{&quot;height&quot;:296.35,&quot;left&quot;:40,&quot;top&quot;:217.65,&quot;width&quot;:884}"/>
</p:tagLst>
</file>

<file path=ppt/tags/tag502.xml><?xml version="1.0" encoding="utf-8"?>
<p:tagLst xmlns:p="http://schemas.openxmlformats.org/presentationml/2006/main">
  <p:tag name="KSO_WM_DIAGRAM_VIRTUALLY_FRAME" val="{&quot;height&quot;:296.35,&quot;left&quot;:40,&quot;top&quot;:217.65,&quot;width&quot;:884}"/>
</p:tagLst>
</file>

<file path=ppt/tags/tag503.xml><?xml version="1.0" encoding="utf-8"?>
<p:tagLst xmlns:p="http://schemas.openxmlformats.org/presentationml/2006/main">
  <p:tag name="KSO_WM_DIAGRAM_VIRTUALLY_FRAME" val="{&quot;height&quot;:296.35,&quot;left&quot;:40,&quot;top&quot;:217.65,&quot;width&quot;:884}"/>
</p:tagLst>
</file>

<file path=ppt/tags/tag504.xml><?xml version="1.0" encoding="utf-8"?>
<p:tagLst xmlns:p="http://schemas.openxmlformats.org/presentationml/2006/main">
  <p:tag name="KSO_WM_DIAGRAM_VIRTUALLY_FRAME" val="{&quot;height&quot;:296.35,&quot;left&quot;:40,&quot;top&quot;:217.65,&quot;width&quot;:884}"/>
</p:tagLst>
</file>

<file path=ppt/tags/tag505.xml><?xml version="1.0" encoding="utf-8"?>
<p:tagLst xmlns:p="http://schemas.openxmlformats.org/presentationml/2006/main">
  <p:tag name="KSO_WM_DIAGRAM_VIRTUALLY_FRAME" val="{&quot;height&quot;:296.35,&quot;left&quot;:40,&quot;top&quot;:217.65,&quot;width&quot;:884}"/>
</p:tagLst>
</file>

<file path=ppt/tags/tag506.xml><?xml version="1.0" encoding="utf-8"?>
<p:tagLst xmlns:p="http://schemas.openxmlformats.org/presentationml/2006/main">
  <p:tag name="KSO_WM_DIAGRAM_VIRTUALLY_FRAME" val="{&quot;height&quot;:296.35,&quot;left&quot;:40,&quot;top&quot;:217.65,&quot;width&quot;:884}"/>
</p:tagLst>
</file>

<file path=ppt/tags/tag507.xml><?xml version="1.0" encoding="utf-8"?>
<p:tagLst xmlns:p="http://schemas.openxmlformats.org/presentationml/2006/main">
  <p:tag name="KSO_WM_DIAGRAM_VIRTUALLY_FRAME" val="{&quot;height&quot;:296.35,&quot;left&quot;:40,&quot;top&quot;:217.65,&quot;width&quot;:884}"/>
</p:tagLst>
</file>

<file path=ppt/tags/tag508.xml><?xml version="1.0" encoding="utf-8"?>
<p:tagLst xmlns:p="http://schemas.openxmlformats.org/presentationml/2006/main">
  <p:tag name="KSO_WM_DIAGRAM_VIRTUALLY_FRAME" val="{&quot;height&quot;:296.35,&quot;left&quot;:40,&quot;top&quot;:217.65,&quot;width&quot;:884}"/>
</p:tagLst>
</file>

<file path=ppt/tags/tag509.xml><?xml version="1.0" encoding="utf-8"?>
<p:tagLst xmlns:p="http://schemas.openxmlformats.org/presentationml/2006/main">
  <p:tag name="KSO_WM_DIAGRAM_VIRTUALLY_FRAME" val="{&quot;height&quot;:296.35,&quot;left&quot;:40,&quot;top&quot;:217.65,&quot;width&quot;:884}"/>
</p:tagLst>
</file>

<file path=ppt/tags/tag510.xml><?xml version="1.0" encoding="utf-8"?>
<p:tagLst xmlns:p="http://schemas.openxmlformats.org/presentationml/2006/main">
  <p:tag name="KSO_WM_DIAGRAM_VIRTUALLY_FRAME" val="{&quot;height&quot;:296.35,&quot;left&quot;:40,&quot;top&quot;:217.65,&quot;width&quot;:884}"/>
</p:tagLst>
</file>

<file path=ppt/tags/tag511.xml><?xml version="1.0" encoding="utf-8"?>
<p:tagLst xmlns:p="http://schemas.openxmlformats.org/presentationml/2006/main">
  <p:tag name="KSO_WM_DIAGRAM_VIRTUALLY_FRAME" val="{&quot;height&quot;:296.35,&quot;left&quot;:40,&quot;top&quot;:217.65,&quot;width&quot;:884}"/>
</p:tagLst>
</file>

<file path=ppt/theme/theme1.xml><?xml version="1.0" encoding="utf-8"?>
<a:theme xmlns:a="http://schemas.openxmlformats.org/drawingml/2006/main" name="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4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3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2757</Words>
  <Application>WPS 演示</Application>
  <PresentationFormat>宽屏</PresentationFormat>
  <Paragraphs>259</Paragraphs>
  <Slides>11</Slides>
  <Notes>13</Notes>
  <HiddenSlides>0</HiddenSlides>
  <MMClips>0</MMClips>
  <ScaleCrop>false</ScaleCrop>
  <HeadingPairs>
    <vt:vector size="6" baseType="variant">
      <vt:variant>
        <vt:lpstr>已用的字体</vt:lpstr>
      </vt:variant>
      <vt:variant>
        <vt:i4>14</vt:i4>
      </vt:variant>
      <vt:variant>
        <vt:lpstr>主题</vt:lpstr>
      </vt:variant>
      <vt:variant>
        <vt:i4>9</vt:i4>
      </vt:variant>
      <vt:variant>
        <vt:lpstr>幻灯片标题</vt:lpstr>
      </vt:variant>
      <vt:variant>
        <vt:i4>11</vt:i4>
      </vt:variant>
    </vt:vector>
  </HeadingPairs>
  <TitlesOfParts>
    <vt:vector size="34" baseType="lpstr">
      <vt:lpstr>Arial</vt:lpstr>
      <vt:lpstr>宋体</vt:lpstr>
      <vt:lpstr>Wingdings</vt:lpstr>
      <vt:lpstr>等线</vt:lpstr>
      <vt:lpstr>微软雅黑</vt:lpstr>
      <vt:lpstr>Impact</vt:lpstr>
      <vt:lpstr>Noto Sans SC</vt:lpstr>
      <vt:lpstr>MiSans Normal</vt:lpstr>
      <vt:lpstr>MiSans</vt:lpstr>
      <vt:lpstr>Arial Unicode MS</vt:lpstr>
      <vt:lpstr>Calibri</vt:lpstr>
      <vt:lpstr>MiSans Demibold</vt:lpstr>
      <vt:lpstr>仿宋_GB2312</vt:lpstr>
      <vt:lpstr>仿宋</vt:lpstr>
      <vt:lpstr>默认</vt:lpstr>
      <vt:lpstr>1_默认</vt:lpstr>
      <vt:lpstr>2_默认</vt:lpstr>
      <vt:lpstr>5_默认</vt:lpstr>
      <vt:lpstr>6_默认</vt:lpstr>
      <vt:lpstr>8_默认</vt:lpstr>
      <vt:lpstr>9_默认</vt:lpstr>
      <vt:lpstr>4_默认</vt:lpstr>
      <vt:lpstr>3_默认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 jie</dc:creator>
  <cp:lastModifiedBy>韩帅</cp:lastModifiedBy>
  <cp:revision>893</cp:revision>
  <dcterms:created xsi:type="dcterms:W3CDTF">2023-08-09T12:44:00Z</dcterms:created>
  <dcterms:modified xsi:type="dcterms:W3CDTF">2026-06-17T07:58:15Z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F21BFE55658248BFB299DEA39EAF87F0_13</vt:lpwstr>
  </property>
</Properties>
</file>