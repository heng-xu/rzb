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8595360" cy="384048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r>
              <a:rPr lang="zh-CN" sz="2000" b="1">
                <a:solidFill>
                  <a:srgbClr val="132949"/>
                </a:solidFill>
                <a:latin typeface="微软雅黑"/>
              </a:rPr>
              <a:t>增加</a:t>
            </a:r>
            <a:r>
              <a:rPr sz="2000" b="1">
                <a:solidFill>
                  <a:srgbClr val="132949"/>
                </a:solidFill>
                <a:latin typeface="微软雅黑"/>
              </a:rPr>
              <a:t>数据划分后全量结果</a:t>
            </a:r>
            <a:endParaRPr sz="20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9875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>
                <a:solidFill>
                  <a:srgbClr val="5B6773"/>
                </a:solidFill>
                <a:latin typeface="微软雅黑"/>
                <a:sym typeface="+mn-ea"/>
              </a:rPr>
              <a:t>5 seeds/splits</a:t>
            </a:r>
            <a:r>
              <a:rPr lang="zh-CN" sz="1000">
                <a:solidFill>
                  <a:srgbClr val="5B6773"/>
                </a:solidFill>
                <a:latin typeface="微软雅黑"/>
                <a:sym typeface="+mn-ea"/>
              </a:rPr>
              <a:t>，</a:t>
            </a:r>
            <a:r>
              <a:rPr sz="1000" b="0">
                <a:solidFill>
                  <a:srgbClr val="5B6773"/>
                </a:solidFill>
                <a:latin typeface="微软雅黑"/>
              </a:rPr>
              <a:t>固定窗口 10/20/40/80；表格内按窗口顺序展示 RMSE/MAPE 的均值与标准差，均值最优加粗</a:t>
            </a:r>
            <a:endParaRPr sz="10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微软雅黑"/>
              </a:rPr>
              <a:t>06.10</a:t>
            </a:r>
            <a:endParaRPr sz="8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55046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HUST 全量对比结果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99032"/>
          <a:ext cx="550468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445"/>
                <a:gridCol w="1256347"/>
                <a:gridCol w="1256347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0.0069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0.0080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0.0078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0.70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0.0266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0.0258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LSTM-PINN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0.0346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0.0256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0.0287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0.0141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3.14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2.60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1.28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xPatch-DT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0.0122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1.11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BatteryGPT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0.0212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0.0214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2.06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2784" y="941832"/>
            <a:ext cx="55046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XJTU 全量对比结果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72784" y="1188720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2784" y="1399032"/>
          <a:ext cx="550468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/>
                <a:gridCol w="1280160"/>
                <a:gridCol w="1280160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0.0072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0.62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0.0280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0.0258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2.56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LSTM-PINN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0.0281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0.0282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2.78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2.46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2.35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2.02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xPatch-DT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0.0140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2.01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1.00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0.98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1.16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BatteryGPT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0.0164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0.0169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0.0184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0.0209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1.40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1.55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1.90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3767328"/>
            <a:ext cx="55046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MIT 全量对比结果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4014216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4224528"/>
          <a:ext cx="550468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050"/>
                <a:gridCol w="1249045"/>
                <a:gridCol w="1249045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0.0129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1.01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1.10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0.98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0.0334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0.0359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0.0312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0.0273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0.0121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2.59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2.88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1.12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LSTM-PINN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0.0446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0.0388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0.0573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0.0390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0.0141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0.0258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0.0180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3.48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4.60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2.96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1.42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xPatch-DT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0.0404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0.0506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0.0449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0.0517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0.0098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0.0076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3.55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3.35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3.77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BatteryGPT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0.0203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0.0206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0.0221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0.0219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0.0065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1.56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1.68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1.62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72784" y="3767328"/>
            <a:ext cx="55046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TJU 全量对比结果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2784" y="4014216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72784" y="4224528"/>
          <a:ext cx="550468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65"/>
                <a:gridCol w="1277937"/>
                <a:gridCol w="1277937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0.0178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0.0171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0.0187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1.61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1.85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0.0195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0.0192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0.0205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0.0226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1.90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1.87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1.95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2.18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LSTM-PINN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0.0276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0.0067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0.0075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0.0093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0.0145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2.70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0.65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0.97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1.48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xPatch-DT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0.0245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0.0273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0.0225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0.0198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0.0061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2.41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2.71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2.20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1.92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BatteryGPT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0.0186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0.0176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0.0063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1.71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1.73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1.85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1.79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85953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32949"/>
                </a:solidFill>
                <a:latin typeface="微软雅黑"/>
              </a:rPr>
              <a:t>物理损失消融结果</a:t>
            </a:r>
            <a:endParaRPr sz="20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9875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5B6773"/>
                </a:solidFill>
                <a:latin typeface="微软雅黑"/>
              </a:rPr>
              <a:t>Mine模型与去 BV 损失对照；表格内按窗口顺序展示 RMSE/MAPE 的均值与标准差，均值更优加粗</a:t>
            </a:r>
            <a:endParaRPr sz="10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微软雅黑"/>
              </a:rPr>
              <a:t>06.10</a:t>
            </a:r>
            <a:endParaRPr sz="8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941832"/>
            <a:ext cx="550468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HUST BV 消融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99032"/>
          <a:ext cx="5504685" cy="164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870"/>
                <a:gridCol w="1270635"/>
                <a:gridCol w="1270635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A7E57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0.0069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0.0080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0.0078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0.70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去 BV 损失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0.0090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0.0078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0.70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0.21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2784" y="941832"/>
            <a:ext cx="550468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XJTU BV 消融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72784" y="1188720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2784" y="1399032"/>
          <a:ext cx="5565917" cy="164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1301750"/>
                <a:gridCol w="1301750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235FA6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0.0072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0.62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0.14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去 BV 损失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0.0082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0.0092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0.0104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0.0092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0.0008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0.0019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0.84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0.92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0.79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0.16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3675887"/>
            <a:ext cx="550468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MIT BV 消融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3922775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4133087"/>
          <a:ext cx="5504685" cy="164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1526820"/>
                <a:gridCol w="995528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132949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0.0124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0.0131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0.0129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0.0032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1.01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1.10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0.98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0.35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去 BV 损失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0.0127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0.0121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0.0137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0.0033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0.96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0.98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1.04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1.06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0.47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72784" y="3675887"/>
            <a:ext cx="550468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32949"/>
                </a:solidFill>
                <a:latin typeface="微软雅黑"/>
              </a:rPr>
              <a:t>TJU BV 消融</a:t>
            </a:r>
            <a:endParaRPr sz="1200" b="1">
              <a:solidFill>
                <a:srgbClr val="132949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2784" y="3922775"/>
            <a:ext cx="550468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00" b="0">
                <a:solidFill>
                  <a:srgbClr val="5B6773"/>
                </a:solidFill>
                <a:latin typeface="微软雅黑"/>
              </a:rPr>
              <a:t>窗口顺序 10/20/40/80；5 seeds/splits</a:t>
            </a:r>
            <a:endParaRPr sz="700" b="0">
              <a:solidFill>
                <a:srgbClr val="5B6773"/>
              </a:solidFill>
              <a:latin typeface="微软雅黑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72784" y="4133087"/>
          <a:ext cx="5560837" cy="164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1299210"/>
                <a:gridCol w="1299210"/>
                <a:gridCol w="1102889"/>
                <a:gridCol w="995528"/>
              </a:tblGrid>
              <a:tr h="292608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RMSE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mean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微软雅黑"/>
                        </a:rPr>
                        <a:t>MAPE
std</a:t>
                      </a:r>
                      <a:endParaRPr sz="7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CD7B2F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Mine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0.0178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0.0171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0.0187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0.0055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1.76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1.61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1.42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1.85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0.56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FFFFF"/>
                    </a:solidFill>
                  </a:tcPr>
                </a:tc>
              </a:tr>
              <a:tr h="676655"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00" b="1">
                          <a:solidFill>
                            <a:srgbClr val="1B232D"/>
                          </a:solidFill>
                          <a:latin typeface="微软雅黑"/>
                        </a:rPr>
                        <a:t>去 BV 损失</a:t>
                      </a:r>
                      <a:endParaRPr sz="700" b="1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0.0193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0.0164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0.0151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0.0183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0.0063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0.0022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0.0036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1.88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1.59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1.43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1">
                          <a:solidFill>
                            <a:srgbClr val="235FA6"/>
                          </a:solidFill>
                          <a:latin typeface="微软雅黑"/>
                        </a:rPr>
                        <a:t>1.75</a:t>
                      </a:r>
                      <a:endParaRPr sz="700" b="1">
                        <a:solidFill>
                          <a:srgbClr val="235FA6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86000"/>
                        </a:lnSpc>
                      </a:pP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0.63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0.30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0.21</a:t>
                      </a:r>
                      <a:r>
                        <a:rPr sz="700" b="0">
                          <a:solidFill>
                            <a:srgbClr val="5B6773"/>
                          </a:solidFill>
                          <a:latin typeface="微软雅黑"/>
                        </a:rPr>
                        <a:t>/</a:t>
                      </a:r>
                      <a:r>
                        <a:rPr sz="700" b="0">
                          <a:solidFill>
                            <a:srgbClr val="1B232D"/>
                          </a:solidFill>
                          <a:latin typeface="微软雅黑"/>
                        </a:rPr>
                        <a:t>0.37</a:t>
                      </a:r>
                      <a:endParaRPr sz="700" b="0">
                        <a:solidFill>
                          <a:srgbClr val="1B232D"/>
                        </a:solidFill>
                        <a:latin typeface="微软雅黑"/>
                      </a:endParaRPr>
                    </a:p>
                  </a:txBody>
                  <a:tcPr marL="22860" marR="22860" marT="9144" marB="9144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12648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5B6773"/>
                </a:solidFill>
                <a:latin typeface="微软雅黑"/>
              </a:rPr>
              <a:t>注：去 BV 损失仅作为物理损失消融对照，不改变数据划分、窗口与指标统计口径。</a:t>
            </a:r>
            <a:endParaRPr sz="800" b="0">
              <a:solidFill>
                <a:srgbClr val="5B677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8595360" cy="384048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91919"/>
                </a:solidFill>
                <a:latin typeface="微软雅黑"/>
              </a:rPr>
              <a:t>论文初稿大纲</a:t>
            </a:r>
            <a:endParaRPr sz="2000" b="1">
              <a:solidFill>
                <a:srgbClr val="191919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微软雅黑"/>
              </a:rPr>
              <a:t>06.10</a:t>
            </a:r>
            <a:endParaRPr sz="8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70432"/>
            <a:ext cx="5047488" cy="2560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rm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A01E1E"/>
                </a:solidFill>
                <a:latin typeface="微软雅黑"/>
              </a:rPr>
              <a:t>论文定位</a:t>
            </a:r>
            <a:endParaRPr sz="1400" b="1">
              <a:solidFill>
                <a:srgbClr val="132949"/>
              </a:solidFill>
              <a:latin typeface="微软雅黑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713232" y="1536192"/>
            <a:ext cx="5047488" cy="0"/>
          </a:xfrm>
          <a:prstGeom prst="line">
            <a:avLst/>
          </a:prstGeom>
          <a:ln w="10160">
            <a:solidFill>
              <a:srgbClr val="CC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719072"/>
            <a:ext cx="5010912" cy="9601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rmAutofit lnSpcReduction="10000"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2D2D2D"/>
                </a:solidFill>
                <a:latin typeface="微软雅黑"/>
              </a:rPr>
              <a:t>拟定题目：</a:t>
            </a:r>
            <a:r>
              <a:rPr sz="1150" b="1">
                <a:solidFill>
                  <a:schemeClr val="tx1"/>
                </a:solidFill>
                <a:latin typeface="微软雅黑"/>
              </a:rPr>
              <a:t>融合物理约束与域适应的锂电池全寿命退化轨迹预测方法</a:t>
            </a:r>
            <a:r>
              <a:rPr sz="1150" b="0">
                <a:solidFill>
                  <a:srgbClr val="2D2D2D"/>
                </a:solidFill>
                <a:latin typeface="微软雅黑"/>
              </a:rPr>
              <a:t>。本文面向早期历史数据不足、跨工况泛化弱、物理一致性不足与置信度缺失等问题，构建仿真-真实数据融合训练框架：真实公开数据学习 SOH 退化轨迹，仿真数据提供 BV 物理监督，域适应对齐两域表示，并由不确定性头输出预测区间。</a:t>
            </a:r>
            <a:endParaRPr sz="1000" b="0">
              <a:solidFill>
                <a:srgbClr val="1B232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5047488" cy="2560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rm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A01E1E"/>
                </a:solidFill>
                <a:latin typeface="微软雅黑"/>
              </a:rPr>
              <a:t>论文初稿结构</a:t>
            </a:r>
            <a:endParaRPr sz="1400" b="1">
              <a:solidFill>
                <a:srgbClr val="132949"/>
              </a:solidFill>
              <a:latin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13232" y="3273552"/>
            <a:ext cx="5047488" cy="0"/>
          </a:xfrm>
          <a:prstGeom prst="line">
            <a:avLst/>
          </a:prstGeom>
          <a:ln w="10160">
            <a:solidFill>
              <a:srgbClr val="CC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456432"/>
            <a:ext cx="4974336" cy="2487168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rm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80" b="0">
                <a:solidFill>
                  <a:srgbClr val="2D2D2D"/>
                </a:solidFill>
                <a:latin typeface="微软雅黑"/>
              </a:rPr>
              <a:t>• 摘要 / 引言：说明 SOH 全寿命轨迹预测的安全运维价值、早期预测需求和现有方法不足。</a:t>
            </a:r>
            <a:endParaRPr sz="800" b="0">
              <a:solidFill>
                <a:srgbClr val="1B23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80" b="0">
                <a:solidFill>
                  <a:srgbClr val="2D2D2D"/>
                </a:solidFill>
                <a:latin typeface="微软雅黑"/>
              </a:rPr>
              <a:t>• 相关工作：梳理早期轨迹预测、基础模型与序列表征、物理信息网络、跨域迁移和不确定性估计。</a:t>
            </a:r>
            <a:endParaRPr sz="1080" b="0">
              <a:solidFill>
                <a:srgbClr val="2D2D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80" b="0">
                <a:solidFill>
                  <a:srgbClr val="2D2D2D"/>
                </a:solidFill>
                <a:latin typeface="微软雅黑"/>
              </a:rPr>
              <a:t>• 方法：定义 strict history contract；描述历史编码器、条件解码器、BV 物理辅助头、域适应损失和 NLL/KL 不确定性损失。</a:t>
            </a:r>
            <a:endParaRPr sz="1080" b="0">
              <a:solidFill>
                <a:srgbClr val="2D2D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80" b="0">
                <a:solidFill>
                  <a:srgbClr val="2D2D2D"/>
                </a:solidFill>
                <a:latin typeface="微软雅黑"/>
              </a:rPr>
              <a:t>• 实验：</a:t>
            </a:r>
            <a:r>
              <a:rPr lang="zh-CN" sz="1080" b="0">
                <a:solidFill>
                  <a:srgbClr val="2D2D2D"/>
                </a:solidFill>
                <a:latin typeface="微软雅黑"/>
              </a:rPr>
              <a:t>在</a:t>
            </a:r>
            <a:r>
              <a:rPr sz="1080" b="0">
                <a:solidFill>
                  <a:srgbClr val="2D2D2D"/>
                </a:solidFill>
                <a:latin typeface="微软雅黑"/>
              </a:rPr>
              <a:t>XJTU</a:t>
            </a:r>
            <a:r>
              <a:rPr lang="x-none" sz="1080" b="0">
                <a:solidFill>
                  <a:srgbClr val="2D2D2D"/>
                </a:solidFill>
                <a:latin typeface="微软雅黑"/>
              </a:rPr>
              <a:t>\</a:t>
            </a:r>
            <a:r>
              <a:rPr sz="1080">
                <a:solidFill>
                  <a:srgbClr val="2D2D2D"/>
                </a:solidFill>
                <a:latin typeface="微软雅黑"/>
                <a:sym typeface="+mn-ea"/>
              </a:rPr>
              <a:t>MIT</a:t>
            </a:r>
            <a:r>
              <a:rPr lang="x-none" sz="1080">
                <a:solidFill>
                  <a:srgbClr val="2D2D2D"/>
                </a:solidFill>
                <a:latin typeface="微软雅黑"/>
                <a:sym typeface="+mn-ea"/>
              </a:rPr>
              <a:t>\</a:t>
            </a:r>
            <a:r>
              <a:rPr sz="1080">
                <a:solidFill>
                  <a:srgbClr val="2D2D2D"/>
                </a:solidFill>
                <a:latin typeface="微软雅黑"/>
                <a:sym typeface="+mn-ea"/>
              </a:rPr>
              <a:t>TJU</a:t>
            </a:r>
            <a:r>
              <a:rPr lang="x-none" sz="1080">
                <a:solidFill>
                  <a:srgbClr val="2D2D2D"/>
                </a:solidFill>
                <a:latin typeface="微软雅黑"/>
                <a:sym typeface="+mn-ea"/>
              </a:rPr>
              <a:t>\</a:t>
            </a:r>
            <a:r>
              <a:rPr sz="1080">
                <a:solidFill>
                  <a:srgbClr val="2D2D2D"/>
                </a:solidFill>
                <a:latin typeface="微软雅黑"/>
                <a:sym typeface="+mn-ea"/>
              </a:rPr>
              <a:t>HUST</a:t>
            </a:r>
            <a:r>
              <a:rPr lang="en-US" sz="1080">
                <a:solidFill>
                  <a:srgbClr val="2D2D2D"/>
                </a:solidFill>
                <a:latin typeface="微软雅黑"/>
                <a:sym typeface="+mn-ea"/>
              </a:rPr>
              <a:t> 4</a:t>
            </a:r>
            <a:r>
              <a:rPr lang="zh-CN" altLang="en-US" sz="1080">
                <a:solidFill>
                  <a:srgbClr val="2D2D2D"/>
                </a:solidFill>
                <a:latin typeface="微软雅黑"/>
                <a:sym typeface="+mn-ea"/>
              </a:rPr>
              <a:t>个公开数据集上验证实验结果</a:t>
            </a:r>
            <a:r>
              <a:rPr sz="1080" b="0">
                <a:solidFill>
                  <a:srgbClr val="2D2D2D"/>
                </a:solidFill>
                <a:latin typeface="微软雅黑"/>
              </a:rPr>
              <a:t>，报告 global R² / RMSE / MAPE、worst group R²、逐电池轨迹和机制消融。</a:t>
            </a:r>
            <a:endParaRPr sz="1080" b="0">
              <a:solidFill>
                <a:srgbClr val="2D2D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80" b="0">
                <a:solidFill>
                  <a:srgbClr val="2D2D2D"/>
                </a:solidFill>
                <a:latin typeface="微软雅黑"/>
              </a:rPr>
              <a:t>• 结论与展望：总结仿真物理监督、域适应和不确定性估计收益，扩展真实车辆场景。</a:t>
            </a:r>
            <a:endParaRPr sz="1080" b="0">
              <a:solidFill>
                <a:srgbClr val="2D2D2D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82512" y="987552"/>
            <a:ext cx="5303520" cy="5394960"/>
          </a:xfrm>
          <a:prstGeom prst="rect">
            <a:avLst/>
          </a:prstGeom>
          <a:solidFill>
            <a:srgbClr val="F7F9FC"/>
          </a:solidFill>
          <a:ln w="9525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0" y="1118235"/>
            <a:ext cx="4252595" cy="51327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8595360" cy="384048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zh-CN" altLang="en-US" sz="2000" b="1">
                <a:solidFill>
                  <a:srgbClr val="191919"/>
                </a:solidFill>
                <a:latin typeface="微软雅黑"/>
              </a:rPr>
              <a:t>徐州地区分布式新能源高渗透率地区</a:t>
            </a:r>
            <a:r>
              <a:rPr lang="en-US" altLang="zh-CN" sz="2000" b="1">
                <a:solidFill>
                  <a:srgbClr val="191919"/>
                </a:solidFill>
                <a:latin typeface="微软雅黑"/>
              </a:rPr>
              <a:t>110kV</a:t>
            </a:r>
            <a:r>
              <a:rPr lang="zh-CN" altLang="en-US" sz="2000" b="1">
                <a:solidFill>
                  <a:srgbClr val="191919"/>
                </a:solidFill>
                <a:latin typeface="微软雅黑"/>
              </a:rPr>
              <a:t>电网容载比弹性指标优化研究</a:t>
            </a:r>
            <a:endParaRPr lang="zh-CN" altLang="en-US" sz="2000" b="1">
              <a:solidFill>
                <a:srgbClr val="191919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685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73"/>
                </a:solidFill>
                <a:latin typeface="微软雅黑"/>
              </a:rPr>
              <a:t>06.10</a:t>
            </a:r>
            <a:endParaRPr sz="800" b="0">
              <a:solidFill>
                <a:srgbClr val="5B6773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54864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70432"/>
            <a:ext cx="5047488" cy="2560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zh-CN" sz="1900" b="1">
                <a:solidFill>
                  <a:srgbClr val="132949"/>
                </a:solidFill>
                <a:latin typeface="微软雅黑"/>
              </a:rPr>
              <a:t>思路</a:t>
            </a:r>
            <a:endParaRPr lang="zh-CN" sz="1900" b="1">
              <a:solidFill>
                <a:srgbClr val="132949"/>
              </a:solidFill>
              <a:latin typeface="微软雅黑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713232" y="1536192"/>
            <a:ext cx="5047488" cy="0"/>
          </a:xfrm>
          <a:prstGeom prst="line">
            <a:avLst/>
          </a:prstGeom>
          <a:ln w="10160">
            <a:solidFill>
              <a:srgbClr val="CC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719072"/>
            <a:ext cx="5010912" cy="9601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normAutofit lnSpcReduction="20000"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x-none" altLang="zh-CN" sz="1600" b="0">
                <a:solidFill>
                  <a:srgbClr val="1B232D"/>
                </a:solidFill>
                <a:latin typeface="微软雅黑"/>
              </a:rPr>
              <a:t>1</a:t>
            </a:r>
            <a:r>
              <a:rPr lang="zh-CN" altLang="x-none" sz="1600" b="0">
                <a:solidFill>
                  <a:srgbClr val="1B232D"/>
                </a:solidFill>
                <a:latin typeface="微软雅黑"/>
              </a:rPr>
              <a:t>、</a:t>
            </a:r>
            <a:r>
              <a:rPr lang="zh-CN" altLang="en-US" sz="1600" b="0">
                <a:solidFill>
                  <a:srgbClr val="1B232D"/>
                </a:solidFill>
                <a:latin typeface="微软雅黑"/>
              </a:rPr>
              <a:t>对技术路线和研究内容展开调研，进行</a:t>
            </a:r>
            <a:r>
              <a:rPr lang="zh-CN" altLang="en-US" sz="1600">
                <a:solidFill>
                  <a:srgbClr val="1B232D"/>
                </a:solidFill>
                <a:latin typeface="微软雅黑"/>
                <a:sym typeface="+mn-ea"/>
              </a:rPr>
              <a:t>国内外研究现状分析，</a:t>
            </a:r>
            <a:r>
              <a:rPr lang="zh-CN" altLang="en-US" sz="1600" b="0">
                <a:solidFill>
                  <a:srgbClr val="1B232D"/>
                </a:solidFill>
                <a:latin typeface="微软雅黑"/>
              </a:rPr>
              <a:t>确立研究工作思路和可行的基本技术方法；</a:t>
            </a:r>
            <a:endParaRPr lang="zh-CN" altLang="en-US" sz="1600" b="0">
              <a:solidFill>
                <a:srgbClr val="1B23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zh-CN" altLang="en-US" sz="1600" b="0">
              <a:solidFill>
                <a:srgbClr val="1B232D"/>
              </a:solidFill>
              <a:latin typeface="微软雅黑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altLang="zh-CN" sz="1600" b="0">
                <a:solidFill>
                  <a:srgbClr val="1B232D"/>
                </a:solidFill>
                <a:latin typeface="微软雅黑"/>
              </a:rPr>
              <a:t>2</a:t>
            </a:r>
            <a:r>
              <a:rPr lang="zh-CN" altLang="en-US" sz="1600" b="0">
                <a:solidFill>
                  <a:srgbClr val="1B232D"/>
                </a:solidFill>
                <a:latin typeface="微软雅黑"/>
              </a:rPr>
              <a:t>、收集数据，确定建模方法开始建模分析。</a:t>
            </a:r>
            <a:endParaRPr lang="zh-CN" altLang="en-US" sz="1600" b="0">
              <a:solidFill>
                <a:srgbClr val="1B232D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82512" y="987552"/>
            <a:ext cx="5303520" cy="5394960"/>
          </a:xfrm>
          <a:prstGeom prst="rect">
            <a:avLst/>
          </a:prstGeom>
          <a:solidFill>
            <a:srgbClr val="F7F9FC"/>
          </a:solidFill>
          <a:ln w="9525">
            <a:solidFill>
              <a:srgbClr val="CC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688455" y="987425"/>
          <a:ext cx="4691380" cy="5593080"/>
        </p:xfrm>
        <a:graphic>
          <a:graphicData uri="http://schemas.openxmlformats.org/drawingml/2006/table">
            <a:tbl>
              <a:tblPr/>
              <a:tblGrid>
                <a:gridCol w="4691380"/>
              </a:tblGrid>
              <a:tr h="5593080">
                <a:tc>
                  <a:txBody>
                    <a:bodyPr/>
                    <a:p>
                      <a:pPr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）明确收资内容、收资对象，开展近五年徐州地区主变负载率、源荷比、电量渗透率等数据收资；结合国内外研究现状，对技术路线和研究内容展开调研，确立研究工作思路和可行的基本技术方法；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）初步完成收资、确立技术路线和研究方案。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配合地市公司及计划技经中心编制招、投标技术规范书。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中标后，尽快召开课题启动会；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中标，课题课题正式启动。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4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 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根据收集到的原始数据，进行数据的处理、分析和统计；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 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建立“新能源渗透水平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-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电网运行状态”的关联数据库；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(3) 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收集典型地区的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10kV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及以下的分布式新能源项目的实际案例，收集项目配套送出、电网配套扩容工程的估算投资；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(4)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着手建立电网建设成本模型，并撰写相应章节。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完成数据库及电网建设成本模型的建立。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8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结合收集的实际案例数据，采用加强中压配电网联络、配储等方式，量化严格执行执行容载比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≤2.0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时所需的电网建设成本。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采用年费用法对比两种建设思路在全寿命周期的成本，折算为可比的经济指标。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量化典型地区不同思路下的电网建设成本，形成可比的经济对比指标，并撰写相应章节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撰写并录用论文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篇。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8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主要内容：结合规划年份的负荷及分布式光伏预测，提出“一片一策”的容载比弹性规划建议。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形成规划建议，并撰写相应章节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撰写成果报告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10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11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主要内容：完成项目自验收（地市公司组织或自行组织），并修改闭环。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考核目标：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(1)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完成成果报告及其他合同规定的内容；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(2)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完成项目自验收，并组织整改闭环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11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— 2026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年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12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月  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主要内容：完成项目正式验收。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</a:br>
                      <a:endParaRPr lang="zh-CN" altLang="en-US" sz="800" b="1" i="0">
                        <a:solidFill>
                          <a:srgbClr val="000000"/>
                        </a:solidFill>
                        <a:latin typeface="宋体"/>
                        <a:ea typeface="宋体"/>
                      </a:endParaRPr>
                    </a:p>
                  </a:txBody>
                  <a:tcPr marL="4127" marR="4127" marT="412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69*440"/>
  <p:tag name="TABLE_ENDDRAG_RECT" val="505*77*369*44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4980</Words>
  <Application>WPS 演示</Application>
  <PresentationFormat>On-screen Show (4:3)</PresentationFormat>
  <Paragraphs>434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DejaVu Sans</vt:lpstr>
      <vt:lpstr>微软雅黑</vt:lpstr>
      <vt:lpstr>方正黑体_GBK</vt:lpstr>
      <vt:lpstr>Calibri</vt:lpstr>
      <vt:lpstr>宋体</vt:lpstr>
      <vt:lpstr>方正书宋_GBK</vt:lpstr>
      <vt:lpstr>微软雅黑</vt:lpstr>
      <vt:lpstr>Arial Unicode MS</vt:lpstr>
      <vt:lpstr>OpenSymbol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许恒</cp:lastModifiedBy>
  <cp:revision>32</cp:revision>
  <dcterms:created xsi:type="dcterms:W3CDTF">2026-06-11T05:59:04Z</dcterms:created>
  <dcterms:modified xsi:type="dcterms:W3CDTF">2026-06-11T05:59:04Z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9B45D5B52871066E85CA276A5C3EFC5E_42</vt:lpwstr>
  </property>
  <property fmtid="{D5CDD505-2E9C-101B-9397-08002B2CF9AE}" pid="3" name="KSOProductBuildVer">
    <vt:lpwstr>2052-12.1.2.23578</vt:lpwstr>
  </property>
</Properties>
</file>