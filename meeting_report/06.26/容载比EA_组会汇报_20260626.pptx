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32949"/>
                </a:solidFill>
                <a:latin typeface="Microsoft YaHei"/>
              </a:rPr>
              <a:t>方法框架与核心创新：FG-NSGA-II（可行性引导 NSGA-II）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3"/>
                </a:solidFill>
                <a:latin typeface="Microsoft YaHei"/>
              </a:rPr>
              <a:t>投稿 MIND 2026（IEEE-CIS / EI）· 纯进化算法 · 公开数据合成县级基准 · 主算例 K=20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743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Microsoft YaHei"/>
              </a:rPr>
              <a:t>MIND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11880" cy="37947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3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11880" cy="384048"/>
          </a:xfrm>
          <a:prstGeom prst="roundRect">
            <a:avLst/>
          </a:prstGeom>
          <a:solidFill>
            <a:srgbClr val="235FA6"/>
          </a:solidFill>
          <a:ln>
            <a:solidFill>
              <a:srgbClr val="23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71016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① 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746504"/>
            <a:ext cx="3355848" cy="31912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每站参数：源荷比、联络度、反送时长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物理评价：双向 Z4-LCC（~4 ms/次，无代理）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县 = 20 座 110kV 站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容载比带 + 上级潮流 → 站间耦合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234440"/>
            <a:ext cx="3611880" cy="3794760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AF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8536" y="1234440"/>
            <a:ext cx="3611880" cy="384048"/>
          </a:xfrm>
          <a:prstGeom prst="roundRect">
            <a:avLst/>
          </a:prstGeom>
          <a:solidFill>
            <a:srgbClr val="AF3A3E"/>
          </a:solidFill>
          <a:ln>
            <a:solidFill>
              <a:srgbClr val="AF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271016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② FG-NSGA-II ★创新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746504"/>
            <a:ext cx="3355848" cy="31912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决策：每站容载比 R + 储能 P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目标：min 年化成本、min N-1 缺供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硬约束：反送闸 · 容载比带 · 上级潮流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★ 修复算子（主）：解拉回可行域，不占预算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★ 热启动（辅）：初始种群即合规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1234440"/>
            <a:ext cx="3611880" cy="3794760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2A7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65592" y="1234440"/>
            <a:ext cx="3611880" cy="384048"/>
          </a:xfrm>
          <a:prstGeom prst="roundRect">
            <a:avLst/>
          </a:prstGeom>
          <a:solidFill>
            <a:srgbClr val="2A7E57"/>
          </a:solidFill>
          <a:ln>
            <a:solidFill>
              <a:srgbClr val="2A7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271016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③ 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46504"/>
            <a:ext cx="3355848" cy="31912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成本 ↔ N-1 风险 Pareto 前沿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拐点 → 一站一策（每站 R*、P*）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聚合容载比 1.80 &lt; 2.0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相对统一 2.0 省 13.1%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8575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32949"/>
                </a:solidFill>
                <a:latin typeface="Microsoft YaHei"/>
              </a:rPr>
              <a:t>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8575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32949"/>
                </a:solidFill>
                <a:latin typeface="Microsoft YaHei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285232"/>
            <a:ext cx="11365992" cy="12984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C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3766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F3A3E"/>
                </a:solidFill>
                <a:latin typeface="Microsoft YaHei"/>
              </a:rPr>
              <a:t>核心创新：可行性由构造保证，而非惩罚调参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42432"/>
            <a:ext cx="1115568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痛点：三重硬约束下可行域随规模骤缩——经典 NSGA-II / NSGA-III 前期撞不进可行域，收敛慢。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做法：修复算子把解拉回可行域（主）、热启动让初始种群即合规（辅）——评估预算全用于成本↔风险权衡。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32949"/>
                </a:solidFill>
                <a:latin typeface="Microsoft YaHei"/>
              </a:rPr>
              <a:t>核心创新：同质量下约 5–12× 更快收敛（图 + 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3"/>
                </a:solidFill>
                <a:latin typeface="Microsoft YaHei"/>
              </a:rPr>
              <a:t>5 变体 × K∈{10,20,30,40} × 3 seed 逐代 HV；baseline gen800、FG/消融 gen400；每 K 共同参考点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743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Microsoft YaHei"/>
              </a:rPr>
              <a:t>MIND 2026</a:t>
            </a:r>
          </a:p>
        </p:txBody>
      </p:sp>
      <p:pic>
        <p:nvPicPr>
          <p:cNvPr id="5" name="Picture 4" descr="fig_enhance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5120640" cy="3649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6634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3"/>
                </a:solidFill>
                <a:latin typeface="Microsoft YaHei"/>
              </a:rPr>
              <a:t>图：逐代 HV 收敛（5 变体）—— FG 与修复最快；终值差距小、已如实披露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280160"/>
            <a:ext cx="5788152" cy="384048"/>
          </a:xfrm>
          <a:prstGeom prst="roundRect">
            <a:avLst/>
          </a:prstGeom>
          <a:solidFill>
            <a:srgbClr val="132949"/>
          </a:solidFill>
          <a:ln>
            <a:solidFill>
              <a:srgbClr val="132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8" y="1316736"/>
            <a:ext cx="5568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表：收敛 HV 比 + 加速比（加速比 = 头条）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1810512"/>
          <a:ext cx="578815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987552"/>
                <a:gridCol w="1024128"/>
                <a:gridCol w="1170432"/>
                <a:gridCol w="86868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规模 K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FG /
Classic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FG /
NSGA-III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Repair-only
/ FG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加速×
Classic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加速×
NSGA-III</a:t>
                      </a:r>
                    </a:p>
                  </a:txBody>
                  <a:tcPr marL="45720" marR="45720" marT="9144" marB="9144" anchor="ctr">
                    <a:solidFill>
                      <a:srgbClr val="13294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232D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6.6×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7.5×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232D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1.007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1.016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4.8×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9.1×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232D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5.3×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11.1×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232D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1.048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1.064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9.5×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32D"/>
                          </a:solidFill>
                          <a:latin typeface="Microsoft YaHei"/>
                        </a:rPr>
                        <a:t>11.8×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07608" y="331012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3"/>
                </a:solidFill>
                <a:latin typeface="Microsoft YaHei"/>
              </a:rPr>
              <a:t>加速比 = FG 达 baseline gen800 质量所需代数之比（预算无关，全域 4.8–11.8×）。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8" y="3712463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3"/>
                </a:solidFill>
                <a:latin typeface="Microsoft YaHei"/>
              </a:rPr>
              <a:t>pop=100 固定 → 代数与评价次数、墙钟成正比 → 更少代数 = 更省算力。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029200"/>
            <a:ext cx="11411712" cy="1572768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AF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10235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F3A3E"/>
                </a:solidFill>
                <a:latin typeface="Microsoft YaHei"/>
              </a:rPr>
              <a:t>三条结论（诚实口径）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86400"/>
            <a:ext cx="11155680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效率（头条）：FG 用半预算（gen400）即胜过两 baseline 的 gen800——约 5–12× 更少代数达同等质量。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质量（诚实）：收敛 HV 仅略高（K≤30 &lt;1%、K=40 4.8%），久跑 baseline 追平——主张效率，不吹质量。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消融：修复 = 主驱动（repair-only ≈ FG）；热启动 = 早期加速（前期领先、收敛后被洗掉）。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32949"/>
                </a:solidFill>
                <a:latin typeface="Microsoft YaHei"/>
              </a:rPr>
              <a:t>应用结果：县级“一站一策”弹性方案（K=20，收敛口径）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3"/>
                </a:solidFill>
                <a:latin typeface="Microsoft YaHei"/>
              </a:rPr>
              <a:t>FG-NSGA-II 拐点方案 · 公开数据合成县级基准 · 相对全县统一容载比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743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Microsoft YaHei"/>
              </a:rPr>
              <a:t>MIND 2026</a:t>
            </a:r>
          </a:p>
        </p:txBody>
      </p:sp>
      <p:pic>
        <p:nvPicPr>
          <p:cNvPr id="5" name="Picture 4" descr="fig_county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4261434" cy="3611880"/>
          </a:xfrm>
          <a:prstGeom prst="rect">
            <a:avLst/>
          </a:prstGeom>
        </p:spPr>
      </p:pic>
      <p:pic>
        <p:nvPicPr>
          <p:cNvPr id="6" name="Picture 5" descr="fig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188720"/>
            <a:ext cx="4068778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5029200"/>
            <a:ext cx="11411712" cy="1572768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2A7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0235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A7E57"/>
                </a:solidFill>
                <a:latin typeface="Microsoft YaHei"/>
              </a:rPr>
              <a:t>应用结论（已校核）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5486400"/>
            <a:ext cx="5623560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拐点：成本 18882 万/年、N-1 风险 114 MWh、聚合容载比 1.80 &lt; 2.0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一站一策：11 站配储 / 9 站低容载比+强联络 / 0 站增容（最大 R* ≈ 1.96）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486400"/>
            <a:ext cx="5349240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相对统一容载比 2.0（21836 万）同风险省 13.1%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6 县鲁棒：12.3%±1.3（范围 10.1–13.7%，全为正）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B232D"/>
                </a:solidFill>
                <a:latin typeface="Microsoft YaHei"/>
              </a:rPr>
              <a:t>• 验证：小 K 达真前沿；K≥12 不可枚举 → 须用 EA（K=40 单跑 ~4 min）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