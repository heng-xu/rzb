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  <Relationship Id="rId1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Hello everyone. Today I will present Engineering-Prior-Guided NSGA-II, or EPG-NSGA-II, for differentiated capacity-load ratio optimization in county-level 110-kilovolt grids with high distributed photovoltaic penetration. This work jointly plans transformer capacity and storage power. I will briefly explain the planning problem, our algorithm, and the main experimental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High distributed PV penetration changes power flow. Electricity normally moves from the upstream grid toward local demand, but midday PV generation can create reverse flow through a substation. The planning challenge is that substations differ in PV penetration and transfer capability, while a fixed capacity-load ratio cap of two treats these differences uniformly.</a:t>
            </a:r>
          </a:p>
          <a:p>
            <a:pPr/>
            <a:endParaRPr lang="en" dirty="0"/>
          </a:p>
          <a:p>
            <a:pPr/>
            <a:r>
              <a:rPr lang="en" dirty="0"/>
              <a:t>We therefore optimize two quantities at each station: its capacity-load ratio, or CLR, and its storage power rating in megawatts. CLR is dimensionless and means planned transformer capacity divided by forecast peak load. The paper uses a five-year forecast with five percent annual growth.</a:t>
            </a:r>
          </a:p>
          <a:p>
            <a:pPr/>
            <a:endParaRPr lang="en" dirty="0"/>
          </a:p>
          <a:p>
            <a:pPr/>
            <a:r>
              <a:rPr lang="en" dirty="0"/>
              <a:t>The scatter shows all twenty stations in the reported design, with selected CLRs from one point five five to two point six four. Its source-load ratio divides installed PV capacity by current peak load. The dashed line marks the two-point-zero comparison cap.</a:t>
            </a:r>
          </a:p>
          <a:p>
            <a:pPr/>
            <a:endParaRPr lang="en" dirty="0"/>
          </a:p>
          <a:p>
            <a:pPr/>
            <a:r>
              <a:rPr lang="en" dirty="0"/>
              <a:t>The objectives are annualized cost, in million yuan per year, and expected energy not supplied, or EENS, in megawatt-hours per year. EENS measures supply inadequacy under N-minus-one contingencies. Feasibility is defined by station reverse-flow limits, an aggregate CLR band from one point eight to three, and an upstream reverse-flow limit when enabled.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solution adds engineering-prior seeding and feasibility repair to standard NSGA-II. The key change is how candidate plans are constructed and adjusted.</a:t>
            </a:r>
          </a:p>
          <a:p>
            <a:pPr/>
            <a:endParaRPr lang="en" dirty="0"/>
          </a:p>
          <a:p>
            <a:pPr/>
            <a:r>
              <a:rPr lang="en" dirty="0"/>
              <a:t>For the initial population, we sample station CLR values, start storage power at zero, and apply repair before evaluation. During evolution, standard variation produces offspring, the same repair adjusts them, and evaluation and selection form the next generation.</a:t>
            </a:r>
          </a:p>
          <a:p>
            <a:pPr/>
            <a:endParaRPr lang="en" dirty="0"/>
          </a:p>
          <a:p>
            <a:pPr/>
            <a:r>
              <a:rPr lang="en" dirty="0"/>
              <a:t>Repair has three priorities. First, a bounded common offset shifts station CLR values to satisfy the load-weighted aggregate band. Second, station-level repair increases storage power where residual reverse injection exceeds the transformer reverse-loading limit. Third, when the upstream constraint is enabled, storage is allocated in descending order of residual reverse injection, until the upstream limit is met or adjustable storage ratings reach their bounds.</a:t>
            </a:r>
          </a:p>
          <a:p>
            <a:pPr/>
            <a:endParaRPr lang="en" dirty="0"/>
          </a:p>
          <a:p>
            <a:pPr/>
            <a:r>
              <a:rPr lang="en" dirty="0"/>
              <a:t>Any remaining infeasibility is handled by constraint domination. Standard variation, non-dominated ranking, and environmental selection are retained. These engineering rules direct candidate construction toward feasibility while the evolutionary search explores the cost and adequacy trade-off.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experiments use a public-data benchmark, with loads scaled from the IEEE thirty-three-bus system and PV profiles derived from PVGIS. Population size is one hundred, and results are averaged over three independent runs.</a:t>
            </a:r>
          </a:p>
          <a:p>
            <a:pPr/>
            <a:endParaRPr lang="en" dirty="0"/>
          </a:p>
          <a:p>
            <a:pPr/>
            <a:r>
              <a:rPr lang="en" dirty="0"/>
              <a:t>For forty substations, EPG-NSGA-II achieves four point eight percent higher mean final hypervolume than standard NSGA-II. The left panel shows convergence, with shading indicating one standard deviation across the three runs. Hypervolume is normalized to the standard baseline's final mean using a common reference point. The baselines run for eight hundred generations, while EPG-NSGA-II and its ablations run for four hundred. The mean EPG curve reaches the standard baseline's final hypervolume by generation eighty-four. The right panel shows every final run and its method mean. Repair-only nearly matches the full method, while seeding-only remains close to the baseline. Repair is therefore the main contributor to the final gain.</a:t>
            </a:r>
          </a:p>
          <a:p>
            <a:pPr/>
            <a:endParaRPr lang="en" dirty="0"/>
          </a:p>
          <a:p>
            <a:pPr/>
            <a:r>
              <a:rPr lang="en" dirty="0"/>
              <a:t>The twenty-substation planning comparison is summarized above the plots. Annualized cost falls from two hundred thirty-six point four zero to two hundred twenty-eight point four three million yuan per year, a reduction of three point four percent. Modeled EENS falls from five hundred sixty-one to zero megawatt-hours per year relative to the two-point-zero-capped design.</a:t>
            </a:r>
          </a:p>
          <a:p>
            <a:pPr/>
            <a:endParaRPr lang="en" dirty="0"/>
          </a:p>
          <a:p>
            <a:pPr/>
            <a:r>
              <a:rPr lang="en" dirty="0"/>
              <a:t>These results apply to the current model. Storage energy and state-of-charge limits, together with real-grid calibration, remain future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main takeaway is that engineering-prior seeding and repair support more effective constrained search and differentiated CLR and storage planning. Thank you for your attention. I welcome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PG_NSGA_II_MIND2026_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PG_NSGA_II_MIND2026_Or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
          <a:solidFill>
            <a:schemeClr val="tx1"/>
          </a:solidFill>
          <a:latin typeface="+mn-lt"/>
          <a:ea typeface="+mn-ea"/>
          <a:cs typeface="+mn-cs"/>
        </a:defRPr>
      </a:lvl9pPr>
    </p:bodyStyle>
    <p:otherStyle>
      <a:defPPr>
        <a:defRPr lang="en"/>
      </a:defPPr>
      <a:lvl1pPr marL="0" algn="l" defTabSz="457200" rtl="0" eaLnBrk="1" latinLnBrk="0" hangingPunct="1">
        <a:defRPr sz="2100" kern="1200" lang="en">
          <a:solidFill>
            <a:schemeClr val="tx1"/>
          </a:solidFill>
          <a:latin typeface="+mn-lt"/>
          <a:ea typeface="+mn-ea"/>
          <a:cs typeface="+mn-cs"/>
        </a:defRPr>
      </a:lvl1pPr>
      <a:lvl2pPr marL="457200" algn="l" defTabSz="457200" rtl="0" eaLnBrk="1" latinLnBrk="0" hangingPunct="1">
        <a:defRPr sz="1950" kern="1200" lang="en">
          <a:solidFill>
            <a:schemeClr val="tx1"/>
          </a:solidFill>
          <a:latin typeface="+mn-lt"/>
          <a:ea typeface="+mn-ea"/>
          <a:cs typeface="+mn-cs"/>
        </a:defRPr>
      </a:lvl2pPr>
      <a:lvl3pPr marL="914400" algn="l" defTabSz="457200" rtl="0" eaLnBrk="1" latinLnBrk="0" hangingPunct="1">
        <a:defRPr sz="1850" kern="1200" lang="en">
          <a:solidFill>
            <a:schemeClr val="tx1"/>
          </a:solidFill>
          <a:latin typeface="+mn-lt"/>
          <a:ea typeface="+mn-ea"/>
          <a:cs typeface="+mn-cs"/>
        </a:defRPr>
      </a:lvl3pPr>
      <a:lvl4pPr marL="1371600" algn="l" defTabSz="457200" rtl="0" eaLnBrk="1" latinLnBrk="0" hangingPunct="1">
        <a:defRPr sz="1700" kern="1200" lang="en">
          <a:solidFill>
            <a:schemeClr val="tx1"/>
          </a:solidFill>
          <a:latin typeface="+mn-lt"/>
          <a:ea typeface="+mn-ea"/>
          <a:cs typeface="+mn-cs"/>
        </a:defRPr>
      </a:lvl4pPr>
      <a:lvl5pPr marL="1828800" algn="l" defTabSz="457200" rtl="0" eaLnBrk="1" latinLnBrk="0" hangingPunct="1">
        <a:defRPr sz="1600" kern="1200" lang="en">
          <a:solidFill>
            <a:schemeClr val="tx1"/>
          </a:solidFill>
          <a:latin typeface="+mn-lt"/>
          <a:ea typeface="+mn-ea"/>
          <a:cs typeface="+mn-cs"/>
        </a:defRPr>
      </a:lvl5pPr>
      <a:lvl6pPr marL="2286000" algn="l" defTabSz="457200" rtl="0" eaLnBrk="1" latinLnBrk="0" hangingPunct="1">
        <a:defRPr sz="1450" kern="1200" lang="en">
          <a:solidFill>
            <a:schemeClr val="tx1"/>
          </a:solidFill>
          <a:latin typeface="+mn-lt"/>
          <a:ea typeface="+mn-ea"/>
          <a:cs typeface="+mn-cs"/>
        </a:defRPr>
      </a:lvl6pPr>
      <a:lvl7pPr marL="2743200" algn="l" defTabSz="457200" rtl="0" eaLnBrk="1" latinLnBrk="0" hangingPunct="1">
        <a:defRPr sz="1300" kern="1200" lang="en">
          <a:solidFill>
            <a:schemeClr val="tx1"/>
          </a:solidFill>
          <a:latin typeface="+mn-lt"/>
          <a:ea typeface="+mn-ea"/>
          <a:cs typeface="+mn-cs"/>
        </a:defRPr>
      </a:lvl7pPr>
      <a:lvl8pPr marL="3200400" algn="l" defTabSz="457200" rtl="0" eaLnBrk="1" latinLnBrk="0" hangingPunct="1">
        <a:defRPr sz="1200" kern="1200" lang="en">
          <a:solidFill>
            <a:schemeClr val="tx1"/>
          </a:solidFill>
          <a:latin typeface="+mn-lt"/>
          <a:ea typeface="+mn-ea"/>
          <a:cs typeface="+mn-cs"/>
        </a:defRPr>
      </a:lvl8pPr>
      <a:lvl9pPr marL="3657600" algn="l" defTabSz="457200" rtl="0" eaLnBrk="1" latinLnBrk="0" hangingPunct="1">
        <a:defRPr sz="105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1-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6895149" y="438150"/>
              <a:ext cx="4732971"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ENGINEERING-PRIOR-GUIDED OPTIMIZATION</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1-title"/>
          <p:cNvGrpSpPr/>
          <p:nvPr/>
        </p:nvGrpSpPr>
        <p:grpSpPr>
          <a:xfrm>
            <a:off x="552450" y="1273175"/>
            <a:ext cx="5083185" cy="1104900"/>
            <a:chOff x="552450" y="1273175"/>
            <a:chExt cx="5083185" cy="1104900"/>
          </a:xfrm>
        </p:grpSpPr>
        <p:sp>
          <p:nvSpPr>
            <p:cNvPr id="6" name="TextBox 6"/>
            <p:cNvSpPr txBox="1"/>
            <p:nvPr/>
          </p:nvSpPr>
          <p:spPr>
            <a:xfrm>
              <a:off x="552450" y="1273175"/>
              <a:ext cx="508318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EPG-NSGA-II</a:t>
              </a:r>
            </a:p>
          </p:txBody>
        </p:sp>
      </p:grpSp>
      <p:grpSp>
        <p:nvGrpSpPr>
          <p:cNvPr id="9" name="p01-research-title"/>
          <p:cNvGrpSpPr/>
          <p:nvPr/>
        </p:nvGrpSpPr>
        <p:grpSpPr>
          <a:xfrm>
            <a:off x="558546" y="2492375"/>
            <a:ext cx="6128019" cy="1756029"/>
            <a:chOff x="558546" y="2492375"/>
            <a:chExt cx="6128019" cy="1756029"/>
          </a:xfrm>
        </p:grpSpPr>
        <p:sp>
          <p:nvSpPr>
            <p:cNvPr id="8" name="TextBox 8"/>
            <p:cNvSpPr txBox="1"/>
            <p:nvPr/>
          </p:nvSpPr>
          <p:spPr>
            <a:xfrm>
              <a:off x="558546" y="2492375"/>
              <a:ext cx="6128019" cy="1756029"/>
            </a:xfrm>
            <a:prstGeom prst="rect">
              <a:avLst/>
            </a:prstGeom>
            <a:noFill/>
            <a:ln>
              <a:noFill/>
            </a:ln>
          </p:spPr>
          <p:txBody>
            <a:bodyPr wrap="none" lIns="0" tIns="0" rIns="0" bIns="0" anchor="t" anchorCtr="0">
              <a:spAutoFit/>
            </a:bodyPr>
            <a:lstStyle/>
            <a:p>
              <a:pPr algn="l">
                <a:lnSpc>
                  <a:spcPts val="3300"/>
                </a:lnSpc>
              </a:pPr>
              <a:r>
                <a:rPr lang="en" sz="2550" dirty="0">
                  <a:solidFill>
                    <a:srgbClr val="F2F8FC"/>
                  </a:solidFill>
                  <a:latin typeface="+mn-lt"/>
                  <a:ea typeface="+mn-ea"/>
                  <a:cs typeface="+mn-cs"/>
                </a:rPr>
                <a:t>Engineering-Prior-Guided NSGA-II for</a:t>
              </a:r>
              <a:br>
                <a:rPr lang="en" sz="2550" dirty="0">
                  <a:solidFill>
                    <a:srgbClr val="F2F8FC"/>
                  </a:solidFill>
                  <a:latin typeface="+mn-lt"/>
                  <a:ea typeface="+mn-ea"/>
                  <a:cs typeface="+mn-cs"/>
                </a:rPr>
              </a:br>
              <a:r>
                <a:rPr lang="en" sz="2550" dirty="0">
                  <a:solidFill>
                    <a:srgbClr val="F2F8FC"/>
                  </a:solidFill>
                  <a:latin typeface="+mn-lt"/>
                  <a:ea typeface="+mn-ea"/>
                  <a:cs typeface="+mn-cs"/>
                </a:rPr>
                <a:t>Differentiated Capacity-Load Ratio</a:t>
              </a:r>
              <a:br>
                <a:rPr lang="en" sz="2550" dirty="0">
                  <a:solidFill>
                    <a:srgbClr val="F2F8FC"/>
                  </a:solidFill>
                  <a:latin typeface="+mn-lt"/>
                  <a:ea typeface="+mn-ea"/>
                  <a:cs typeface="+mn-cs"/>
                </a:rPr>
              </a:br>
              <a:r>
                <a:rPr lang="en" sz="2550" dirty="0">
                  <a:solidFill>
                    <a:srgbClr val="F2F8FC"/>
                  </a:solidFill>
                  <a:latin typeface="+mn-lt"/>
                  <a:ea typeface="+mn-ea"/>
                  <a:cs typeface="+mn-cs"/>
                </a:rPr>
                <a:t>Optimization in County-Level 110 kV Grids</a:t>
              </a:r>
              <a:br>
                <a:rPr lang="en" sz="2550" dirty="0">
                  <a:solidFill>
                    <a:srgbClr val="F2F8FC"/>
                  </a:solidFill>
                  <a:latin typeface="+mn-lt"/>
                  <a:ea typeface="+mn-ea"/>
                  <a:cs typeface="+mn-cs"/>
                </a:rPr>
              </a:br>
              <a:r>
                <a:rPr lang="en" sz="2550" dirty="0">
                  <a:solidFill>
                    <a:srgbClr val="F2F8FC"/>
                  </a:solidFill>
                  <a:latin typeface="+mn-lt"/>
                  <a:ea typeface="+mn-ea"/>
                  <a:cs typeface="+mn-cs"/>
                </a:rPr>
                <a:t>with High Distributed PV Penetration</a:t>
              </a:r>
            </a:p>
          </p:txBody>
        </p:sp>
      </p:grpSp>
      <p:grpSp>
        <p:nvGrpSpPr>
          <p:cNvPr id="13" name="p01-author-block"/>
          <p:cNvGrpSpPr/>
          <p:nvPr/>
        </p:nvGrpSpPr>
        <p:grpSpPr>
          <a:xfrm>
            <a:off x="563880" y="4933950"/>
            <a:ext cx="6331657" cy="1123696"/>
            <a:chOff x="563880" y="4933950"/>
            <a:chExt cx="6331657" cy="1123696"/>
          </a:xfrm>
        </p:grpSpPr>
        <p:sp>
          <p:nvSpPr>
            <p:cNvPr id="10" name="TextBox 10"/>
            <p:cNvSpPr txBox="1"/>
            <p:nvPr/>
          </p:nvSpPr>
          <p:spPr>
            <a:xfrm>
              <a:off x="563880" y="4933950"/>
              <a:ext cx="6331657"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Dunbin Xu · Ke Wang · Yan Xu* · Ziyue Huang · Fei Geng · Rui Yuan</a:t>
              </a:r>
            </a:p>
          </p:txBody>
        </p:sp>
        <p:sp>
          <p:nvSpPr>
            <p:cNvPr id="11" name="TextBox 11"/>
            <p:cNvSpPr txBox="1"/>
            <p:nvPr/>
          </p:nvSpPr>
          <p:spPr>
            <a:xfrm>
              <a:off x="565404" y="5324475"/>
              <a:ext cx="3142069"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State Grid Xuzhou Power Supply Company</a:t>
              </a:r>
            </a:p>
          </p:txBody>
        </p:sp>
        <p:sp>
          <p:nvSpPr>
            <p:cNvPr id="12" name="TextBox 12"/>
            <p:cNvSpPr txBox="1"/>
            <p:nvPr/>
          </p:nvSpPr>
          <p:spPr>
            <a:xfrm>
              <a:off x="565404" y="5594350"/>
              <a:ext cx="4323862" cy="463296"/>
            </a:xfrm>
            <a:prstGeom prst="rect">
              <a:avLst/>
            </a:prstGeom>
            <a:noFill/>
            <a:ln>
              <a:noFill/>
            </a:ln>
          </p:spPr>
          <p:txBody>
            <a:bodyPr wrap="none" lIns="0" tIns="0" rIns="0" bIns="0" anchor="t" anchorCtr="0">
              <a:spAutoFit/>
            </a:bodyPr>
            <a:lstStyle/>
            <a:p>
              <a:pPr algn="l">
                <a:lnSpc>
                  <a:spcPts val="1800"/>
                </a:lnSpc>
              </a:pPr>
              <a:r>
                <a:rPr lang="en" sz="1200" dirty="0">
                  <a:solidFill>
                    <a:srgbClr val="F2F8FC"/>
                  </a:solidFill>
                  <a:latin typeface="+mn-lt"/>
                  <a:ea typeface="+mn-ea"/>
                  <a:cs typeface="+mn-cs"/>
                </a:rPr>
                <a:t>State Grid Jiangsu Electric Power Design &amp; Consulting Co., Ltd.</a:t>
              </a:r>
              <a:br>
                <a:rPr lang="en" sz="1200" dirty="0">
                  <a:solidFill>
                    <a:srgbClr val="F2F8FC"/>
                  </a:solidFill>
                  <a:latin typeface="+mn-lt"/>
                  <a:ea typeface="+mn-ea"/>
                  <a:cs typeface="+mn-cs"/>
                </a:rPr>
              </a:br>
              <a:r>
                <a:rPr lang="en" sz="1200" dirty="0">
                  <a:solidFill>
                    <a:srgbClr val="F2F8FC"/>
                  </a:solidFill>
                  <a:latin typeface="+mn-lt"/>
                  <a:ea typeface="+mn-ea"/>
                  <a:cs typeface="+mn-cs"/>
                </a:rPr>
                <a:t>Xuzhou Survey and Design Branch</a:t>
              </a:r>
            </a:p>
          </p:txBody>
        </p:sp>
      </p:grpSp>
      <p:grpSp>
        <p:nvGrpSpPr>
          <p:cNvPr id="56" name="p01-graphical-abstract"/>
          <p:cNvGrpSpPr/>
          <p:nvPr/>
        </p:nvGrpSpPr>
        <p:grpSpPr>
          <a:xfrm>
            <a:off x="8096250" y="1266825"/>
            <a:ext cx="3524250" cy="4762500"/>
            <a:chOff x="8096250" y="1266825"/>
            <a:chExt cx="3524250" cy="4762500"/>
          </a:xfrm>
        </p:grpSpPr>
        <p:sp>
          <p:nvSpPr>
            <p:cNvPr id="14" name="Rectangle 14"/>
            <p:cNvSpPr/>
            <p:nvPr/>
          </p:nvSpPr>
          <p:spPr>
            <a:xfrm>
              <a:off x="8096250" y="1266825"/>
              <a:ext cx="3524250" cy="4762500"/>
            </a:xfrm>
            <a:prstGeom prst="rect">
              <a:avLst/>
            </a:prstGeom>
            <a:solidFill>
              <a:srgbClr val="F2F8FC">
                <a:alpha val="3500"/>
              </a:srgbClr>
            </a:solidFill>
            <a:ln>
              <a:noFill/>
            </a:ln>
          </p:spPr>
        </p:sp>
        <p:grpSp>
          <p:nvGrpSpPr>
            <p:cNvPr id="24" name="Group 24"/>
            <p:cNvGrpSpPr/>
            <p:nvPr/>
          </p:nvGrpSpPr>
          <p:grpSpPr>
            <a:xfrm>
              <a:off x="8334375" y="1619250"/>
              <a:ext cx="3048000" cy="4038600"/>
              <a:chOff x="8334375" y="1619250"/>
              <a:chExt cx="3048000" cy="4038600"/>
            </a:xfrm>
          </p:grpSpPr>
          <p:sp>
            <p:nvSpPr>
              <p:cNvPr id="15" name="Line 15"/>
              <p:cNvSpPr/>
              <p:nvPr/>
            </p:nvSpPr>
            <p:spPr>
              <a:xfrm>
                <a:off x="8334375" y="1857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6" name="Line 16"/>
              <p:cNvSpPr/>
              <p:nvPr/>
            </p:nvSpPr>
            <p:spPr>
              <a:xfrm>
                <a:off x="8334375" y="2619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7" name="Line 17"/>
              <p:cNvSpPr/>
              <p:nvPr/>
            </p:nvSpPr>
            <p:spPr>
              <a:xfrm>
                <a:off x="8334375" y="3381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8" name="Line 18"/>
              <p:cNvSpPr/>
              <p:nvPr/>
            </p:nvSpPr>
            <p:spPr>
              <a:xfrm>
                <a:off x="8334375" y="4143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9" name="Line 19"/>
              <p:cNvSpPr/>
              <p:nvPr/>
            </p:nvSpPr>
            <p:spPr>
              <a:xfrm>
                <a:off x="8334375" y="4905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20" name="Line 20"/>
              <p:cNvSpPr/>
              <p:nvPr/>
            </p:nvSpPr>
            <p:spPr>
              <a:xfrm>
                <a:off x="8715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1" name="Line 21"/>
              <p:cNvSpPr/>
              <p:nvPr/>
            </p:nvSpPr>
            <p:spPr>
              <a:xfrm>
                <a:off x="9477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2" name="Line 22"/>
              <p:cNvSpPr/>
              <p:nvPr/>
            </p:nvSpPr>
            <p:spPr>
              <a:xfrm>
                <a:off x="10239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3" name="Line 23"/>
              <p:cNvSpPr/>
              <p:nvPr/>
            </p:nvSpPr>
            <p:spPr>
              <a:xfrm>
                <a:off x="11001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grpSp>
        <p:sp>
          <p:nvSpPr>
            <p:cNvPr id="25" name="TextBox 25"/>
            <p:cNvSpPr txBox="1"/>
            <p:nvPr/>
          </p:nvSpPr>
          <p:spPr>
            <a:xfrm>
              <a:off x="8328279" y="1476375"/>
              <a:ext cx="1956533" cy="234696"/>
            </a:xfrm>
            <a:prstGeom prst="rect">
              <a:avLst/>
            </a:prstGeom>
            <a:noFill/>
            <a:ln>
              <a:noFill/>
            </a:ln>
          </p:spPr>
          <p:txBody>
            <a:bodyPr wrap="none" lIns="0" tIns="0" rIns="0" bIns="0" anchor="t" anchorCtr="0">
              <a:spAutoFit/>
            </a:bodyPr>
            <a:lstStyle/>
            <a:p>
              <a:pPr algn="l"/>
              <a:r>
                <a:rPr lang="en" sz="1200" dirty="0">
                  <a:solidFill>
                    <a:srgbClr val="66D5D0"/>
                  </a:solidFill>
                  <a:latin typeface="+mn-lt"/>
                  <a:ea typeface="+mn-ea"/>
                  <a:cs typeface="+mn-cs"/>
                </a:rPr>
                <a:t>GRAPHICAL ABSTRACT</a:t>
              </a:r>
            </a:p>
          </p:txBody>
        </p:sp>
        <p:grpSp>
          <p:nvGrpSpPr>
            <p:cNvPr id="36" name="Group 36"/>
            <p:cNvGrpSpPr/>
            <p:nvPr/>
          </p:nvGrpSpPr>
          <p:grpSpPr>
            <a:xfrm>
              <a:off x="8448675" y="1914525"/>
              <a:ext cx="2647950" cy="676275"/>
              <a:chOff x="8448675" y="1914525"/>
              <a:chExt cx="2647950" cy="676275"/>
            </a:xfrm>
          </p:grpSpPr>
          <p:sp>
            <p:nvSpPr>
              <p:cNvPr id="26" name="Rectangle 26"/>
              <p:cNvSpPr/>
              <p:nvPr/>
            </p:nvSpPr>
            <p:spPr>
              <a:xfrm>
                <a:off x="8448675" y="2019300"/>
                <a:ext cx="857250" cy="447675"/>
              </a:xfrm>
              <a:prstGeom prst="rect">
                <a:avLst/>
              </a:prstGeom>
              <a:noFill/>
              <a:ln w="19050">
                <a:solidFill>
                  <a:srgbClr val="F2F8FC"/>
                </a:solidFill>
              </a:ln>
            </p:spPr>
          </p:sp>
          <p:sp>
            <p:nvSpPr>
              <p:cNvPr id="27" name="Line 27"/>
              <p:cNvSpPr/>
              <p:nvPr/>
            </p:nvSpPr>
            <p:spPr>
              <a:xfrm>
                <a:off x="873442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8" name="Line 28"/>
              <p:cNvSpPr/>
              <p:nvPr/>
            </p:nvSpPr>
            <p:spPr>
              <a:xfrm>
                <a:off x="902017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9" name="Line 29"/>
              <p:cNvSpPr/>
              <p:nvPr/>
            </p:nvSpPr>
            <p:spPr>
              <a:xfrm>
                <a:off x="8448675" y="2247900"/>
                <a:ext cx="857250" cy="9525"/>
              </a:xfrm>
              <a:custGeom>
                <a:avLst/>
                <a:gdLst/>
                <a:ahLst/>
                <a:cxnLst/>
                <a:rect l="l" t="t" r="r" b="b"/>
                <a:pathLst>
                  <a:path w="857250" h="9525">
                    <a:moveTo>
                      <a:pt x="0" y="0"/>
                    </a:moveTo>
                    <a:lnTo>
                      <a:pt x="857250" y="0"/>
                    </a:lnTo>
                  </a:path>
                </a:pathLst>
              </a:custGeom>
              <a:noFill/>
              <a:ln w="19050">
                <a:solidFill>
                  <a:srgbClr val="F2F8FC"/>
                </a:solidFill>
              </a:ln>
            </p:spPr>
          </p:sp>
          <p:sp>
            <p:nvSpPr>
              <p:cNvPr id="30" name="Line 30"/>
              <p:cNvSpPr/>
              <p:nvPr/>
            </p:nvSpPr>
            <p:spPr>
              <a:xfrm>
                <a:off x="8877300" y="2466975"/>
                <a:ext cx="9525" cy="114300"/>
              </a:xfrm>
              <a:custGeom>
                <a:avLst/>
                <a:gdLst/>
                <a:ahLst/>
                <a:cxnLst/>
                <a:rect l="l" t="t" r="r" b="b"/>
                <a:pathLst>
                  <a:path w="9525" h="114300">
                    <a:moveTo>
                      <a:pt x="0" y="0"/>
                    </a:moveTo>
                    <a:lnTo>
                      <a:pt x="0" y="114300"/>
                    </a:lnTo>
                  </a:path>
                </a:pathLst>
              </a:custGeom>
              <a:noFill/>
              <a:ln w="19050">
                <a:solidFill>
                  <a:srgbClr val="F2F8FC"/>
                </a:solidFill>
              </a:ln>
            </p:spPr>
          </p:sp>
          <p:sp>
            <p:nvSpPr>
              <p:cNvPr id="31" name="Line 31"/>
              <p:cNvSpPr/>
              <p:nvPr/>
            </p:nvSpPr>
            <p:spPr>
              <a:xfrm>
                <a:off x="8639175" y="2581275"/>
                <a:ext cx="476250" cy="9525"/>
              </a:xfrm>
              <a:custGeom>
                <a:avLst/>
                <a:gdLst/>
                <a:ahLst/>
                <a:cxnLst/>
                <a:rect l="l" t="t" r="r" b="b"/>
                <a:pathLst>
                  <a:path w="476250" h="9525">
                    <a:moveTo>
                      <a:pt x="0" y="0"/>
                    </a:moveTo>
                    <a:lnTo>
                      <a:pt x="476250" y="0"/>
                    </a:lnTo>
                  </a:path>
                </a:pathLst>
              </a:custGeom>
              <a:noFill/>
              <a:ln w="19050">
                <a:solidFill>
                  <a:srgbClr val="F2F8FC"/>
                </a:solidFill>
              </a:ln>
            </p:spPr>
          </p:sp>
          <p:sp>
            <p:nvSpPr>
              <p:cNvPr id="32" name="Ellipse 32"/>
              <p:cNvSpPr/>
              <p:nvPr/>
            </p:nvSpPr>
            <p:spPr>
              <a:xfrm>
                <a:off x="10296525" y="1981200"/>
                <a:ext cx="323850" cy="323850"/>
              </a:xfrm>
              <a:prstGeom prst="ellipse">
                <a:avLst/>
              </a:prstGeom>
              <a:noFill/>
              <a:ln w="19050">
                <a:solidFill>
                  <a:srgbClr val="F2F8FC"/>
                </a:solidFill>
              </a:ln>
            </p:spPr>
          </p:sp>
          <p:sp>
            <p:nvSpPr>
              <p:cNvPr id="33" name="Ellipse 33"/>
              <p:cNvSpPr/>
              <p:nvPr/>
            </p:nvSpPr>
            <p:spPr>
              <a:xfrm>
                <a:off x="10296525" y="2190750"/>
                <a:ext cx="323850" cy="323850"/>
              </a:xfrm>
              <a:prstGeom prst="ellipse">
                <a:avLst/>
              </a:prstGeom>
              <a:noFill/>
              <a:ln w="19050">
                <a:solidFill>
                  <a:srgbClr val="F2F8FC"/>
                </a:solidFill>
              </a:ln>
            </p:spPr>
          </p:sp>
          <p:sp>
            <p:nvSpPr>
              <p:cNvPr id="34" name="Line 34"/>
              <p:cNvSpPr/>
              <p:nvPr/>
            </p:nvSpPr>
            <p:spPr>
              <a:xfrm>
                <a:off x="9829800" y="1914525"/>
                <a:ext cx="1266825" cy="9525"/>
              </a:xfrm>
              <a:custGeom>
                <a:avLst/>
                <a:gdLst/>
                <a:ahLst/>
                <a:cxnLst/>
                <a:rect l="l" t="t" r="r" b="b"/>
                <a:pathLst>
                  <a:path w="1266825" h="9525">
                    <a:moveTo>
                      <a:pt x="0" y="0"/>
                    </a:moveTo>
                    <a:lnTo>
                      <a:pt x="1266825" y="0"/>
                    </a:lnTo>
                  </a:path>
                </a:pathLst>
              </a:custGeom>
              <a:noFill/>
              <a:ln w="19050">
                <a:solidFill>
                  <a:srgbClr val="F2F8FC"/>
                </a:solidFill>
              </a:ln>
            </p:spPr>
          </p:sp>
          <p:sp>
            <p:nvSpPr>
              <p:cNvPr id="35" name="Line 35"/>
              <p:cNvSpPr/>
              <p:nvPr/>
            </p:nvSpPr>
            <p:spPr>
              <a:xfrm>
                <a:off x="10458450" y="1914525"/>
                <a:ext cx="9525" cy="66675"/>
              </a:xfrm>
              <a:custGeom>
                <a:avLst/>
                <a:gdLst/>
                <a:ahLst/>
                <a:cxnLst/>
                <a:rect l="l" t="t" r="r" b="b"/>
                <a:pathLst>
                  <a:path w="9525" h="66675">
                    <a:moveTo>
                      <a:pt x="0" y="0"/>
                    </a:moveTo>
                    <a:lnTo>
                      <a:pt x="0" y="66675"/>
                    </a:lnTo>
                  </a:path>
                </a:pathLst>
              </a:custGeom>
              <a:noFill/>
              <a:ln w="19050">
                <a:solidFill>
                  <a:srgbClr val="F2F8FC"/>
                </a:solidFill>
              </a:ln>
            </p:spPr>
          </p:sp>
        </p:grpSp>
        <p:sp>
          <p:nvSpPr>
            <p:cNvPr id="37" name="Line 37"/>
            <p:cNvSpPr/>
            <p:nvPr/>
          </p:nvSpPr>
          <p:spPr>
            <a:xfrm>
              <a:off x="9391650" y="2247900"/>
              <a:ext cx="781050" cy="1"/>
            </a:xfrm>
            <a:prstGeom prst="line">
              <a:avLst/>
            </a:prstGeom>
            <a:noFill/>
            <a:ln w="19050">
              <a:solidFill>
                <a:srgbClr val="66D5D0"/>
              </a:solidFill>
              <a:tailEnd type="triangle" w="lg" len="lg"/>
            </a:ln>
          </p:spPr>
        </p:sp>
        <p:sp>
          <p:nvSpPr>
            <p:cNvPr id="38" name="TextBox 38"/>
            <p:cNvSpPr txBox="1"/>
            <p:nvPr/>
          </p:nvSpPr>
          <p:spPr>
            <a:xfrm>
              <a:off x="8627715" y="2705100"/>
              <a:ext cx="2461320"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PV-rich 110 kV substations</a:t>
              </a:r>
            </a:p>
          </p:txBody>
        </p:sp>
        <p:sp>
          <p:nvSpPr>
            <p:cNvPr id="39" name="Line 39"/>
            <p:cNvSpPr/>
            <p:nvPr/>
          </p:nvSpPr>
          <p:spPr>
            <a:xfrm>
              <a:off x="9858375" y="3086100"/>
              <a:ext cx="1" cy="266700"/>
            </a:xfrm>
            <a:prstGeom prst="line">
              <a:avLst/>
            </a:prstGeom>
            <a:noFill/>
            <a:ln w="19050">
              <a:solidFill>
                <a:srgbClr val="66D5D0"/>
              </a:solidFill>
              <a:tailEnd type="triangle" w="lg" len="lg"/>
            </a:ln>
          </p:spPr>
        </p:sp>
        <p:sp>
          <p:nvSpPr>
            <p:cNvPr id="40" name="Rectangle 40"/>
            <p:cNvSpPr/>
            <p:nvPr/>
          </p:nvSpPr>
          <p:spPr>
            <a:xfrm>
              <a:off x="8448675" y="3486150"/>
              <a:ext cx="2819400" cy="714375"/>
            </a:xfrm>
            <a:prstGeom prst="rect">
              <a:avLst/>
            </a:prstGeom>
            <a:noFill/>
            <a:ln w="14288">
              <a:solidFill>
                <a:srgbClr val="66D5D0"/>
              </a:solidFill>
            </a:ln>
          </p:spPr>
        </p:sp>
        <p:sp>
          <p:nvSpPr>
            <p:cNvPr id="41" name="TextBox 41"/>
            <p:cNvSpPr txBox="1"/>
            <p:nvPr/>
          </p:nvSpPr>
          <p:spPr>
            <a:xfrm>
              <a:off x="8436274" y="3578225"/>
              <a:ext cx="2844201" cy="322707"/>
            </a:xfrm>
            <a:prstGeom prst="rect">
              <a:avLst/>
            </a:prstGeom>
            <a:noFill/>
            <a:ln>
              <a:noFill/>
            </a:ln>
          </p:spPr>
          <p:txBody>
            <a:bodyPr wrap="none" lIns="0" tIns="0" rIns="0" bIns="0" anchor="t" anchorCtr="0">
              <a:spAutoFit/>
            </a:bodyPr>
            <a:lstStyle/>
            <a:p>
              <a:pPr algn="ctr"/>
              <a:r>
                <a:rPr lang="en" sz="1650" b="1" dirty="0">
                  <a:solidFill>
                    <a:srgbClr val="66D5D0"/>
                  </a:solidFill>
                  <a:latin typeface="+mn-lt"/>
                  <a:ea typeface="+mn-ea"/>
                  <a:cs typeface="+mn-cs"/>
                </a:rPr>
                <a:t>Seeding + feasibility repair</a:t>
              </a:r>
            </a:p>
          </p:txBody>
        </p:sp>
        <p:sp>
          <p:nvSpPr>
            <p:cNvPr id="42" name="TextBox 42"/>
            <p:cNvSpPr txBox="1"/>
            <p:nvPr/>
          </p:nvSpPr>
          <p:spPr>
            <a:xfrm>
              <a:off x="8429487" y="3892550"/>
              <a:ext cx="2857777"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Engineering priors enter the search</a:t>
              </a:r>
            </a:p>
          </p:txBody>
        </p:sp>
        <p:sp>
          <p:nvSpPr>
            <p:cNvPr id="43" name="Line 43"/>
            <p:cNvSpPr/>
            <p:nvPr/>
          </p:nvSpPr>
          <p:spPr>
            <a:xfrm>
              <a:off x="9858375" y="4324350"/>
              <a:ext cx="1" cy="285750"/>
            </a:xfrm>
            <a:prstGeom prst="line">
              <a:avLst/>
            </a:prstGeom>
            <a:noFill/>
            <a:ln w="19050">
              <a:solidFill>
                <a:srgbClr val="66D5D0"/>
              </a:solidFill>
              <a:tailEnd type="triangle" w="lg" len="lg"/>
            </a:ln>
          </p:spPr>
        </p:sp>
        <p:grpSp>
          <p:nvGrpSpPr>
            <p:cNvPr id="47" name="Group 47"/>
            <p:cNvGrpSpPr/>
            <p:nvPr/>
          </p:nvGrpSpPr>
          <p:grpSpPr>
            <a:xfrm>
              <a:off x="8591550" y="4857750"/>
              <a:ext cx="2533650" cy="561975"/>
              <a:chOff x="8591550" y="4857750"/>
              <a:chExt cx="2533650" cy="561975"/>
            </a:xfrm>
          </p:grpSpPr>
          <p:sp>
            <p:nvSpPr>
              <p:cNvPr id="44" name="Rectangle 44"/>
              <p:cNvSpPr/>
              <p:nvPr/>
            </p:nvSpPr>
            <p:spPr>
              <a:xfrm>
                <a:off x="8591550" y="4857750"/>
                <a:ext cx="723900" cy="561975"/>
              </a:xfrm>
              <a:prstGeom prst="rect">
                <a:avLst/>
              </a:prstGeom>
              <a:noFill/>
              <a:ln w="14288">
                <a:solidFill>
                  <a:srgbClr val="F2F8FC"/>
                </a:solidFill>
              </a:ln>
            </p:spPr>
          </p:sp>
          <p:sp>
            <p:nvSpPr>
              <p:cNvPr id="45" name="Rectangle 45"/>
              <p:cNvSpPr/>
              <p:nvPr/>
            </p:nvSpPr>
            <p:spPr>
              <a:xfrm>
                <a:off x="9496425" y="4857750"/>
                <a:ext cx="723900" cy="561975"/>
              </a:xfrm>
              <a:prstGeom prst="rect">
                <a:avLst/>
              </a:prstGeom>
              <a:noFill/>
              <a:ln w="14288">
                <a:solidFill>
                  <a:srgbClr val="F2F8FC"/>
                </a:solidFill>
              </a:ln>
            </p:spPr>
          </p:sp>
          <p:sp>
            <p:nvSpPr>
              <p:cNvPr id="46" name="Rectangle 46"/>
              <p:cNvSpPr/>
              <p:nvPr/>
            </p:nvSpPr>
            <p:spPr>
              <a:xfrm>
                <a:off x="10401300" y="4857750"/>
                <a:ext cx="723900" cy="561975"/>
              </a:xfrm>
              <a:prstGeom prst="rect">
                <a:avLst/>
              </a:prstGeom>
              <a:noFill/>
              <a:ln w="14288">
                <a:solidFill>
                  <a:srgbClr val="F2F8FC"/>
                </a:solidFill>
              </a:ln>
            </p:spPr>
          </p:sp>
        </p:grpSp>
        <p:grpSp>
          <p:nvGrpSpPr>
            <p:cNvPr id="54" name="Group 54"/>
            <p:cNvGrpSpPr/>
            <p:nvPr/>
          </p:nvGrpSpPr>
          <p:grpSpPr>
            <a:xfrm>
              <a:off x="8837992" y="4959668"/>
              <a:ext cx="2017160" cy="492633"/>
              <a:chOff x="8837992" y="4959668"/>
              <a:chExt cx="2017160" cy="492633"/>
            </a:xfrm>
          </p:grpSpPr>
          <p:sp>
            <p:nvSpPr>
              <p:cNvPr id="48" name="TextBox 48"/>
              <p:cNvSpPr txBox="1"/>
              <p:nvPr/>
            </p:nvSpPr>
            <p:spPr>
              <a:xfrm>
                <a:off x="8837992" y="4959668"/>
                <a:ext cx="2310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1</a:t>
                </a:r>
              </a:p>
            </p:txBody>
          </p:sp>
          <p:sp>
            <p:nvSpPr>
              <p:cNvPr id="49" name="TextBox 49"/>
              <p:cNvSpPr txBox="1"/>
              <p:nvPr/>
            </p:nvSpPr>
            <p:spPr>
              <a:xfrm>
                <a:off x="8843292" y="5188268"/>
                <a:ext cx="2204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1</a:t>
                </a:r>
              </a:p>
            </p:txBody>
          </p:sp>
          <p:sp>
            <p:nvSpPr>
              <p:cNvPr id="50" name="TextBox 50"/>
              <p:cNvSpPr txBox="1"/>
              <p:nvPr/>
            </p:nvSpPr>
            <p:spPr>
              <a:xfrm>
                <a:off x="9742867" y="4959668"/>
                <a:ext cx="2310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2</a:t>
                </a:r>
              </a:p>
            </p:txBody>
          </p:sp>
          <p:sp>
            <p:nvSpPr>
              <p:cNvPr id="51" name="TextBox 51"/>
              <p:cNvSpPr txBox="1"/>
              <p:nvPr/>
            </p:nvSpPr>
            <p:spPr>
              <a:xfrm>
                <a:off x="9748167" y="5188268"/>
                <a:ext cx="220415"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2</a:t>
                </a:r>
              </a:p>
            </p:txBody>
          </p:sp>
          <p:sp>
            <p:nvSpPr>
              <p:cNvPr id="52" name="TextBox 52"/>
              <p:cNvSpPr txBox="1"/>
              <p:nvPr/>
            </p:nvSpPr>
            <p:spPr>
              <a:xfrm>
                <a:off x="10671348" y="4959668"/>
                <a:ext cx="183804"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j</a:t>
                </a:r>
              </a:p>
            </p:txBody>
          </p:sp>
          <p:sp>
            <p:nvSpPr>
              <p:cNvPr id="53" name="TextBox 53"/>
              <p:cNvSpPr txBox="1"/>
              <p:nvPr/>
            </p:nvSpPr>
            <p:spPr>
              <a:xfrm>
                <a:off x="10676648" y="5188268"/>
                <a:ext cx="173204"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j</a:t>
                </a:r>
              </a:p>
            </p:txBody>
          </p:sp>
        </p:grpSp>
        <p:sp>
          <p:nvSpPr>
            <p:cNvPr id="55" name="TextBox 55"/>
            <p:cNvSpPr txBox="1"/>
            <p:nvPr/>
          </p:nvSpPr>
          <p:spPr>
            <a:xfrm>
              <a:off x="8556240" y="5543550"/>
              <a:ext cx="2604271" cy="293370"/>
            </a:xfrm>
            <a:prstGeom prst="rect">
              <a:avLst/>
            </a:prstGeom>
            <a:noFill/>
            <a:ln>
              <a:noFill/>
            </a:ln>
          </p:spPr>
          <p:txBody>
            <a:bodyPr wrap="none" lIns="0" tIns="0" rIns="0" bIns="0" anchor="t" anchorCtr="0">
              <a:spAutoFit/>
            </a:bodyPr>
            <a:lstStyle/>
            <a:p>
              <a:pPr algn="ctr"/>
              <a:r>
                <a:rPr lang="en" sz="1500" dirty="0">
                  <a:solidFill>
                    <a:srgbClr val="F2F8FC"/>
                  </a:solidFill>
                  <a:latin typeface="+mn-lt"/>
                  <a:ea typeface="+mn-ea"/>
                  <a:cs typeface="+mn-cs"/>
                </a:rPr>
                <a:t>Differentiated CLR + storage</a:t>
              </a:r>
            </a:p>
          </p:txBody>
        </p:sp>
      </p:grpSp>
      <p:grpSp>
        <p:nvGrpSpPr>
          <p:cNvPr id="59" name="p01-footer"/>
          <p:cNvGrpSpPr/>
          <p:nvPr/>
        </p:nvGrpSpPr>
        <p:grpSpPr>
          <a:xfrm>
            <a:off x="566166" y="6416675"/>
            <a:ext cx="11059668" cy="205359"/>
            <a:chOff x="566166" y="6416675"/>
            <a:chExt cx="11059668" cy="205359"/>
          </a:xfrm>
        </p:grpSpPr>
        <p:sp>
          <p:nvSpPr>
            <p:cNvPr id="57" name="TextBox 57"/>
            <p:cNvSpPr txBox="1"/>
            <p:nvPr/>
          </p:nvSpPr>
          <p:spPr>
            <a:xfrm>
              <a:off x="566166" y="6416675"/>
              <a:ext cx="202869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 Corresponding author: Yan Xu</a:t>
              </a:r>
            </a:p>
          </p:txBody>
        </p:sp>
        <p:sp>
          <p:nvSpPr>
            <p:cNvPr id="58" name="TextBox 58"/>
            <p:cNvSpPr txBox="1"/>
            <p:nvPr/>
          </p:nvSpPr>
          <p:spPr>
            <a:xfrm>
              <a:off x="11182886" y="641667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01 / 05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555498" y="339725"/>
            <a:ext cx="8127697" cy="958977"/>
            <a:chOff x="555498" y="339725"/>
            <a:chExt cx="8127697" cy="958977"/>
          </a:xfrm>
        </p:grpSpPr>
        <p:sp>
          <p:nvSpPr>
            <p:cNvPr id="2" name="TextBox 2"/>
            <p:cNvSpPr txBox="1"/>
            <p:nvPr/>
          </p:nvSpPr>
          <p:spPr>
            <a:xfrm>
              <a:off x="564642" y="339725"/>
              <a:ext cx="300099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01 / BACKGROUND &amp; PROBLEM</a:t>
              </a:r>
            </a:p>
          </p:txBody>
        </p:sp>
        <p:sp>
          <p:nvSpPr>
            <p:cNvPr id="3" name="TextBox 3"/>
            <p:cNvSpPr txBox="1"/>
            <p:nvPr/>
          </p:nvSpPr>
          <p:spPr>
            <a:xfrm>
              <a:off x="555498" y="682625"/>
              <a:ext cx="8127697"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High PV calls for differentiated planning</a:t>
              </a:r>
            </a:p>
          </p:txBody>
        </p:sp>
      </p:grpSp>
      <p:grpSp>
        <p:nvGrpSpPr>
          <p:cNvPr id="6" name="p02-panel-a-title"/>
          <p:cNvGrpSpPr/>
          <p:nvPr/>
        </p:nvGrpSpPr>
        <p:grpSpPr>
          <a:xfrm>
            <a:off x="562356" y="1581150"/>
            <a:ext cx="4794513" cy="352044"/>
            <a:chOff x="562356" y="1581150"/>
            <a:chExt cx="4794513" cy="352044"/>
          </a:xfrm>
        </p:grpSpPr>
        <p:sp>
          <p:nvSpPr>
            <p:cNvPr id="5" name="TextBox 5"/>
            <p:cNvSpPr txBox="1"/>
            <p:nvPr/>
          </p:nvSpPr>
          <p:spPr>
            <a:xfrm>
              <a:off x="562356" y="1581150"/>
              <a:ext cx="4794513"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Reverse-flow coupling and planning model</a:t>
              </a:r>
            </a:p>
          </p:txBody>
        </p:sp>
      </p:grpSp>
      <p:grpSp>
        <p:nvGrpSpPr>
          <p:cNvPr id="8" name="p02-panel-b-title"/>
          <p:cNvGrpSpPr/>
          <p:nvPr/>
        </p:nvGrpSpPr>
        <p:grpSpPr>
          <a:xfrm>
            <a:off x="6658356" y="1581150"/>
            <a:ext cx="3446376" cy="352044"/>
            <a:chOff x="6658356" y="1581150"/>
            <a:chExt cx="3446376" cy="352044"/>
          </a:xfrm>
        </p:grpSpPr>
        <p:sp>
          <p:nvSpPr>
            <p:cNvPr id="7" name="TextBox 7"/>
            <p:cNvSpPr txBox="1"/>
            <p:nvPr/>
          </p:nvSpPr>
          <p:spPr>
            <a:xfrm>
              <a:off x="6658356" y="1581150"/>
              <a:ext cx="3446376"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Station heterogeneity | K = 20</a:t>
              </a:r>
            </a:p>
          </p:txBody>
        </p:sp>
      </p:grpSp>
      <p:grpSp>
        <p:nvGrpSpPr>
          <p:cNvPr id="31" name="p02-planning-model"/>
          <p:cNvGrpSpPr/>
          <p:nvPr/>
        </p:nvGrpSpPr>
        <p:grpSpPr>
          <a:xfrm>
            <a:off x="563118" y="2009775"/>
            <a:ext cx="5628132" cy="3966083"/>
            <a:chOff x="563118" y="2009775"/>
            <a:chExt cx="5628132" cy="3966083"/>
          </a:xfrm>
        </p:grpSpPr>
        <p:sp>
          <p:nvSpPr>
            <p:cNvPr id="9" name="Rectangle 9"/>
            <p:cNvSpPr/>
            <p:nvPr/>
          </p:nvSpPr>
          <p:spPr>
            <a:xfrm>
              <a:off x="571500" y="2009775"/>
              <a:ext cx="5619750" cy="1762125"/>
            </a:xfrm>
            <a:prstGeom prst="rect">
              <a:avLst/>
            </a:prstGeom>
            <a:solidFill>
              <a:schemeClr val="lt2"/>
            </a:solidFill>
            <a:ln>
              <a:noFill/>
            </a:ln>
          </p:spPr>
        </p:sp>
        <p:grpSp>
          <p:nvGrpSpPr>
            <p:cNvPr id="18" name="Group 18"/>
            <p:cNvGrpSpPr/>
            <p:nvPr/>
          </p:nvGrpSpPr>
          <p:grpSpPr>
            <a:xfrm>
              <a:off x="1647825" y="2390775"/>
              <a:ext cx="3467100" cy="1076325"/>
              <a:chOff x="1647825" y="2390775"/>
              <a:chExt cx="3467100" cy="1076325"/>
            </a:xfrm>
          </p:grpSpPr>
          <p:sp>
            <p:nvSpPr>
              <p:cNvPr id="10" name="Line 10"/>
              <p:cNvSpPr/>
              <p:nvPr/>
            </p:nvSpPr>
            <p:spPr>
              <a:xfrm>
                <a:off x="2571750" y="2390775"/>
                <a:ext cx="1571625" cy="9525"/>
              </a:xfrm>
              <a:custGeom>
                <a:avLst/>
                <a:gdLst/>
                <a:ahLst/>
                <a:cxnLst/>
                <a:rect l="l" t="t" r="r" b="b"/>
                <a:pathLst>
                  <a:path w="1571625" h="9525">
                    <a:moveTo>
                      <a:pt x="0" y="0"/>
                    </a:moveTo>
                    <a:lnTo>
                      <a:pt x="1571625" y="0"/>
                    </a:lnTo>
                  </a:path>
                </a:pathLst>
              </a:custGeom>
              <a:noFill/>
              <a:ln w="19050">
                <a:solidFill>
                  <a:schemeClr val="accent1"/>
                </a:solidFill>
              </a:ln>
            </p:spPr>
          </p:sp>
          <p:sp>
            <p:nvSpPr>
              <p:cNvPr id="11" name="Line 11"/>
              <p:cNvSpPr/>
              <p:nvPr/>
            </p:nvSpPr>
            <p:spPr>
              <a:xfrm>
                <a:off x="3352800" y="2390775"/>
                <a:ext cx="9525" cy="209550"/>
              </a:xfrm>
              <a:custGeom>
                <a:avLst/>
                <a:gdLst/>
                <a:ahLst/>
                <a:cxnLst/>
                <a:rect l="l" t="t" r="r" b="b"/>
                <a:pathLst>
                  <a:path w="9525" h="209550">
                    <a:moveTo>
                      <a:pt x="0" y="0"/>
                    </a:moveTo>
                    <a:lnTo>
                      <a:pt x="0" y="209550"/>
                    </a:lnTo>
                  </a:path>
                </a:pathLst>
              </a:custGeom>
              <a:noFill/>
              <a:ln w="19050">
                <a:solidFill>
                  <a:schemeClr val="accent1"/>
                </a:solidFill>
              </a:ln>
            </p:spPr>
          </p:sp>
          <p:sp>
            <p:nvSpPr>
              <p:cNvPr id="12" name="Ellipse 12"/>
              <p:cNvSpPr/>
              <p:nvPr/>
            </p:nvSpPr>
            <p:spPr>
              <a:xfrm>
                <a:off x="3200400" y="2600325"/>
                <a:ext cx="304800" cy="304800"/>
              </a:xfrm>
              <a:prstGeom prst="ellipse">
                <a:avLst/>
              </a:prstGeom>
              <a:noFill/>
              <a:ln w="19050">
                <a:solidFill>
                  <a:schemeClr val="accent1"/>
                </a:solidFill>
              </a:ln>
            </p:spPr>
          </p:sp>
          <p:sp>
            <p:nvSpPr>
              <p:cNvPr id="13" name="Ellipse 13"/>
              <p:cNvSpPr/>
              <p:nvPr/>
            </p:nvSpPr>
            <p:spPr>
              <a:xfrm>
                <a:off x="3200400" y="2800350"/>
                <a:ext cx="304800" cy="304800"/>
              </a:xfrm>
              <a:prstGeom prst="ellipse">
                <a:avLst/>
              </a:prstGeom>
              <a:noFill/>
              <a:ln w="19050">
                <a:solidFill>
                  <a:schemeClr val="accent1"/>
                </a:solidFill>
              </a:ln>
            </p:spPr>
          </p:sp>
          <p:sp>
            <p:nvSpPr>
              <p:cNvPr id="14" name="Line 14"/>
              <p:cNvSpPr/>
              <p:nvPr/>
            </p:nvSpPr>
            <p:spPr>
              <a:xfrm>
                <a:off x="3352800" y="3105150"/>
                <a:ext cx="9525" cy="200025"/>
              </a:xfrm>
              <a:custGeom>
                <a:avLst/>
                <a:gdLst/>
                <a:ahLst/>
                <a:cxnLst/>
                <a:rect l="l" t="t" r="r" b="b"/>
                <a:pathLst>
                  <a:path w="9525" h="200025">
                    <a:moveTo>
                      <a:pt x="0" y="0"/>
                    </a:moveTo>
                    <a:lnTo>
                      <a:pt x="0" y="200025"/>
                    </a:lnTo>
                  </a:path>
                </a:pathLst>
              </a:custGeom>
              <a:noFill/>
              <a:ln w="19050">
                <a:solidFill>
                  <a:schemeClr val="accent1"/>
                </a:solidFill>
              </a:ln>
            </p:spPr>
          </p:sp>
          <p:sp>
            <p:nvSpPr>
              <p:cNvPr id="15" name="Line 15"/>
              <p:cNvSpPr/>
              <p:nvPr/>
            </p:nvSpPr>
            <p:spPr>
              <a:xfrm>
                <a:off x="1647825" y="3305175"/>
                <a:ext cx="3457575" cy="9525"/>
              </a:xfrm>
              <a:custGeom>
                <a:avLst/>
                <a:gdLst/>
                <a:ahLst/>
                <a:cxnLst/>
                <a:rect l="l" t="t" r="r" b="b"/>
                <a:pathLst>
                  <a:path w="3457575" h="9525">
                    <a:moveTo>
                      <a:pt x="0" y="0"/>
                    </a:moveTo>
                    <a:lnTo>
                      <a:pt x="3457575" y="0"/>
                    </a:lnTo>
                  </a:path>
                </a:pathLst>
              </a:custGeom>
              <a:noFill/>
              <a:ln w="19050">
                <a:solidFill>
                  <a:schemeClr val="accent1"/>
                </a:solidFill>
              </a:ln>
            </p:spPr>
          </p:sp>
          <p:sp>
            <p:nvSpPr>
              <p:cNvPr id="16" name="Line 16"/>
              <p:cNvSpPr/>
              <p:nvPr/>
            </p:nvSpPr>
            <p:spPr>
              <a:xfrm>
                <a:off x="1647825" y="3305175"/>
                <a:ext cx="9525" cy="161925"/>
              </a:xfrm>
              <a:custGeom>
                <a:avLst/>
                <a:gdLst/>
                <a:ahLst/>
                <a:cxnLst/>
                <a:rect l="l" t="t" r="r" b="b"/>
                <a:pathLst>
                  <a:path w="9525" h="161925">
                    <a:moveTo>
                      <a:pt x="0" y="0"/>
                    </a:moveTo>
                    <a:lnTo>
                      <a:pt x="0" y="161925"/>
                    </a:lnTo>
                  </a:path>
                </a:pathLst>
              </a:custGeom>
              <a:noFill/>
              <a:ln w="19050">
                <a:solidFill>
                  <a:schemeClr val="accent1"/>
                </a:solidFill>
              </a:ln>
            </p:spPr>
          </p:sp>
          <p:sp>
            <p:nvSpPr>
              <p:cNvPr id="17" name="Line 17"/>
              <p:cNvSpPr/>
              <p:nvPr/>
            </p:nvSpPr>
            <p:spPr>
              <a:xfrm>
                <a:off x="5105400" y="3305175"/>
                <a:ext cx="9525" cy="161925"/>
              </a:xfrm>
              <a:custGeom>
                <a:avLst/>
                <a:gdLst/>
                <a:ahLst/>
                <a:cxnLst/>
                <a:rect l="l" t="t" r="r" b="b"/>
                <a:pathLst>
                  <a:path w="9525" h="161925">
                    <a:moveTo>
                      <a:pt x="0" y="0"/>
                    </a:moveTo>
                    <a:lnTo>
                      <a:pt x="0" y="161925"/>
                    </a:lnTo>
                  </a:path>
                </a:pathLst>
              </a:custGeom>
              <a:noFill/>
              <a:ln w="19050">
                <a:solidFill>
                  <a:schemeClr val="accent1"/>
                </a:solidFill>
              </a:ln>
            </p:spPr>
          </p:sp>
        </p:grpSp>
        <p:sp>
          <p:nvSpPr>
            <p:cNvPr id="19" name="Line 19"/>
            <p:cNvSpPr/>
            <p:nvPr/>
          </p:nvSpPr>
          <p:spPr>
            <a:xfrm flipV="1">
              <a:off x="2876550" y="2590800"/>
              <a:ext cx="1" cy="514350"/>
            </a:xfrm>
            <a:prstGeom prst="line">
              <a:avLst/>
            </a:prstGeom>
            <a:noFill/>
            <a:ln w="23812">
              <a:solidFill>
                <a:schemeClr val="accent2"/>
              </a:solidFill>
              <a:tailEnd type="triangle" w="lg" len="lg"/>
            </a:ln>
          </p:spPr>
        </p:sp>
        <p:sp>
          <p:nvSpPr>
            <p:cNvPr id="20" name="Line 20"/>
            <p:cNvSpPr/>
            <p:nvPr/>
          </p:nvSpPr>
          <p:spPr>
            <a:xfrm>
              <a:off x="3810000" y="2590800"/>
              <a:ext cx="1" cy="514350"/>
            </a:xfrm>
            <a:prstGeom prst="line">
              <a:avLst/>
            </a:prstGeom>
            <a:noFill/>
            <a:ln w="19050">
              <a:solidFill>
                <a:schemeClr val="accent3"/>
              </a:solidFill>
              <a:tailEnd type="triangle" w="lg" len="lg"/>
            </a:ln>
          </p:spPr>
        </p:sp>
        <p:sp>
          <p:nvSpPr>
            <p:cNvPr id="21" name="TextBox 21"/>
            <p:cNvSpPr txBox="1"/>
            <p:nvPr/>
          </p:nvSpPr>
          <p:spPr>
            <a:xfrm>
              <a:off x="2708129" y="2076450"/>
              <a:ext cx="1289342" cy="293370"/>
            </a:xfrm>
            <a:prstGeom prst="rect">
              <a:avLst/>
            </a:prstGeom>
            <a:noFill/>
            <a:ln>
              <a:noFill/>
            </a:ln>
          </p:spPr>
          <p:txBody>
            <a:bodyPr wrap="none" lIns="0" tIns="0" rIns="0" bIns="0" anchor="t" anchorCtr="0">
              <a:spAutoFit/>
            </a:bodyPr>
            <a:lstStyle/>
            <a:p>
              <a:pPr algn="ctr"/>
              <a:r>
                <a:rPr lang="en" sz="1500" dirty="0">
                  <a:solidFill>
                    <a:schemeClr val="accent1"/>
                  </a:solidFill>
                  <a:latin typeface="+mn-lt"/>
                  <a:ea typeface="+mn-ea"/>
                  <a:cs typeface="+mn-cs"/>
                </a:rPr>
                <a:t>Upstream grid</a:t>
              </a:r>
            </a:p>
          </p:txBody>
        </p:sp>
        <p:sp>
          <p:nvSpPr>
            <p:cNvPr id="22" name="TextBox 22"/>
            <p:cNvSpPr txBox="1"/>
            <p:nvPr/>
          </p:nvSpPr>
          <p:spPr>
            <a:xfrm>
              <a:off x="792480" y="2565400"/>
              <a:ext cx="1613649" cy="569595"/>
            </a:xfrm>
            <a:prstGeom prst="rect">
              <a:avLst/>
            </a:prstGeom>
            <a:noFill/>
            <a:ln>
              <a:noFill/>
            </a:ln>
          </p:spPr>
          <p:txBody>
            <a:bodyPr wrap="none" lIns="0" tIns="0" rIns="0" bIns="0" anchor="t" anchorCtr="0">
              <a:spAutoFit/>
            </a:bodyPr>
            <a:lstStyle/>
            <a:p>
              <a:pPr algn="l">
                <a:lnSpc>
                  <a:spcPts val="2175"/>
                </a:lnSpc>
              </a:pPr>
              <a:r>
                <a:rPr lang="en" sz="1500" b="1" dirty="0">
                  <a:solidFill>
                    <a:schemeClr val="accent2"/>
                  </a:solidFill>
                  <a:latin typeface="+mn-lt"/>
                  <a:ea typeface="+mn-ea"/>
                  <a:cs typeface="+mn-cs"/>
                </a:rPr>
                <a:t>Midday PV export</a:t>
              </a:r>
              <a:br>
                <a:rPr lang="en" sz="1500" b="1" dirty="0">
                  <a:solidFill>
                    <a:schemeClr val="accent2"/>
                  </a:solidFill>
                  <a:latin typeface="+mn-lt"/>
                  <a:ea typeface="+mn-ea"/>
                  <a:cs typeface="+mn-cs"/>
                </a:rPr>
              </a:br>
              <a:r>
                <a:rPr lang="en" sz="1500" b="1" dirty="0">
                  <a:solidFill>
                    <a:schemeClr val="accent2"/>
                  </a:solidFill>
                  <a:latin typeface="+mn-lt"/>
                  <a:ea typeface="+mn-ea"/>
                  <a:cs typeface="+mn-cs"/>
                </a:rPr>
                <a:t>Reverse flow</a:t>
              </a:r>
            </a:p>
          </p:txBody>
        </p:sp>
        <p:sp>
          <p:nvSpPr>
            <p:cNvPr id="23" name="TextBox 23"/>
            <p:cNvSpPr txBox="1"/>
            <p:nvPr/>
          </p:nvSpPr>
          <p:spPr>
            <a:xfrm>
              <a:off x="986427" y="3495675"/>
              <a:ext cx="1322796" cy="293370"/>
            </a:xfrm>
            <a:prstGeom prst="rect">
              <a:avLst/>
            </a:prstGeom>
            <a:noFill/>
            <a:ln>
              <a:noFill/>
            </a:ln>
          </p:spPr>
          <p:txBody>
            <a:bodyPr wrap="none" lIns="0" tIns="0" rIns="0" bIns="0" anchor="t" anchorCtr="0">
              <a:spAutoFit/>
            </a:bodyPr>
            <a:lstStyle/>
            <a:p>
              <a:pPr algn="ctr"/>
              <a:r>
                <a:rPr lang="en" sz="1500" dirty="0">
                  <a:solidFill>
                    <a:schemeClr val="accent2"/>
                  </a:solidFill>
                  <a:latin typeface="+mn-lt"/>
                  <a:ea typeface="+mn-ea"/>
                  <a:cs typeface="+mn-cs"/>
                </a:rPr>
                <a:t>Distributed PV</a:t>
              </a:r>
            </a:p>
          </p:txBody>
        </p:sp>
        <p:sp>
          <p:nvSpPr>
            <p:cNvPr id="24" name="TextBox 24"/>
            <p:cNvSpPr txBox="1"/>
            <p:nvPr/>
          </p:nvSpPr>
          <p:spPr>
            <a:xfrm>
              <a:off x="4634545" y="3495675"/>
              <a:ext cx="941710" cy="293370"/>
            </a:xfrm>
            <a:prstGeom prst="rect">
              <a:avLst/>
            </a:prstGeom>
            <a:noFill/>
            <a:ln>
              <a:noFill/>
            </a:ln>
          </p:spPr>
          <p:txBody>
            <a:bodyPr wrap="none" lIns="0" tIns="0" rIns="0" bIns="0" anchor="t" anchorCtr="0">
              <a:spAutoFit/>
            </a:bodyPr>
            <a:lstStyle/>
            <a:p>
              <a:pPr algn="ctr"/>
              <a:r>
                <a:rPr lang="en" sz="1500" dirty="0">
                  <a:solidFill>
                    <a:schemeClr val="accent3"/>
                  </a:solidFill>
                  <a:latin typeface="+mn-lt"/>
                  <a:ea typeface="+mn-ea"/>
                  <a:cs typeface="+mn-cs"/>
                </a:rPr>
                <a:t>Local load</a:t>
              </a:r>
            </a:p>
          </p:txBody>
        </p:sp>
        <p:sp>
          <p:nvSpPr>
            <p:cNvPr id="25" name="TextBox 25"/>
            <p:cNvSpPr txBox="1"/>
            <p:nvPr/>
          </p:nvSpPr>
          <p:spPr>
            <a:xfrm>
              <a:off x="4298442" y="2641600"/>
              <a:ext cx="795322" cy="502158"/>
            </a:xfrm>
            <a:prstGeom prst="rect">
              <a:avLst/>
            </a:prstGeom>
            <a:noFill/>
            <a:ln>
              <a:noFill/>
            </a:ln>
          </p:spPr>
          <p:txBody>
            <a:bodyPr wrap="none" lIns="0" tIns="0" rIns="0" bIns="0" anchor="t" anchorCtr="0">
              <a:spAutoFit/>
            </a:bodyPr>
            <a:lstStyle/>
            <a:p>
              <a:pPr algn="l">
                <a:lnSpc>
                  <a:spcPts val="1875"/>
                </a:lnSpc>
              </a:pPr>
              <a:r>
                <a:rPr lang="en" sz="1350" dirty="0">
                  <a:solidFill>
                    <a:schemeClr val="accent5"/>
                  </a:solidFill>
                  <a:latin typeface="+mn-lt"/>
                  <a:ea typeface="+mn-ea"/>
                  <a:cs typeface="+mn-cs"/>
                </a:rPr>
                <a:t>110 kV</a:t>
              </a:r>
              <a:br>
                <a:rPr lang="en" sz="1350" dirty="0">
                  <a:solidFill>
                    <a:schemeClr val="accent5"/>
                  </a:solidFill>
                  <a:latin typeface="+mn-lt"/>
                  <a:ea typeface="+mn-ea"/>
                  <a:cs typeface="+mn-cs"/>
                </a:rPr>
              </a:br>
              <a:r>
                <a:rPr lang="en" sz="1350" dirty="0">
                  <a:solidFill>
                    <a:schemeClr val="accent5"/>
                  </a:solidFill>
                  <a:latin typeface="+mn-lt"/>
                  <a:ea typeface="+mn-ea"/>
                  <a:cs typeface="+mn-cs"/>
                </a:rPr>
                <a:t>substation</a:t>
              </a:r>
            </a:p>
          </p:txBody>
        </p:sp>
        <p:sp>
          <p:nvSpPr>
            <p:cNvPr id="26" name="TextBox 26"/>
            <p:cNvSpPr txBox="1"/>
            <p:nvPr/>
          </p:nvSpPr>
          <p:spPr>
            <a:xfrm>
              <a:off x="563118" y="3921125"/>
              <a:ext cx="4797357"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 xml:space="preserve">Decisions: </a:t>
              </a:r>
              <a:r>
                <a:rPr lang="en" sz="1650" b="1" dirty="0">
                  <a:solidFill>
                    <a:schemeClr val="accent1"/>
                  </a:solidFill>
                  <a:latin typeface="+mn-lt"/>
                  <a:ea typeface="+mn-ea"/>
                  <a:cs typeface="+mn-cs"/>
                </a:rPr>
                <a:t>CLR Rj</a:t>
              </a:r>
              <a:r>
                <a:rPr lang="en" sz="1650" dirty="0">
                  <a:solidFill>
                    <a:schemeClr val="dk1"/>
                  </a:solidFill>
                  <a:latin typeface="+mn-lt"/>
                  <a:ea typeface="+mn-ea"/>
                  <a:cs typeface="+mn-cs"/>
                </a:rPr>
                <a:t xml:space="preserve"> and </a:t>
              </a:r>
              <a:r>
                <a:rPr lang="en" sz="1650" b="1" dirty="0">
                  <a:solidFill>
                    <a:schemeClr val="accent1"/>
                  </a:solidFill>
                  <a:latin typeface="+mn-lt"/>
                  <a:ea typeface="+mn-ea"/>
                  <a:cs typeface="+mn-cs"/>
                </a:rPr>
                <a:t>storage power Pj (MW)</a:t>
              </a:r>
            </a:p>
          </p:txBody>
        </p:sp>
        <p:sp>
          <p:nvSpPr>
            <p:cNvPr id="27" name="TextBox 27"/>
            <p:cNvSpPr txBox="1"/>
            <p:nvPr/>
          </p:nvSpPr>
          <p:spPr>
            <a:xfrm>
              <a:off x="564642" y="4254500"/>
              <a:ext cx="3884597"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CLR = transformer capacity / forecast peak load</a:t>
              </a:r>
            </a:p>
          </p:txBody>
        </p:sp>
        <mc:AlternateContent xmlns:mc="http://schemas.openxmlformats.org/markup-compatibility/2006">
          <mc:Choice xmlns:a14="http://schemas.microsoft.com/office/drawing/2010/main" Requires="a14">
            <p:sp>
              <p:nvSpPr>
                <p:cNvPr id="28" name="aggregate-clr-equation"/>
                <p:cNvSpPr txBox="1">
                  <a:spLocks noGrp="1"/>
                </p:cNvSpPr>
                <p:nvPr/>
              </p:nvSpPr>
              <p:spPr>
                <a:xfrm>
                  <a:off x="571500" y="4581525"/>
                  <a:ext cx="5619750" cy="6858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 sz="1800" dirty="0">
                            <a:solidFill>
                              <a:srgbClr val="102B46"/>
                            </a:solidFill>
                            <a:latin typeface="Cambria Math"/>
                            <a:ea typeface="Cambria Math"/>
                            <a:cs typeface="Cambria Math"/>
                          </a:rPr>
                          <m:t>1.8</m:t>
                        </m:r>
                        <m:r>
                          <m:rPr>
                            <m:sty m:val="p"/>
                          </m:rPr>
                          <a:rPr lang="en" sz="1800" dirty="0">
                            <a:solidFill>
                              <a:srgbClr val="102B46"/>
                            </a:solidFill>
                            <a:latin typeface="Cambria Math"/>
                            <a:ea typeface="Cambria Math"/>
                            <a:cs typeface="Cambria Math"/>
                          </a:rPr>
                          <m:t>≤</m:t>
                        </m:r>
                        <m:f>
                          <m:fPr>
                            <m:type m:val="bar"/>
                            <m:ctrlPr>
                              <a:rPr lang="en" sz="1800" dirty="0">
                                <a:solidFill>
                                  <a:srgbClr val="102B46"/>
                                </a:solidFill>
                                <a:latin typeface="Cambria Math"/>
                                <a:ea typeface="Cambria Math"/>
                                <a:cs typeface="Cambria Math"/>
                              </a:rPr>
                            </m:ctrlPr>
                          </m:fPr>
                          <m:num>
                            <m:nary>
                              <m:naryPr>
                                <m:chr m:val="∑"/>
                                <m:limLoc m:val="undOvr"/>
                                <m:grow m:val="off"/>
                                <m:subHide m:val="off"/>
                                <m:supHide m:val="off"/>
                                <m:ctrlPr>
                                  <a:rPr lang="en" sz="1800" dirty="0">
                                    <a:solidFill>
                                      <a:srgbClr val="102B46"/>
                                    </a:solidFill>
                                    <a:latin typeface="Cambria Math"/>
                                    <a:ea typeface="Cambria Math"/>
                                    <a:cs typeface="Cambria Math"/>
                                  </a:rPr>
                                </m:ctrlPr>
                              </m:naryPr>
                              <m:sub>
                                <m:r>
                                  <a:rPr lang="en" sz="1800" dirty="0">
                                    <a:solidFill>
                                      <a:srgbClr val="102B46"/>
                                    </a:solidFill>
                                    <a:latin typeface="Cambria Math"/>
                                    <a:ea typeface="Cambria Math"/>
                                    <a:cs typeface="Cambria Math"/>
                                  </a:rPr>
                                  <m:t>j</m:t>
                                </m:r>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1</m:t>
                                </m:r>
                              </m:sub>
                              <m:sup>
                                <m:r>
                                  <a:rPr lang="en" sz="1800" dirty="0">
                                    <a:solidFill>
                                      <a:srgbClr val="102B46"/>
                                    </a:solidFill>
                                    <a:latin typeface="Cambria Math"/>
                                    <a:ea typeface="Cambria Math"/>
                                    <a:cs typeface="Cambria Math"/>
                                  </a:rPr>
                                  <m:t>K</m:t>
                                </m:r>
                              </m:sup>
                              <m:e>
                                <m:sSub>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Sub>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nary>
                          </m:num>
                          <m:den>
                            <m:nary>
                              <m:naryPr>
                                <m:chr m:val="∑"/>
                                <m:limLoc m:val="undOvr"/>
                                <m:grow m:val="off"/>
                                <m:subHide m:val="off"/>
                                <m:supHide m:val="off"/>
                                <m:ctrlPr>
                                  <a:rPr lang="en" sz="1800" dirty="0">
                                    <a:solidFill>
                                      <a:srgbClr val="102B46"/>
                                    </a:solidFill>
                                    <a:latin typeface="Cambria Math"/>
                                    <a:ea typeface="Cambria Math"/>
                                    <a:cs typeface="Cambria Math"/>
                                  </a:rPr>
                                </m:ctrlPr>
                              </m:naryPr>
                              <m:sub>
                                <m:r>
                                  <a:rPr lang="en" sz="1800" dirty="0">
                                    <a:solidFill>
                                      <a:srgbClr val="102B46"/>
                                    </a:solidFill>
                                    <a:latin typeface="Cambria Math"/>
                                    <a:ea typeface="Cambria Math"/>
                                    <a:cs typeface="Cambria Math"/>
                                  </a:rPr>
                                  <m:t>j</m:t>
                                </m:r>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1</m:t>
                                </m:r>
                              </m:sub>
                              <m:sup>
                                <m:r>
                                  <a:rPr lang="en" sz="1800" dirty="0">
                                    <a:solidFill>
                                      <a:srgbClr val="102B46"/>
                                    </a:solidFill>
                                    <a:latin typeface="Cambria Math"/>
                                    <a:ea typeface="Cambria Math"/>
                                    <a:cs typeface="Cambria Math"/>
                                  </a:rPr>
                                  <m:t>K</m:t>
                                </m:r>
                              </m:sup>
                              <m:e>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nary>
                          </m:den>
                        </m:f>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3.0</m:t>
                        </m:r>
                      </m:oMath>
                    </m:oMathPara>
                  </a14:m>
                </a:p>
              </p:txBody>
            </p:sp>
          </mc:Choice>
        </mc:AlternateContent>
        <p:sp>
          <p:nvSpPr>
            <p:cNvPr id="29" name="TextBox 29"/>
            <p:cNvSpPr txBox="1"/>
            <p:nvPr/>
          </p:nvSpPr>
          <p:spPr>
            <a:xfrm>
              <a:off x="563118" y="5387975"/>
              <a:ext cx="3842805"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Minimize annualized cost and EENS</a:t>
              </a:r>
            </a:p>
          </p:txBody>
        </p:sp>
        <p:sp>
          <p:nvSpPr>
            <p:cNvPr id="30" name="TextBox 30"/>
            <p:cNvSpPr txBox="1"/>
            <p:nvPr/>
          </p:nvSpPr>
          <p:spPr>
            <a:xfrm>
              <a:off x="564642" y="5711825"/>
              <a:ext cx="404812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million CNY/yr · MWh/yr · N−1 supply inadequacy</a:t>
              </a:r>
            </a:p>
          </p:txBody>
        </p:sp>
      </p:grpSp>
      <p:grpSp>
        <p:nvGrpSpPr>
          <p:cNvPr id="76" name="station-heterogeneity"/>
          <p:cNvGrpSpPr/>
          <p:nvPr/>
        </p:nvGrpSpPr>
        <p:grpSpPr>
          <a:xfrm>
            <a:off x="6659118" y="1911350"/>
            <a:ext cx="4555892" cy="4076446"/>
            <a:chOff x="6659118" y="1911350"/>
            <a:chExt cx="4555892" cy="4076446"/>
          </a:xfrm>
        </p:grpSpPr>
        <p:sp>
          <p:nvSpPr>
            <p:cNvPr id="32" name="TextBox 32"/>
            <p:cNvSpPr txBox="1"/>
            <p:nvPr/>
          </p:nvSpPr>
          <p:spPr>
            <a:xfrm>
              <a:off x="7375017" y="1911350"/>
              <a:ext cx="1158151"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Selected CLR</a:t>
              </a:r>
            </a:p>
          </p:txBody>
        </p:sp>
        <p:grpSp>
          <p:nvGrpSpPr>
            <p:cNvPr id="60" name="station-heterogeneity-chartArea"/>
            <p:cNvGrpSpPr/>
            <p:nvPr/>
          </p:nvGrpSpPr>
          <p:grpSpPr>
            <a:xfrm>
              <a:off x="7381875" y="2162175"/>
              <a:ext cx="3714750" cy="2533650"/>
              <a:chOff x="7381875" y="2162175"/>
              <a:chExt cx="3714750" cy="2533650"/>
            </a:xfrm>
          </p:grpSpPr>
          <p:grpSp>
            <p:nvGrpSpPr>
              <p:cNvPr id="36" name="Group 36"/>
              <p:cNvGrpSpPr/>
              <p:nvPr/>
            </p:nvGrpSpPr>
            <p:grpSpPr>
              <a:xfrm>
                <a:off x="7381875" y="2162175"/>
                <a:ext cx="3714750" cy="1692307"/>
                <a:chOff x="7381875" y="2162175"/>
                <a:chExt cx="3714750" cy="1692307"/>
              </a:xfrm>
            </p:grpSpPr>
            <p:sp>
              <p:nvSpPr>
                <p:cNvPr id="33" name="Line 33"/>
                <p:cNvSpPr/>
                <p:nvPr/>
              </p:nvSpPr>
              <p:spPr>
                <a:xfrm>
                  <a:off x="7381875" y="2162175"/>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4" name="Line 34"/>
                <p:cNvSpPr/>
                <p:nvPr/>
              </p:nvSpPr>
              <p:spPr>
                <a:xfrm>
                  <a:off x="7381875" y="3003518"/>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5" name="Line 35"/>
                <p:cNvSpPr/>
                <p:nvPr/>
              </p:nvSpPr>
              <p:spPr>
                <a:xfrm>
                  <a:off x="7381875" y="3844957"/>
                  <a:ext cx="3714750" cy="9525"/>
                </a:xfrm>
                <a:custGeom>
                  <a:avLst/>
                  <a:gdLst/>
                  <a:ahLst/>
                  <a:cxnLst/>
                  <a:rect l="l" t="t" r="r" b="b"/>
                  <a:pathLst>
                    <a:path w="3714750" h="9525">
                      <a:moveTo>
                        <a:pt x="0" y="0"/>
                      </a:moveTo>
                      <a:lnTo>
                        <a:pt x="3714750" y="0"/>
                      </a:lnTo>
                    </a:path>
                  </a:pathLst>
                </a:custGeom>
                <a:noFill/>
                <a:ln w="9525">
                  <a:solidFill>
                    <a:srgbClr val="E6EDF0"/>
                  </a:solidFill>
                </a:ln>
              </p:spPr>
            </p:sp>
          </p:grpSp>
          <p:sp>
            <p:nvSpPr>
              <p:cNvPr id="37" name="Line 37"/>
              <p:cNvSpPr/>
              <p:nvPr/>
            </p:nvSpPr>
            <p:spPr>
              <a:xfrm>
                <a:off x="7381875" y="2162175"/>
                <a:ext cx="9525" cy="2524125"/>
              </a:xfrm>
              <a:custGeom>
                <a:avLst/>
                <a:gdLst/>
                <a:ahLst/>
                <a:cxnLst/>
                <a:rect l="l" t="t" r="r" b="b"/>
                <a:pathLst>
                  <a:path w="9525" h="2524125">
                    <a:moveTo>
                      <a:pt x="0" y="0"/>
                    </a:moveTo>
                    <a:lnTo>
                      <a:pt x="0" y="2524125"/>
                    </a:lnTo>
                  </a:path>
                </a:pathLst>
              </a:custGeom>
              <a:noFill/>
              <a:ln w="11430">
                <a:solidFill>
                  <a:srgbClr val="536774"/>
                </a:solidFill>
              </a:ln>
            </p:spPr>
          </p:sp>
          <p:sp>
            <p:nvSpPr>
              <p:cNvPr id="38" name="Line 38"/>
              <p:cNvSpPr/>
              <p:nvPr/>
            </p:nvSpPr>
            <p:spPr>
              <a:xfrm>
                <a:off x="7381875" y="4686300"/>
                <a:ext cx="3714750" cy="9525"/>
              </a:xfrm>
              <a:custGeom>
                <a:avLst/>
                <a:gdLst/>
                <a:ahLst/>
                <a:cxnLst/>
                <a:rect l="l" t="t" r="r" b="b"/>
                <a:pathLst>
                  <a:path w="3714750" h="9525">
                    <a:moveTo>
                      <a:pt x="0" y="0"/>
                    </a:moveTo>
                    <a:lnTo>
                      <a:pt x="3714750" y="0"/>
                    </a:lnTo>
                  </a:path>
                </a:pathLst>
              </a:custGeom>
              <a:noFill/>
              <a:ln w="11430">
                <a:solidFill>
                  <a:srgbClr val="536774"/>
                </a:solidFill>
              </a:ln>
            </p:spPr>
          </p:sp>
          <p:sp>
            <p:nvSpPr>
              <p:cNvPr id="39" name="Line 39"/>
              <p:cNvSpPr/>
              <p:nvPr/>
            </p:nvSpPr>
            <p:spPr>
              <a:xfrm>
                <a:off x="7381875" y="3564446"/>
                <a:ext cx="3714750" cy="9525"/>
              </a:xfrm>
              <a:custGeom>
                <a:avLst/>
                <a:gdLst/>
                <a:ahLst/>
                <a:cxnLst/>
                <a:rect l="l" t="t" r="r" b="b"/>
                <a:pathLst>
                  <a:path w="3714750" h="9525">
                    <a:moveTo>
                      <a:pt x="0" y="0"/>
                    </a:moveTo>
                    <a:lnTo>
                      <a:pt x="3714750" y="0"/>
                    </a:lnTo>
                  </a:path>
                </a:pathLst>
              </a:custGeom>
              <a:noFill/>
              <a:ln w="14288">
                <a:solidFill>
                  <a:srgbClr val="B87232"/>
                </a:solidFill>
                <a:custDash>
                  <a:ds d="400000" sp="333333"/>
                </a:custDash>
              </a:ln>
            </p:spPr>
          </p:sp>
          <p:sp>
            <p:nvSpPr>
              <p:cNvPr id="40" name="Ellipse 40"/>
              <p:cNvSpPr/>
              <p:nvPr/>
            </p:nvSpPr>
            <p:spPr>
              <a:xfrm>
                <a:off x="7539704" y="4140232"/>
                <a:ext cx="110490" cy="110490"/>
              </a:xfrm>
              <a:prstGeom prst="ellipse">
                <a:avLst/>
              </a:prstGeom>
              <a:solidFill>
                <a:schemeClr val="accent2"/>
              </a:solidFill>
              <a:ln w="11430">
                <a:solidFill>
                  <a:srgbClr val="FFFFFF"/>
                </a:solidFill>
              </a:ln>
            </p:spPr>
          </p:sp>
          <p:sp>
            <p:nvSpPr>
              <p:cNvPr id="41" name="Ellipse 41"/>
              <p:cNvSpPr/>
              <p:nvPr/>
            </p:nvSpPr>
            <p:spPr>
              <a:xfrm>
                <a:off x="8270938" y="3972020"/>
                <a:ext cx="110490" cy="110490"/>
              </a:xfrm>
              <a:prstGeom prst="ellipse">
                <a:avLst/>
              </a:prstGeom>
              <a:solidFill>
                <a:schemeClr val="accent2"/>
              </a:solidFill>
              <a:ln w="11430">
                <a:solidFill>
                  <a:srgbClr val="FFFFFF"/>
                </a:solidFill>
              </a:ln>
            </p:spPr>
          </p:sp>
          <p:sp>
            <p:nvSpPr>
              <p:cNvPr id="42" name="Ellipse 42"/>
              <p:cNvSpPr/>
              <p:nvPr/>
            </p:nvSpPr>
            <p:spPr>
              <a:xfrm>
                <a:off x="8368760" y="3565303"/>
                <a:ext cx="110490" cy="110490"/>
              </a:xfrm>
              <a:prstGeom prst="ellipse">
                <a:avLst/>
              </a:prstGeom>
              <a:solidFill>
                <a:schemeClr val="accent2"/>
              </a:solidFill>
              <a:ln w="11430">
                <a:solidFill>
                  <a:srgbClr val="FFFFFF"/>
                </a:solidFill>
              </a:ln>
            </p:spPr>
          </p:sp>
          <p:sp>
            <p:nvSpPr>
              <p:cNvPr id="43" name="Ellipse 43"/>
              <p:cNvSpPr/>
              <p:nvPr/>
            </p:nvSpPr>
            <p:spPr>
              <a:xfrm>
                <a:off x="8446960" y="3705511"/>
                <a:ext cx="110490" cy="110490"/>
              </a:xfrm>
              <a:prstGeom prst="ellipse">
                <a:avLst/>
              </a:prstGeom>
              <a:solidFill>
                <a:schemeClr val="accent2"/>
              </a:solidFill>
              <a:ln w="11430">
                <a:solidFill>
                  <a:srgbClr val="FFFFFF"/>
                </a:solidFill>
              </a:ln>
            </p:spPr>
          </p:sp>
          <p:sp>
            <p:nvSpPr>
              <p:cNvPr id="44" name="Ellipse 44"/>
              <p:cNvSpPr/>
              <p:nvPr/>
            </p:nvSpPr>
            <p:spPr>
              <a:xfrm>
                <a:off x="8519255" y="3396996"/>
                <a:ext cx="110490" cy="110490"/>
              </a:xfrm>
              <a:prstGeom prst="ellipse">
                <a:avLst/>
              </a:prstGeom>
              <a:solidFill>
                <a:schemeClr val="accent2"/>
              </a:solidFill>
              <a:ln w="11430">
                <a:solidFill>
                  <a:srgbClr val="FFFFFF"/>
                </a:solidFill>
              </a:ln>
            </p:spPr>
          </p:sp>
          <p:sp>
            <p:nvSpPr>
              <p:cNvPr id="45" name="Ellipse 45"/>
              <p:cNvSpPr/>
              <p:nvPr/>
            </p:nvSpPr>
            <p:spPr>
              <a:xfrm>
                <a:off x="8529066" y="3635407"/>
                <a:ext cx="110490" cy="110490"/>
              </a:xfrm>
              <a:prstGeom prst="ellipse">
                <a:avLst/>
              </a:prstGeom>
              <a:solidFill>
                <a:schemeClr val="accent2"/>
              </a:solidFill>
              <a:ln w="11430">
                <a:solidFill>
                  <a:srgbClr val="FFFFFF"/>
                </a:solidFill>
              </a:ln>
            </p:spPr>
          </p:sp>
          <p:sp>
            <p:nvSpPr>
              <p:cNvPr id="46" name="Ellipse 46"/>
              <p:cNvSpPr/>
              <p:nvPr/>
            </p:nvSpPr>
            <p:spPr>
              <a:xfrm>
                <a:off x="9002173" y="3102578"/>
                <a:ext cx="110490" cy="110490"/>
              </a:xfrm>
              <a:prstGeom prst="ellipse">
                <a:avLst/>
              </a:prstGeom>
              <a:solidFill>
                <a:schemeClr val="accent2"/>
              </a:solidFill>
              <a:ln w="11430">
                <a:solidFill>
                  <a:srgbClr val="FFFFFF"/>
                </a:solidFill>
              </a:ln>
            </p:spPr>
          </p:sp>
          <p:sp>
            <p:nvSpPr>
              <p:cNvPr id="47" name="Ellipse 47"/>
              <p:cNvSpPr/>
              <p:nvPr/>
            </p:nvSpPr>
            <p:spPr>
              <a:xfrm>
                <a:off x="9076468" y="2990374"/>
                <a:ext cx="110490" cy="110490"/>
              </a:xfrm>
              <a:prstGeom prst="ellipse">
                <a:avLst/>
              </a:prstGeom>
              <a:solidFill>
                <a:schemeClr val="accent2"/>
              </a:solidFill>
              <a:ln w="11430">
                <a:solidFill>
                  <a:srgbClr val="FFFFFF"/>
                </a:solidFill>
              </a:ln>
            </p:spPr>
          </p:sp>
          <p:sp>
            <p:nvSpPr>
              <p:cNvPr id="48" name="Ellipse 48"/>
              <p:cNvSpPr/>
              <p:nvPr/>
            </p:nvSpPr>
            <p:spPr>
              <a:xfrm>
                <a:off x="9199626" y="3495199"/>
                <a:ext cx="110490" cy="110490"/>
              </a:xfrm>
              <a:prstGeom prst="ellipse">
                <a:avLst/>
              </a:prstGeom>
              <a:solidFill>
                <a:schemeClr val="accent2"/>
              </a:solidFill>
              <a:ln w="11430">
                <a:solidFill>
                  <a:srgbClr val="FFFFFF"/>
                </a:solidFill>
              </a:ln>
            </p:spPr>
          </p:sp>
          <p:sp>
            <p:nvSpPr>
              <p:cNvPr id="49" name="Ellipse 49"/>
              <p:cNvSpPr/>
              <p:nvPr/>
            </p:nvSpPr>
            <p:spPr>
              <a:xfrm>
                <a:off x="9361932" y="3214783"/>
                <a:ext cx="110490" cy="110490"/>
              </a:xfrm>
              <a:prstGeom prst="ellipse">
                <a:avLst/>
              </a:prstGeom>
              <a:solidFill>
                <a:schemeClr val="accent2"/>
              </a:solidFill>
              <a:ln w="11430">
                <a:solidFill>
                  <a:srgbClr val="FFFFFF"/>
                </a:solidFill>
              </a:ln>
            </p:spPr>
          </p:sp>
          <p:sp>
            <p:nvSpPr>
              <p:cNvPr id="50" name="Ellipse 50"/>
              <p:cNvSpPr/>
              <p:nvPr/>
            </p:nvSpPr>
            <p:spPr>
              <a:xfrm>
                <a:off x="9590627" y="3102578"/>
                <a:ext cx="110490" cy="110490"/>
              </a:xfrm>
              <a:prstGeom prst="ellipse">
                <a:avLst/>
              </a:prstGeom>
              <a:solidFill>
                <a:schemeClr val="accent2"/>
              </a:solidFill>
              <a:ln w="11430">
                <a:solidFill>
                  <a:srgbClr val="FFFFFF"/>
                </a:solidFill>
              </a:ln>
            </p:spPr>
          </p:sp>
          <p:sp>
            <p:nvSpPr>
              <p:cNvPr id="51" name="Ellipse 51"/>
              <p:cNvSpPr/>
              <p:nvPr/>
            </p:nvSpPr>
            <p:spPr>
              <a:xfrm>
                <a:off x="9600438" y="2962370"/>
                <a:ext cx="110490" cy="110490"/>
              </a:xfrm>
              <a:prstGeom prst="ellipse">
                <a:avLst/>
              </a:prstGeom>
              <a:solidFill>
                <a:schemeClr val="accent2"/>
              </a:solidFill>
              <a:ln w="11430">
                <a:solidFill>
                  <a:srgbClr val="FFFFFF"/>
                </a:solidFill>
              </a:ln>
            </p:spPr>
          </p:sp>
          <p:sp>
            <p:nvSpPr>
              <p:cNvPr id="52" name="Ellipse 52"/>
              <p:cNvSpPr/>
              <p:nvPr/>
            </p:nvSpPr>
            <p:spPr>
              <a:xfrm>
                <a:off x="10100977" y="2990374"/>
                <a:ext cx="110490" cy="110490"/>
              </a:xfrm>
              <a:prstGeom prst="ellipse">
                <a:avLst/>
              </a:prstGeom>
              <a:solidFill>
                <a:schemeClr val="accent2"/>
              </a:solidFill>
              <a:ln w="11430">
                <a:solidFill>
                  <a:srgbClr val="FFFFFF"/>
                </a:solidFill>
              </a:ln>
            </p:spPr>
          </p:sp>
          <p:sp>
            <p:nvSpPr>
              <p:cNvPr id="53" name="Ellipse 53"/>
              <p:cNvSpPr/>
              <p:nvPr/>
            </p:nvSpPr>
            <p:spPr>
              <a:xfrm>
                <a:off x="10157650" y="3326892"/>
                <a:ext cx="110490" cy="110490"/>
              </a:xfrm>
              <a:prstGeom prst="ellipse">
                <a:avLst/>
              </a:prstGeom>
              <a:solidFill>
                <a:schemeClr val="accent2"/>
              </a:solidFill>
              <a:ln w="11430">
                <a:solidFill>
                  <a:srgbClr val="FFFFFF"/>
                </a:solidFill>
              </a:ln>
            </p:spPr>
          </p:sp>
          <p:sp>
            <p:nvSpPr>
              <p:cNvPr id="54" name="Ellipse 54"/>
              <p:cNvSpPr/>
              <p:nvPr/>
            </p:nvSpPr>
            <p:spPr>
              <a:xfrm>
                <a:off x="10171367" y="2850166"/>
                <a:ext cx="110490" cy="110490"/>
              </a:xfrm>
              <a:prstGeom prst="ellipse">
                <a:avLst/>
              </a:prstGeom>
              <a:solidFill>
                <a:schemeClr val="accent2"/>
              </a:solidFill>
              <a:ln w="11430">
                <a:solidFill>
                  <a:srgbClr val="FFFFFF"/>
                </a:solidFill>
              </a:ln>
            </p:spPr>
          </p:sp>
          <p:sp>
            <p:nvSpPr>
              <p:cNvPr id="55" name="Ellipse 55"/>
              <p:cNvSpPr/>
              <p:nvPr/>
            </p:nvSpPr>
            <p:spPr>
              <a:xfrm>
                <a:off x="10251472" y="3200686"/>
                <a:ext cx="110490" cy="110490"/>
              </a:xfrm>
              <a:prstGeom prst="ellipse">
                <a:avLst/>
              </a:prstGeom>
              <a:solidFill>
                <a:schemeClr val="accent2"/>
              </a:solidFill>
              <a:ln w="11430">
                <a:solidFill>
                  <a:srgbClr val="FFFFFF"/>
                </a:solidFill>
              </a:ln>
            </p:spPr>
          </p:sp>
          <p:sp>
            <p:nvSpPr>
              <p:cNvPr id="56" name="Ellipse 56"/>
              <p:cNvSpPr/>
              <p:nvPr/>
            </p:nvSpPr>
            <p:spPr>
              <a:xfrm>
                <a:off x="10425494" y="2611755"/>
                <a:ext cx="110490" cy="110490"/>
              </a:xfrm>
              <a:prstGeom prst="ellipse">
                <a:avLst/>
              </a:prstGeom>
              <a:solidFill>
                <a:schemeClr val="accent2"/>
              </a:solidFill>
              <a:ln w="11430">
                <a:solidFill>
                  <a:srgbClr val="FFFFFF"/>
                </a:solidFill>
              </a:ln>
            </p:spPr>
          </p:sp>
          <p:sp>
            <p:nvSpPr>
              <p:cNvPr id="57" name="Ellipse 57"/>
              <p:cNvSpPr/>
              <p:nvPr/>
            </p:nvSpPr>
            <p:spPr>
              <a:xfrm>
                <a:off x="10503694" y="3214783"/>
                <a:ext cx="110490" cy="110490"/>
              </a:xfrm>
              <a:prstGeom prst="ellipse">
                <a:avLst/>
              </a:prstGeom>
              <a:solidFill>
                <a:schemeClr val="accent2"/>
              </a:solidFill>
              <a:ln w="11430">
                <a:solidFill>
                  <a:srgbClr val="FFFFFF"/>
                </a:solidFill>
              </a:ln>
            </p:spPr>
          </p:sp>
          <p:sp>
            <p:nvSpPr>
              <p:cNvPr id="58" name="Ellipse 58"/>
              <p:cNvSpPr/>
              <p:nvPr/>
            </p:nvSpPr>
            <p:spPr>
              <a:xfrm>
                <a:off x="10808684" y="3298888"/>
                <a:ext cx="110490" cy="110490"/>
              </a:xfrm>
              <a:prstGeom prst="ellipse">
                <a:avLst/>
              </a:prstGeom>
              <a:solidFill>
                <a:schemeClr val="accent2"/>
              </a:solidFill>
              <a:ln w="11430">
                <a:solidFill>
                  <a:srgbClr val="FFFFFF"/>
                </a:solidFill>
              </a:ln>
            </p:spPr>
          </p:sp>
          <p:sp>
            <p:nvSpPr>
              <p:cNvPr id="59" name="Ellipse 59"/>
              <p:cNvSpPr/>
              <p:nvPr/>
            </p:nvSpPr>
            <p:spPr>
              <a:xfrm>
                <a:off x="10830211" y="3200686"/>
                <a:ext cx="110490" cy="110490"/>
              </a:xfrm>
              <a:prstGeom prst="ellipse">
                <a:avLst/>
              </a:prstGeom>
              <a:solidFill>
                <a:schemeClr val="accent2"/>
              </a:solidFill>
              <a:ln w="11430">
                <a:solidFill>
                  <a:srgbClr val="FFFFFF"/>
                </a:solidFill>
              </a:ln>
            </p:spPr>
          </p:sp>
        </p:grpSp>
        <p:grpSp>
          <p:nvGrpSpPr>
            <p:cNvPr id="65" name="Group 65"/>
            <p:cNvGrpSpPr/>
            <p:nvPr/>
          </p:nvGrpSpPr>
          <p:grpSpPr>
            <a:xfrm>
              <a:off x="7008326" y="2066925"/>
              <a:ext cx="236770" cy="2758821"/>
              <a:chOff x="7008326" y="2066925"/>
              <a:chExt cx="236770" cy="2758821"/>
            </a:xfrm>
          </p:grpSpPr>
          <p:sp>
            <p:nvSpPr>
              <p:cNvPr id="61" name="TextBox 61"/>
              <p:cNvSpPr txBox="1"/>
              <p:nvPr/>
            </p:nvSpPr>
            <p:spPr>
              <a:xfrm>
                <a:off x="7008326" y="2066925"/>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3.0</a:t>
                </a:r>
              </a:p>
            </p:txBody>
          </p:sp>
          <p:sp>
            <p:nvSpPr>
              <p:cNvPr id="62" name="TextBox 62"/>
              <p:cNvSpPr txBox="1"/>
              <p:nvPr/>
            </p:nvSpPr>
            <p:spPr>
              <a:xfrm>
                <a:off x="7008326" y="2908268"/>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2.4</a:t>
                </a:r>
              </a:p>
            </p:txBody>
          </p:sp>
          <p:sp>
            <p:nvSpPr>
              <p:cNvPr id="63" name="TextBox 63"/>
              <p:cNvSpPr txBox="1"/>
              <p:nvPr/>
            </p:nvSpPr>
            <p:spPr>
              <a:xfrm>
                <a:off x="7008326" y="3749707"/>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1.8</a:t>
                </a:r>
              </a:p>
            </p:txBody>
          </p:sp>
          <p:sp>
            <p:nvSpPr>
              <p:cNvPr id="64" name="TextBox 64"/>
              <p:cNvSpPr txBox="1"/>
              <p:nvPr/>
            </p:nvSpPr>
            <p:spPr>
              <a:xfrm>
                <a:off x="7008326" y="459105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1.2</a:t>
                </a:r>
              </a:p>
            </p:txBody>
          </p:sp>
        </p:grpSp>
        <p:grpSp>
          <p:nvGrpSpPr>
            <p:cNvPr id="71" name="Group 71"/>
            <p:cNvGrpSpPr/>
            <p:nvPr/>
          </p:nvGrpSpPr>
          <p:grpSpPr>
            <a:xfrm>
              <a:off x="7263490" y="4800600"/>
              <a:ext cx="3951520" cy="234696"/>
              <a:chOff x="7263490" y="4800600"/>
              <a:chExt cx="3951520" cy="234696"/>
            </a:xfrm>
          </p:grpSpPr>
          <p:sp>
            <p:nvSpPr>
              <p:cNvPr id="66" name="TextBox 66"/>
              <p:cNvSpPr txBox="1"/>
              <p:nvPr/>
            </p:nvSpPr>
            <p:spPr>
              <a:xfrm>
                <a:off x="726349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1.7</a:t>
                </a:r>
              </a:p>
            </p:txBody>
          </p:sp>
          <p:sp>
            <p:nvSpPr>
              <p:cNvPr id="67" name="TextBox 67"/>
              <p:cNvSpPr txBox="1"/>
              <p:nvPr/>
            </p:nvSpPr>
            <p:spPr>
              <a:xfrm>
                <a:off x="7850039"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2.0</a:t>
                </a:r>
              </a:p>
            </p:txBody>
          </p:sp>
          <p:sp>
            <p:nvSpPr>
              <p:cNvPr id="68" name="TextBox 68"/>
              <p:cNvSpPr txBox="1"/>
              <p:nvPr/>
            </p:nvSpPr>
            <p:spPr>
              <a:xfrm>
                <a:off x="882759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2.5</a:t>
                </a:r>
              </a:p>
            </p:txBody>
          </p:sp>
          <p:sp>
            <p:nvSpPr>
              <p:cNvPr id="69" name="TextBox 69"/>
              <p:cNvSpPr txBox="1"/>
              <p:nvPr/>
            </p:nvSpPr>
            <p:spPr>
              <a:xfrm>
                <a:off x="9805141"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3.0</a:t>
                </a:r>
              </a:p>
            </p:txBody>
          </p:sp>
          <p:sp>
            <p:nvSpPr>
              <p:cNvPr id="70" name="TextBox 70"/>
              <p:cNvSpPr txBox="1"/>
              <p:nvPr/>
            </p:nvSpPr>
            <p:spPr>
              <a:xfrm>
                <a:off x="10978240" y="4800600"/>
                <a:ext cx="23677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3.6</a:t>
                </a:r>
              </a:p>
            </p:txBody>
          </p:sp>
        </p:grpSp>
        <p:sp>
          <p:nvSpPr>
            <p:cNvPr id="72" name="TextBox 72"/>
            <p:cNvSpPr txBox="1"/>
            <p:nvPr/>
          </p:nvSpPr>
          <p:spPr>
            <a:xfrm>
              <a:off x="8537762" y="5102225"/>
              <a:ext cx="140297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Source-load ratio</a:t>
              </a:r>
            </a:p>
          </p:txBody>
        </p:sp>
        <p:sp>
          <p:nvSpPr>
            <p:cNvPr id="73" name="TextBox 73"/>
            <p:cNvSpPr txBox="1"/>
            <p:nvPr/>
          </p:nvSpPr>
          <p:spPr>
            <a:xfrm>
              <a:off x="9675308" y="3302000"/>
              <a:ext cx="1428175" cy="264033"/>
            </a:xfrm>
            <a:prstGeom prst="rect">
              <a:avLst/>
            </a:prstGeom>
            <a:noFill/>
            <a:ln>
              <a:noFill/>
            </a:ln>
          </p:spPr>
          <p:txBody>
            <a:bodyPr wrap="none" lIns="0" tIns="0" rIns="0" bIns="0" anchor="t" anchorCtr="0">
              <a:spAutoFit/>
            </a:bodyPr>
            <a:lstStyle/>
            <a:p>
              <a:pPr algn="r"/>
              <a:r>
                <a:rPr lang="en" sz="1350" dirty="0">
                  <a:solidFill>
                    <a:srgbClr val="B87232"/>
                  </a:solidFill>
                  <a:latin typeface="+mn-lt"/>
                  <a:ea typeface="+mn-ea"/>
                  <a:cs typeface="+mn-cs"/>
                </a:rPr>
                <a:t>2.0 cap reference</a:t>
              </a:r>
            </a:p>
          </p:txBody>
        </p:sp>
        <p:sp>
          <p:nvSpPr>
            <p:cNvPr id="74" name="TextBox 74"/>
            <p:cNvSpPr txBox="1"/>
            <p:nvPr/>
          </p:nvSpPr>
          <p:spPr>
            <a:xfrm>
              <a:off x="6659118" y="5426075"/>
              <a:ext cx="3752935" cy="322707"/>
            </a:xfrm>
            <a:prstGeom prst="rect">
              <a:avLst/>
            </a:prstGeom>
            <a:noFill/>
            <a:ln>
              <a:noFill/>
            </a:ln>
          </p:spPr>
          <p:txBody>
            <a:bodyPr wrap="none" lIns="0" tIns="0" rIns="0" bIns="0" anchor="t" anchorCtr="0">
              <a:spAutoFit/>
            </a:bodyPr>
            <a:lstStyle/>
            <a:p>
              <a:pPr algn="l"/>
              <a:r>
                <a:rPr lang="en" sz="1650" dirty="0">
                  <a:solidFill>
                    <a:schemeClr val="accent1"/>
                  </a:solidFill>
                  <a:latin typeface="+mn-lt"/>
                  <a:ea typeface="+mn-ea"/>
                  <a:cs typeface="+mn-cs"/>
                </a:rPr>
                <a:t>20 stations · Selected CLR 1.55–2.64</a:t>
              </a:r>
            </a:p>
          </p:txBody>
        </p:sp>
        <p:sp>
          <p:nvSpPr>
            <p:cNvPr id="75" name="TextBox 75"/>
            <p:cNvSpPr txBox="1"/>
            <p:nvPr/>
          </p:nvSpPr>
          <p:spPr>
            <a:xfrm>
              <a:off x="6661404" y="5753100"/>
              <a:ext cx="431497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Source-load ratio = installed PV capacity / current peak load</a:t>
              </a:r>
            </a:p>
          </p:txBody>
        </p:sp>
      </p:grpSp>
      <p:grpSp>
        <p:nvGrpSpPr>
          <p:cNvPr id="78" name="p02-constraints"/>
          <p:cNvGrpSpPr/>
          <p:nvPr/>
        </p:nvGrpSpPr>
        <p:grpSpPr>
          <a:xfrm>
            <a:off x="564642" y="6102350"/>
            <a:ext cx="7490379" cy="264033"/>
            <a:chOff x="564642" y="6102350"/>
            <a:chExt cx="7490379" cy="264033"/>
          </a:xfrm>
        </p:grpSpPr>
        <p:sp>
          <p:nvSpPr>
            <p:cNvPr id="77" name="TextBox 77"/>
            <p:cNvSpPr txBox="1"/>
            <p:nvPr/>
          </p:nvSpPr>
          <p:spPr>
            <a:xfrm>
              <a:off x="564642" y="6102350"/>
              <a:ext cx="749037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Constraints: station reverse flow · aggregate CLR band · optional upstream reverse-flow limit</a:t>
              </a:r>
            </a:p>
          </p:txBody>
        </p:sp>
      </p:grpSp>
      <p:grpSp>
        <p:nvGrpSpPr>
          <p:cNvPr id="81" name="p02-footer"/>
          <p:cNvGrpSpPr/>
          <p:nvPr/>
        </p:nvGrpSpPr>
        <p:grpSpPr>
          <a:xfrm>
            <a:off x="566166" y="6454775"/>
            <a:ext cx="11059668" cy="205359"/>
            <a:chOff x="566166" y="6454775"/>
            <a:chExt cx="11059668" cy="205359"/>
          </a:xfrm>
        </p:grpSpPr>
        <p:sp>
          <p:nvSpPr>
            <p:cNvPr id="79" name="TextBox 79"/>
            <p:cNvSpPr txBox="1"/>
            <p:nvPr/>
          </p:nvSpPr>
          <p:spPr>
            <a:xfrm>
              <a:off x="566166" y="6454775"/>
              <a:ext cx="6761760"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camera-ready paper, Sections I–II and Fig. 1. Public-data benchmark; all 20 station records shown.</a:t>
              </a:r>
            </a:p>
          </p:txBody>
        </p:sp>
        <p:sp>
          <p:nvSpPr>
            <p:cNvPr id="80" name="TextBox 80"/>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02 / 05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555498" y="339725"/>
            <a:ext cx="7302753" cy="958977"/>
            <a:chOff x="555498" y="339725"/>
            <a:chExt cx="7302753" cy="958977"/>
          </a:xfrm>
        </p:grpSpPr>
        <p:sp>
          <p:nvSpPr>
            <p:cNvPr id="2" name="TextBox 2"/>
            <p:cNvSpPr txBox="1"/>
            <p:nvPr/>
          </p:nvSpPr>
          <p:spPr>
            <a:xfrm>
              <a:off x="564642" y="339725"/>
              <a:ext cx="252116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02 / PROPOSED SOLUTION</a:t>
              </a:r>
            </a:p>
          </p:txBody>
        </p:sp>
        <p:sp>
          <p:nvSpPr>
            <p:cNvPr id="3" name="TextBox 3"/>
            <p:cNvSpPr txBox="1"/>
            <p:nvPr/>
          </p:nvSpPr>
          <p:spPr>
            <a:xfrm>
              <a:off x="555498" y="682625"/>
              <a:ext cx="7302753"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Engineering priors guide the search</a:t>
              </a:r>
            </a:p>
          </p:txBody>
        </p:sp>
      </p:grpSp>
      <p:grpSp>
        <p:nvGrpSpPr>
          <p:cNvPr id="6" name="p03-introduction"/>
          <p:cNvGrpSpPr/>
          <p:nvPr/>
        </p:nvGrpSpPr>
        <p:grpSpPr>
          <a:xfrm>
            <a:off x="560832" y="1508125"/>
            <a:ext cx="8673019" cy="410718"/>
            <a:chOff x="560832" y="1508125"/>
            <a:chExt cx="8673019" cy="410718"/>
          </a:xfrm>
        </p:grpSpPr>
        <p:sp>
          <p:nvSpPr>
            <p:cNvPr id="5" name="TextBox 5"/>
            <p:cNvSpPr txBox="1"/>
            <p:nvPr/>
          </p:nvSpPr>
          <p:spPr>
            <a:xfrm>
              <a:off x="560832" y="1508125"/>
              <a:ext cx="8673019" cy="410718"/>
            </a:xfrm>
            <a:prstGeom prst="rect">
              <a:avLst/>
            </a:prstGeom>
            <a:noFill/>
            <a:ln>
              <a:noFill/>
            </a:ln>
          </p:spPr>
          <p:txBody>
            <a:bodyPr wrap="none" lIns="0" tIns="0" rIns="0" bIns="0" anchor="t" anchorCtr="0">
              <a:spAutoFit/>
            </a:bodyPr>
            <a:lstStyle/>
            <a:p>
              <a:pPr algn="l"/>
              <a:r>
                <a:rPr lang="en" sz="2100" dirty="0">
                  <a:solidFill>
                    <a:schemeClr val="accent5"/>
                  </a:solidFill>
                  <a:latin typeface="+mn-lt"/>
                  <a:ea typeface="+mn-ea"/>
                  <a:cs typeface="+mn-cs"/>
                </a:rPr>
                <a:t xml:space="preserve">Standard NSGA-II + </a:t>
              </a:r>
              <a:r>
                <a:rPr lang="en" sz="2100" b="1" dirty="0">
                  <a:solidFill>
                    <a:schemeClr val="accent2"/>
                  </a:solidFill>
                  <a:latin typeface="+mn-lt"/>
                  <a:ea typeface="+mn-ea"/>
                  <a:cs typeface="+mn-cs"/>
                </a:rPr>
                <a:t>engineering-prior seeding</a:t>
              </a:r>
              <a:r>
                <a:rPr lang="en" sz="2100" dirty="0">
                  <a:solidFill>
                    <a:schemeClr val="accent5"/>
                  </a:solidFill>
                  <a:latin typeface="+mn-lt"/>
                  <a:ea typeface="+mn-ea"/>
                  <a:cs typeface="+mn-cs"/>
                </a:rPr>
                <a:t xml:space="preserve"> + </a:t>
              </a:r>
              <a:r>
                <a:rPr lang="en" sz="2100" b="1" dirty="0">
                  <a:solidFill>
                    <a:schemeClr val="accent2"/>
                  </a:solidFill>
                  <a:latin typeface="+mn-lt"/>
                  <a:ea typeface="+mn-ea"/>
                  <a:cs typeface="+mn-cs"/>
                </a:rPr>
                <a:t>feasibility repair</a:t>
              </a:r>
            </a:p>
          </p:txBody>
        </p:sp>
      </p:grpSp>
      <p:grpSp>
        <p:nvGrpSpPr>
          <p:cNvPr id="29" name="p03-evolution"/>
          <p:cNvGrpSpPr/>
          <p:nvPr/>
        </p:nvGrpSpPr>
        <p:grpSpPr>
          <a:xfrm>
            <a:off x="571500" y="2143125"/>
            <a:ext cx="11049000" cy="1937258"/>
            <a:chOff x="571500" y="2143125"/>
            <a:chExt cx="11049000" cy="1937258"/>
          </a:xfrm>
        </p:grpSpPr>
        <p:sp>
          <p:nvSpPr>
            <p:cNvPr id="7" name="Freeform 7"/>
            <p:cNvSpPr/>
            <p:nvPr/>
          </p:nvSpPr>
          <p:spPr>
            <a:xfrm>
              <a:off x="571500" y="2143125"/>
              <a:ext cx="2333625" cy="1123950"/>
            </a:xfrm>
            <a:prstGeom prst="flowChartProcess">
              <a:avLst/>
            </a:prstGeom>
            <a:solidFill>
              <a:schemeClr val="accent2"/>
            </a:solidFill>
            <a:ln>
              <a:noFill/>
            </a:ln>
          </p:spPr>
        </p:sp>
        <p:sp>
          <p:nvSpPr>
            <p:cNvPr id="8" name="Freeform 8"/>
            <p:cNvSpPr/>
            <p:nvPr/>
          </p:nvSpPr>
          <p:spPr>
            <a:xfrm>
              <a:off x="3333750" y="2143125"/>
              <a:ext cx="2333625" cy="1123950"/>
            </a:xfrm>
            <a:prstGeom prst="flowChartProcess">
              <a:avLst/>
            </a:prstGeom>
            <a:solidFill>
              <a:schemeClr val="lt2"/>
            </a:solidFill>
            <a:ln>
              <a:noFill/>
            </a:ln>
          </p:spPr>
        </p:sp>
        <p:sp>
          <p:nvSpPr>
            <p:cNvPr id="9" name="Freeform 9"/>
            <p:cNvSpPr/>
            <p:nvPr/>
          </p:nvSpPr>
          <p:spPr>
            <a:xfrm>
              <a:off x="6096000" y="2143125"/>
              <a:ext cx="2333625" cy="1123950"/>
            </a:xfrm>
            <a:prstGeom prst="flowChartProcess">
              <a:avLst/>
            </a:prstGeom>
            <a:solidFill>
              <a:schemeClr val="lt2"/>
            </a:solidFill>
            <a:ln>
              <a:noFill/>
            </a:ln>
          </p:spPr>
        </p:sp>
        <p:sp>
          <p:nvSpPr>
            <p:cNvPr id="10" name="Freeform 10"/>
            <p:cNvSpPr/>
            <p:nvPr/>
          </p:nvSpPr>
          <p:spPr>
            <a:xfrm>
              <a:off x="8858250" y="2143125"/>
              <a:ext cx="2762250" cy="1123950"/>
            </a:xfrm>
            <a:prstGeom prst="flowChartProcess">
              <a:avLst/>
            </a:prstGeom>
            <a:solidFill>
              <a:schemeClr val="accent2"/>
            </a:solidFill>
            <a:ln>
              <a:noFill/>
            </a:ln>
          </p:spPr>
        </p:sp>
        <p:grpSp>
          <p:nvGrpSpPr>
            <p:cNvPr id="15" name="Group 15"/>
            <p:cNvGrpSpPr/>
            <p:nvPr/>
          </p:nvGrpSpPr>
          <p:grpSpPr>
            <a:xfrm>
              <a:off x="2981325" y="2695575"/>
              <a:ext cx="5791200" cy="942975"/>
              <a:chOff x="2981325" y="2695575"/>
              <a:chExt cx="5791200" cy="942975"/>
            </a:xfrm>
          </p:grpSpPr>
          <p:sp>
            <p:nvSpPr>
              <p:cNvPr id="11" name="Line 11"/>
              <p:cNvSpPr/>
              <p:nvPr/>
            </p:nvSpPr>
            <p:spPr>
              <a:xfrm>
                <a:off x="2981325" y="2695575"/>
                <a:ext cx="266700" cy="1"/>
              </a:xfrm>
              <a:prstGeom prst="line">
                <a:avLst/>
              </a:prstGeom>
              <a:noFill/>
              <a:ln w="19050">
                <a:solidFill>
                  <a:schemeClr val="accent3"/>
                </a:solidFill>
                <a:tailEnd type="triangle" w="lg" len="lg"/>
              </a:ln>
            </p:spPr>
          </p:sp>
          <p:sp>
            <p:nvSpPr>
              <p:cNvPr id="12" name="Line 12"/>
              <p:cNvSpPr/>
              <p:nvPr/>
            </p:nvSpPr>
            <p:spPr>
              <a:xfrm>
                <a:off x="5743575" y="2695575"/>
                <a:ext cx="266700" cy="1"/>
              </a:xfrm>
              <a:prstGeom prst="line">
                <a:avLst/>
              </a:prstGeom>
              <a:noFill/>
              <a:ln w="19050">
                <a:solidFill>
                  <a:schemeClr val="accent3"/>
                </a:solidFill>
                <a:tailEnd type="triangle" w="lg" len="lg"/>
              </a:ln>
            </p:spPr>
          </p:sp>
          <p:sp>
            <p:nvSpPr>
              <p:cNvPr id="13" name="Line 13"/>
              <p:cNvSpPr/>
              <p:nvPr/>
            </p:nvSpPr>
            <p:spPr>
              <a:xfrm>
                <a:off x="8505825" y="2695575"/>
                <a:ext cx="266700" cy="1"/>
              </a:xfrm>
              <a:prstGeom prst="line">
                <a:avLst/>
              </a:prstGeom>
              <a:noFill/>
              <a:ln w="19050">
                <a:solidFill>
                  <a:schemeClr val="accent3"/>
                </a:solidFill>
                <a:tailEnd type="triangle" w="lg" len="lg"/>
              </a:ln>
            </p:spPr>
          </p:sp>
          <p:sp>
            <p:nvSpPr>
              <p:cNvPr id="14" name="Line 14"/>
              <p:cNvSpPr/>
              <p:nvPr/>
            </p:nvSpPr>
            <p:spPr>
              <a:xfrm flipV="1">
                <a:off x="4495800" y="3352800"/>
                <a:ext cx="1" cy="285750"/>
              </a:xfrm>
              <a:prstGeom prst="line">
                <a:avLst/>
              </a:prstGeom>
              <a:noFill/>
              <a:ln w="19050">
                <a:solidFill>
                  <a:schemeClr val="accent3"/>
                </a:solidFill>
                <a:tailEnd type="triangle" w="lg" len="lg"/>
              </a:ln>
            </p:spPr>
          </p:sp>
        </p:grpSp>
        <p:sp>
          <p:nvSpPr>
            <p:cNvPr id="16" name="Line 16"/>
            <p:cNvSpPr/>
            <p:nvPr/>
          </p:nvSpPr>
          <p:spPr>
            <a:xfrm>
              <a:off x="10239375" y="3267075"/>
              <a:ext cx="9525" cy="371475"/>
            </a:xfrm>
            <a:custGeom>
              <a:avLst/>
              <a:gdLst/>
              <a:ahLst/>
              <a:cxnLst/>
              <a:rect l="l" t="t" r="r" b="b"/>
              <a:pathLst>
                <a:path w="9525" h="371475">
                  <a:moveTo>
                    <a:pt x="0" y="0"/>
                  </a:moveTo>
                  <a:lnTo>
                    <a:pt x="0" y="371475"/>
                  </a:lnTo>
                </a:path>
              </a:pathLst>
            </a:custGeom>
            <a:noFill/>
            <a:ln w="19050">
              <a:solidFill>
                <a:schemeClr val="accent3"/>
              </a:solidFill>
            </a:ln>
          </p:spPr>
        </p:sp>
        <p:sp>
          <p:nvSpPr>
            <p:cNvPr id="17" name="Freeform 17"/>
            <p:cNvSpPr/>
            <p:nvPr/>
          </p:nvSpPr>
          <p:spPr>
            <a:xfrm>
              <a:off x="4495800" y="3552825"/>
              <a:ext cx="5743575" cy="171450"/>
            </a:xfrm>
            <a:prstGeom prst="leftArrow">
              <a:avLst/>
            </a:prstGeom>
            <a:solidFill>
              <a:schemeClr val="accent3"/>
            </a:solidFill>
            <a:ln>
              <a:noFill/>
            </a:ln>
          </p:spPr>
        </p:sp>
        <p:grpSp>
          <p:nvGrpSpPr>
            <p:cNvPr id="22" name="Group 22"/>
            <p:cNvGrpSpPr/>
            <p:nvPr/>
          </p:nvGrpSpPr>
          <p:grpSpPr>
            <a:xfrm>
              <a:off x="806377" y="2298700"/>
              <a:ext cx="10309025" cy="410718"/>
              <a:chOff x="806377" y="2298700"/>
              <a:chExt cx="10309025" cy="410718"/>
            </a:xfrm>
          </p:grpSpPr>
          <p:sp>
            <p:nvSpPr>
              <p:cNvPr id="18" name="TextBox 18"/>
              <p:cNvSpPr txBox="1"/>
              <p:nvPr/>
            </p:nvSpPr>
            <p:spPr>
              <a:xfrm>
                <a:off x="806377" y="2298700"/>
                <a:ext cx="1854346"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Seed &amp; repair</a:t>
                </a:r>
              </a:p>
            </p:txBody>
          </p:sp>
          <p:sp>
            <p:nvSpPr>
              <p:cNvPr id="19" name="TextBox 19"/>
              <p:cNvSpPr txBox="1"/>
              <p:nvPr/>
            </p:nvSpPr>
            <p:spPr>
              <a:xfrm>
                <a:off x="3899585" y="2298700"/>
                <a:ext cx="1192430"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Evaluate</a:t>
                </a:r>
              </a:p>
            </p:txBody>
          </p:sp>
          <p:sp>
            <p:nvSpPr>
              <p:cNvPr id="20" name="TextBox 20"/>
              <p:cNvSpPr txBox="1"/>
              <p:nvPr/>
            </p:nvSpPr>
            <p:spPr>
              <a:xfrm>
                <a:off x="6826976" y="2298700"/>
                <a:ext cx="862147" cy="410718"/>
              </a:xfrm>
              <a:prstGeom prst="rect">
                <a:avLst/>
              </a:prstGeom>
              <a:noFill/>
              <a:ln>
                <a:noFill/>
              </a:ln>
            </p:spPr>
            <p:txBody>
              <a:bodyPr wrap="none" lIns="0" tIns="0" rIns="0" bIns="0" anchor="t" anchorCtr="0">
                <a:spAutoFit/>
              </a:bodyPr>
              <a:lstStyle/>
              <a:p>
                <a:pPr algn="ctr"/>
                <a:r>
                  <a:rPr lang="en" sz="2100" b="1" dirty="0">
                    <a:solidFill>
                      <a:schemeClr val="accent1"/>
                    </a:solidFill>
                    <a:latin typeface="+mn-lt"/>
                    <a:ea typeface="+mn-ea"/>
                    <a:cs typeface="+mn-cs"/>
                  </a:rPr>
                  <a:t>Select</a:t>
                </a:r>
              </a:p>
            </p:txBody>
          </p:sp>
          <p:sp>
            <p:nvSpPr>
              <p:cNvPr id="21" name="TextBox 21"/>
              <p:cNvSpPr txBox="1"/>
              <p:nvPr/>
            </p:nvSpPr>
            <p:spPr>
              <a:xfrm>
                <a:off x="9363348" y="2298700"/>
                <a:ext cx="1752054" cy="410718"/>
              </a:xfrm>
              <a:prstGeom prst="rect">
                <a:avLst/>
              </a:prstGeom>
              <a:noFill/>
              <a:ln>
                <a:noFill/>
              </a:ln>
            </p:spPr>
            <p:txBody>
              <a:bodyPr wrap="none" lIns="0" tIns="0" rIns="0" bIns="0" anchor="t" anchorCtr="0">
                <a:spAutoFit/>
              </a:bodyPr>
              <a:lstStyle/>
              <a:p>
                <a:pPr algn="ctr"/>
                <a:r>
                  <a:rPr lang="en" sz="2100" b="1" dirty="0">
                    <a:solidFill>
                      <a:srgbClr val="FFFFFF"/>
                    </a:solidFill>
                    <a:latin typeface="+mn-lt"/>
                    <a:ea typeface="+mn-ea"/>
                    <a:cs typeface="+mn-cs"/>
                  </a:rPr>
                  <a:t>Vary + repair</a:t>
                </a:r>
              </a:p>
            </p:txBody>
          </p:sp>
        </p:grpSp>
        <p:grpSp>
          <p:nvGrpSpPr>
            <p:cNvPr id="28" name="Group 28"/>
            <p:cNvGrpSpPr/>
            <p:nvPr/>
          </p:nvGrpSpPr>
          <p:grpSpPr>
            <a:xfrm>
              <a:off x="950006" y="2679700"/>
              <a:ext cx="10187673" cy="1400683"/>
              <a:chOff x="950006" y="2679700"/>
              <a:chExt cx="10187673" cy="1400683"/>
            </a:xfrm>
          </p:grpSpPr>
          <p:sp>
            <p:nvSpPr>
              <p:cNvPr id="23" name="TextBox 23"/>
              <p:cNvSpPr txBox="1"/>
              <p:nvPr/>
            </p:nvSpPr>
            <p:spPr>
              <a:xfrm>
                <a:off x="950006" y="2679700"/>
                <a:ext cx="1567087" cy="492633"/>
              </a:xfrm>
              <a:prstGeom prst="rect">
                <a:avLst/>
              </a:prstGeom>
              <a:noFill/>
              <a:ln>
                <a:noFill/>
              </a:ln>
            </p:spPr>
            <p:txBody>
              <a:bodyPr wrap="none" lIns="0" tIns="0" rIns="0" bIns="0" anchor="t" anchorCtr="0">
                <a:spAutoFit/>
              </a:bodyPr>
              <a:lstStyle/>
              <a:p>
                <a:pPr algn="ctr">
                  <a:lnSpc>
                    <a:spcPts val="1800"/>
                  </a:lnSpc>
                </a:pPr>
                <a:r>
                  <a:rPr lang="en" sz="1350" dirty="0">
                    <a:solidFill>
                      <a:srgbClr val="FFFFFF"/>
                    </a:solidFill>
                    <a:latin typeface="+mn-lt"/>
                    <a:ea typeface="+mn-ea"/>
                    <a:cs typeface="+mn-cs"/>
                  </a:rPr>
                  <a:t>Sample CLR</a:t>
                </a:r>
                <a:br>
                  <a:rPr lang="en" sz="1350" dirty="0">
                    <a:solidFill>
                      <a:srgbClr val="FFFFFF"/>
                    </a:solidFill>
                    <a:latin typeface="+mn-lt"/>
                    <a:ea typeface="+mn-ea"/>
                    <a:cs typeface="+mn-cs"/>
                  </a:rPr>
                </a:br>
                <a:r>
                  <a:rPr lang="en" sz="1350" dirty="0">
                    <a:solidFill>
                      <a:srgbClr val="FFFFFF"/>
                    </a:solidFill>
                    <a:latin typeface="+mn-lt"/>
                    <a:ea typeface="+mn-ea"/>
                    <a:cs typeface="+mn-cs"/>
                  </a:rPr>
                  <a:t>Start storage at zero</a:t>
                </a:r>
              </a:p>
            </p:txBody>
          </p:sp>
          <p:sp>
            <p:nvSpPr>
              <p:cNvPr id="24" name="TextBox 24"/>
              <p:cNvSpPr txBox="1"/>
              <p:nvPr/>
            </p:nvSpPr>
            <p:spPr>
              <a:xfrm>
                <a:off x="3414694" y="2749550"/>
                <a:ext cx="2162212"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Cost · EENS · Constraints</a:t>
                </a:r>
              </a:p>
            </p:txBody>
          </p:sp>
          <p:sp>
            <p:nvSpPr>
              <p:cNvPr id="25" name="TextBox 25"/>
              <p:cNvSpPr txBox="1"/>
              <p:nvPr/>
            </p:nvSpPr>
            <p:spPr>
              <a:xfrm>
                <a:off x="6303745" y="2749550"/>
                <a:ext cx="1908610"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Non-dominated ranking</a:t>
                </a:r>
              </a:p>
            </p:txBody>
          </p:sp>
          <p:sp>
            <p:nvSpPr>
              <p:cNvPr id="26" name="TextBox 26"/>
              <p:cNvSpPr txBox="1"/>
              <p:nvPr/>
            </p:nvSpPr>
            <p:spPr>
              <a:xfrm>
                <a:off x="9341071" y="2749550"/>
                <a:ext cx="1796608" cy="264033"/>
              </a:xfrm>
              <a:prstGeom prst="rect">
                <a:avLst/>
              </a:prstGeom>
              <a:noFill/>
              <a:ln>
                <a:noFill/>
              </a:ln>
            </p:spPr>
            <p:txBody>
              <a:bodyPr wrap="none" lIns="0" tIns="0" rIns="0" bIns="0" anchor="t" anchorCtr="0">
                <a:spAutoFit/>
              </a:bodyPr>
              <a:lstStyle/>
              <a:p>
                <a:pPr algn="ctr"/>
                <a:r>
                  <a:rPr lang="en" sz="1350" dirty="0">
                    <a:solidFill>
                      <a:srgbClr val="FFFFFF"/>
                    </a:solidFill>
                    <a:latin typeface="+mn-lt"/>
                    <a:ea typeface="+mn-ea"/>
                    <a:cs typeface="+mn-cs"/>
                  </a:rPr>
                  <a:t>Repair every offspring</a:t>
                </a:r>
              </a:p>
            </p:txBody>
          </p:sp>
          <p:sp>
            <p:nvSpPr>
              <p:cNvPr id="27" name="TextBox 27"/>
              <p:cNvSpPr txBox="1"/>
              <p:nvPr/>
            </p:nvSpPr>
            <p:spPr>
              <a:xfrm>
                <a:off x="6136462" y="3816350"/>
                <a:ext cx="2433676"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Repeated evolutionary search</a:t>
                </a:r>
              </a:p>
            </p:txBody>
          </p:sp>
        </p:grpSp>
      </p:grpSp>
      <p:grpSp>
        <p:nvGrpSpPr>
          <p:cNvPr id="42" name="p03-repair-mechanism"/>
          <p:cNvGrpSpPr/>
          <p:nvPr/>
        </p:nvGrpSpPr>
        <p:grpSpPr>
          <a:xfrm>
            <a:off x="562356" y="4238625"/>
            <a:ext cx="11058144" cy="1819275"/>
            <a:chOff x="562356" y="4238625"/>
            <a:chExt cx="11058144" cy="1819275"/>
          </a:xfrm>
        </p:grpSpPr>
        <p:sp>
          <p:nvSpPr>
            <p:cNvPr id="30" name="Line 30"/>
            <p:cNvSpPr/>
            <p:nvPr/>
          </p:nvSpPr>
          <p:spPr>
            <a:xfrm>
              <a:off x="571500" y="423862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31" name="TextBox 31"/>
            <p:cNvSpPr txBox="1"/>
            <p:nvPr/>
          </p:nvSpPr>
          <p:spPr>
            <a:xfrm>
              <a:off x="564642" y="4368800"/>
              <a:ext cx="2809048"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ENGINEERING-PRIOR REPAIR</a:t>
              </a:r>
            </a:p>
          </p:txBody>
        </p:sp>
        <p:grpSp>
          <p:nvGrpSpPr>
            <p:cNvPr id="35" name="Group 35"/>
            <p:cNvGrpSpPr/>
            <p:nvPr/>
          </p:nvGrpSpPr>
          <p:grpSpPr>
            <a:xfrm>
              <a:off x="562356" y="4743450"/>
              <a:ext cx="10246187" cy="352044"/>
              <a:chOff x="562356" y="4743450"/>
              <a:chExt cx="10246187" cy="352044"/>
            </a:xfrm>
          </p:grpSpPr>
          <p:sp>
            <p:nvSpPr>
              <p:cNvPr id="32" name="TextBox 32"/>
              <p:cNvSpPr txBox="1"/>
              <p:nvPr/>
            </p:nvSpPr>
            <p:spPr>
              <a:xfrm>
                <a:off x="562356" y="4743450"/>
                <a:ext cx="202114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1 Aggregate CLR</a:t>
                </a:r>
              </a:p>
            </p:txBody>
          </p:sp>
          <p:sp>
            <p:nvSpPr>
              <p:cNvPr id="33" name="TextBox 33"/>
              <p:cNvSpPr txBox="1"/>
              <p:nvPr/>
            </p:nvSpPr>
            <p:spPr>
              <a:xfrm>
                <a:off x="3896106" y="4743450"/>
                <a:ext cx="2530985"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2 Station reverse flow</a:t>
                </a:r>
              </a:p>
            </p:txBody>
          </p:sp>
          <p:sp>
            <p:nvSpPr>
              <p:cNvPr id="34" name="TextBox 34"/>
              <p:cNvSpPr txBox="1"/>
              <p:nvPr/>
            </p:nvSpPr>
            <p:spPr>
              <a:xfrm>
                <a:off x="8896731" y="4743450"/>
                <a:ext cx="1911812"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3 Upstream limit</a:t>
                </a:r>
              </a:p>
            </p:txBody>
          </p:sp>
        </p:grpSp>
        <p:grpSp>
          <p:nvGrpSpPr>
            <p:cNvPr id="39" name="Group 39"/>
            <p:cNvGrpSpPr/>
            <p:nvPr/>
          </p:nvGrpSpPr>
          <p:grpSpPr>
            <a:xfrm>
              <a:off x="563880" y="5070475"/>
              <a:ext cx="9832200" cy="579120"/>
              <a:chOff x="563880" y="5070475"/>
              <a:chExt cx="9832200" cy="579120"/>
            </a:xfrm>
          </p:grpSpPr>
          <p:sp>
            <p:nvSpPr>
              <p:cNvPr id="36" name="TextBox 36"/>
              <p:cNvSpPr txBox="1"/>
              <p:nvPr/>
            </p:nvSpPr>
            <p:spPr>
              <a:xfrm>
                <a:off x="563880" y="5095875"/>
                <a:ext cx="2210723"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Bounded common offset</a:t>
                </a:r>
              </a:p>
            </p:txBody>
          </p:sp>
          <p:sp>
            <p:nvSpPr>
              <p:cNvPr id="37" name="TextBox 37"/>
              <p:cNvSpPr txBox="1"/>
              <p:nvPr/>
            </p:nvSpPr>
            <p:spPr>
              <a:xfrm>
                <a:off x="3897630" y="5095875"/>
                <a:ext cx="2131502"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Increase storage power</a:t>
                </a:r>
              </a:p>
            </p:txBody>
          </p:sp>
          <p:sp>
            <p:nvSpPr>
              <p:cNvPr id="38" name="TextBox 38"/>
              <p:cNvSpPr txBox="1"/>
              <p:nvPr/>
            </p:nvSpPr>
            <p:spPr>
              <a:xfrm>
                <a:off x="8898255" y="5070475"/>
                <a:ext cx="149782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Greedy allocation</a:t>
                </a:r>
                <a:br>
                  <a:rPr lang="en" sz="1500" dirty="0">
                    <a:solidFill>
                      <a:schemeClr val="accent5"/>
                    </a:solidFill>
                    <a:latin typeface="+mn-lt"/>
                    <a:ea typeface="+mn-ea"/>
                    <a:cs typeface="+mn-cs"/>
                  </a:rPr>
                </a:br>
                <a:r>
                  <a:rPr lang="en" sz="1500" dirty="0">
                    <a:solidFill>
                      <a:schemeClr val="accent5"/>
                    </a:solidFill>
                    <a:latin typeface="+mn-lt"/>
                    <a:ea typeface="+mn-ea"/>
                    <a:cs typeface="+mn-cs"/>
                  </a:rPr>
                  <a:t>when enabled</a:t>
                </a:r>
              </a:p>
            </p:txBody>
          </p:sp>
        </p:grpSp>
        <mc:AlternateContent xmlns:mc="http://schemas.openxmlformats.org/markup-compatibility/2006">
          <mc:Choice xmlns:a14="http://schemas.microsoft.com/office/drawing/2010/main" Requires="a14">
            <p:sp>
              <p:nvSpPr>
                <p:cNvPr id="40" name="station-repair-equation"/>
                <p:cNvSpPr txBox="1">
                  <a:spLocks noGrp="1"/>
                </p:cNvSpPr>
                <p:nvPr/>
              </p:nvSpPr>
              <p:spPr>
                <a:xfrm>
                  <a:off x="571500" y="5467350"/>
                  <a:ext cx="8096250" cy="5905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 sz="1800" dirty="0">
                                <a:solidFill>
                                  <a:srgbClr val="102B46"/>
                                </a:solidFill>
                                <a:latin typeface="Cambria Math"/>
                                <a:ea typeface="Cambria Math"/>
                                <a:cs typeface="Cambria Math"/>
                              </a:rPr>
                              <m:t>P</m:t>
                            </m:r>
                          </m:e>
                          <m:sub>
                            <m:r>
                              <a:rPr lang="en" sz="1800" dirty="0">
                                <a:solidFill>
                                  <a:srgbClr val="102B46"/>
                                </a:solidFill>
                                <a:latin typeface="Cambria Math"/>
                                <a:ea typeface="Cambria Math"/>
                                <a:cs typeface="Cambria Math"/>
                              </a:rPr>
                              <m:t>j</m:t>
                            </m:r>
                          </m:sub>
                        </m:sSub>
                        <m:r>
                          <m:rPr>
                            <m:sty m:val="p"/>
                          </m:rPr>
                          <a:rPr lang="en" sz="1800" dirty="0">
                            <a:solidFill>
                              <a:srgbClr val="102B46"/>
                            </a:solidFill>
                            <a:latin typeface="Cambria Math"/>
                            <a:ea typeface="Cambria Math"/>
                            <a:cs typeface="Cambria Math"/>
                          </a:rPr>
                          <m:t>←</m:t>
                        </m:r>
                        <m:func>
                          <m:funcPr/>
                          <m:fName>
                            <m:r>
                              <m:rPr>
                                <m:sty m:val="p"/>
                              </m:rPr>
                              <a:rPr lang="en" sz="1800" dirty="0">
                                <a:solidFill>
                                  <a:srgbClr val="102B46"/>
                                </a:solidFill>
                                <a:latin typeface="Cambria Math"/>
                                <a:ea typeface="Cambria Math"/>
                                <a:cs typeface="Cambria Math"/>
                              </a:rPr>
                              <m:t>clip</m:t>
                            </m:r>
                          </m:fName>
                          <m:e>
                            <m:d>
                              <m:dPr>
                                <m:begChr m:val="("/>
                                <m:sepChr m:val=""/>
                                <m:endChr m:val=")"/>
                                <m:grow m:val="on"/>
                                <m:ctrlPr>
                                  <a:rPr lang="en" sz="1800" dirty="0">
                                    <a:solidFill>
                                      <a:srgbClr val="102B46"/>
                                    </a:solidFill>
                                    <a:latin typeface="Cambria Math"/>
                                    <a:ea typeface="Cambria Math"/>
                                    <a:cs typeface="Cambria Math"/>
                                  </a:rPr>
                                </m:ctrlPr>
                              </m:dPr>
                              <m:e>
                                <m:func>
                                  <m:funcPr/>
                                  <m:fName>
                                    <m:r>
                                      <m:rPr>
                                        <m:sty m:val="p"/>
                                      </m:rPr>
                                      <a:rPr lang="en" sz="1800" dirty="0">
                                        <a:solidFill>
                                          <a:srgbClr val="102B46"/>
                                        </a:solidFill>
                                        <a:latin typeface="Cambria Math"/>
                                        <a:ea typeface="Cambria Math"/>
                                        <a:cs typeface="Cambria Math"/>
                                      </a:rPr>
                                      <m:t>max</m:t>
                                    </m:r>
                                  </m:fName>
                                  <m:e>
                                    <m:d>
                                      <m:dPr>
                                        <m:begChr m:val="{"/>
                                        <m:sepChr m:val=""/>
                                        <m:endChr m:val="}"/>
                                        <m:grow m:val="on"/>
                                        <m:ctrlPr>
                                          <a:rPr lang="en" sz="1800" dirty="0">
                                            <a:solidFill>
                                              <a:srgbClr val="102B46"/>
                                            </a:solidFill>
                                            <a:latin typeface="Cambria Math"/>
                                            <a:ea typeface="Cambria Math"/>
                                            <a:cs typeface="Cambria Math"/>
                                          </a:rPr>
                                        </m:ctrlPr>
                                      </m:dPr>
                                      <m:e>
                                        <m:sSub>
                                          <m:e>
                                            <m:r>
                                              <a:rPr lang="en" sz="1800" dirty="0">
                                                <a:solidFill>
                                                  <a:srgbClr val="102B46"/>
                                                </a:solidFill>
                                                <a:latin typeface="Cambria Math"/>
                                                <a:ea typeface="Cambria Math"/>
                                                <a:cs typeface="Cambria Math"/>
                                              </a:rPr>
                                              <m:t>P</m:t>
                                            </m:r>
                                          </m:e>
                                          <m:sub>
                                            <m:r>
                                              <a:rPr lang="en" sz="1800" dirty="0">
                                                <a:solidFill>
                                                  <a:srgbClr val="102B46"/>
                                                </a:solidFill>
                                                <a:latin typeface="Cambria Math"/>
                                                <a:ea typeface="Cambria Math"/>
                                                <a:cs typeface="Cambria Math"/>
                                              </a:rPr>
                                              <m:t>j</m:t>
                                            </m:r>
                                          </m:sub>
                                        </m:sSub>
                                        <m:r>
                                          <m:rPr>
                                            <m:sty m:val="p"/>
                                          </m:rPr>
                                          <a:rPr lang="en" sz="1800" dirty="0">
                                            <a:solidFill>
                                              <a:srgbClr val="102B46"/>
                                            </a:solidFill>
                                            <a:latin typeface="Cambria Math"/>
                                            <a:ea typeface="Cambria Math"/>
                                            <a:cs typeface="Cambria Math"/>
                                          </a:rPr>
                                          <m:t>,</m:t>
                                        </m:r>
                                        <m:sSup>
                                          <m:e>
                                            <m:d>
                                              <m:dPr>
                                                <m:begChr m:val="["/>
                                                <m:sepChr m:val=""/>
                                                <m:endChr m:val="]"/>
                                                <m:grow m:val="on"/>
                                                <m:ctrlPr>
                                                  <a:rPr lang="en" sz="1800" dirty="0">
                                                    <a:solidFill>
                                                      <a:srgbClr val="102B46"/>
                                                    </a:solidFill>
                                                    <a:latin typeface="Cambria Math"/>
                                                    <a:ea typeface="Cambria Math"/>
                                                    <a:cs typeface="Cambria Math"/>
                                                  </a:rPr>
                                                </m:ctrlPr>
                                              </m:dPr>
                                              <m:e>
                                                <m:sSubSup>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0</m:t>
                                                    </m:r>
                                                  </m:sup>
                                                </m:sSubSup>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β</m:t>
                                                </m:r>
                                                <m:sSub>
                                                  <m:e>
                                                    <m:r>
                                                      <a:rPr lang="en" sz="1800" dirty="0">
                                                        <a:solidFill>
                                                          <a:srgbClr val="102B46"/>
                                                        </a:solidFill>
                                                        <a:latin typeface="Cambria Math"/>
                                                        <a:ea typeface="Cambria Math"/>
                                                        <a:cs typeface="Cambria Math"/>
                                                      </a:rPr>
                                                      <m:t>R</m:t>
                                                    </m:r>
                                                  </m:e>
                                                  <m:sub>
                                                    <m:r>
                                                      <a:rPr lang="en" sz="1800" dirty="0">
                                                        <a:solidFill>
                                                          <a:srgbClr val="102B46"/>
                                                        </a:solidFill>
                                                        <a:latin typeface="Cambria Math"/>
                                                        <a:ea typeface="Cambria Math"/>
                                                        <a:cs typeface="Cambria Math"/>
                                                      </a:rPr>
                                                      <m:t>j</m:t>
                                                    </m:r>
                                                  </m:sub>
                                                </m:sSub>
                                                <m:sSubSup>
                                                  <m:e>
                                                    <m:r>
                                                      <a:rPr lang="en" sz="1800" dirty="0">
                                                        <a:solidFill>
                                                          <a:srgbClr val="102B46"/>
                                                        </a:solidFill>
                                                        <a:latin typeface="Cambria Math"/>
                                                        <a:ea typeface="Cambria Math"/>
                                                        <a:cs typeface="Cambria Math"/>
                                                      </a:rPr>
                                                      <m:t>L</m:t>
                                                    </m:r>
                                                  </m:e>
                                                  <m:sub>
                                                    <m:r>
                                                      <a:rPr lang="en" sz="1800" dirty="0">
                                                        <a:solidFill>
                                                          <a:srgbClr val="102B46"/>
                                                        </a:solidFill>
                                                        <a:latin typeface="Cambria Math"/>
                                                        <a:ea typeface="Cambria Math"/>
                                                        <a:cs typeface="Cambria Math"/>
                                                      </a:rPr>
                                                      <m:t>j</m:t>
                                                    </m:r>
                                                  </m:sub>
                                                  <m:sup>
                                                    <m:r>
                                                      <a:rPr lang="en" sz="1800" dirty="0">
                                                        <a:solidFill>
                                                          <a:srgbClr val="102B46"/>
                                                        </a:solidFill>
                                                        <a:latin typeface="Cambria Math"/>
                                                        <a:ea typeface="Cambria Math"/>
                                                        <a:cs typeface="Cambria Math"/>
                                                      </a:rPr>
                                                      <m:t>p</m:t>
                                                    </m:r>
                                                  </m:sup>
                                                </m:sSubSup>
                                              </m:e>
                                            </m:d>
                                          </m:e>
                                          <m:sup>
                                            <m:r>
                                              <m:rPr>
                                                <m:sty m:val="p"/>
                                              </m:rPr>
                                              <a:rPr lang="en" sz="1800" dirty="0">
                                                <a:solidFill>
                                                  <a:srgbClr val="102B46"/>
                                                </a:solidFill>
                                                <a:latin typeface="Cambria Math"/>
                                                <a:ea typeface="Cambria Math"/>
                                                <a:cs typeface="Cambria Math"/>
                                              </a:rPr>
                                              <m:t>+</m:t>
                                            </m:r>
                                          </m:sup>
                                        </m:sSup>
                                      </m:e>
                                    </m:d>
                                  </m:e>
                                </m:func>
                                <m:r>
                                  <m:rPr>
                                    <m:sty m:val="p"/>
                                  </m:rPr>
                                  <a:rPr lang="en" sz="1800" dirty="0">
                                    <a:solidFill>
                                      <a:srgbClr val="102B46"/>
                                    </a:solidFill>
                                    <a:latin typeface="Cambria Math"/>
                                    <a:ea typeface="Cambria Math"/>
                                    <a:cs typeface="Cambria Math"/>
                                  </a:rPr>
                                  <m:t>,</m:t>
                                </m:r>
                                <m:r>
                                  <a:rPr lang="en" sz="1800" dirty="0">
                                    <a:solidFill>
                                      <a:srgbClr val="102B46"/>
                                    </a:solidFill>
                                    <a:latin typeface="Cambria Math"/>
                                    <a:ea typeface="Cambria Math"/>
                                    <a:cs typeface="Cambria Math"/>
                                  </a:rPr>
                                  <m:t>0</m:t>
                                </m:r>
                                <m:r>
                                  <m:rPr>
                                    <m:sty m:val="p"/>
                                  </m:rPr>
                                  <a:rPr lang="en" sz="1800" dirty="0">
                                    <a:solidFill>
                                      <a:srgbClr val="102B46"/>
                                    </a:solidFill>
                                    <a:latin typeface="Cambria Math"/>
                                    <a:ea typeface="Cambria Math"/>
                                    <a:cs typeface="Cambria Math"/>
                                  </a:rPr>
                                  <m:t>,</m:t>
                                </m:r>
                                <m:sSub>
                                  <m:e>
                                    <m:r>
                                      <a:rPr lang="en" sz="1800" dirty="0">
                                        <a:solidFill>
                                          <a:srgbClr val="102B46"/>
                                        </a:solidFill>
                                        <a:latin typeface="Cambria Math"/>
                                        <a:ea typeface="Cambria Math"/>
                                        <a:cs typeface="Cambria Math"/>
                                      </a:rPr>
                                      <m:t>P</m:t>
                                    </m:r>
                                  </m:e>
                                  <m:sub>
                                    <m:func>
                                      <m:funcPr/>
                                      <m:fName>
                                        <m:r>
                                          <m:rPr>
                                            <m:sty m:val="p"/>
                                          </m:rPr>
                                          <a:rPr lang="en" sz="1800" dirty="0">
                                            <a:solidFill>
                                              <a:srgbClr val="102B46"/>
                                            </a:solidFill>
                                            <a:latin typeface="Cambria Math"/>
                                            <a:ea typeface="Cambria Math"/>
                                            <a:cs typeface="Cambria Math"/>
                                          </a:rPr>
                                          <m:t>max</m:t>
                                        </m:r>
                                      </m:fName>
                                      <m:e/>
                                    </m:func>
                                  </m:sub>
                                </m:sSub>
                              </m:e>
                            </m:d>
                          </m:e>
                        </m:func>
                      </m:oMath>
                    </m:oMathPara>
                  </a14:m>
                </a:p>
              </p:txBody>
            </p:sp>
          </mc:Choice>
        </mc:AlternateContent>
        <p:sp>
          <p:nvSpPr>
            <p:cNvPr id="41" name="TextBox 41"/>
            <p:cNvSpPr txBox="1"/>
            <p:nvPr/>
          </p:nvSpPr>
          <p:spPr>
            <a:xfrm>
              <a:off x="8899017" y="5702300"/>
              <a:ext cx="674512"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β = 0.85</a:t>
              </a:r>
            </a:p>
          </p:txBody>
        </p:sp>
      </p:grpSp>
      <p:grpSp>
        <p:nvGrpSpPr>
          <p:cNvPr id="44" name="p03-qualification"/>
          <p:cNvGrpSpPr/>
          <p:nvPr/>
        </p:nvGrpSpPr>
        <p:grpSpPr>
          <a:xfrm>
            <a:off x="564642" y="6149975"/>
            <a:ext cx="8328592" cy="264033"/>
            <a:chOff x="564642" y="6149975"/>
            <a:chExt cx="8328592" cy="264033"/>
          </a:xfrm>
        </p:grpSpPr>
        <p:sp>
          <p:nvSpPr>
            <p:cNvPr id="43" name="TextBox 43"/>
            <p:cNvSpPr txBox="1"/>
            <p:nvPr/>
          </p:nvSpPr>
          <p:spPr>
            <a:xfrm>
              <a:off x="564642" y="6149975"/>
              <a:ext cx="8328592"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Residual violations: constraint domination. Standard variation and environmental selection are retained.</a:t>
              </a:r>
            </a:p>
          </p:txBody>
        </p:sp>
      </p:grpSp>
      <p:grpSp>
        <p:nvGrpSpPr>
          <p:cNvPr id="47" name="p03-footer"/>
          <p:cNvGrpSpPr/>
          <p:nvPr/>
        </p:nvGrpSpPr>
        <p:grpSpPr>
          <a:xfrm>
            <a:off x="566166" y="6454775"/>
            <a:ext cx="11059668" cy="205359"/>
            <a:chOff x="566166" y="6454775"/>
            <a:chExt cx="11059668" cy="205359"/>
          </a:xfrm>
        </p:grpSpPr>
        <p:sp>
          <p:nvSpPr>
            <p:cNvPr id="45" name="TextBox 45"/>
            <p:cNvSpPr txBox="1"/>
            <p:nvPr/>
          </p:nvSpPr>
          <p:spPr>
            <a:xfrm>
              <a:off x="566166" y="6454775"/>
              <a:ext cx="7495849"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Source: Section II-B, Algorithm 1. r0: pre-storage reverse injection; Lp: forecast peak load; Pmax: storage rating bound.</a:t>
              </a:r>
            </a:p>
          </p:txBody>
        </p:sp>
        <p:sp>
          <p:nvSpPr>
            <p:cNvPr id="46" name="TextBox 4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03 / 05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555498" y="339725"/>
            <a:ext cx="8835170" cy="958977"/>
            <a:chOff x="555498" y="339725"/>
            <a:chExt cx="8835170" cy="958977"/>
          </a:xfrm>
        </p:grpSpPr>
        <p:sp>
          <p:nvSpPr>
            <p:cNvPr id="2" name="TextBox 2"/>
            <p:cNvSpPr txBox="1"/>
            <p:nvPr/>
          </p:nvSpPr>
          <p:spPr>
            <a:xfrm>
              <a:off x="564642" y="339725"/>
              <a:ext cx="2926720"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03 / EXPERIMENTAL EVIDENCE</a:t>
              </a:r>
            </a:p>
          </p:txBody>
        </p:sp>
        <p:sp>
          <p:nvSpPr>
            <p:cNvPr id="3" name="TextBox 3"/>
            <p:cNvSpPr txBox="1"/>
            <p:nvPr/>
          </p:nvSpPr>
          <p:spPr>
            <a:xfrm>
              <a:off x="555498" y="682625"/>
              <a:ext cx="8835170"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Better search, lower modeled planning cost</a:t>
              </a:r>
            </a:p>
          </p:txBody>
        </p:sp>
      </p:grpSp>
      <p:grpSp>
        <p:nvGrpSpPr>
          <p:cNvPr id="8" name="p04-hv-metric"/>
          <p:cNvGrpSpPr/>
          <p:nvPr/>
        </p:nvGrpSpPr>
        <p:grpSpPr>
          <a:xfrm>
            <a:off x="552450" y="1552575"/>
            <a:ext cx="2856610" cy="1146683"/>
            <a:chOff x="552450" y="1552575"/>
            <a:chExt cx="2856610" cy="1146683"/>
          </a:xfrm>
        </p:grpSpPr>
        <p:sp>
          <p:nvSpPr>
            <p:cNvPr id="5" name="TextBox 5"/>
            <p:cNvSpPr txBox="1"/>
            <p:nvPr/>
          </p:nvSpPr>
          <p:spPr>
            <a:xfrm>
              <a:off x="563880" y="1552575"/>
              <a:ext cx="2075808"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Mean final HV | K = 40</a:t>
              </a:r>
            </a:p>
          </p:txBody>
        </p:sp>
        <p:sp>
          <p:nvSpPr>
            <p:cNvPr id="6" name="TextBox 6"/>
            <p:cNvSpPr txBox="1"/>
            <p:nvPr/>
          </p:nvSpPr>
          <p:spPr>
            <a:xfrm>
              <a:off x="5524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+4.8%</a:t>
              </a:r>
            </a:p>
          </p:txBody>
        </p:sp>
        <p:sp>
          <p:nvSpPr>
            <p:cNvPr id="7" name="TextBox 7"/>
            <p:cNvSpPr txBox="1"/>
            <p:nvPr/>
          </p:nvSpPr>
          <p:spPr>
            <a:xfrm>
              <a:off x="564642" y="2435225"/>
              <a:ext cx="2844418"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EPG: 400 gen · NSGA-II: 800 gen</a:t>
              </a:r>
            </a:p>
          </p:txBody>
        </p:sp>
      </p:grpSp>
      <p:grpSp>
        <p:nvGrpSpPr>
          <p:cNvPr id="12" name="p04-cost-metric"/>
          <p:cNvGrpSpPr/>
          <p:nvPr/>
        </p:nvGrpSpPr>
        <p:grpSpPr>
          <a:xfrm>
            <a:off x="4552950" y="1552575"/>
            <a:ext cx="2658795" cy="1146683"/>
            <a:chOff x="4552950" y="1552575"/>
            <a:chExt cx="2658795" cy="1146683"/>
          </a:xfrm>
        </p:grpSpPr>
        <p:sp>
          <p:nvSpPr>
            <p:cNvPr id="9" name="TextBox 9"/>
            <p:cNvSpPr txBox="1"/>
            <p:nvPr/>
          </p:nvSpPr>
          <p:spPr>
            <a:xfrm>
              <a:off x="4564380" y="1552575"/>
              <a:ext cx="2211485"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Annualized cost | K = 20</a:t>
              </a:r>
            </a:p>
          </p:txBody>
        </p:sp>
        <p:sp>
          <p:nvSpPr>
            <p:cNvPr id="10" name="TextBox 10"/>
            <p:cNvSpPr txBox="1"/>
            <p:nvPr/>
          </p:nvSpPr>
          <p:spPr>
            <a:xfrm>
              <a:off x="4552950" y="1809750"/>
              <a:ext cx="1599257"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−3.4%</a:t>
              </a:r>
            </a:p>
          </p:txBody>
        </p:sp>
        <p:sp>
          <p:nvSpPr>
            <p:cNvPr id="11" name="TextBox 11"/>
            <p:cNvSpPr txBox="1"/>
            <p:nvPr/>
          </p:nvSpPr>
          <p:spPr>
            <a:xfrm>
              <a:off x="4565142" y="2435225"/>
              <a:ext cx="264660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236.40 → 228.43 million CNY/yr</a:t>
              </a:r>
            </a:p>
          </p:txBody>
        </p:sp>
      </p:grpSp>
      <p:grpSp>
        <p:nvGrpSpPr>
          <p:cNvPr id="16" name="p04-eens-metric"/>
          <p:cNvGrpSpPr/>
          <p:nvPr/>
        </p:nvGrpSpPr>
        <p:grpSpPr>
          <a:xfrm>
            <a:off x="8743950" y="1552575"/>
            <a:ext cx="2221810" cy="1146683"/>
            <a:chOff x="8743950" y="1552575"/>
            <a:chExt cx="2221810" cy="1146683"/>
          </a:xfrm>
        </p:grpSpPr>
        <p:sp>
          <p:nvSpPr>
            <p:cNvPr id="13" name="TextBox 13"/>
            <p:cNvSpPr txBox="1"/>
            <p:nvPr/>
          </p:nvSpPr>
          <p:spPr>
            <a:xfrm>
              <a:off x="8755380" y="1552575"/>
              <a:ext cx="2210380" cy="293370"/>
            </a:xfrm>
            <a:prstGeom prst="rect">
              <a:avLst/>
            </a:prstGeom>
            <a:noFill/>
            <a:ln>
              <a:noFill/>
            </a:ln>
          </p:spPr>
          <p:txBody>
            <a:bodyPr wrap="none" lIns="0" tIns="0" rIns="0" bIns="0" anchor="t" anchorCtr="0">
              <a:spAutoFit/>
            </a:bodyPr>
            <a:lstStyle/>
            <a:p>
              <a:pPr algn="l"/>
              <a:r>
                <a:rPr lang="en" sz="1500" dirty="0">
                  <a:solidFill>
                    <a:schemeClr val="accent5"/>
                  </a:solidFill>
                  <a:latin typeface="+mn-lt"/>
                  <a:ea typeface="+mn-ea"/>
                  <a:cs typeface="+mn-cs"/>
                </a:rPr>
                <a:t>Modeled EENS | K = 20</a:t>
              </a:r>
            </a:p>
          </p:txBody>
        </p:sp>
        <p:sp>
          <p:nvSpPr>
            <p:cNvPr id="14" name="TextBox 14"/>
            <p:cNvSpPr txBox="1"/>
            <p:nvPr/>
          </p:nvSpPr>
          <p:spPr>
            <a:xfrm>
              <a:off x="8743950" y="1809750"/>
              <a:ext cx="1099299" cy="790575"/>
            </a:xfrm>
            <a:prstGeom prst="rect">
              <a:avLst/>
            </a:prstGeom>
            <a:noFill/>
            <a:ln>
              <a:noFill/>
            </a:ln>
          </p:spPr>
          <p:txBody>
            <a:bodyPr wrap="none" lIns="0" tIns="0" rIns="0" bIns="0" anchor="t" anchorCtr="0">
              <a:spAutoFit/>
            </a:bodyPr>
            <a:lstStyle/>
            <a:p>
              <a:pPr algn="l"/>
              <a:r>
                <a:rPr lang="en" sz="4050" b="1" dirty="0">
                  <a:solidFill>
                    <a:schemeClr val="accent2"/>
                  </a:solidFill>
                  <a:latin typeface="+mn-lt"/>
                  <a:ea typeface="+mn-ea"/>
                  <a:cs typeface="+mn-cs"/>
                </a:rPr>
                <a:t>0.00</a:t>
              </a:r>
            </a:p>
          </p:txBody>
        </p:sp>
        <p:sp>
          <p:nvSpPr>
            <p:cNvPr id="15" name="TextBox 15"/>
            <p:cNvSpPr txBox="1"/>
            <p:nvPr/>
          </p:nvSpPr>
          <p:spPr>
            <a:xfrm>
              <a:off x="8756142" y="2435225"/>
              <a:ext cx="1924719"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561.00 → 0.00 MWh/yr</a:t>
              </a:r>
            </a:p>
          </p:txBody>
        </p:sp>
      </p:grpSp>
      <p:grpSp>
        <p:nvGrpSpPr>
          <p:cNvPr id="20" name="p04-panel-headings"/>
          <p:cNvGrpSpPr/>
          <p:nvPr/>
        </p:nvGrpSpPr>
        <p:grpSpPr>
          <a:xfrm>
            <a:off x="562356" y="2847975"/>
            <a:ext cx="11058144" cy="390144"/>
            <a:chOff x="562356" y="2847975"/>
            <a:chExt cx="11058144" cy="390144"/>
          </a:xfrm>
        </p:grpSpPr>
        <p:sp>
          <p:nvSpPr>
            <p:cNvPr id="17" name="Line 17"/>
            <p:cNvSpPr/>
            <p:nvPr/>
          </p:nvSpPr>
          <p:spPr>
            <a:xfrm>
              <a:off x="571500" y="284797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18" name="TextBox 18"/>
            <p:cNvSpPr txBox="1"/>
            <p:nvPr/>
          </p:nvSpPr>
          <p:spPr>
            <a:xfrm>
              <a:off x="562356" y="2886075"/>
              <a:ext cx="3005261"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a</a:t>
              </a:r>
              <a:r>
                <a:rPr lang="en" sz="1800" dirty="0">
                  <a:solidFill>
                    <a:schemeClr val="accent1"/>
                  </a:solidFill>
                  <a:latin typeface="+mn-lt"/>
                  <a:ea typeface="+mn-ea"/>
                  <a:cs typeface="+mn-cs"/>
                </a:rPr>
                <a:t xml:space="preserve"> Search dynamics | K = 40</a:t>
              </a:r>
            </a:p>
          </p:txBody>
        </p:sp>
        <p:sp>
          <p:nvSpPr>
            <p:cNvPr id="19" name="TextBox 19"/>
            <p:cNvSpPr txBox="1"/>
            <p:nvPr/>
          </p:nvSpPr>
          <p:spPr>
            <a:xfrm>
              <a:off x="7610856" y="2886075"/>
              <a:ext cx="2037490"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b</a:t>
              </a:r>
              <a:r>
                <a:rPr lang="en" sz="1800" dirty="0">
                  <a:solidFill>
                    <a:schemeClr val="accent1"/>
                  </a:solidFill>
                  <a:latin typeface="+mn-lt"/>
                  <a:ea typeface="+mn-ea"/>
                  <a:cs typeface="+mn-cs"/>
                </a:rPr>
                <a:t xml:space="preserve"> Ablation | K = 40</a:t>
              </a:r>
            </a:p>
          </p:txBody>
        </p:sp>
      </p:grpSp>
      <p:grpSp>
        <p:nvGrpSpPr>
          <p:cNvPr id="55" name="convergence-hv"/>
          <p:cNvGrpSpPr/>
          <p:nvPr/>
        </p:nvGrpSpPr>
        <p:grpSpPr>
          <a:xfrm>
            <a:off x="636101" y="3200400"/>
            <a:ext cx="6410396" cy="2965958"/>
            <a:chOff x="636101" y="3200400"/>
            <a:chExt cx="6410396" cy="2965958"/>
          </a:xfrm>
        </p:grpSpPr>
        <p:grpSp>
          <p:nvGrpSpPr>
            <p:cNvPr id="33" name="convergence-hv-chartArea"/>
            <p:cNvGrpSpPr/>
            <p:nvPr/>
          </p:nvGrpSpPr>
          <p:grpSpPr>
            <a:xfrm>
              <a:off x="1000125" y="3371850"/>
              <a:ext cx="5905500" cy="2181225"/>
              <a:chOff x="1000125" y="3371850"/>
              <a:chExt cx="5905500" cy="2181225"/>
            </a:xfrm>
          </p:grpSpPr>
          <p:grpSp>
            <p:nvGrpSpPr>
              <p:cNvPr id="23" name="Group 23"/>
              <p:cNvGrpSpPr/>
              <p:nvPr/>
            </p:nvGrpSpPr>
            <p:grpSpPr>
              <a:xfrm>
                <a:off x="1000125" y="3371850"/>
                <a:ext cx="5905500" cy="1194054"/>
                <a:chOff x="1000125" y="3371850"/>
                <a:chExt cx="5905500" cy="1194054"/>
              </a:xfrm>
            </p:grpSpPr>
            <p:sp>
              <p:nvSpPr>
                <p:cNvPr id="21" name="Line 21"/>
                <p:cNvSpPr/>
                <p:nvPr/>
              </p:nvSpPr>
              <p:spPr>
                <a:xfrm>
                  <a:off x="1000125" y="3371850"/>
                  <a:ext cx="5905500" cy="9525"/>
                </a:xfrm>
                <a:custGeom>
                  <a:avLst/>
                  <a:gdLst/>
                  <a:ahLst/>
                  <a:cxnLst/>
                  <a:rect l="l" t="t" r="r" b="b"/>
                  <a:pathLst>
                    <a:path w="5905500" h="9525">
                      <a:moveTo>
                        <a:pt x="0" y="0"/>
                      </a:moveTo>
                      <a:lnTo>
                        <a:pt x="5905500" y="0"/>
                      </a:lnTo>
                    </a:path>
                  </a:pathLst>
                </a:custGeom>
                <a:noFill/>
                <a:ln w="9525">
                  <a:solidFill>
                    <a:srgbClr val="E6EDF0"/>
                  </a:solidFill>
                </a:ln>
              </p:spPr>
            </p:sp>
            <p:sp>
              <p:nvSpPr>
                <p:cNvPr id="22" name="Line 22"/>
                <p:cNvSpPr/>
                <p:nvPr/>
              </p:nvSpPr>
              <p:spPr>
                <a:xfrm>
                  <a:off x="1000125" y="4556379"/>
                  <a:ext cx="5905500" cy="9525"/>
                </a:xfrm>
                <a:custGeom>
                  <a:avLst/>
                  <a:gdLst/>
                  <a:ahLst/>
                  <a:cxnLst/>
                  <a:rect l="l" t="t" r="r" b="b"/>
                  <a:pathLst>
                    <a:path w="5905500" h="9525">
                      <a:moveTo>
                        <a:pt x="0" y="0"/>
                      </a:moveTo>
                      <a:lnTo>
                        <a:pt x="5905500" y="0"/>
                      </a:lnTo>
                    </a:path>
                  </a:pathLst>
                </a:custGeom>
                <a:noFill/>
                <a:ln w="9525">
                  <a:solidFill>
                    <a:srgbClr val="E6EDF0"/>
                  </a:solidFill>
                </a:ln>
              </p:spPr>
            </p:sp>
          </p:grpSp>
          <p:sp>
            <p:nvSpPr>
              <p:cNvPr id="24" name="Line 24"/>
              <p:cNvSpPr/>
              <p:nvPr/>
            </p:nvSpPr>
            <p:spPr>
              <a:xfrm>
                <a:off x="1000125" y="3569303"/>
                <a:ext cx="5905500" cy="9525"/>
              </a:xfrm>
              <a:custGeom>
                <a:avLst/>
                <a:gdLst/>
                <a:ahLst/>
                <a:cxnLst/>
                <a:rect l="l" t="t" r="r" b="b"/>
                <a:pathLst>
                  <a:path w="5905500" h="9525">
                    <a:moveTo>
                      <a:pt x="0" y="0"/>
                    </a:moveTo>
                    <a:lnTo>
                      <a:pt x="5905500" y="0"/>
                    </a:lnTo>
                  </a:path>
                </a:pathLst>
              </a:custGeom>
              <a:noFill/>
              <a:ln w="9525">
                <a:solidFill>
                  <a:srgbClr val="7C8791"/>
                </a:solidFill>
                <a:custDash>
                  <a:ds d="300000" sp="500000"/>
                </a:custDash>
              </a:ln>
            </p:spPr>
          </p:sp>
          <p:sp>
            <p:nvSpPr>
              <p:cNvPr id="25" name="Line 25"/>
              <p:cNvSpPr/>
              <p:nvPr/>
            </p:nvSpPr>
            <p:spPr>
              <a:xfrm>
                <a:off x="1000125" y="3371850"/>
                <a:ext cx="9525" cy="2171700"/>
              </a:xfrm>
              <a:custGeom>
                <a:avLst/>
                <a:gdLst/>
                <a:ahLst/>
                <a:cxnLst/>
                <a:rect l="l" t="t" r="r" b="b"/>
                <a:pathLst>
                  <a:path w="9525" h="2171700">
                    <a:moveTo>
                      <a:pt x="0" y="0"/>
                    </a:moveTo>
                    <a:lnTo>
                      <a:pt x="0" y="2171700"/>
                    </a:lnTo>
                  </a:path>
                </a:pathLst>
              </a:custGeom>
              <a:noFill/>
              <a:ln w="11430">
                <a:solidFill>
                  <a:srgbClr val="536774"/>
                </a:solidFill>
              </a:ln>
            </p:spPr>
          </p:sp>
          <p:sp>
            <p:nvSpPr>
              <p:cNvPr id="26" name="Line 26"/>
              <p:cNvSpPr/>
              <p:nvPr/>
            </p:nvSpPr>
            <p:spPr>
              <a:xfrm>
                <a:off x="1000125" y="5543550"/>
                <a:ext cx="5905500" cy="9525"/>
              </a:xfrm>
              <a:custGeom>
                <a:avLst/>
                <a:gdLst/>
                <a:ahLst/>
                <a:cxnLst/>
                <a:rect l="l" t="t" r="r" b="b"/>
                <a:pathLst>
                  <a:path w="5905500" h="9525">
                    <a:moveTo>
                      <a:pt x="0" y="0"/>
                    </a:moveTo>
                    <a:lnTo>
                      <a:pt x="5905500" y="0"/>
                    </a:lnTo>
                  </a:path>
                </a:pathLst>
              </a:custGeom>
              <a:noFill/>
              <a:ln w="11430">
                <a:solidFill>
                  <a:srgbClr val="536774"/>
                </a:solidFill>
              </a:ln>
            </p:spPr>
          </p:sp>
          <p:sp>
            <p:nvSpPr>
              <p:cNvPr id="27" name="curve-classic-sd"/>
              <p:cNvSpPr/>
              <p:nvPr/>
            </p:nvSpPr>
            <p:spPr>
              <a:xfrm>
                <a:off x="1007554" y="3559207"/>
                <a:ext cx="5898070" cy="1967294"/>
              </a:xfrm>
              <a:custGeom>
                <a:avLst/>
                <a:gdLst/>
                <a:ahLst/>
                <a:cxnLst/>
                <a:rect l="l" t="t" r="r" b="b"/>
                <a:pathLst>
                  <a:path w="5898070" h="1967294">
                    <a:moveTo>
                      <a:pt x="0" y="1695259"/>
                    </a:moveTo>
                    <a:lnTo>
                      <a:pt x="7334" y="1731455"/>
                    </a:lnTo>
                    <a:lnTo>
                      <a:pt x="14764" y="1524381"/>
                    </a:lnTo>
                    <a:lnTo>
                      <a:pt x="22098" y="1778318"/>
                    </a:lnTo>
                    <a:lnTo>
                      <a:pt x="29527" y="1665923"/>
                    </a:lnTo>
                    <a:lnTo>
                      <a:pt x="36862" y="1670685"/>
                    </a:lnTo>
                    <a:lnTo>
                      <a:pt x="44196" y="1722120"/>
                    </a:lnTo>
                    <a:lnTo>
                      <a:pt x="51626" y="1541526"/>
                    </a:lnTo>
                    <a:lnTo>
                      <a:pt x="58960" y="1541716"/>
                    </a:lnTo>
                    <a:lnTo>
                      <a:pt x="73819" y="1674590"/>
                    </a:lnTo>
                    <a:lnTo>
                      <a:pt x="88582" y="1534477"/>
                    </a:lnTo>
                    <a:lnTo>
                      <a:pt x="95917" y="1559623"/>
                    </a:lnTo>
                    <a:lnTo>
                      <a:pt x="103251" y="1520762"/>
                    </a:lnTo>
                    <a:lnTo>
                      <a:pt x="110681" y="1522666"/>
                    </a:lnTo>
                    <a:lnTo>
                      <a:pt x="125444" y="1554766"/>
                    </a:lnTo>
                    <a:lnTo>
                      <a:pt x="147638" y="1458563"/>
                    </a:lnTo>
                    <a:lnTo>
                      <a:pt x="162401" y="1312354"/>
                    </a:lnTo>
                    <a:lnTo>
                      <a:pt x="169735" y="1308163"/>
                    </a:lnTo>
                    <a:lnTo>
                      <a:pt x="177165" y="1261110"/>
                    </a:lnTo>
                    <a:lnTo>
                      <a:pt x="228791" y="1124236"/>
                    </a:lnTo>
                    <a:lnTo>
                      <a:pt x="258318" y="1014603"/>
                    </a:lnTo>
                    <a:lnTo>
                      <a:pt x="280416" y="985456"/>
                    </a:lnTo>
                    <a:lnTo>
                      <a:pt x="302609" y="912114"/>
                    </a:lnTo>
                    <a:lnTo>
                      <a:pt x="317373" y="900589"/>
                    </a:lnTo>
                    <a:lnTo>
                      <a:pt x="339566" y="848963"/>
                    </a:lnTo>
                    <a:lnTo>
                      <a:pt x="361664" y="836104"/>
                    </a:lnTo>
                    <a:lnTo>
                      <a:pt x="376428" y="804577"/>
                    </a:lnTo>
                    <a:lnTo>
                      <a:pt x="405956" y="787813"/>
                    </a:lnTo>
                    <a:lnTo>
                      <a:pt x="428054" y="734854"/>
                    </a:lnTo>
                    <a:lnTo>
                      <a:pt x="465010" y="672465"/>
                    </a:lnTo>
                    <a:lnTo>
                      <a:pt x="494538" y="663226"/>
                    </a:lnTo>
                    <a:lnTo>
                      <a:pt x="524066" y="638937"/>
                    </a:lnTo>
                    <a:lnTo>
                      <a:pt x="553593" y="591693"/>
                    </a:lnTo>
                    <a:lnTo>
                      <a:pt x="605218" y="574643"/>
                    </a:lnTo>
                    <a:lnTo>
                      <a:pt x="649510" y="543592"/>
                    </a:lnTo>
                    <a:lnTo>
                      <a:pt x="693801" y="527113"/>
                    </a:lnTo>
                    <a:lnTo>
                      <a:pt x="730758" y="502158"/>
                    </a:lnTo>
                    <a:lnTo>
                      <a:pt x="745522" y="449580"/>
                    </a:lnTo>
                    <a:lnTo>
                      <a:pt x="760285" y="443865"/>
                    </a:lnTo>
                    <a:lnTo>
                      <a:pt x="789813" y="415861"/>
                    </a:lnTo>
                    <a:lnTo>
                      <a:pt x="841438" y="386906"/>
                    </a:lnTo>
                    <a:lnTo>
                      <a:pt x="870966" y="378142"/>
                    </a:lnTo>
                    <a:lnTo>
                      <a:pt x="878396" y="346138"/>
                    </a:lnTo>
                    <a:lnTo>
                      <a:pt x="900493" y="339661"/>
                    </a:lnTo>
                    <a:lnTo>
                      <a:pt x="907923" y="330613"/>
                    </a:lnTo>
                    <a:lnTo>
                      <a:pt x="937450" y="324898"/>
                    </a:lnTo>
                    <a:lnTo>
                      <a:pt x="944880" y="305657"/>
                    </a:lnTo>
                    <a:lnTo>
                      <a:pt x="974312" y="298990"/>
                    </a:lnTo>
                    <a:lnTo>
                      <a:pt x="1003935" y="286131"/>
                    </a:lnTo>
                    <a:lnTo>
                      <a:pt x="1011269" y="275654"/>
                    </a:lnTo>
                    <a:lnTo>
                      <a:pt x="1070324" y="255460"/>
                    </a:lnTo>
                    <a:lnTo>
                      <a:pt x="1195768" y="223171"/>
                    </a:lnTo>
                    <a:lnTo>
                      <a:pt x="1203198" y="207645"/>
                    </a:lnTo>
                    <a:lnTo>
                      <a:pt x="1240060" y="201835"/>
                    </a:lnTo>
                    <a:lnTo>
                      <a:pt x="1321308" y="173165"/>
                    </a:lnTo>
                    <a:lnTo>
                      <a:pt x="1350836" y="172022"/>
                    </a:lnTo>
                    <a:lnTo>
                      <a:pt x="1417225" y="153733"/>
                    </a:lnTo>
                    <a:lnTo>
                      <a:pt x="1564862" y="139351"/>
                    </a:lnTo>
                    <a:lnTo>
                      <a:pt x="1616583" y="121729"/>
                    </a:lnTo>
                    <a:lnTo>
                      <a:pt x="2029968" y="79629"/>
                    </a:lnTo>
                    <a:lnTo>
                      <a:pt x="2347436" y="58198"/>
                    </a:lnTo>
                    <a:lnTo>
                      <a:pt x="2937986" y="33433"/>
                    </a:lnTo>
                    <a:lnTo>
                      <a:pt x="3617119" y="21241"/>
                    </a:lnTo>
                    <a:lnTo>
                      <a:pt x="5898070" y="0"/>
                    </a:lnTo>
                    <a:lnTo>
                      <a:pt x="5898070" y="20098"/>
                    </a:lnTo>
                    <a:lnTo>
                      <a:pt x="4561999" y="26194"/>
                    </a:lnTo>
                    <a:lnTo>
                      <a:pt x="2657380" y="54959"/>
                    </a:lnTo>
                    <a:lnTo>
                      <a:pt x="2266188" y="73247"/>
                    </a:lnTo>
                    <a:lnTo>
                      <a:pt x="2044732" y="96107"/>
                    </a:lnTo>
                    <a:lnTo>
                      <a:pt x="1963484" y="114872"/>
                    </a:lnTo>
                    <a:lnTo>
                      <a:pt x="1852803" y="125254"/>
                    </a:lnTo>
                    <a:lnTo>
                      <a:pt x="1793748" y="134969"/>
                    </a:lnTo>
                    <a:lnTo>
                      <a:pt x="1771555" y="145542"/>
                    </a:lnTo>
                    <a:lnTo>
                      <a:pt x="1631347" y="163735"/>
                    </a:lnTo>
                    <a:lnTo>
                      <a:pt x="1505902" y="195453"/>
                    </a:lnTo>
                    <a:lnTo>
                      <a:pt x="1409890" y="234410"/>
                    </a:lnTo>
                    <a:lnTo>
                      <a:pt x="1365599" y="240887"/>
                    </a:lnTo>
                    <a:lnTo>
                      <a:pt x="1350836" y="252793"/>
                    </a:lnTo>
                    <a:lnTo>
                      <a:pt x="1299210" y="260033"/>
                    </a:lnTo>
                    <a:lnTo>
                      <a:pt x="1254919" y="275272"/>
                    </a:lnTo>
                    <a:lnTo>
                      <a:pt x="1247489" y="284607"/>
                    </a:lnTo>
                    <a:lnTo>
                      <a:pt x="1136714" y="317373"/>
                    </a:lnTo>
                    <a:lnTo>
                      <a:pt x="1062990" y="359950"/>
                    </a:lnTo>
                    <a:lnTo>
                      <a:pt x="989076" y="384810"/>
                    </a:lnTo>
                    <a:lnTo>
                      <a:pt x="959644" y="405384"/>
                    </a:lnTo>
                    <a:lnTo>
                      <a:pt x="930116" y="408813"/>
                    </a:lnTo>
                    <a:lnTo>
                      <a:pt x="893159" y="425291"/>
                    </a:lnTo>
                    <a:lnTo>
                      <a:pt x="878396" y="443198"/>
                    </a:lnTo>
                    <a:lnTo>
                      <a:pt x="819341" y="471011"/>
                    </a:lnTo>
                    <a:lnTo>
                      <a:pt x="797242" y="499015"/>
                    </a:lnTo>
                    <a:lnTo>
                      <a:pt x="723328" y="527780"/>
                    </a:lnTo>
                    <a:lnTo>
                      <a:pt x="701230" y="556165"/>
                    </a:lnTo>
                    <a:lnTo>
                      <a:pt x="686467" y="563785"/>
                    </a:lnTo>
                    <a:lnTo>
                      <a:pt x="656939" y="601313"/>
                    </a:lnTo>
                    <a:lnTo>
                      <a:pt x="649510" y="623792"/>
                    </a:lnTo>
                    <a:lnTo>
                      <a:pt x="634841" y="632746"/>
                    </a:lnTo>
                    <a:lnTo>
                      <a:pt x="612648" y="662178"/>
                    </a:lnTo>
                    <a:lnTo>
                      <a:pt x="524066" y="720090"/>
                    </a:lnTo>
                    <a:lnTo>
                      <a:pt x="509302" y="753237"/>
                    </a:lnTo>
                    <a:lnTo>
                      <a:pt x="479774" y="777716"/>
                    </a:lnTo>
                    <a:lnTo>
                      <a:pt x="465010" y="824389"/>
                    </a:lnTo>
                    <a:lnTo>
                      <a:pt x="435483" y="843058"/>
                    </a:lnTo>
                    <a:lnTo>
                      <a:pt x="405956" y="902779"/>
                    </a:lnTo>
                    <a:lnTo>
                      <a:pt x="383762" y="923734"/>
                    </a:lnTo>
                    <a:lnTo>
                      <a:pt x="369094" y="959453"/>
                    </a:lnTo>
                    <a:lnTo>
                      <a:pt x="354235" y="972122"/>
                    </a:lnTo>
                    <a:lnTo>
                      <a:pt x="339566" y="1018508"/>
                    </a:lnTo>
                    <a:lnTo>
                      <a:pt x="295275" y="1075563"/>
                    </a:lnTo>
                    <a:lnTo>
                      <a:pt x="280416" y="1083278"/>
                    </a:lnTo>
                    <a:lnTo>
                      <a:pt x="236125" y="1173956"/>
                    </a:lnTo>
                    <a:lnTo>
                      <a:pt x="228791" y="1230820"/>
                    </a:lnTo>
                    <a:lnTo>
                      <a:pt x="206597" y="1294257"/>
                    </a:lnTo>
                    <a:lnTo>
                      <a:pt x="199263" y="1351598"/>
                    </a:lnTo>
                    <a:lnTo>
                      <a:pt x="191834" y="1351312"/>
                    </a:lnTo>
                    <a:lnTo>
                      <a:pt x="184499" y="1383220"/>
                    </a:lnTo>
                    <a:lnTo>
                      <a:pt x="162401" y="1508569"/>
                    </a:lnTo>
                    <a:lnTo>
                      <a:pt x="147638" y="1650492"/>
                    </a:lnTo>
                    <a:lnTo>
                      <a:pt x="140208" y="1675162"/>
                    </a:lnTo>
                    <a:lnTo>
                      <a:pt x="132778" y="1615059"/>
                    </a:lnTo>
                    <a:lnTo>
                      <a:pt x="118015" y="1685925"/>
                    </a:lnTo>
                    <a:lnTo>
                      <a:pt x="110681" y="1575435"/>
                    </a:lnTo>
                    <a:lnTo>
                      <a:pt x="103251" y="1668875"/>
                    </a:lnTo>
                    <a:lnTo>
                      <a:pt x="95917" y="1595723"/>
                    </a:lnTo>
                    <a:lnTo>
                      <a:pt x="81153" y="1742218"/>
                    </a:lnTo>
                    <a:lnTo>
                      <a:pt x="73819" y="1702022"/>
                    </a:lnTo>
                    <a:lnTo>
                      <a:pt x="58960" y="1777841"/>
                    </a:lnTo>
                    <a:lnTo>
                      <a:pt x="51626" y="1760696"/>
                    </a:lnTo>
                    <a:lnTo>
                      <a:pt x="44196" y="1786033"/>
                    </a:lnTo>
                    <a:lnTo>
                      <a:pt x="36862" y="1768412"/>
                    </a:lnTo>
                    <a:lnTo>
                      <a:pt x="29527" y="1788986"/>
                    </a:lnTo>
                    <a:lnTo>
                      <a:pt x="14764" y="1967294"/>
                    </a:lnTo>
                    <a:lnTo>
                      <a:pt x="0" y="1813655"/>
                    </a:lnTo>
                    <a:close/>
                  </a:path>
                </a:pathLst>
              </a:custGeom>
              <a:solidFill>
                <a:schemeClr val="accent1">
                  <a:alpha val="10000"/>
                </a:schemeClr>
              </a:solidFill>
              <a:ln>
                <a:noFill/>
              </a:ln>
            </p:spPr>
          </p:sp>
          <p:sp>
            <p:nvSpPr>
              <p:cNvPr id="28" name="curve-classic-mean"/>
              <p:cNvSpPr/>
              <p:nvPr/>
            </p:nvSpPr>
            <p:spPr>
              <a:xfrm>
                <a:off x="1007554" y="3569303"/>
                <a:ext cx="5898070" cy="1811464"/>
              </a:xfrm>
              <a:custGeom>
                <a:avLst/>
                <a:gdLst/>
                <a:ahLst/>
                <a:cxnLst/>
                <a:rect l="l" t="t" r="r" b="b"/>
                <a:pathLst>
                  <a:path w="5898070" h="1811464">
                    <a:moveTo>
                      <a:pt x="0" y="1744313"/>
                    </a:moveTo>
                    <a:lnTo>
                      <a:pt x="7334" y="1811464"/>
                    </a:lnTo>
                    <a:lnTo>
                      <a:pt x="14764" y="1735741"/>
                    </a:lnTo>
                    <a:lnTo>
                      <a:pt x="22098" y="1795653"/>
                    </a:lnTo>
                    <a:lnTo>
                      <a:pt x="29527" y="1717357"/>
                    </a:lnTo>
                    <a:lnTo>
                      <a:pt x="36862" y="1709452"/>
                    </a:lnTo>
                    <a:lnTo>
                      <a:pt x="44196" y="1743932"/>
                    </a:lnTo>
                    <a:lnTo>
                      <a:pt x="51626" y="1641062"/>
                    </a:lnTo>
                    <a:lnTo>
                      <a:pt x="73819" y="1678210"/>
                    </a:lnTo>
                    <a:lnTo>
                      <a:pt x="95917" y="1567624"/>
                    </a:lnTo>
                    <a:lnTo>
                      <a:pt x="103251" y="1584674"/>
                    </a:lnTo>
                    <a:lnTo>
                      <a:pt x="110681" y="1538954"/>
                    </a:lnTo>
                    <a:lnTo>
                      <a:pt x="118015" y="1598485"/>
                    </a:lnTo>
                    <a:lnTo>
                      <a:pt x="125444" y="1593056"/>
                    </a:lnTo>
                    <a:lnTo>
                      <a:pt x="132778" y="1552385"/>
                    </a:lnTo>
                    <a:lnTo>
                      <a:pt x="140208" y="1574102"/>
                    </a:lnTo>
                    <a:lnTo>
                      <a:pt x="162401" y="1400365"/>
                    </a:lnTo>
                    <a:lnTo>
                      <a:pt x="206597" y="1226915"/>
                    </a:lnTo>
                    <a:lnTo>
                      <a:pt x="228791" y="1167479"/>
                    </a:lnTo>
                    <a:lnTo>
                      <a:pt x="236125" y="1119949"/>
                    </a:lnTo>
                    <a:lnTo>
                      <a:pt x="258318" y="1062133"/>
                    </a:lnTo>
                    <a:lnTo>
                      <a:pt x="302609" y="976693"/>
                    </a:lnTo>
                    <a:lnTo>
                      <a:pt x="383762" y="854011"/>
                    </a:lnTo>
                    <a:lnTo>
                      <a:pt x="405956" y="835152"/>
                    </a:lnTo>
                    <a:lnTo>
                      <a:pt x="442912" y="763048"/>
                    </a:lnTo>
                    <a:lnTo>
                      <a:pt x="472440" y="730567"/>
                    </a:lnTo>
                    <a:lnTo>
                      <a:pt x="479774" y="712279"/>
                    </a:lnTo>
                    <a:lnTo>
                      <a:pt x="509302" y="690467"/>
                    </a:lnTo>
                    <a:lnTo>
                      <a:pt x="553593" y="636079"/>
                    </a:lnTo>
                    <a:lnTo>
                      <a:pt x="612648" y="604647"/>
                    </a:lnTo>
                    <a:lnTo>
                      <a:pt x="671703" y="546735"/>
                    </a:lnTo>
                    <a:lnTo>
                      <a:pt x="730758" y="502253"/>
                    </a:lnTo>
                    <a:lnTo>
                      <a:pt x="745522" y="475202"/>
                    </a:lnTo>
                    <a:lnTo>
                      <a:pt x="819341" y="425672"/>
                    </a:lnTo>
                    <a:lnTo>
                      <a:pt x="870966" y="402812"/>
                    </a:lnTo>
                    <a:lnTo>
                      <a:pt x="878396" y="384524"/>
                    </a:lnTo>
                    <a:lnTo>
                      <a:pt x="893159" y="372904"/>
                    </a:lnTo>
                    <a:lnTo>
                      <a:pt x="1018604" y="313849"/>
                    </a:lnTo>
                    <a:lnTo>
                      <a:pt x="1299210" y="210502"/>
                    </a:lnTo>
                    <a:lnTo>
                      <a:pt x="1609249" y="136398"/>
                    </a:lnTo>
                    <a:lnTo>
                      <a:pt x="1793748" y="108204"/>
                    </a:lnTo>
                    <a:lnTo>
                      <a:pt x="2118550" y="70485"/>
                    </a:lnTo>
                    <a:lnTo>
                      <a:pt x="2399062" y="51054"/>
                    </a:lnTo>
                    <a:lnTo>
                      <a:pt x="2982278" y="29623"/>
                    </a:lnTo>
                    <a:lnTo>
                      <a:pt x="3668744" y="18764"/>
                    </a:lnTo>
                    <a:lnTo>
                      <a:pt x="5898070" y="0"/>
                    </a:lnTo>
                  </a:path>
                </a:pathLst>
              </a:custGeom>
              <a:noFill/>
              <a:ln w="19050">
                <a:solidFill>
                  <a:schemeClr val="accent1"/>
                </a:solidFill>
              </a:ln>
            </p:spPr>
          </p:sp>
          <p:sp>
            <p:nvSpPr>
              <p:cNvPr id="29" name="curve-fg-sd"/>
              <p:cNvSpPr/>
              <p:nvPr/>
            </p:nvSpPr>
            <p:spPr>
              <a:xfrm>
                <a:off x="1007554" y="3472624"/>
                <a:ext cx="2945321" cy="1785842"/>
              </a:xfrm>
              <a:custGeom>
                <a:avLst/>
                <a:gdLst/>
                <a:ahLst/>
                <a:cxnLst/>
                <a:rect l="l" t="t" r="r" b="b"/>
                <a:pathLst>
                  <a:path w="2945321" h="1785842">
                    <a:moveTo>
                      <a:pt x="0" y="1785842"/>
                    </a:moveTo>
                    <a:lnTo>
                      <a:pt x="7334" y="1151668"/>
                    </a:lnTo>
                    <a:lnTo>
                      <a:pt x="22098" y="1070515"/>
                    </a:lnTo>
                    <a:lnTo>
                      <a:pt x="51626" y="708374"/>
                    </a:lnTo>
                    <a:lnTo>
                      <a:pt x="66389" y="632079"/>
                    </a:lnTo>
                    <a:lnTo>
                      <a:pt x="81153" y="591884"/>
                    </a:lnTo>
                    <a:lnTo>
                      <a:pt x="103251" y="443484"/>
                    </a:lnTo>
                    <a:lnTo>
                      <a:pt x="132778" y="381476"/>
                    </a:lnTo>
                    <a:lnTo>
                      <a:pt x="140208" y="348139"/>
                    </a:lnTo>
                    <a:lnTo>
                      <a:pt x="184499" y="285560"/>
                    </a:lnTo>
                    <a:lnTo>
                      <a:pt x="206597" y="266700"/>
                    </a:lnTo>
                    <a:lnTo>
                      <a:pt x="214027" y="246793"/>
                    </a:lnTo>
                    <a:lnTo>
                      <a:pt x="302609" y="189548"/>
                    </a:lnTo>
                    <a:lnTo>
                      <a:pt x="309943" y="175260"/>
                    </a:lnTo>
                    <a:lnTo>
                      <a:pt x="346900" y="147828"/>
                    </a:lnTo>
                    <a:lnTo>
                      <a:pt x="509302" y="102775"/>
                    </a:lnTo>
                    <a:lnTo>
                      <a:pt x="664369" y="80010"/>
                    </a:lnTo>
                    <a:lnTo>
                      <a:pt x="915352" y="48292"/>
                    </a:lnTo>
                    <a:lnTo>
                      <a:pt x="1291780" y="19336"/>
                    </a:lnTo>
                    <a:lnTo>
                      <a:pt x="1764220" y="4667"/>
                    </a:lnTo>
                    <a:lnTo>
                      <a:pt x="2945321" y="0"/>
                    </a:lnTo>
                    <a:lnTo>
                      <a:pt x="2945321" y="3239"/>
                    </a:lnTo>
                    <a:lnTo>
                      <a:pt x="1801178" y="14288"/>
                    </a:lnTo>
                    <a:lnTo>
                      <a:pt x="1284351" y="29718"/>
                    </a:lnTo>
                    <a:lnTo>
                      <a:pt x="1033367" y="44767"/>
                    </a:lnTo>
                    <a:lnTo>
                      <a:pt x="715994" y="79343"/>
                    </a:lnTo>
                    <a:lnTo>
                      <a:pt x="583120" y="108014"/>
                    </a:lnTo>
                    <a:lnTo>
                      <a:pt x="538829" y="121730"/>
                    </a:lnTo>
                    <a:lnTo>
                      <a:pt x="531400" y="134017"/>
                    </a:lnTo>
                    <a:lnTo>
                      <a:pt x="420719" y="161544"/>
                    </a:lnTo>
                    <a:lnTo>
                      <a:pt x="332137" y="191834"/>
                    </a:lnTo>
                    <a:lnTo>
                      <a:pt x="250889" y="232696"/>
                    </a:lnTo>
                    <a:lnTo>
                      <a:pt x="199263" y="297561"/>
                    </a:lnTo>
                    <a:lnTo>
                      <a:pt x="154972" y="334137"/>
                    </a:lnTo>
                    <a:lnTo>
                      <a:pt x="140208" y="374809"/>
                    </a:lnTo>
                    <a:lnTo>
                      <a:pt x="95917" y="559499"/>
                    </a:lnTo>
                    <a:lnTo>
                      <a:pt x="88582" y="626650"/>
                    </a:lnTo>
                    <a:lnTo>
                      <a:pt x="58960" y="769906"/>
                    </a:lnTo>
                    <a:lnTo>
                      <a:pt x="22098" y="1159764"/>
                    </a:lnTo>
                    <a:lnTo>
                      <a:pt x="7334" y="1242251"/>
                    </a:lnTo>
                    <a:lnTo>
                      <a:pt x="0" y="1785842"/>
                    </a:lnTo>
                    <a:close/>
                  </a:path>
                </a:pathLst>
              </a:custGeom>
              <a:solidFill>
                <a:schemeClr val="accent2">
                  <a:alpha val="10000"/>
                </a:schemeClr>
              </a:solidFill>
              <a:ln>
                <a:noFill/>
              </a:ln>
            </p:spPr>
          </p:sp>
          <p:sp>
            <p:nvSpPr>
              <p:cNvPr id="30" name="curve-fg-mean"/>
              <p:cNvSpPr/>
              <p:nvPr/>
            </p:nvSpPr>
            <p:spPr>
              <a:xfrm>
                <a:off x="1007554" y="3474244"/>
                <a:ext cx="2945321" cy="1784223"/>
              </a:xfrm>
              <a:custGeom>
                <a:avLst/>
                <a:gdLst/>
                <a:ahLst/>
                <a:cxnLst/>
                <a:rect l="l" t="t" r="r" b="b"/>
                <a:pathLst>
                  <a:path w="2945321" h="1784223">
                    <a:moveTo>
                      <a:pt x="0" y="1784223"/>
                    </a:moveTo>
                    <a:lnTo>
                      <a:pt x="7334" y="1195388"/>
                    </a:lnTo>
                    <a:lnTo>
                      <a:pt x="22098" y="1113568"/>
                    </a:lnTo>
                    <a:lnTo>
                      <a:pt x="51626" y="764858"/>
                    </a:lnTo>
                    <a:lnTo>
                      <a:pt x="103251" y="482156"/>
                    </a:lnTo>
                    <a:lnTo>
                      <a:pt x="154972" y="328708"/>
                    </a:lnTo>
                    <a:lnTo>
                      <a:pt x="199263" y="284321"/>
                    </a:lnTo>
                    <a:lnTo>
                      <a:pt x="228791" y="243459"/>
                    </a:lnTo>
                    <a:lnTo>
                      <a:pt x="317373" y="182499"/>
                    </a:lnTo>
                    <a:lnTo>
                      <a:pt x="391192" y="150590"/>
                    </a:lnTo>
                    <a:lnTo>
                      <a:pt x="538829" y="109442"/>
                    </a:lnTo>
                    <a:lnTo>
                      <a:pt x="671703" y="81915"/>
                    </a:lnTo>
                    <a:lnTo>
                      <a:pt x="915352" y="50483"/>
                    </a:lnTo>
                    <a:lnTo>
                      <a:pt x="1136714" y="31813"/>
                    </a:lnTo>
                    <a:lnTo>
                      <a:pt x="1764220" y="8382"/>
                    </a:lnTo>
                    <a:lnTo>
                      <a:pt x="2945321" y="0"/>
                    </a:lnTo>
                  </a:path>
                </a:pathLst>
              </a:custGeom>
              <a:noFill/>
              <a:ln w="26670">
                <a:solidFill>
                  <a:schemeClr val="accent2"/>
                </a:solidFill>
              </a:ln>
            </p:spPr>
          </p:sp>
          <p:sp>
            <p:nvSpPr>
              <p:cNvPr id="31" name="Line 31"/>
              <p:cNvSpPr/>
              <p:nvPr/>
            </p:nvSpPr>
            <p:spPr>
              <a:xfrm>
                <a:off x="1620202" y="3568922"/>
                <a:ext cx="9525" cy="1974628"/>
              </a:xfrm>
              <a:custGeom>
                <a:avLst/>
                <a:gdLst/>
                <a:ahLst/>
                <a:cxnLst/>
                <a:rect l="l" t="t" r="r" b="b"/>
                <a:pathLst>
                  <a:path w="9525" h="1974628">
                    <a:moveTo>
                      <a:pt x="0" y="0"/>
                    </a:moveTo>
                    <a:lnTo>
                      <a:pt x="0" y="1974628"/>
                    </a:lnTo>
                  </a:path>
                </a:pathLst>
              </a:custGeom>
              <a:noFill/>
              <a:ln w="9525">
                <a:solidFill>
                  <a:schemeClr val="accent2"/>
                </a:solidFill>
                <a:custDash>
                  <a:ds d="300000" sp="500000"/>
                </a:custDash>
              </a:ln>
            </p:spPr>
          </p:sp>
          <p:sp>
            <p:nvSpPr>
              <p:cNvPr id="32" name="Ellipse 32"/>
              <p:cNvSpPr/>
              <p:nvPr/>
            </p:nvSpPr>
            <p:spPr>
              <a:xfrm>
                <a:off x="1572578" y="3521297"/>
                <a:ext cx="95250" cy="95250"/>
              </a:xfrm>
              <a:prstGeom prst="ellipse">
                <a:avLst/>
              </a:prstGeom>
              <a:solidFill>
                <a:schemeClr val="accent2"/>
              </a:solidFill>
              <a:ln>
                <a:noFill/>
              </a:ln>
            </p:spPr>
          </p:sp>
        </p:grpSp>
        <p:grpSp>
          <p:nvGrpSpPr>
            <p:cNvPr id="38" name="Group 38"/>
            <p:cNvGrpSpPr/>
            <p:nvPr/>
          </p:nvGrpSpPr>
          <p:grpSpPr>
            <a:xfrm>
              <a:off x="636101" y="3276600"/>
              <a:ext cx="236770" cy="2406396"/>
              <a:chOff x="636101" y="3276600"/>
              <a:chExt cx="236770" cy="2406396"/>
            </a:xfrm>
          </p:grpSpPr>
          <p:sp>
            <p:nvSpPr>
              <p:cNvPr id="34" name="TextBox 34"/>
              <p:cNvSpPr txBox="1"/>
              <p:nvPr/>
            </p:nvSpPr>
            <p:spPr>
              <a:xfrm>
                <a:off x="636101" y="32766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1.1</a:t>
                </a:r>
              </a:p>
            </p:txBody>
          </p:sp>
          <p:sp>
            <p:nvSpPr>
              <p:cNvPr id="35" name="TextBox 35"/>
              <p:cNvSpPr txBox="1"/>
              <p:nvPr/>
            </p:nvSpPr>
            <p:spPr>
              <a:xfrm>
                <a:off x="636101" y="3476625"/>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a:t>
                </a:r>
              </a:p>
            </p:txBody>
          </p:sp>
          <p:sp>
            <p:nvSpPr>
              <p:cNvPr id="36" name="TextBox 36"/>
              <p:cNvSpPr txBox="1"/>
              <p:nvPr/>
            </p:nvSpPr>
            <p:spPr>
              <a:xfrm>
                <a:off x="636101" y="44577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0.5</a:t>
                </a:r>
              </a:p>
            </p:txBody>
          </p:sp>
          <p:sp>
            <p:nvSpPr>
              <p:cNvPr id="37" name="TextBox 37"/>
              <p:cNvSpPr txBox="1"/>
              <p:nvPr/>
            </p:nvSpPr>
            <p:spPr>
              <a:xfrm>
                <a:off x="636101" y="5448300"/>
                <a:ext cx="23677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0.0</a:t>
                </a:r>
              </a:p>
            </p:txBody>
          </p:sp>
        </p:grpSp>
        <p:grpSp>
          <p:nvGrpSpPr>
            <p:cNvPr id="44" name="Group 44"/>
            <p:cNvGrpSpPr/>
            <p:nvPr/>
          </p:nvGrpSpPr>
          <p:grpSpPr>
            <a:xfrm>
              <a:off x="949104" y="5648325"/>
              <a:ext cx="6097393" cy="234696"/>
              <a:chOff x="949104" y="5648325"/>
              <a:chExt cx="6097393" cy="234696"/>
            </a:xfrm>
          </p:grpSpPr>
          <p:sp>
            <p:nvSpPr>
              <p:cNvPr id="39" name="TextBox 39"/>
              <p:cNvSpPr txBox="1"/>
              <p:nvPr/>
            </p:nvSpPr>
            <p:spPr>
              <a:xfrm>
                <a:off x="949104" y="5648325"/>
                <a:ext cx="102043"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0</a:t>
                </a:r>
              </a:p>
            </p:txBody>
          </p:sp>
          <p:sp>
            <p:nvSpPr>
              <p:cNvPr id="40" name="TextBox 40"/>
              <p:cNvSpPr txBox="1"/>
              <p:nvPr/>
            </p:nvSpPr>
            <p:spPr>
              <a:xfrm>
                <a:off x="2335628"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200</a:t>
                </a:r>
              </a:p>
            </p:txBody>
          </p:sp>
          <p:sp>
            <p:nvSpPr>
              <p:cNvPr id="41" name="TextBox 41"/>
              <p:cNvSpPr txBox="1"/>
              <p:nvPr/>
            </p:nvSpPr>
            <p:spPr>
              <a:xfrm>
                <a:off x="3812003"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400</a:t>
                </a:r>
              </a:p>
            </p:txBody>
          </p:sp>
          <p:sp>
            <p:nvSpPr>
              <p:cNvPr id="42" name="TextBox 42"/>
              <p:cNvSpPr txBox="1"/>
              <p:nvPr/>
            </p:nvSpPr>
            <p:spPr>
              <a:xfrm>
                <a:off x="5288378"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600</a:t>
                </a:r>
              </a:p>
            </p:txBody>
          </p:sp>
          <p:sp>
            <p:nvSpPr>
              <p:cNvPr id="43" name="TextBox 43"/>
              <p:cNvSpPr txBox="1"/>
              <p:nvPr/>
            </p:nvSpPr>
            <p:spPr>
              <a:xfrm>
                <a:off x="6764753" y="5648325"/>
                <a:ext cx="281744"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800</a:t>
                </a:r>
              </a:p>
            </p:txBody>
          </p:sp>
        </p:grpSp>
        <p:sp>
          <p:nvSpPr>
            <p:cNvPr id="45" name="TextBox 45"/>
            <p:cNvSpPr txBox="1"/>
            <p:nvPr/>
          </p:nvSpPr>
          <p:spPr>
            <a:xfrm>
              <a:off x="3493855" y="5902325"/>
              <a:ext cx="918041"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Generation</a:t>
              </a:r>
            </a:p>
          </p:txBody>
        </p:sp>
        <p:sp>
          <p:nvSpPr>
            <p:cNvPr id="46" name="TextBox 46"/>
            <p:cNvSpPr txBox="1"/>
            <p:nvPr/>
          </p:nvSpPr>
          <p:spPr>
            <a:xfrm>
              <a:off x="1146429" y="3200400"/>
              <a:ext cx="111385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Normalized HV</a:t>
              </a:r>
            </a:p>
          </p:txBody>
        </p:sp>
        <p:sp>
          <p:nvSpPr>
            <p:cNvPr id="47" name="TextBox 47"/>
            <p:cNvSpPr txBox="1"/>
            <p:nvPr/>
          </p:nvSpPr>
          <p:spPr>
            <a:xfrm>
              <a:off x="1753743" y="5026025"/>
              <a:ext cx="263854" cy="322707"/>
            </a:xfrm>
            <a:prstGeom prst="rect">
              <a:avLst/>
            </a:prstGeom>
            <a:noFill/>
            <a:ln>
              <a:noFill/>
            </a:ln>
          </p:spPr>
          <p:txBody>
            <a:bodyPr wrap="none" lIns="0" tIns="0" rIns="0" bIns="0" anchor="t" anchorCtr="0">
              <a:spAutoFit/>
            </a:bodyPr>
            <a:lstStyle/>
            <a:p>
              <a:pPr algn="l"/>
              <a:r>
                <a:rPr lang="en" sz="1650" b="1" dirty="0">
                  <a:solidFill>
                    <a:schemeClr val="accent2"/>
                  </a:solidFill>
                  <a:latin typeface="+mn-lt"/>
                  <a:ea typeface="+mn-ea"/>
                  <a:cs typeface="+mn-cs"/>
                </a:rPr>
                <a:t>84</a:t>
              </a:r>
            </a:p>
          </p:txBody>
        </p:sp>
        <p:sp>
          <p:nvSpPr>
            <p:cNvPr id="48" name="TextBox 48"/>
            <p:cNvSpPr txBox="1"/>
            <p:nvPr/>
          </p:nvSpPr>
          <p:spPr>
            <a:xfrm>
              <a:off x="1756029" y="5314950"/>
              <a:ext cx="85648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generations</a:t>
              </a:r>
            </a:p>
          </p:txBody>
        </p:sp>
        <p:grpSp>
          <p:nvGrpSpPr>
            <p:cNvPr id="53" name="Group 53"/>
            <p:cNvGrpSpPr/>
            <p:nvPr/>
          </p:nvGrpSpPr>
          <p:grpSpPr>
            <a:xfrm>
              <a:off x="4438650" y="4454525"/>
              <a:ext cx="1591197" cy="559308"/>
              <a:chOff x="4438650" y="4454525"/>
              <a:chExt cx="1591197" cy="559308"/>
            </a:xfrm>
          </p:grpSpPr>
          <p:sp>
            <p:nvSpPr>
              <p:cNvPr id="49" name="Line 49"/>
              <p:cNvSpPr/>
              <p:nvPr/>
            </p:nvSpPr>
            <p:spPr>
              <a:xfrm>
                <a:off x="4438650" y="4562475"/>
                <a:ext cx="285750" cy="9525"/>
              </a:xfrm>
              <a:custGeom>
                <a:avLst/>
                <a:gdLst/>
                <a:ahLst/>
                <a:cxnLst/>
                <a:rect l="l" t="t" r="r" b="b"/>
                <a:pathLst>
                  <a:path w="285750" h="9525">
                    <a:moveTo>
                      <a:pt x="0" y="0"/>
                    </a:moveTo>
                    <a:lnTo>
                      <a:pt x="285750" y="0"/>
                    </a:lnTo>
                  </a:path>
                </a:pathLst>
              </a:custGeom>
              <a:noFill/>
              <a:ln w="26670">
                <a:solidFill>
                  <a:schemeClr val="accent2"/>
                </a:solidFill>
              </a:ln>
            </p:spPr>
          </p:sp>
          <p:sp>
            <p:nvSpPr>
              <p:cNvPr id="50" name="TextBox 50"/>
              <p:cNvSpPr txBox="1"/>
              <p:nvPr/>
            </p:nvSpPr>
            <p:spPr>
              <a:xfrm>
                <a:off x="4831842" y="4454525"/>
                <a:ext cx="119800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EPG-NSGA-II</a:t>
                </a:r>
              </a:p>
            </p:txBody>
          </p:sp>
          <p:sp>
            <p:nvSpPr>
              <p:cNvPr id="51" name="Line 51"/>
              <p:cNvSpPr/>
              <p:nvPr/>
            </p:nvSpPr>
            <p:spPr>
              <a:xfrm>
                <a:off x="4438650" y="4857750"/>
                <a:ext cx="285750" cy="9525"/>
              </a:xfrm>
              <a:custGeom>
                <a:avLst/>
                <a:gdLst/>
                <a:ahLst/>
                <a:cxnLst/>
                <a:rect l="l" t="t" r="r" b="b"/>
                <a:pathLst>
                  <a:path w="285750" h="9525">
                    <a:moveTo>
                      <a:pt x="0" y="0"/>
                    </a:moveTo>
                    <a:lnTo>
                      <a:pt x="285750" y="0"/>
                    </a:lnTo>
                  </a:path>
                </a:pathLst>
              </a:custGeom>
              <a:noFill/>
              <a:ln w="19050">
                <a:solidFill>
                  <a:schemeClr val="accent1"/>
                </a:solidFill>
              </a:ln>
            </p:spPr>
          </p:sp>
          <p:sp>
            <p:nvSpPr>
              <p:cNvPr id="52" name="TextBox 52"/>
              <p:cNvSpPr txBox="1"/>
              <p:nvPr/>
            </p:nvSpPr>
            <p:spPr>
              <a:xfrm>
                <a:off x="4831842" y="4749800"/>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grpSp>
        <p:sp>
          <p:nvSpPr>
            <p:cNvPr id="54" name="TextBox 54"/>
            <p:cNvSpPr txBox="1"/>
            <p:nvPr/>
          </p:nvSpPr>
          <p:spPr>
            <a:xfrm>
              <a:off x="4432554" y="5067300"/>
              <a:ext cx="184826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Mean ± 1 SD · n = 3 runs</a:t>
              </a:r>
            </a:p>
          </p:txBody>
        </p:sp>
      </p:grpSp>
      <p:grpSp>
        <p:nvGrpSpPr>
          <p:cNvPr id="102" name="ablation-hv"/>
          <p:cNvGrpSpPr/>
          <p:nvPr/>
        </p:nvGrpSpPr>
        <p:grpSpPr>
          <a:xfrm>
            <a:off x="7613142" y="3324225"/>
            <a:ext cx="4013454" cy="2842133"/>
            <a:chOff x="7613142" y="3324225"/>
            <a:chExt cx="4013454" cy="2842133"/>
          </a:xfrm>
        </p:grpSpPr>
        <p:grpSp>
          <p:nvGrpSpPr>
            <p:cNvPr id="82" name="ablation-hv-chartArea"/>
            <p:cNvGrpSpPr/>
            <p:nvPr/>
          </p:nvGrpSpPr>
          <p:grpSpPr>
            <a:xfrm>
              <a:off x="9525000" y="3324225"/>
              <a:ext cx="1819275" cy="2066925"/>
              <a:chOff x="9525000" y="3324225"/>
              <a:chExt cx="1819275" cy="2066925"/>
            </a:xfrm>
          </p:grpSpPr>
          <p:grpSp>
            <p:nvGrpSpPr>
              <p:cNvPr id="59" name="Group 59"/>
              <p:cNvGrpSpPr/>
              <p:nvPr/>
            </p:nvGrpSpPr>
            <p:grpSpPr>
              <a:xfrm>
                <a:off x="9525000" y="3324225"/>
                <a:ext cx="1819275" cy="2057400"/>
                <a:chOff x="9525000" y="3324225"/>
                <a:chExt cx="1819275" cy="2057400"/>
              </a:xfrm>
            </p:grpSpPr>
            <p:sp>
              <p:nvSpPr>
                <p:cNvPr id="56" name="Line 56"/>
                <p:cNvSpPr/>
                <p:nvPr/>
              </p:nvSpPr>
              <p:spPr>
                <a:xfrm>
                  <a:off x="9525000"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7" name="Line 57"/>
                <p:cNvSpPr/>
                <p:nvPr/>
              </p:nvSpPr>
              <p:spPr>
                <a:xfrm>
                  <a:off x="10841164"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8" name="Line 58"/>
                <p:cNvSpPr/>
                <p:nvPr/>
              </p:nvSpPr>
              <p:spPr>
                <a:xfrm>
                  <a:off x="11334750" y="3324225"/>
                  <a:ext cx="9525" cy="2057400"/>
                </a:xfrm>
                <a:custGeom>
                  <a:avLst/>
                  <a:gdLst/>
                  <a:ahLst/>
                  <a:cxnLst/>
                  <a:rect l="l" t="t" r="r" b="b"/>
                  <a:pathLst>
                    <a:path w="9525" h="2057400">
                      <a:moveTo>
                        <a:pt x="0" y="0"/>
                      </a:moveTo>
                      <a:lnTo>
                        <a:pt x="0" y="2057400"/>
                      </a:lnTo>
                    </a:path>
                  </a:pathLst>
                </a:custGeom>
                <a:noFill/>
                <a:ln w="9525">
                  <a:solidFill>
                    <a:srgbClr val="E6EDF0"/>
                  </a:solidFill>
                </a:ln>
              </p:spPr>
            </p:sp>
          </p:grpSp>
          <p:sp>
            <p:nvSpPr>
              <p:cNvPr id="60" name="Line 60"/>
              <p:cNvSpPr/>
              <p:nvPr/>
            </p:nvSpPr>
            <p:spPr>
              <a:xfrm>
                <a:off x="10183082" y="3324225"/>
                <a:ext cx="9525" cy="2057400"/>
              </a:xfrm>
              <a:custGeom>
                <a:avLst/>
                <a:gdLst/>
                <a:ahLst/>
                <a:cxnLst/>
                <a:rect l="l" t="t" r="r" b="b"/>
                <a:pathLst>
                  <a:path w="9525" h="2057400">
                    <a:moveTo>
                      <a:pt x="0" y="0"/>
                    </a:moveTo>
                    <a:lnTo>
                      <a:pt x="0" y="2057400"/>
                    </a:lnTo>
                  </a:path>
                </a:pathLst>
              </a:custGeom>
              <a:noFill/>
              <a:ln w="9525">
                <a:solidFill>
                  <a:srgbClr val="7C8791"/>
                </a:solidFill>
                <a:custDash>
                  <a:ds d="300000" sp="500000"/>
                </a:custDash>
              </a:ln>
            </p:spPr>
          </p:sp>
          <p:sp>
            <p:nvSpPr>
              <p:cNvPr id="61" name="Line 61"/>
              <p:cNvSpPr/>
              <p:nvPr/>
            </p:nvSpPr>
            <p:spPr>
              <a:xfrm>
                <a:off x="9525000" y="5381625"/>
                <a:ext cx="1809750" cy="9525"/>
              </a:xfrm>
              <a:custGeom>
                <a:avLst/>
                <a:gdLst/>
                <a:ahLst/>
                <a:cxnLst/>
                <a:rect l="l" t="t" r="r" b="b"/>
                <a:pathLst>
                  <a:path w="1809750" h="9525">
                    <a:moveTo>
                      <a:pt x="0" y="0"/>
                    </a:moveTo>
                    <a:lnTo>
                      <a:pt x="1809750" y="0"/>
                    </a:lnTo>
                  </a:path>
                </a:pathLst>
              </a:custGeom>
              <a:noFill/>
              <a:ln w="11430">
                <a:solidFill>
                  <a:srgbClr val="536774"/>
                </a:solidFill>
              </a:ln>
            </p:spPr>
          </p:sp>
          <p:sp>
            <p:nvSpPr>
              <p:cNvPr id="62" name="Ellipse 62"/>
              <p:cNvSpPr/>
              <p:nvPr/>
            </p:nvSpPr>
            <p:spPr>
              <a:xfrm>
                <a:off x="10043636" y="3452812"/>
                <a:ext cx="85725" cy="85725"/>
              </a:xfrm>
              <a:prstGeom prst="ellipse">
                <a:avLst/>
              </a:prstGeom>
              <a:solidFill>
                <a:schemeClr val="lt1"/>
              </a:solidFill>
              <a:ln w="15240">
                <a:solidFill>
                  <a:schemeClr val="accent1"/>
                </a:solidFill>
              </a:ln>
            </p:spPr>
          </p:sp>
          <p:sp>
            <p:nvSpPr>
              <p:cNvPr id="63" name="Ellipse 63"/>
              <p:cNvSpPr/>
              <p:nvPr/>
            </p:nvSpPr>
            <p:spPr>
              <a:xfrm>
                <a:off x="10187559" y="3490912"/>
                <a:ext cx="85725" cy="85725"/>
              </a:xfrm>
              <a:prstGeom prst="ellipse">
                <a:avLst/>
              </a:prstGeom>
              <a:solidFill>
                <a:schemeClr val="lt1"/>
              </a:solidFill>
              <a:ln w="15240">
                <a:solidFill>
                  <a:schemeClr val="accent1"/>
                </a:solidFill>
              </a:ln>
            </p:spPr>
          </p:sp>
          <p:sp>
            <p:nvSpPr>
              <p:cNvPr id="64" name="Ellipse 64"/>
              <p:cNvSpPr/>
              <p:nvPr/>
            </p:nvSpPr>
            <p:spPr>
              <a:xfrm>
                <a:off x="10189559" y="3529012"/>
                <a:ext cx="85725" cy="85725"/>
              </a:xfrm>
              <a:prstGeom prst="ellipse">
                <a:avLst/>
              </a:prstGeom>
              <a:solidFill>
                <a:schemeClr val="lt1"/>
              </a:solidFill>
              <a:ln w="15240">
                <a:solidFill>
                  <a:schemeClr val="accent1"/>
                </a:solidFill>
              </a:ln>
            </p:spPr>
          </p:sp>
          <p:sp>
            <p:nvSpPr>
              <p:cNvPr id="65" name="Line 65"/>
              <p:cNvSpPr/>
              <p:nvPr/>
            </p:nvSpPr>
            <p:spPr>
              <a:xfrm>
                <a:off x="10183082" y="3457575"/>
                <a:ext cx="9525" cy="152400"/>
              </a:xfrm>
              <a:custGeom>
                <a:avLst/>
                <a:gdLst/>
                <a:ahLst/>
                <a:cxnLst/>
                <a:rect l="l" t="t" r="r" b="b"/>
                <a:pathLst>
                  <a:path w="9525" h="152400">
                    <a:moveTo>
                      <a:pt x="0" y="0"/>
                    </a:moveTo>
                    <a:lnTo>
                      <a:pt x="0" y="152400"/>
                    </a:lnTo>
                  </a:path>
                </a:pathLst>
              </a:custGeom>
              <a:noFill/>
              <a:ln w="28575">
                <a:solidFill>
                  <a:schemeClr val="accent1"/>
                </a:solidFill>
              </a:ln>
            </p:spPr>
          </p:sp>
          <p:sp>
            <p:nvSpPr>
              <p:cNvPr id="66" name="Ellipse 66"/>
              <p:cNvSpPr/>
              <p:nvPr/>
            </p:nvSpPr>
            <p:spPr>
              <a:xfrm>
                <a:off x="9653302" y="3862388"/>
                <a:ext cx="85725" cy="85725"/>
              </a:xfrm>
              <a:prstGeom prst="ellipse">
                <a:avLst/>
              </a:prstGeom>
              <a:solidFill>
                <a:schemeClr val="lt1"/>
              </a:solidFill>
              <a:ln w="15240">
                <a:solidFill>
                  <a:schemeClr val="accent3"/>
                </a:solidFill>
              </a:ln>
            </p:spPr>
          </p:sp>
          <p:sp>
            <p:nvSpPr>
              <p:cNvPr id="67" name="Ellipse 67"/>
              <p:cNvSpPr/>
              <p:nvPr/>
            </p:nvSpPr>
            <p:spPr>
              <a:xfrm>
                <a:off x="10045732" y="3900488"/>
                <a:ext cx="85725" cy="85725"/>
              </a:xfrm>
              <a:prstGeom prst="ellipse">
                <a:avLst/>
              </a:prstGeom>
              <a:solidFill>
                <a:schemeClr val="lt1"/>
              </a:solidFill>
              <a:ln w="15240">
                <a:solidFill>
                  <a:schemeClr val="accent3"/>
                </a:solidFill>
              </a:ln>
            </p:spPr>
          </p:sp>
          <p:sp>
            <p:nvSpPr>
              <p:cNvPr id="68" name="Ellipse 68"/>
              <p:cNvSpPr/>
              <p:nvPr/>
            </p:nvSpPr>
            <p:spPr>
              <a:xfrm>
                <a:off x="9994106" y="3938588"/>
                <a:ext cx="85725" cy="85725"/>
              </a:xfrm>
              <a:prstGeom prst="ellipse">
                <a:avLst/>
              </a:prstGeom>
              <a:solidFill>
                <a:schemeClr val="lt1"/>
              </a:solidFill>
              <a:ln w="15240">
                <a:solidFill>
                  <a:schemeClr val="accent3"/>
                </a:solidFill>
              </a:ln>
            </p:spPr>
          </p:sp>
          <p:sp>
            <p:nvSpPr>
              <p:cNvPr id="69" name="Line 69"/>
              <p:cNvSpPr/>
              <p:nvPr/>
            </p:nvSpPr>
            <p:spPr>
              <a:xfrm>
                <a:off x="9940576" y="3867150"/>
                <a:ext cx="9525" cy="152400"/>
              </a:xfrm>
              <a:custGeom>
                <a:avLst/>
                <a:gdLst/>
                <a:ahLst/>
                <a:cxnLst/>
                <a:rect l="l" t="t" r="r" b="b"/>
                <a:pathLst>
                  <a:path w="9525" h="152400">
                    <a:moveTo>
                      <a:pt x="0" y="0"/>
                    </a:moveTo>
                    <a:lnTo>
                      <a:pt x="0" y="152400"/>
                    </a:lnTo>
                  </a:path>
                </a:pathLst>
              </a:custGeom>
              <a:noFill/>
              <a:ln w="28575">
                <a:solidFill>
                  <a:schemeClr val="accent3"/>
                </a:solidFill>
              </a:ln>
            </p:spPr>
          </p:sp>
          <p:sp>
            <p:nvSpPr>
              <p:cNvPr id="70" name="Ellipse 70"/>
              <p:cNvSpPr/>
              <p:nvPr/>
            </p:nvSpPr>
            <p:spPr>
              <a:xfrm>
                <a:off x="10183273" y="4271962"/>
                <a:ext cx="85725" cy="85725"/>
              </a:xfrm>
              <a:prstGeom prst="ellipse">
                <a:avLst/>
              </a:prstGeom>
              <a:solidFill>
                <a:schemeClr val="lt1"/>
              </a:solidFill>
              <a:ln w="15240">
                <a:solidFill>
                  <a:srgbClr val="7C8791"/>
                </a:solidFill>
              </a:ln>
            </p:spPr>
          </p:sp>
          <p:sp>
            <p:nvSpPr>
              <p:cNvPr id="71" name="Ellipse 71"/>
              <p:cNvSpPr/>
              <p:nvPr/>
            </p:nvSpPr>
            <p:spPr>
              <a:xfrm>
                <a:off x="10081927" y="4310062"/>
                <a:ext cx="85725" cy="85725"/>
              </a:xfrm>
              <a:prstGeom prst="ellipse">
                <a:avLst/>
              </a:prstGeom>
              <a:solidFill>
                <a:schemeClr val="lt1"/>
              </a:solidFill>
              <a:ln w="15240">
                <a:solidFill>
                  <a:srgbClr val="7C8791"/>
                </a:solidFill>
              </a:ln>
            </p:spPr>
          </p:sp>
          <p:sp>
            <p:nvSpPr>
              <p:cNvPr id="72" name="Ellipse 72"/>
              <p:cNvSpPr/>
              <p:nvPr/>
            </p:nvSpPr>
            <p:spPr>
              <a:xfrm>
                <a:off x="10046113" y="4348162"/>
                <a:ext cx="85725" cy="85725"/>
              </a:xfrm>
              <a:prstGeom prst="ellipse">
                <a:avLst/>
              </a:prstGeom>
              <a:solidFill>
                <a:schemeClr val="lt1"/>
              </a:solidFill>
              <a:ln w="15240">
                <a:solidFill>
                  <a:srgbClr val="7C8791"/>
                </a:solidFill>
              </a:ln>
            </p:spPr>
          </p:sp>
          <p:sp>
            <p:nvSpPr>
              <p:cNvPr id="73" name="Line 73"/>
              <p:cNvSpPr/>
              <p:nvPr/>
            </p:nvSpPr>
            <p:spPr>
              <a:xfrm>
                <a:off x="10146602" y="4276725"/>
                <a:ext cx="9525" cy="152400"/>
              </a:xfrm>
              <a:custGeom>
                <a:avLst/>
                <a:gdLst/>
                <a:ahLst/>
                <a:cxnLst/>
                <a:rect l="l" t="t" r="r" b="b"/>
                <a:pathLst>
                  <a:path w="9525" h="152400">
                    <a:moveTo>
                      <a:pt x="0" y="0"/>
                    </a:moveTo>
                    <a:lnTo>
                      <a:pt x="0" y="152400"/>
                    </a:lnTo>
                  </a:path>
                </a:pathLst>
              </a:custGeom>
              <a:noFill/>
              <a:ln w="28575">
                <a:solidFill>
                  <a:srgbClr val="7C8791"/>
                </a:solidFill>
              </a:ln>
            </p:spPr>
          </p:sp>
          <p:sp>
            <p:nvSpPr>
              <p:cNvPr id="74" name="Ellipse 74"/>
              <p:cNvSpPr/>
              <p:nvPr/>
            </p:nvSpPr>
            <p:spPr>
              <a:xfrm>
                <a:off x="10934510" y="4681538"/>
                <a:ext cx="85725" cy="85725"/>
              </a:xfrm>
              <a:prstGeom prst="ellipse">
                <a:avLst/>
              </a:prstGeom>
              <a:solidFill>
                <a:schemeClr val="lt1"/>
              </a:solidFill>
              <a:ln w="15240">
                <a:solidFill>
                  <a:srgbClr val="B87232"/>
                </a:solidFill>
              </a:ln>
            </p:spPr>
          </p:sp>
          <p:sp>
            <p:nvSpPr>
              <p:cNvPr id="75" name="Ellipse 75"/>
              <p:cNvSpPr/>
              <p:nvPr/>
            </p:nvSpPr>
            <p:spPr>
              <a:xfrm>
                <a:off x="10923937" y="4719638"/>
                <a:ext cx="85725" cy="85725"/>
              </a:xfrm>
              <a:prstGeom prst="ellipse">
                <a:avLst/>
              </a:prstGeom>
              <a:solidFill>
                <a:schemeClr val="lt1"/>
              </a:solidFill>
              <a:ln w="15240">
                <a:solidFill>
                  <a:srgbClr val="B87232"/>
                </a:solidFill>
              </a:ln>
            </p:spPr>
          </p:sp>
          <p:sp>
            <p:nvSpPr>
              <p:cNvPr id="76" name="Ellipse 76"/>
              <p:cNvSpPr/>
              <p:nvPr/>
            </p:nvSpPr>
            <p:spPr>
              <a:xfrm>
                <a:off x="10921365" y="4757738"/>
                <a:ext cx="85725" cy="85725"/>
              </a:xfrm>
              <a:prstGeom prst="ellipse">
                <a:avLst/>
              </a:prstGeom>
              <a:solidFill>
                <a:schemeClr val="lt1"/>
              </a:solidFill>
              <a:ln w="15240">
                <a:solidFill>
                  <a:srgbClr val="B87232"/>
                </a:solidFill>
              </a:ln>
            </p:spPr>
          </p:sp>
          <p:sp>
            <p:nvSpPr>
              <p:cNvPr id="77" name="Line 77"/>
              <p:cNvSpPr/>
              <p:nvPr/>
            </p:nvSpPr>
            <p:spPr>
              <a:xfrm>
                <a:off x="10969466" y="4686300"/>
                <a:ext cx="9525" cy="152400"/>
              </a:xfrm>
              <a:custGeom>
                <a:avLst/>
                <a:gdLst/>
                <a:ahLst/>
                <a:cxnLst/>
                <a:rect l="l" t="t" r="r" b="b"/>
                <a:pathLst>
                  <a:path w="9525" h="152400">
                    <a:moveTo>
                      <a:pt x="0" y="0"/>
                    </a:moveTo>
                    <a:lnTo>
                      <a:pt x="0" y="152400"/>
                    </a:lnTo>
                  </a:path>
                </a:pathLst>
              </a:custGeom>
              <a:noFill/>
              <a:ln w="28575">
                <a:solidFill>
                  <a:srgbClr val="B87232"/>
                </a:solidFill>
              </a:ln>
            </p:spPr>
          </p:sp>
          <p:sp>
            <p:nvSpPr>
              <p:cNvPr id="78" name="Ellipse 78"/>
              <p:cNvSpPr/>
              <p:nvPr/>
            </p:nvSpPr>
            <p:spPr>
              <a:xfrm>
                <a:off x="10943368" y="5091112"/>
                <a:ext cx="85725" cy="85725"/>
              </a:xfrm>
              <a:prstGeom prst="ellipse">
                <a:avLst/>
              </a:prstGeom>
              <a:solidFill>
                <a:schemeClr val="lt1"/>
              </a:solidFill>
              <a:ln w="15240">
                <a:solidFill>
                  <a:schemeClr val="accent2"/>
                </a:solidFill>
              </a:ln>
            </p:spPr>
          </p:sp>
          <p:sp>
            <p:nvSpPr>
              <p:cNvPr id="79" name="Ellipse 79"/>
              <p:cNvSpPr/>
              <p:nvPr/>
            </p:nvSpPr>
            <p:spPr>
              <a:xfrm>
                <a:off x="10917364" y="5129212"/>
                <a:ext cx="85725" cy="85725"/>
              </a:xfrm>
              <a:prstGeom prst="ellipse">
                <a:avLst/>
              </a:prstGeom>
              <a:solidFill>
                <a:schemeClr val="lt1"/>
              </a:solidFill>
              <a:ln w="15240">
                <a:solidFill>
                  <a:schemeClr val="accent2"/>
                </a:solidFill>
              </a:ln>
            </p:spPr>
          </p:sp>
          <p:sp>
            <p:nvSpPr>
              <p:cNvPr id="80" name="Ellipse 80"/>
              <p:cNvSpPr/>
              <p:nvPr/>
            </p:nvSpPr>
            <p:spPr>
              <a:xfrm>
                <a:off x="10936129" y="5167312"/>
                <a:ext cx="85725" cy="85725"/>
              </a:xfrm>
              <a:prstGeom prst="ellipse">
                <a:avLst/>
              </a:prstGeom>
              <a:solidFill>
                <a:schemeClr val="lt1"/>
              </a:solidFill>
              <a:ln w="15240">
                <a:solidFill>
                  <a:schemeClr val="accent2"/>
                </a:solidFill>
              </a:ln>
            </p:spPr>
          </p:sp>
          <p:sp>
            <p:nvSpPr>
              <p:cNvPr id="81" name="Line 81"/>
              <p:cNvSpPr/>
              <p:nvPr/>
            </p:nvSpPr>
            <p:spPr>
              <a:xfrm>
                <a:off x="10975086" y="5095875"/>
                <a:ext cx="9525" cy="152400"/>
              </a:xfrm>
              <a:custGeom>
                <a:avLst/>
                <a:gdLst/>
                <a:ahLst/>
                <a:cxnLst/>
                <a:rect l="l" t="t" r="r" b="b"/>
                <a:pathLst>
                  <a:path w="9525" h="152400">
                    <a:moveTo>
                      <a:pt x="0" y="0"/>
                    </a:moveTo>
                    <a:lnTo>
                      <a:pt x="0" y="152400"/>
                    </a:lnTo>
                  </a:path>
                </a:pathLst>
              </a:custGeom>
              <a:noFill/>
              <a:ln w="28575">
                <a:solidFill>
                  <a:schemeClr val="accent2"/>
                </a:solidFill>
              </a:ln>
            </p:spPr>
          </p:sp>
        </p:grpSp>
        <p:grpSp>
          <p:nvGrpSpPr>
            <p:cNvPr id="88" name="Group 88"/>
            <p:cNvGrpSpPr/>
            <p:nvPr/>
          </p:nvGrpSpPr>
          <p:grpSpPr>
            <a:xfrm>
              <a:off x="7613142" y="3425825"/>
              <a:ext cx="1208605" cy="1902333"/>
              <a:chOff x="7613142" y="3425825"/>
              <a:chExt cx="1208605" cy="1902333"/>
            </a:xfrm>
          </p:grpSpPr>
          <p:sp>
            <p:nvSpPr>
              <p:cNvPr id="83" name="TextBox 83"/>
              <p:cNvSpPr txBox="1"/>
              <p:nvPr/>
            </p:nvSpPr>
            <p:spPr>
              <a:xfrm>
                <a:off x="7613142" y="3425825"/>
                <a:ext cx="728545"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a:t>
                </a:r>
              </a:p>
            </p:txBody>
          </p:sp>
          <p:sp>
            <p:nvSpPr>
              <p:cNvPr id="84" name="TextBox 84"/>
              <p:cNvSpPr txBox="1"/>
              <p:nvPr/>
            </p:nvSpPr>
            <p:spPr>
              <a:xfrm>
                <a:off x="7613142" y="3835400"/>
                <a:ext cx="781889"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NSGA-III</a:t>
                </a:r>
              </a:p>
            </p:txBody>
          </p:sp>
          <p:sp>
            <p:nvSpPr>
              <p:cNvPr id="85" name="TextBox 85"/>
              <p:cNvSpPr txBox="1"/>
              <p:nvPr/>
            </p:nvSpPr>
            <p:spPr>
              <a:xfrm>
                <a:off x="7613142" y="4244975"/>
                <a:ext cx="1080120"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Seeding-only</a:t>
                </a:r>
              </a:p>
            </p:txBody>
          </p:sp>
          <p:sp>
            <p:nvSpPr>
              <p:cNvPr id="86" name="TextBox 86"/>
              <p:cNvSpPr txBox="1"/>
              <p:nvPr/>
            </p:nvSpPr>
            <p:spPr>
              <a:xfrm>
                <a:off x="7613142" y="4654550"/>
                <a:ext cx="948307"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Repair-only</a:t>
                </a:r>
              </a:p>
            </p:txBody>
          </p:sp>
          <p:sp>
            <p:nvSpPr>
              <p:cNvPr id="87" name="TextBox 87"/>
              <p:cNvSpPr txBox="1"/>
              <p:nvPr/>
            </p:nvSpPr>
            <p:spPr>
              <a:xfrm>
                <a:off x="7613142" y="5064125"/>
                <a:ext cx="1208605" cy="264033"/>
              </a:xfrm>
              <a:prstGeom prst="rect">
                <a:avLst/>
              </a:prstGeom>
              <a:noFill/>
              <a:ln>
                <a:noFill/>
              </a:ln>
            </p:spPr>
            <p:txBody>
              <a:bodyPr wrap="none" lIns="0" tIns="0" rIns="0" bIns="0" anchor="t" anchorCtr="0">
                <a:spAutoFit/>
              </a:bodyPr>
              <a:lstStyle/>
              <a:p>
                <a:pPr algn="l"/>
                <a:r>
                  <a:rPr lang="en" sz="1350" b="1" dirty="0">
                    <a:solidFill>
                      <a:schemeClr val="accent2"/>
                    </a:solidFill>
                    <a:latin typeface="+mn-lt"/>
                    <a:ea typeface="+mn-ea"/>
                    <a:cs typeface="+mn-cs"/>
                  </a:rPr>
                  <a:t>EPG-NSGA-II</a:t>
                </a:r>
              </a:p>
            </p:txBody>
          </p:sp>
        </p:grpSp>
        <p:grpSp>
          <p:nvGrpSpPr>
            <p:cNvPr id="94" name="Group 94"/>
            <p:cNvGrpSpPr/>
            <p:nvPr/>
          </p:nvGrpSpPr>
          <p:grpSpPr>
            <a:xfrm>
              <a:off x="11210124" y="3438525"/>
              <a:ext cx="416472" cy="1872996"/>
              <a:chOff x="11210124" y="3438525"/>
              <a:chExt cx="416472" cy="1872996"/>
            </a:xfrm>
          </p:grpSpPr>
          <p:sp>
            <p:nvSpPr>
              <p:cNvPr id="89" name="TextBox 89"/>
              <p:cNvSpPr txBox="1"/>
              <p:nvPr/>
            </p:nvSpPr>
            <p:spPr>
              <a:xfrm>
                <a:off x="11210124" y="3438525"/>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1.000</a:t>
                </a:r>
              </a:p>
            </p:txBody>
          </p:sp>
          <p:sp>
            <p:nvSpPr>
              <p:cNvPr id="90" name="TextBox 90"/>
              <p:cNvSpPr txBox="1"/>
              <p:nvPr/>
            </p:nvSpPr>
            <p:spPr>
              <a:xfrm>
                <a:off x="11210124" y="3848100"/>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0.985</a:t>
                </a:r>
              </a:p>
            </p:txBody>
          </p:sp>
          <p:sp>
            <p:nvSpPr>
              <p:cNvPr id="91" name="TextBox 91"/>
              <p:cNvSpPr txBox="1"/>
              <p:nvPr/>
            </p:nvSpPr>
            <p:spPr>
              <a:xfrm>
                <a:off x="11210124" y="4257675"/>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0.998</a:t>
                </a:r>
              </a:p>
            </p:txBody>
          </p:sp>
          <p:sp>
            <p:nvSpPr>
              <p:cNvPr id="92" name="TextBox 92"/>
              <p:cNvSpPr txBox="1"/>
              <p:nvPr/>
            </p:nvSpPr>
            <p:spPr>
              <a:xfrm>
                <a:off x="11210124" y="4667250"/>
                <a:ext cx="41647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1.048</a:t>
                </a:r>
              </a:p>
            </p:txBody>
          </p:sp>
          <p:sp>
            <p:nvSpPr>
              <p:cNvPr id="93" name="TextBox 93"/>
              <p:cNvSpPr txBox="1"/>
              <p:nvPr/>
            </p:nvSpPr>
            <p:spPr>
              <a:xfrm>
                <a:off x="11210124" y="5076825"/>
                <a:ext cx="416472" cy="234696"/>
              </a:xfrm>
              <a:prstGeom prst="rect">
                <a:avLst/>
              </a:prstGeom>
              <a:noFill/>
              <a:ln>
                <a:noFill/>
              </a:ln>
            </p:spPr>
            <p:txBody>
              <a:bodyPr wrap="none" lIns="0" tIns="0" rIns="0" bIns="0" anchor="t" anchorCtr="0">
                <a:spAutoFit/>
              </a:bodyPr>
              <a:lstStyle/>
              <a:p>
                <a:pPr algn="r"/>
                <a:r>
                  <a:rPr lang="en" sz="1200" b="1" dirty="0">
                    <a:solidFill>
                      <a:schemeClr val="accent2"/>
                    </a:solidFill>
                    <a:latin typeface="+mn-lt"/>
                    <a:ea typeface="+mn-ea"/>
                    <a:cs typeface="+mn-cs"/>
                  </a:rPr>
                  <a:t>1.048</a:t>
                </a:r>
              </a:p>
            </p:txBody>
          </p:sp>
        </p:grpSp>
        <p:grpSp>
          <p:nvGrpSpPr>
            <p:cNvPr id="99" name="Group 99"/>
            <p:cNvGrpSpPr/>
            <p:nvPr/>
          </p:nvGrpSpPr>
          <p:grpSpPr>
            <a:xfrm>
              <a:off x="9361689" y="5543550"/>
              <a:ext cx="2136371" cy="234696"/>
              <a:chOff x="9361689" y="5543550"/>
              <a:chExt cx="2136371" cy="234696"/>
            </a:xfrm>
          </p:grpSpPr>
          <p:sp>
            <p:nvSpPr>
              <p:cNvPr id="95" name="TextBox 95"/>
              <p:cNvSpPr txBox="1"/>
              <p:nvPr/>
            </p:nvSpPr>
            <p:spPr>
              <a:xfrm>
                <a:off x="9361689"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0.96</a:t>
                </a:r>
              </a:p>
            </p:txBody>
          </p:sp>
          <p:sp>
            <p:nvSpPr>
              <p:cNvPr id="96" name="TextBox 96"/>
              <p:cNvSpPr txBox="1"/>
              <p:nvPr/>
            </p:nvSpPr>
            <p:spPr>
              <a:xfrm>
                <a:off x="10019772"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1.00</a:t>
                </a:r>
              </a:p>
            </p:txBody>
          </p:sp>
          <p:sp>
            <p:nvSpPr>
              <p:cNvPr id="97" name="TextBox 97"/>
              <p:cNvSpPr txBox="1"/>
              <p:nvPr/>
            </p:nvSpPr>
            <p:spPr>
              <a:xfrm>
                <a:off x="10677854"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1.04</a:t>
                </a:r>
              </a:p>
            </p:txBody>
          </p:sp>
          <p:sp>
            <p:nvSpPr>
              <p:cNvPr id="98" name="TextBox 98"/>
              <p:cNvSpPr txBox="1"/>
              <p:nvPr/>
            </p:nvSpPr>
            <p:spPr>
              <a:xfrm>
                <a:off x="11171439" y="5543550"/>
                <a:ext cx="326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1.07</a:t>
                </a:r>
              </a:p>
            </p:txBody>
          </p:sp>
        </p:grpSp>
        <p:sp>
          <p:nvSpPr>
            <p:cNvPr id="100" name="TextBox 100"/>
            <p:cNvSpPr txBox="1"/>
            <p:nvPr/>
          </p:nvSpPr>
          <p:spPr>
            <a:xfrm>
              <a:off x="9596683" y="5902325"/>
              <a:ext cx="1666385" cy="264033"/>
            </a:xfrm>
            <a:prstGeom prst="rect">
              <a:avLst/>
            </a:prstGeom>
            <a:noFill/>
            <a:ln>
              <a:noFill/>
            </a:ln>
          </p:spPr>
          <p:txBody>
            <a:bodyPr wrap="none" lIns="0" tIns="0" rIns="0" bIns="0" anchor="t" anchorCtr="0">
              <a:spAutoFit/>
            </a:bodyPr>
            <a:lstStyle/>
            <a:p>
              <a:pPr algn="ctr"/>
              <a:r>
                <a:rPr lang="en" sz="1350" dirty="0">
                  <a:solidFill>
                    <a:schemeClr val="accent5"/>
                  </a:solidFill>
                  <a:latin typeface="+mn-lt"/>
                  <a:ea typeface="+mn-ea"/>
                  <a:cs typeface="+mn-cs"/>
                </a:rPr>
                <a:t>Final normalized HV</a:t>
              </a:r>
            </a:p>
          </p:txBody>
        </p:sp>
        <p:sp>
          <p:nvSpPr>
            <p:cNvPr id="101" name="TextBox 101"/>
            <p:cNvSpPr txBox="1"/>
            <p:nvPr/>
          </p:nvSpPr>
          <p:spPr>
            <a:xfrm>
              <a:off x="7613904" y="5810250"/>
              <a:ext cx="101392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run · | mean</a:t>
              </a:r>
            </a:p>
          </p:txBody>
        </p:sp>
      </p:grpSp>
      <p:grpSp>
        <p:nvGrpSpPr>
          <p:cNvPr id="104" name="p04-conditions"/>
          <p:cNvGrpSpPr/>
          <p:nvPr/>
        </p:nvGrpSpPr>
        <p:grpSpPr>
          <a:xfrm>
            <a:off x="565404" y="6210300"/>
            <a:ext cx="7750243" cy="234696"/>
            <a:chOff x="565404" y="6210300"/>
            <a:chExt cx="7750243" cy="234696"/>
          </a:xfrm>
        </p:grpSpPr>
        <p:sp>
          <p:nvSpPr>
            <p:cNvPr id="103" name="TextBox 103"/>
            <p:cNvSpPr txBox="1"/>
            <p:nvPr/>
          </p:nvSpPr>
          <p:spPr>
            <a:xfrm>
              <a:off x="565404" y="6210300"/>
              <a:ext cx="77502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Population 100 · Three independent runs · HV normalized to NSGA-II final mean · Common reference point</a:t>
              </a:r>
            </a:p>
          </p:txBody>
        </p:sp>
      </p:grpSp>
      <p:grpSp>
        <p:nvGrpSpPr>
          <p:cNvPr id="107" name="p04-footer"/>
          <p:cNvGrpSpPr/>
          <p:nvPr/>
        </p:nvGrpSpPr>
        <p:grpSpPr>
          <a:xfrm>
            <a:off x="566166" y="6454775"/>
            <a:ext cx="11059668" cy="205359"/>
            <a:chOff x="566166" y="6454775"/>
            <a:chExt cx="11059668" cy="205359"/>
          </a:xfrm>
        </p:grpSpPr>
        <p:sp>
          <p:nvSpPr>
            <p:cNvPr id="105" name="TextBox 105"/>
            <p:cNvSpPr txBox="1"/>
            <p:nvPr/>
          </p:nvSpPr>
          <p:spPr>
            <a:xfrm>
              <a:off x="566166" y="6454775"/>
              <a:ext cx="6935829"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Table I / Section III. Public-data model; storage energy/SOC limits and real-grid calibration remain future work.</a:t>
              </a:r>
            </a:p>
          </p:txBody>
        </p:sp>
        <p:sp>
          <p:nvSpPr>
            <p:cNvPr id="106" name="TextBox 10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 sz="1050" dirty="0">
                  <a:solidFill>
                    <a:schemeClr val="accent5"/>
                  </a:solidFill>
                  <a:latin typeface="+mn-lt"/>
                  <a:ea typeface="+mn-ea"/>
                  <a:cs typeface="+mn-cs"/>
                </a:rPr>
                <a:t>04 / 05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5-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 sz="1500" dirty="0">
                  <a:solidFill>
                    <a:srgbClr val="F2F8FC"/>
                  </a:solidFill>
                  <a:latin typeface="+mn-lt"/>
                  <a:ea typeface="+mn-ea"/>
                  <a:cs typeface="+mn-cs"/>
                </a:rPr>
                <a:t>MIND 2026</a:t>
              </a:r>
            </a:p>
          </p:txBody>
        </p:sp>
        <p:sp>
          <p:nvSpPr>
            <p:cNvPr id="3" name="TextBox 3"/>
            <p:cNvSpPr txBox="1"/>
            <p:nvPr/>
          </p:nvSpPr>
          <p:spPr>
            <a:xfrm>
              <a:off x="10297004" y="438150"/>
              <a:ext cx="1331116" cy="293370"/>
            </a:xfrm>
            <a:prstGeom prst="rect">
              <a:avLst/>
            </a:prstGeom>
            <a:noFill/>
            <a:ln>
              <a:noFill/>
            </a:ln>
          </p:spPr>
          <p:txBody>
            <a:bodyPr wrap="none" lIns="0" tIns="0" rIns="0" bIns="0" anchor="t" anchorCtr="0">
              <a:spAutoFit/>
            </a:bodyPr>
            <a:lstStyle/>
            <a:p>
              <a:pPr algn="r"/>
              <a:r>
                <a:rPr lang="en" sz="1500" dirty="0">
                  <a:solidFill>
                    <a:srgbClr val="66D5D0"/>
                  </a:solidFill>
                  <a:latin typeface="+mn-lt"/>
                  <a:ea typeface="+mn-ea"/>
                  <a:cs typeface="+mn-cs"/>
                </a:rPr>
                <a:t>EPG-NSGA-II</a:t>
              </a: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5-title"/>
          <p:cNvGrpSpPr/>
          <p:nvPr/>
        </p:nvGrpSpPr>
        <p:grpSpPr>
          <a:xfrm>
            <a:off x="552450" y="1682750"/>
            <a:ext cx="3902225" cy="1104900"/>
            <a:chOff x="552450" y="1682750"/>
            <a:chExt cx="3902225" cy="1104900"/>
          </a:xfrm>
        </p:grpSpPr>
        <p:sp>
          <p:nvSpPr>
            <p:cNvPr id="6" name="TextBox 6"/>
            <p:cNvSpPr txBox="1"/>
            <p:nvPr/>
          </p:nvSpPr>
          <p:spPr>
            <a:xfrm>
              <a:off x="552450" y="1682750"/>
              <a:ext cx="3902225" cy="1104900"/>
            </a:xfrm>
            <a:prstGeom prst="rect">
              <a:avLst/>
            </a:prstGeom>
            <a:noFill/>
            <a:ln>
              <a:noFill/>
            </a:ln>
          </p:spPr>
          <p:txBody>
            <a:bodyPr wrap="none" lIns="0" tIns="0" rIns="0" bIns="0" anchor="t" anchorCtr="0">
              <a:spAutoFit/>
            </a:bodyPr>
            <a:lstStyle/>
            <a:p>
              <a:pPr algn="l"/>
              <a:r>
                <a:rPr lang="en" sz="5700" b="1" dirty="0">
                  <a:solidFill>
                    <a:srgbClr val="F2F8FC"/>
                  </a:solidFill>
                  <a:latin typeface="+mn-lt"/>
                  <a:ea typeface="+mn-ea"/>
                  <a:cs typeface="+mn-cs"/>
                </a:rPr>
                <a:t>Thank you</a:t>
              </a:r>
            </a:p>
          </p:txBody>
        </p:sp>
      </p:grpSp>
      <p:grpSp>
        <p:nvGrpSpPr>
          <p:cNvPr id="9" name="p05-invitation"/>
          <p:cNvGrpSpPr/>
          <p:nvPr/>
        </p:nvGrpSpPr>
        <p:grpSpPr>
          <a:xfrm>
            <a:off x="559308" y="3051175"/>
            <a:ext cx="3392695" cy="469392"/>
            <a:chOff x="559308" y="3051175"/>
            <a:chExt cx="3392695" cy="469392"/>
          </a:xfrm>
        </p:grpSpPr>
        <p:sp>
          <p:nvSpPr>
            <p:cNvPr id="8" name="TextBox 8"/>
            <p:cNvSpPr txBox="1"/>
            <p:nvPr/>
          </p:nvSpPr>
          <p:spPr>
            <a:xfrm>
              <a:off x="559308" y="3051175"/>
              <a:ext cx="3392695" cy="469392"/>
            </a:xfrm>
            <a:prstGeom prst="rect">
              <a:avLst/>
            </a:prstGeom>
            <a:noFill/>
            <a:ln>
              <a:noFill/>
            </a:ln>
          </p:spPr>
          <p:txBody>
            <a:bodyPr wrap="none" lIns="0" tIns="0" rIns="0" bIns="0" anchor="t" anchorCtr="0">
              <a:spAutoFit/>
            </a:bodyPr>
            <a:lstStyle/>
            <a:p>
              <a:pPr algn="l"/>
              <a:r>
                <a:rPr lang="en" sz="2400" dirty="0">
                  <a:solidFill>
                    <a:srgbClr val="66D5D0"/>
                  </a:solidFill>
                  <a:latin typeface="+mn-lt"/>
                  <a:ea typeface="+mn-ea"/>
                  <a:cs typeface="+mn-cs"/>
                </a:rPr>
                <a:t>Questions &amp; discussion</a:t>
              </a:r>
            </a:p>
          </p:txBody>
        </p:sp>
      </p:grpSp>
      <p:grpSp>
        <p:nvGrpSpPr>
          <p:cNvPr id="35" name="p05-engineering-abstract"/>
          <p:cNvGrpSpPr/>
          <p:nvPr/>
        </p:nvGrpSpPr>
        <p:grpSpPr>
          <a:xfrm>
            <a:off x="8763000" y="1714500"/>
            <a:ext cx="2667000" cy="2190750"/>
            <a:chOff x="8763000" y="1714500"/>
            <a:chExt cx="2667000" cy="2190750"/>
          </a:xfrm>
        </p:grpSpPr>
        <p:grpSp>
          <p:nvGrpSpPr>
            <p:cNvPr id="17" name="Group 17"/>
            <p:cNvGrpSpPr/>
            <p:nvPr/>
          </p:nvGrpSpPr>
          <p:grpSpPr>
            <a:xfrm>
              <a:off x="8763000" y="1714500"/>
              <a:ext cx="2667000" cy="2190750"/>
              <a:chOff x="8763000" y="1714500"/>
              <a:chExt cx="2667000" cy="2190750"/>
            </a:xfrm>
          </p:grpSpPr>
          <p:sp>
            <p:nvSpPr>
              <p:cNvPr id="10" name="Line 10"/>
              <p:cNvSpPr/>
              <p:nvPr/>
            </p:nvSpPr>
            <p:spPr>
              <a:xfrm>
                <a:off x="8763000" y="190500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1" name="Line 11"/>
              <p:cNvSpPr/>
              <p:nvPr/>
            </p:nvSpPr>
            <p:spPr>
              <a:xfrm>
                <a:off x="8763000" y="2619375"/>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2" name="Line 12"/>
              <p:cNvSpPr/>
              <p:nvPr/>
            </p:nvSpPr>
            <p:spPr>
              <a:xfrm>
                <a:off x="8763000" y="333375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3" name="Line 13"/>
              <p:cNvSpPr/>
              <p:nvPr/>
            </p:nvSpPr>
            <p:spPr>
              <a:xfrm>
                <a:off x="904875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4" name="Line 14"/>
              <p:cNvSpPr/>
              <p:nvPr/>
            </p:nvSpPr>
            <p:spPr>
              <a:xfrm>
                <a:off x="976312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5" name="Line 15"/>
              <p:cNvSpPr/>
              <p:nvPr/>
            </p:nvSpPr>
            <p:spPr>
              <a:xfrm>
                <a:off x="1047750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6" name="Line 16"/>
              <p:cNvSpPr/>
              <p:nvPr/>
            </p:nvSpPr>
            <p:spPr>
              <a:xfrm>
                <a:off x="1119187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grpSp>
        <p:grpSp>
          <p:nvGrpSpPr>
            <p:cNvPr id="30" name="Group 30"/>
            <p:cNvGrpSpPr/>
            <p:nvPr/>
          </p:nvGrpSpPr>
          <p:grpSpPr>
            <a:xfrm>
              <a:off x="8839200" y="2114550"/>
              <a:ext cx="2514600" cy="1762125"/>
              <a:chOff x="8839200" y="2114550"/>
              <a:chExt cx="2514600" cy="1762125"/>
            </a:xfrm>
          </p:grpSpPr>
          <p:sp>
            <p:nvSpPr>
              <p:cNvPr id="18" name="Line 18"/>
              <p:cNvSpPr/>
              <p:nvPr/>
            </p:nvSpPr>
            <p:spPr>
              <a:xfrm>
                <a:off x="8953500" y="2114550"/>
                <a:ext cx="2286000" cy="9525"/>
              </a:xfrm>
              <a:custGeom>
                <a:avLst/>
                <a:gdLst/>
                <a:ahLst/>
                <a:cxnLst/>
                <a:rect l="l" t="t" r="r" b="b"/>
                <a:pathLst>
                  <a:path w="2286000" h="9525">
                    <a:moveTo>
                      <a:pt x="0" y="0"/>
                    </a:moveTo>
                    <a:lnTo>
                      <a:pt x="2286000" y="0"/>
                    </a:lnTo>
                  </a:path>
                </a:pathLst>
              </a:custGeom>
              <a:noFill/>
              <a:ln w="19050">
                <a:solidFill>
                  <a:srgbClr val="66D5D0"/>
                </a:solidFill>
              </a:ln>
            </p:spPr>
          </p:sp>
          <p:sp>
            <p:nvSpPr>
              <p:cNvPr id="19" name="Line 19"/>
              <p:cNvSpPr/>
              <p:nvPr/>
            </p:nvSpPr>
            <p:spPr>
              <a:xfrm>
                <a:off x="10096500" y="2114550"/>
                <a:ext cx="9525" cy="304800"/>
              </a:xfrm>
              <a:custGeom>
                <a:avLst/>
                <a:gdLst/>
                <a:ahLst/>
                <a:cxnLst/>
                <a:rect l="l" t="t" r="r" b="b"/>
                <a:pathLst>
                  <a:path w="9525" h="304800">
                    <a:moveTo>
                      <a:pt x="0" y="0"/>
                    </a:moveTo>
                    <a:lnTo>
                      <a:pt x="0" y="304800"/>
                    </a:lnTo>
                  </a:path>
                </a:pathLst>
              </a:custGeom>
              <a:noFill/>
              <a:ln w="19050">
                <a:solidFill>
                  <a:srgbClr val="66D5D0"/>
                </a:solidFill>
              </a:ln>
            </p:spPr>
          </p:sp>
          <p:sp>
            <p:nvSpPr>
              <p:cNvPr id="20" name="Ellipse 20"/>
              <p:cNvSpPr/>
              <p:nvPr/>
            </p:nvSpPr>
            <p:spPr>
              <a:xfrm>
                <a:off x="9925050" y="2419350"/>
                <a:ext cx="342900" cy="342900"/>
              </a:xfrm>
              <a:prstGeom prst="ellipse">
                <a:avLst/>
              </a:prstGeom>
              <a:noFill/>
              <a:ln w="19050">
                <a:solidFill>
                  <a:srgbClr val="66D5D0"/>
                </a:solidFill>
              </a:ln>
            </p:spPr>
          </p:sp>
          <p:sp>
            <p:nvSpPr>
              <p:cNvPr id="21" name="Ellipse 21"/>
              <p:cNvSpPr/>
              <p:nvPr/>
            </p:nvSpPr>
            <p:spPr>
              <a:xfrm>
                <a:off x="9925050" y="2638425"/>
                <a:ext cx="342900" cy="342900"/>
              </a:xfrm>
              <a:prstGeom prst="ellipse">
                <a:avLst/>
              </a:prstGeom>
              <a:noFill/>
              <a:ln w="19050">
                <a:solidFill>
                  <a:srgbClr val="66D5D0"/>
                </a:solidFill>
              </a:ln>
            </p:spPr>
          </p:sp>
          <p:sp>
            <p:nvSpPr>
              <p:cNvPr id="22" name="Line 22"/>
              <p:cNvSpPr/>
              <p:nvPr/>
            </p:nvSpPr>
            <p:spPr>
              <a:xfrm>
                <a:off x="10096500" y="2981325"/>
                <a:ext cx="9525" cy="238125"/>
              </a:xfrm>
              <a:custGeom>
                <a:avLst/>
                <a:gdLst/>
                <a:ahLst/>
                <a:cxnLst/>
                <a:rect l="l" t="t" r="r" b="b"/>
                <a:pathLst>
                  <a:path w="9525" h="238125">
                    <a:moveTo>
                      <a:pt x="0" y="0"/>
                    </a:moveTo>
                    <a:lnTo>
                      <a:pt x="0" y="238125"/>
                    </a:lnTo>
                  </a:path>
                </a:pathLst>
              </a:custGeom>
              <a:noFill/>
              <a:ln w="19050">
                <a:solidFill>
                  <a:srgbClr val="66D5D0"/>
                </a:solidFill>
              </a:ln>
            </p:spPr>
          </p:sp>
          <p:sp>
            <p:nvSpPr>
              <p:cNvPr id="23" name="Line 23"/>
              <p:cNvSpPr/>
              <p:nvPr/>
            </p:nvSpPr>
            <p:spPr>
              <a:xfrm>
                <a:off x="9096375" y="3219450"/>
                <a:ext cx="2000250" cy="9525"/>
              </a:xfrm>
              <a:custGeom>
                <a:avLst/>
                <a:gdLst/>
                <a:ahLst/>
                <a:cxnLst/>
                <a:rect l="l" t="t" r="r" b="b"/>
                <a:pathLst>
                  <a:path w="2000250" h="9525">
                    <a:moveTo>
                      <a:pt x="0" y="0"/>
                    </a:moveTo>
                    <a:lnTo>
                      <a:pt x="2000250" y="0"/>
                    </a:lnTo>
                  </a:path>
                </a:pathLst>
              </a:custGeom>
              <a:noFill/>
              <a:ln w="19050">
                <a:solidFill>
                  <a:srgbClr val="66D5D0"/>
                </a:solidFill>
              </a:ln>
            </p:spPr>
          </p:sp>
          <p:sp>
            <p:nvSpPr>
              <p:cNvPr id="24" name="Line 24"/>
              <p:cNvSpPr/>
              <p:nvPr/>
            </p:nvSpPr>
            <p:spPr>
              <a:xfrm>
                <a:off x="909637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5" name="Line 25"/>
              <p:cNvSpPr/>
              <p:nvPr/>
            </p:nvSpPr>
            <p:spPr>
              <a:xfrm>
                <a:off x="10096500"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6" name="Line 26"/>
              <p:cNvSpPr/>
              <p:nvPr/>
            </p:nvSpPr>
            <p:spPr>
              <a:xfrm>
                <a:off x="1109662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7" name="Rectangle 27"/>
              <p:cNvSpPr/>
              <p:nvPr/>
            </p:nvSpPr>
            <p:spPr>
              <a:xfrm>
                <a:off x="8839200" y="3476625"/>
                <a:ext cx="514350" cy="400050"/>
              </a:xfrm>
              <a:prstGeom prst="rect">
                <a:avLst/>
              </a:prstGeom>
              <a:noFill/>
              <a:ln w="19050">
                <a:solidFill>
                  <a:srgbClr val="66D5D0"/>
                </a:solidFill>
              </a:ln>
            </p:spPr>
          </p:sp>
          <p:sp>
            <p:nvSpPr>
              <p:cNvPr id="28" name="Rectangle 28"/>
              <p:cNvSpPr/>
              <p:nvPr/>
            </p:nvSpPr>
            <p:spPr>
              <a:xfrm>
                <a:off x="9839325" y="3476625"/>
                <a:ext cx="514350" cy="400050"/>
              </a:xfrm>
              <a:prstGeom prst="rect">
                <a:avLst/>
              </a:prstGeom>
              <a:noFill/>
              <a:ln w="19050">
                <a:solidFill>
                  <a:srgbClr val="66D5D0"/>
                </a:solidFill>
              </a:ln>
            </p:spPr>
          </p:sp>
          <p:sp>
            <p:nvSpPr>
              <p:cNvPr id="29" name="Rectangle 29"/>
              <p:cNvSpPr/>
              <p:nvPr/>
            </p:nvSpPr>
            <p:spPr>
              <a:xfrm>
                <a:off x="10839450" y="3476625"/>
                <a:ext cx="514350" cy="400050"/>
              </a:xfrm>
              <a:prstGeom prst="rect">
                <a:avLst/>
              </a:prstGeom>
              <a:noFill/>
              <a:ln w="19050">
                <a:solidFill>
                  <a:srgbClr val="66D5D0"/>
                </a:solidFill>
              </a:ln>
            </p:spPr>
          </p:sp>
        </p:grpSp>
        <p:grpSp>
          <p:nvGrpSpPr>
            <p:cNvPr id="34" name="Group 34"/>
            <p:cNvGrpSpPr/>
            <p:nvPr/>
          </p:nvGrpSpPr>
          <p:grpSpPr>
            <a:xfrm>
              <a:off x="8850846" y="3597592"/>
              <a:ext cx="2444097" cy="264033"/>
              <a:chOff x="8850846" y="3597592"/>
              <a:chExt cx="2444097" cy="264033"/>
            </a:xfrm>
          </p:grpSpPr>
          <p:sp>
            <p:nvSpPr>
              <p:cNvPr id="31" name="TextBox 31"/>
              <p:cNvSpPr txBox="1"/>
              <p:nvPr/>
            </p:nvSpPr>
            <p:spPr>
              <a:xfrm>
                <a:off x="8850846" y="3597592"/>
                <a:ext cx="49105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1</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1</a:t>
                </a:r>
              </a:p>
            </p:txBody>
          </p:sp>
          <p:sp>
            <p:nvSpPr>
              <p:cNvPr id="32" name="TextBox 32"/>
              <p:cNvSpPr txBox="1"/>
              <p:nvPr/>
            </p:nvSpPr>
            <p:spPr>
              <a:xfrm>
                <a:off x="9850971" y="3597592"/>
                <a:ext cx="491059"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2</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2</a:t>
                </a:r>
              </a:p>
            </p:txBody>
          </p:sp>
          <p:sp>
            <p:nvSpPr>
              <p:cNvPr id="33" name="TextBox 33"/>
              <p:cNvSpPr txBox="1"/>
              <p:nvPr/>
            </p:nvSpPr>
            <p:spPr>
              <a:xfrm>
                <a:off x="10898307" y="3597592"/>
                <a:ext cx="396636" cy="264033"/>
              </a:xfrm>
              <a:prstGeom prst="rect">
                <a:avLst/>
              </a:prstGeom>
              <a:noFill/>
              <a:ln>
                <a:noFill/>
              </a:ln>
            </p:spPr>
            <p:txBody>
              <a:bodyPr wrap="none" lIns="0" tIns="0" rIns="0" bIns="0" anchor="t" anchorCtr="0">
                <a:spAutoFit/>
              </a:bodyPr>
              <a:lstStyle/>
              <a:p>
                <a:pPr algn="ctr"/>
                <a:r>
                  <a:rPr lang="en" sz="1350" dirty="0">
                    <a:solidFill>
                      <a:srgbClr val="F2F8FC"/>
                    </a:solidFill>
                    <a:latin typeface="+mn-lt"/>
                    <a:ea typeface="+mn-ea"/>
                    <a:cs typeface="+mn-cs"/>
                  </a:rPr>
                  <a:t>R</a:t>
                </a:r>
                <a:r>
                  <a:rPr lang="en" sz="1050" baseline="-25000" dirty="0">
                    <a:solidFill>
                      <a:srgbClr val="F2F8FC"/>
                    </a:solidFill>
                    <a:latin typeface="+mn-lt"/>
                    <a:ea typeface="+mn-ea"/>
                    <a:cs typeface="+mn-cs"/>
                  </a:rPr>
                  <a:t>j</a:t>
                </a:r>
                <a:r>
                  <a:rPr lang="en" sz="1350" dirty="0">
                    <a:solidFill>
                      <a:srgbClr val="F2F8FC"/>
                    </a:solidFill>
                    <a:latin typeface="+mn-lt"/>
                    <a:ea typeface="+mn-ea"/>
                    <a:cs typeface="+mn-cs"/>
                  </a:rPr>
                  <a:t>,P</a:t>
                </a:r>
                <a:r>
                  <a:rPr lang="en" sz="1050" baseline="-25000" dirty="0">
                    <a:solidFill>
                      <a:srgbClr val="F2F8FC"/>
                    </a:solidFill>
                    <a:latin typeface="+mn-lt"/>
                    <a:ea typeface="+mn-ea"/>
                    <a:cs typeface="+mn-cs"/>
                  </a:rPr>
                  <a:t>j</a:t>
                </a:r>
              </a:p>
            </p:txBody>
          </p:sp>
        </p:grpSp>
      </p:grpSp>
      <p:grpSp>
        <p:nvGrpSpPr>
          <p:cNvPr id="39" name="p05-takeaway"/>
          <p:cNvGrpSpPr/>
          <p:nvPr/>
        </p:nvGrpSpPr>
        <p:grpSpPr>
          <a:xfrm>
            <a:off x="559308" y="4467225"/>
            <a:ext cx="11061192" cy="1546733"/>
            <a:chOff x="559308" y="4467225"/>
            <a:chExt cx="11061192" cy="1546733"/>
          </a:xfrm>
        </p:grpSpPr>
        <p:sp>
          <p:nvSpPr>
            <p:cNvPr id="36" name="Line 36"/>
            <p:cNvSpPr/>
            <p:nvPr/>
          </p:nvSpPr>
          <p:spPr>
            <a:xfrm>
              <a:off x="571500" y="44672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sp>
          <p:nvSpPr>
            <p:cNvPr id="37" name="TextBox 37"/>
            <p:cNvSpPr txBox="1"/>
            <p:nvPr/>
          </p:nvSpPr>
          <p:spPr>
            <a:xfrm>
              <a:off x="559308" y="4705350"/>
              <a:ext cx="6818681" cy="926592"/>
            </a:xfrm>
            <a:prstGeom prst="rect">
              <a:avLst/>
            </a:prstGeom>
            <a:noFill/>
            <a:ln>
              <a:noFill/>
            </a:ln>
          </p:spPr>
          <p:txBody>
            <a:bodyPr wrap="none" lIns="0" tIns="0" rIns="0" bIns="0" anchor="t" anchorCtr="0">
              <a:spAutoFit/>
            </a:bodyPr>
            <a:lstStyle/>
            <a:p>
              <a:pPr algn="l">
                <a:lnSpc>
                  <a:spcPts val="3600"/>
                </a:lnSpc>
              </a:pPr>
              <a:r>
                <a:rPr lang="en" sz="2400" dirty="0">
                  <a:solidFill>
                    <a:srgbClr val="F2F8FC"/>
                  </a:solidFill>
                  <a:latin typeface="+mn-lt"/>
                  <a:ea typeface="+mn-ea"/>
                  <a:cs typeface="+mn-cs"/>
                </a:rPr>
                <a:t xml:space="preserve">Engineering priors support </a:t>
              </a:r>
              <a:r>
                <a:rPr lang="en" sz="2400" b="1" dirty="0">
                  <a:solidFill>
                    <a:srgbClr val="66D5D0"/>
                  </a:solidFill>
                  <a:latin typeface="+mn-lt"/>
                  <a:ea typeface="+mn-ea"/>
                  <a:cs typeface="+mn-cs"/>
                </a:rPr>
                <a:t>more effective search</a:t>
              </a:r>
              <a:br>
                <a:rPr lang="en" sz="2400" b="1" dirty="0">
                  <a:solidFill>
                    <a:srgbClr val="66D5D0"/>
                  </a:solidFill>
                  <a:latin typeface="+mn-lt"/>
                  <a:ea typeface="+mn-ea"/>
                  <a:cs typeface="+mn-cs"/>
                </a:rPr>
              </a:br>
              <a:r>
                <a:rPr lang="en" sz="2400" dirty="0">
                  <a:solidFill>
                    <a:srgbClr val="F2F8FC"/>
                  </a:solidFill>
                  <a:latin typeface="+mn-lt"/>
                  <a:ea typeface="+mn-ea"/>
                  <a:cs typeface="+mn-cs"/>
                </a:rPr>
                <a:t>and differentiated CLR and storage planning.</a:t>
              </a:r>
            </a:p>
          </p:txBody>
        </p:sp>
        <p:sp>
          <p:nvSpPr>
            <p:cNvPr id="38" name="TextBox 38"/>
            <p:cNvSpPr txBox="1"/>
            <p:nvPr/>
          </p:nvSpPr>
          <p:spPr>
            <a:xfrm>
              <a:off x="564642" y="5749925"/>
              <a:ext cx="8228733" cy="264033"/>
            </a:xfrm>
            <a:prstGeom prst="rect">
              <a:avLst/>
            </a:prstGeom>
            <a:noFill/>
            <a:ln>
              <a:noFill/>
            </a:ln>
          </p:spPr>
          <p:txBody>
            <a:bodyPr wrap="none" lIns="0" tIns="0" rIns="0" bIns="0" anchor="t" anchorCtr="0">
              <a:spAutoFit/>
            </a:bodyPr>
            <a:lstStyle/>
            <a:p>
              <a:pPr algn="l"/>
              <a:r>
                <a:rPr lang="en" sz="1350" dirty="0">
                  <a:solidFill>
                    <a:srgbClr val="66D5D0"/>
                  </a:solidFill>
                  <a:latin typeface="+mn-lt"/>
                  <a:ea typeface="+mn-ea"/>
                  <a:cs typeface="+mn-cs"/>
                </a:rPr>
                <a:t>ENGINEERING KNOWLEDGE → CANDIDATE CONSTRUCTION → PLANNING TRADE-OFFS</a:t>
              </a:r>
            </a:p>
          </p:txBody>
        </p:sp>
      </p:grpSp>
      <p:grpSp>
        <p:nvGrpSpPr>
          <p:cNvPr id="42" name="p05-footer"/>
          <p:cNvGrpSpPr/>
          <p:nvPr/>
        </p:nvGrpSpPr>
        <p:grpSpPr>
          <a:xfrm>
            <a:off x="566166" y="6435725"/>
            <a:ext cx="11059668" cy="205359"/>
            <a:chOff x="566166" y="6435725"/>
            <a:chExt cx="11059668" cy="205359"/>
          </a:xfrm>
        </p:grpSpPr>
        <p:sp>
          <p:nvSpPr>
            <p:cNvPr id="40" name="TextBox 40"/>
            <p:cNvSpPr txBox="1"/>
            <p:nvPr/>
          </p:nvSpPr>
          <p:spPr>
            <a:xfrm>
              <a:off x="566166" y="6435725"/>
              <a:ext cx="4196004" cy="205359"/>
            </a:xfrm>
            <a:prstGeom prst="rect">
              <a:avLst/>
            </a:prstGeom>
            <a:noFill/>
            <a:ln>
              <a:noFill/>
            </a:ln>
          </p:spPr>
          <p:txBody>
            <a:bodyPr wrap="none" lIns="0" tIns="0" rIns="0" bIns="0" anchor="t" anchorCtr="0">
              <a:spAutoFit/>
            </a:bodyPr>
            <a:lstStyle/>
            <a:p>
              <a:pPr algn="l"/>
              <a:r>
                <a:rPr lang="en" sz="1050" dirty="0">
                  <a:solidFill>
                    <a:srgbClr val="F2F8FC"/>
                  </a:solidFill>
                  <a:latin typeface="+mn-lt"/>
                  <a:ea typeface="+mn-ea"/>
                  <a:cs typeface="+mn-cs"/>
                </a:rPr>
                <a:t>Engineering-Prior-Guided NSGA-II · County-level 110 kV planning</a:t>
              </a:r>
            </a:p>
          </p:txBody>
        </p:sp>
        <p:sp>
          <p:nvSpPr>
            <p:cNvPr id="41" name="TextBox 41"/>
            <p:cNvSpPr txBox="1"/>
            <p:nvPr/>
          </p:nvSpPr>
          <p:spPr>
            <a:xfrm>
              <a:off x="11182886" y="6435725"/>
              <a:ext cx="442948" cy="205359"/>
            </a:xfrm>
            <a:prstGeom prst="rect">
              <a:avLst/>
            </a:prstGeom>
            <a:noFill/>
            <a:ln>
              <a:noFill/>
            </a:ln>
          </p:spPr>
          <p:txBody>
            <a:bodyPr wrap="none" lIns="0" tIns="0" rIns="0" bIns="0" anchor="t" anchorCtr="0">
              <a:spAutoFit/>
            </a:bodyPr>
            <a:lstStyle/>
            <a:p>
              <a:pPr algn="r"/>
              <a:r>
                <a:rPr lang="en" sz="1050" dirty="0">
                  <a:solidFill>
                    <a:srgbClr val="F2F8FC"/>
                  </a:solidFill>
                  <a:latin typeface="+mn-lt"/>
                  <a:ea typeface="+mn-ea"/>
                  <a:cs typeface="+mn-cs"/>
                </a:rPr>
                <a:t>05 / 05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2026-10-20T12:40:30Z</dcterms:created>
  <dcterms:modified xsi:type="dcterms:W3CDTF">2026-10-20T12:40:30Z</dcterms:modified>
  <cp:category/>
  <cp:contentStatus/>
</cp:coreProperties>
</file>