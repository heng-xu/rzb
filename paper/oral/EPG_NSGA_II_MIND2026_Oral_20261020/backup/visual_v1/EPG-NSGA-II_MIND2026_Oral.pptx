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2"/>
  </p:notesMasterIdLst>
  <p:sldIdLst>
    <p:sldId id="256" r:id="rId7"/>
    <p:sldId id="257" r:id="rId8"/>
    <p:sldId id="258" r:id="rId9"/>
    <p:sldId id="259" r:id="rId10"/>
    <p:sldId id="260" r:id="rId11"/>
  </p:sldIdLst>
  <p:sldSz cx="12192000" cy="6858000" type="screen16x9"/>
  <p:notesSz cx="6858000" cy="9144000"/>
  <p:defaultTextStyle>
    <a:defPPr>
      <a:defRPr lang="en"/>
    </a:defPPr>
    <a:lvl1pPr marL="0" algn="l" defTabSz="457200" rtl="0" eaLnBrk="1" latinLnBrk="0" hangingPunct="1">
      <a:defRPr sz="1800" kern="1200" lang="en">
        <a:solidFill>
          <a:schemeClr val="tx1"/>
        </a:solidFill>
        <a:latin typeface="+mn-lt"/>
        <a:ea typeface="+mn-ea"/>
        <a:cs typeface="+mn-cs"/>
      </a:defRPr>
    </a:lvl1pPr>
    <a:lvl2pPr marL="457200" algn="l" defTabSz="457200" rtl="0" eaLnBrk="1" latinLnBrk="0" hangingPunct="1">
      <a:defRPr sz="1800" kern="1200" lang="en">
        <a:solidFill>
          <a:schemeClr val="tx1"/>
        </a:solidFill>
        <a:latin typeface="+mn-lt"/>
        <a:ea typeface="+mn-ea"/>
        <a:cs typeface="+mn-cs"/>
      </a:defRPr>
    </a:lvl2pPr>
    <a:lvl3pPr marL="914400" algn="l" defTabSz="457200" rtl="0" eaLnBrk="1" latinLnBrk="0" hangingPunct="1">
      <a:defRPr sz="1800" kern="1200" lang="en">
        <a:solidFill>
          <a:schemeClr val="tx1"/>
        </a:solidFill>
        <a:latin typeface="+mn-lt"/>
        <a:ea typeface="+mn-ea"/>
        <a:cs typeface="+mn-cs"/>
      </a:defRPr>
    </a:lvl3pPr>
    <a:lvl4pPr marL="1371600" algn="l" defTabSz="457200" rtl="0" eaLnBrk="1" latinLnBrk="0" hangingPunct="1">
      <a:defRPr sz="1800" kern="1200" lang="en">
        <a:solidFill>
          <a:schemeClr val="tx1"/>
        </a:solidFill>
        <a:latin typeface="+mn-lt"/>
        <a:ea typeface="+mn-ea"/>
        <a:cs typeface="+mn-cs"/>
      </a:defRPr>
    </a:lvl4pPr>
    <a:lvl5pPr marL="1828800" algn="l" defTabSz="457200" rtl="0" eaLnBrk="1" latinLnBrk="0" hangingPunct="1">
      <a:defRPr sz="1800" kern="1200" lang="en">
        <a:solidFill>
          <a:schemeClr val="tx1"/>
        </a:solidFill>
        <a:latin typeface="+mn-lt"/>
        <a:ea typeface="+mn-ea"/>
        <a:cs typeface="+mn-cs"/>
      </a:defRPr>
    </a:lvl5pPr>
    <a:lvl6pPr marL="2286000" algn="l" defTabSz="457200" rtl="0" eaLnBrk="1" latinLnBrk="0" hangingPunct="1">
      <a:defRPr sz="1800" kern="1200" lang="en">
        <a:solidFill>
          <a:schemeClr val="tx1"/>
        </a:solidFill>
        <a:latin typeface="+mn-lt"/>
        <a:ea typeface="+mn-ea"/>
        <a:cs typeface="+mn-cs"/>
      </a:defRPr>
    </a:lvl6pPr>
    <a:lvl7pPr marL="2743200" algn="l" defTabSz="457200" rtl="0" eaLnBrk="1" latinLnBrk="0" hangingPunct="1">
      <a:defRPr sz="1800" kern="1200" lang="en">
        <a:solidFill>
          <a:schemeClr val="tx1"/>
        </a:solidFill>
        <a:latin typeface="+mn-lt"/>
        <a:ea typeface="+mn-ea"/>
        <a:cs typeface="+mn-cs"/>
      </a:defRPr>
    </a:lvl7pPr>
    <a:lvl8pPr marL="3200400" algn="l" defTabSz="457200" rtl="0" eaLnBrk="1" latinLnBrk="0" hangingPunct="1">
      <a:defRPr sz="1800" kern="1200" lang="en">
        <a:solidFill>
          <a:schemeClr val="tx1"/>
        </a:solidFill>
        <a:latin typeface="+mn-lt"/>
        <a:ea typeface="+mn-ea"/>
        <a:cs typeface="+mn-cs"/>
      </a:defRPr>
    </a:lvl8pPr>
    <a:lvl9pPr marL="3657600" algn="l" defTabSz="457200" rtl="0" eaLnBrk="1" latinLnBrk="0" hangingPunct="1">
      <a:defRPr sz="1800" kern="1200" lang="e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  <Relationship Id="rId1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
          </a:p>
        </p:txBody>
      </p:sp>
    </p:spTree>
  </p:cSld>
  <p:clrMap bg1="lt1" tx1="dk1" bg2="lt2" tx2="dk2" accent1="accent1" accent2="accent2" accent3="accent3" accent4="accent4" accent5="accent5" accent6="accent6" hlink="hlink" folHlink="folHlink"/>
  <p:hf/>
  <p:notesStyle>
    <a:lvl1pPr marL="0" algn="l">
      <a:defRPr sz="1200" lang="e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Hello everyone. Today I will present Engineering-Prior-Guided NSGA-II, or EPG-NSGA-II, for differentiated capacity-load ratio optimization in county-level 110-kilovolt grids with high distributed photovoltaic penetration. This work jointly plans transformer capacity and storage power. I will briefly explain the planning problem, our algorithm, and the main experimental results.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High distributed PV penetration changes power flow. Electricity normally moves from the upstream grid toward local demand, but midday PV generation can create reverse flow through a substation. The planning challenge is that substations differ in PV penetration and transfer capability, while a fixed capacity-load ratio cap of two treats these differences uniformly.</a:t>
            </a:r>
          </a:p>
          <a:p>
            <a:pPr/>
            <a:endParaRPr lang="en" dirty="0"/>
          </a:p>
          <a:p>
            <a:pPr/>
            <a:r>
              <a:rPr lang="en" dirty="0"/>
              <a:t>We therefore optimize two quantities at each station: its capacity-load ratio, or CLR, and its storage power rating in megawatts. CLR is dimensionless and means planned transformer capacity divided by forecast peak load. The paper uses a five-year forecast with five percent annual growth.</a:t>
            </a:r>
          </a:p>
          <a:p>
            <a:pPr/>
            <a:endParaRPr lang="en" dirty="0"/>
          </a:p>
          <a:p>
            <a:pPr/>
            <a:r>
              <a:rPr lang="en" dirty="0"/>
              <a:t>The objectives are annualized cost, in million yuan per year, and expected energy not supplied, or EENS, in megawatt-hours per year. EENS measures supply inadequacy under N-minus-one contingencies. Feasibility is defined by station reverse-flow limits, an aggregate CLR band from one point eight to three, and an upstream reverse-flow limit when enabled.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Our solution adds engineering-prior seeding and feasibility repair to standard NSGA-II. The key change is how candidate plans are constructed and adjusted.</a:t>
            </a:r>
          </a:p>
          <a:p>
            <a:pPr/>
            <a:endParaRPr lang="en" dirty="0"/>
          </a:p>
          <a:p>
            <a:pPr/>
            <a:r>
              <a:rPr lang="en" dirty="0"/>
              <a:t>For the initial population, we sample station CLR values, start storage power at zero, and apply repair before evaluation. During evolution, standard variation produces offspring, the same repair adjusts them, and evaluation and selection form the next generation.</a:t>
            </a:r>
          </a:p>
          <a:p>
            <a:pPr/>
            <a:endParaRPr lang="en" dirty="0"/>
          </a:p>
          <a:p>
            <a:pPr/>
            <a:r>
              <a:rPr lang="en" dirty="0"/>
              <a:t>Repair has three priorities. First, a bounded common offset shifts station CLR values to satisfy the load-weighted aggregate band. Second, station-level repair increases storage power where residual reverse injection exceeds the transformer reverse-loading limit. Third, when the upstream constraint is enabled, storage is allocated in descending order of residual reverse injection, until the upstream limit is met or adjustable storage ratings reach their bounds.</a:t>
            </a:r>
          </a:p>
          <a:p>
            <a:pPr/>
            <a:endParaRPr lang="en" dirty="0"/>
          </a:p>
          <a:p>
            <a:pPr/>
            <a:r>
              <a:rPr lang="en" dirty="0"/>
              <a:t>Any remaining infeasibility is handled by constraint domination. Standard variation, non-dominated ranking, and environmental selection are retained. These engineering rules direct candidate construction toward feasibility while the evolutionary search explores the cost and adequacy trade-off.</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experiments use a public-data benchmark, with loads scaled from the IEEE thirty-three-bus system and PV profiles derived from PVGIS. Population size is one hundred, and results are averaged over three independent runs.</a:t>
            </a:r>
          </a:p>
          <a:p>
            <a:pPr/>
            <a:endParaRPr lang="en" dirty="0"/>
          </a:p>
          <a:p>
            <a:pPr/>
            <a:r>
              <a:rPr lang="en" dirty="0"/>
              <a:t>On the left, for forty substations, EPG-NSGA-II achieves four point eight percent higher mean final hypervolume than standard NSGA-II. Hypervolume is normalized to the standard baseline at termination using a common reference point. The baselines run for eight hundred generations, while EPG-NSGA-II and its ablations run for four hundred. Repair-only nearly matches the full method, while seeding-only remains close to the baseline. Repair is therefore the main contributor to the final gain. The paper also reports that the mean EPG curve reaches the standard baseline's final hypervolume by generation eighty-four.</a:t>
            </a:r>
          </a:p>
          <a:p>
            <a:pPr/>
            <a:endParaRPr lang="en" dirty="0"/>
          </a:p>
          <a:p>
            <a:pPr/>
            <a:r>
              <a:rPr lang="en" dirty="0"/>
              <a:t>On the right, the twenty-substation design comparison reduces annualized cost from two hundred thirty-six point four zero to two hundred twenty-eight point four three million yuan per year, a reduction of three point four percent. Modeled EENS falls from five hundred sixty-one to zero megawatt-hours per year relative to the two-point-zero-capped design.</a:t>
            </a:r>
          </a:p>
          <a:p>
            <a:pPr/>
            <a:endParaRPr lang="en" dirty="0"/>
          </a:p>
          <a:p>
            <a:pPr/>
            <a:r>
              <a:rPr lang="en" dirty="0"/>
              <a:t>These results apply to the current model. Storage energy and state-of-charge limits, together with real-grid calibration, remain future work.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main takeaway is that engineering-prior seeding and repair support more effective constrained search and differentiated CLR and storage planning. Thank you for your attention. I welcome your questions.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EPG_NSGA_II_MIND2026_Oral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 smtClean="0"/>
              <a:t>1/27/13</a:t>
            </a:fld>
            <a:endParaRPr lang="en"/>
          </a:p>
        </p:txBody>
      </p:sp>
      <p:sp>
        <p:nvSpPr>
          <p:cNvPr id="3" name="Footer Placeholder 2"/>
          <p:cNvSpPr>
            <a:spLocks noGrp="1"/>
          </p:cNvSpPr>
          <p:nvPr>
            <p:ph type="ftr" sz="quarter" idx="11"/>
          </p:nvPr>
        </p:nvSpPr>
        <p:spPr/>
        <p:txBody>
          <a:bodyPr/>
          <a:lstStyle/>
          <a:p>
            <a:endParaRPr lang="en"/>
          </a:p>
        </p:txBody>
      </p:sp>
      <p:sp>
        <p:nvSpPr>
          <p:cNvPr id="4" name="Slide Number Placeholder 3"/>
          <p:cNvSpPr>
            <a:spLocks noGrp="1"/>
          </p:cNvSpPr>
          <p:nvPr>
            <p:ph type="sldNum" sz="quarter" idx="12"/>
          </p:nvPr>
        </p:nvSpPr>
        <p:spPr/>
        <p:txBody>
          <a:bodyPr/>
          <a:lstStyle/>
          <a:p>
            <a:fld id="{C1FF6DA9-008F-8B48-92A6-B652298478BF}" type="slidenum">
              <a:rPr lang="en" smtClean="0"/>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EPG_NSGA_II_MIND2026_Oral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
                <a:solidFill>
                  <a:schemeClr val="tx1">
                    <a:tint val="75000"/>
                  </a:schemeClr>
                </a:solidFill>
              </a:defRPr>
            </a:lvl1pPr>
          </a:lstStyle>
          <a:p>
            <a:fld id="{5BCAD085-E8A6-8845-BD4E-CB4CCA059FC4}" type="datetimeFigureOut">
              <a:rPr lang="en" smtClean="0"/>
              <a:t>1/27/13</a:t>
            </a:fld>
            <a:endParaRPr lang="e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
                <a:solidFill>
                  <a:schemeClr val="tx1">
                    <a:tint val="75000"/>
                  </a:schemeClr>
                </a:solidFill>
              </a:defRPr>
            </a:lvl1pPr>
          </a:lstStyle>
          <a:p>
            <a:endParaRPr lang="e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
                <a:solidFill>
                  <a:schemeClr val="tx1">
                    <a:tint val="75000"/>
                  </a:schemeClr>
                </a:solidFill>
              </a:defRPr>
            </a:lvl1pPr>
          </a:lstStyle>
          <a:p>
            <a:fld id="{C1FF6DA9-008F-8B48-92A6-B652298478BF}" type="slidenum">
              <a:rPr lang="en" smtClean="0"/>
              <a:t>‹#›</a:t>
            </a:fld>
            <a:endParaRPr lang="e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lang="e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e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e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e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e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e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e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e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e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en">
          <a:solidFill>
            <a:schemeClr val="tx1"/>
          </a:solidFill>
          <a:latin typeface="+mn-lt"/>
          <a:ea typeface="+mn-ea"/>
          <a:cs typeface="+mn-cs"/>
        </a:defRPr>
      </a:lvl9pPr>
    </p:bodyStyle>
    <p:otherStyle>
      <a:defPPr>
        <a:defRPr lang="en"/>
      </a:defPPr>
      <a:lvl1pPr marL="0" algn="l" defTabSz="457200" rtl="0" eaLnBrk="1" latinLnBrk="0" hangingPunct="1">
        <a:defRPr sz="2100" kern="1200" lang="en">
          <a:solidFill>
            <a:schemeClr val="tx1"/>
          </a:solidFill>
          <a:latin typeface="+mn-lt"/>
          <a:ea typeface="+mn-ea"/>
          <a:cs typeface="+mn-cs"/>
        </a:defRPr>
      </a:lvl1pPr>
      <a:lvl2pPr marL="457200" algn="l" defTabSz="457200" rtl="0" eaLnBrk="1" latinLnBrk="0" hangingPunct="1">
        <a:defRPr sz="1950" kern="1200" lang="en">
          <a:solidFill>
            <a:schemeClr val="tx1"/>
          </a:solidFill>
          <a:latin typeface="+mn-lt"/>
          <a:ea typeface="+mn-ea"/>
          <a:cs typeface="+mn-cs"/>
        </a:defRPr>
      </a:lvl2pPr>
      <a:lvl3pPr marL="914400" algn="l" defTabSz="457200" rtl="0" eaLnBrk="1" latinLnBrk="0" hangingPunct="1">
        <a:defRPr sz="1850" kern="1200" lang="en">
          <a:solidFill>
            <a:schemeClr val="tx1"/>
          </a:solidFill>
          <a:latin typeface="+mn-lt"/>
          <a:ea typeface="+mn-ea"/>
          <a:cs typeface="+mn-cs"/>
        </a:defRPr>
      </a:lvl3pPr>
      <a:lvl4pPr marL="1371600" algn="l" defTabSz="457200" rtl="0" eaLnBrk="1" latinLnBrk="0" hangingPunct="1">
        <a:defRPr sz="1700" kern="1200" lang="en">
          <a:solidFill>
            <a:schemeClr val="tx1"/>
          </a:solidFill>
          <a:latin typeface="+mn-lt"/>
          <a:ea typeface="+mn-ea"/>
          <a:cs typeface="+mn-cs"/>
        </a:defRPr>
      </a:lvl4pPr>
      <a:lvl5pPr marL="1828800" algn="l" defTabSz="457200" rtl="0" eaLnBrk="1" latinLnBrk="0" hangingPunct="1">
        <a:defRPr sz="1600" kern="1200" lang="en">
          <a:solidFill>
            <a:schemeClr val="tx1"/>
          </a:solidFill>
          <a:latin typeface="+mn-lt"/>
          <a:ea typeface="+mn-ea"/>
          <a:cs typeface="+mn-cs"/>
        </a:defRPr>
      </a:lvl5pPr>
      <a:lvl6pPr marL="2286000" algn="l" defTabSz="457200" rtl="0" eaLnBrk="1" latinLnBrk="0" hangingPunct="1">
        <a:defRPr sz="1450" kern="1200" lang="en">
          <a:solidFill>
            <a:schemeClr val="tx1"/>
          </a:solidFill>
          <a:latin typeface="+mn-lt"/>
          <a:ea typeface="+mn-ea"/>
          <a:cs typeface="+mn-cs"/>
        </a:defRPr>
      </a:lvl6pPr>
      <a:lvl7pPr marL="2743200" algn="l" defTabSz="457200" rtl="0" eaLnBrk="1" latinLnBrk="0" hangingPunct="1">
        <a:defRPr sz="1300" kern="1200" lang="en">
          <a:solidFill>
            <a:schemeClr val="tx1"/>
          </a:solidFill>
          <a:latin typeface="+mn-lt"/>
          <a:ea typeface="+mn-ea"/>
          <a:cs typeface="+mn-cs"/>
        </a:defRPr>
      </a:lvl7pPr>
      <a:lvl8pPr marL="3200400" algn="l" defTabSz="457200" rtl="0" eaLnBrk="1" latinLnBrk="0" hangingPunct="1">
        <a:defRPr sz="1200" kern="1200" lang="en">
          <a:solidFill>
            <a:schemeClr val="tx1"/>
          </a:solidFill>
          <a:latin typeface="+mn-lt"/>
          <a:ea typeface="+mn-ea"/>
          <a:cs typeface="+mn-cs"/>
        </a:defRPr>
      </a:lvl8pPr>
      <a:lvl9pPr marL="3657600" algn="l" defTabSz="457200" rtl="0" eaLnBrk="1" latinLnBrk="0" hangingPunct="1">
        <a:defRPr sz="1050" kern="1200" lang="e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01-conference"/>
          <p:cNvGrpSpPr/>
          <p:nvPr/>
        </p:nvGrpSpPr>
        <p:grpSpPr>
          <a:xfrm>
            <a:off x="563880" y="457200"/>
            <a:ext cx="11064240" cy="361950"/>
            <a:chOff x="563880" y="457200"/>
            <a:chExt cx="11064240" cy="361950"/>
          </a:xfrm>
        </p:grpSpPr>
        <p:sp>
          <p:nvSpPr>
            <p:cNvPr id="2" name="TextBox 2"/>
            <p:cNvSpPr txBox="1"/>
            <p:nvPr/>
          </p:nvSpPr>
          <p:spPr>
            <a:xfrm>
              <a:off x="563880" y="457200"/>
              <a:ext cx="1094372"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MIND 2026</a:t>
              </a:r>
            </a:p>
          </p:txBody>
        </p:sp>
        <p:sp>
          <p:nvSpPr>
            <p:cNvPr id="3" name="TextBox 3"/>
            <p:cNvSpPr txBox="1"/>
            <p:nvPr/>
          </p:nvSpPr>
          <p:spPr>
            <a:xfrm>
              <a:off x="6479908" y="457200"/>
              <a:ext cx="5148212" cy="293370"/>
            </a:xfrm>
            <a:prstGeom prst="rect">
              <a:avLst/>
            </a:prstGeom>
            <a:noFill/>
            <a:ln>
              <a:noFill/>
            </a:ln>
          </p:spPr>
          <p:txBody>
            <a:bodyPr wrap="none" lIns="0" tIns="0" rIns="0" bIns="0" anchor="t" anchorCtr="0">
              <a:spAutoFit/>
            </a:bodyPr>
            <a:lstStyle/>
            <a:p>
              <a:pPr algn="r"/>
              <a:r>
                <a:rPr lang="en" sz="1500" dirty="0">
                  <a:solidFill>
                    <a:schemeClr val="accent5"/>
                  </a:solidFill>
                  <a:latin typeface="+mn-lt"/>
                  <a:ea typeface="+mn-ea"/>
                  <a:cs typeface="+mn-cs"/>
                </a:rPr>
                <a:t>EVOLUTIONARY MULTIOBJECTIVE OPTIMIZATION</a:t>
              </a:r>
            </a:p>
          </p:txBody>
        </p:sp>
        <p:sp>
          <p:nvSpPr>
            <p:cNvPr id="4" name="Line 4"/>
            <p:cNvSpPr/>
            <p:nvPr/>
          </p:nvSpPr>
          <p:spPr>
            <a:xfrm>
              <a:off x="571500" y="809625"/>
              <a:ext cx="11049000" cy="9525"/>
            </a:xfrm>
            <a:custGeom>
              <a:avLst/>
              <a:gdLst/>
              <a:ahLst/>
              <a:cxnLst/>
              <a:rect l="l" t="t" r="r" b="b"/>
              <a:pathLst>
                <a:path w="11049000" h="9525">
                  <a:moveTo>
                    <a:pt x="0" y="0"/>
                  </a:moveTo>
                  <a:lnTo>
                    <a:pt x="11049000" y="0"/>
                  </a:lnTo>
                </a:path>
              </a:pathLst>
            </a:custGeom>
            <a:noFill/>
            <a:ln w="9525">
              <a:solidFill>
                <a:schemeClr val="accent6"/>
              </a:solidFill>
            </a:ln>
          </p:spPr>
        </p:sp>
      </p:grpSp>
      <p:grpSp>
        <p:nvGrpSpPr>
          <p:cNvPr id="7" name="p01-title"/>
          <p:cNvGrpSpPr/>
          <p:nvPr/>
        </p:nvGrpSpPr>
        <p:grpSpPr>
          <a:xfrm>
            <a:off x="552450" y="1225550"/>
            <a:ext cx="5083185" cy="1104900"/>
            <a:chOff x="552450" y="1225550"/>
            <a:chExt cx="5083185" cy="1104900"/>
          </a:xfrm>
        </p:grpSpPr>
        <p:sp>
          <p:nvSpPr>
            <p:cNvPr id="6" name="TextBox 6"/>
            <p:cNvSpPr txBox="1"/>
            <p:nvPr/>
          </p:nvSpPr>
          <p:spPr>
            <a:xfrm>
              <a:off x="552450" y="1225550"/>
              <a:ext cx="5083185" cy="1104900"/>
            </a:xfrm>
            <a:prstGeom prst="rect">
              <a:avLst/>
            </a:prstGeom>
            <a:noFill/>
            <a:ln>
              <a:noFill/>
            </a:ln>
          </p:spPr>
          <p:txBody>
            <a:bodyPr wrap="none" lIns="0" tIns="0" rIns="0" bIns="0" anchor="t" anchorCtr="0">
              <a:spAutoFit/>
            </a:bodyPr>
            <a:lstStyle/>
            <a:p>
              <a:pPr algn="l"/>
              <a:r>
                <a:rPr lang="en" sz="5700" b="1" dirty="0">
                  <a:solidFill>
                    <a:schemeClr val="accent1"/>
                  </a:solidFill>
                  <a:latin typeface="+mn-lt"/>
                  <a:ea typeface="+mn-ea"/>
                  <a:cs typeface="+mn-cs"/>
                </a:rPr>
                <a:t>EPG-NSGA-II</a:t>
              </a:r>
            </a:p>
          </p:txBody>
        </p:sp>
      </p:grpSp>
      <p:grpSp>
        <p:nvGrpSpPr>
          <p:cNvPr id="9" name="p01-paper-title"/>
          <p:cNvGrpSpPr/>
          <p:nvPr/>
        </p:nvGrpSpPr>
        <p:grpSpPr>
          <a:xfrm>
            <a:off x="558546" y="2368550"/>
            <a:ext cx="6866397" cy="1756029"/>
            <a:chOff x="558546" y="2368550"/>
            <a:chExt cx="6866397" cy="1756029"/>
          </a:xfrm>
        </p:grpSpPr>
        <p:sp>
          <p:nvSpPr>
            <p:cNvPr id="8" name="TextBox 8"/>
            <p:cNvSpPr txBox="1"/>
            <p:nvPr/>
          </p:nvSpPr>
          <p:spPr>
            <a:xfrm>
              <a:off x="558546" y="2368550"/>
              <a:ext cx="6866397" cy="1756029"/>
            </a:xfrm>
            <a:prstGeom prst="rect">
              <a:avLst/>
            </a:prstGeom>
            <a:noFill/>
            <a:ln>
              <a:noFill/>
            </a:ln>
          </p:spPr>
          <p:txBody>
            <a:bodyPr wrap="none" lIns="0" tIns="0" rIns="0" bIns="0" anchor="t" anchorCtr="0">
              <a:spAutoFit/>
            </a:bodyPr>
            <a:lstStyle/>
            <a:p>
              <a:pPr algn="l">
                <a:lnSpc>
                  <a:spcPts val="3300"/>
                </a:lnSpc>
              </a:pPr>
              <a:r>
                <a:rPr lang="en" sz="2550" dirty="0">
                  <a:solidFill>
                    <a:schemeClr val="accent1"/>
                  </a:solidFill>
                  <a:latin typeface="+mn-lt"/>
                  <a:ea typeface="+mn-ea"/>
                  <a:cs typeface="+mn-cs"/>
                </a:rPr>
                <a:t>Engineering-Prior-Guided NSGA-II for</a:t>
              </a:r>
              <a:br>
                <a:rPr lang="en" sz="2550" dirty="0">
                  <a:solidFill>
                    <a:schemeClr val="accent1"/>
                  </a:solidFill>
                  <a:latin typeface="+mn-lt"/>
                  <a:ea typeface="+mn-ea"/>
                  <a:cs typeface="+mn-cs"/>
                </a:rPr>
              </a:br>
              <a:r>
                <a:rPr lang="en" sz="2550" dirty="0">
                  <a:solidFill>
                    <a:schemeClr val="accent1"/>
                  </a:solidFill>
                  <a:latin typeface="+mn-lt"/>
                  <a:ea typeface="+mn-ea"/>
                  <a:cs typeface="+mn-cs"/>
                </a:rPr>
                <a:t>Differentiated Capacity-Load Ratio Optimization</a:t>
              </a:r>
              <a:br>
                <a:rPr lang="en" sz="2550" dirty="0">
                  <a:solidFill>
                    <a:schemeClr val="accent1"/>
                  </a:solidFill>
                  <a:latin typeface="+mn-lt"/>
                  <a:ea typeface="+mn-ea"/>
                  <a:cs typeface="+mn-cs"/>
                </a:rPr>
              </a:br>
              <a:r>
                <a:rPr lang="en" sz="2550" dirty="0">
                  <a:solidFill>
                    <a:schemeClr val="accent1"/>
                  </a:solidFill>
                  <a:latin typeface="+mn-lt"/>
                  <a:ea typeface="+mn-ea"/>
                  <a:cs typeface="+mn-cs"/>
                </a:rPr>
                <a:t>in County-Level 110 kV Grids with</a:t>
              </a:r>
              <a:br>
                <a:rPr lang="en" sz="2550" dirty="0">
                  <a:solidFill>
                    <a:schemeClr val="accent1"/>
                  </a:solidFill>
                  <a:latin typeface="+mn-lt"/>
                  <a:ea typeface="+mn-ea"/>
                  <a:cs typeface="+mn-cs"/>
                </a:rPr>
              </a:br>
              <a:r>
                <a:rPr lang="en" sz="2550" dirty="0">
                  <a:solidFill>
                    <a:schemeClr val="accent1"/>
                  </a:solidFill>
                  <a:latin typeface="+mn-lt"/>
                  <a:ea typeface="+mn-ea"/>
                  <a:cs typeface="+mn-cs"/>
                </a:rPr>
                <a:t>High Distributed PV Penetration</a:t>
              </a:r>
            </a:p>
          </p:txBody>
        </p:sp>
      </p:grpSp>
      <p:grpSp>
        <p:nvGrpSpPr>
          <p:cNvPr id="23" name="p01-grid-motif"/>
          <p:cNvGrpSpPr/>
          <p:nvPr/>
        </p:nvGrpSpPr>
        <p:grpSpPr>
          <a:xfrm>
            <a:off x="9763125" y="1333500"/>
            <a:ext cx="1809750" cy="2819400"/>
            <a:chOff x="9763125" y="1333500"/>
            <a:chExt cx="1809750" cy="2819400"/>
          </a:xfrm>
        </p:grpSpPr>
        <p:sp>
          <p:nvSpPr>
            <p:cNvPr id="10" name="Rectangle 10"/>
            <p:cNvSpPr/>
            <p:nvPr/>
          </p:nvSpPr>
          <p:spPr>
            <a:xfrm>
              <a:off x="9763125" y="1333500"/>
              <a:ext cx="1809750" cy="2819400"/>
            </a:xfrm>
            <a:prstGeom prst="rect">
              <a:avLst/>
            </a:prstGeom>
            <a:solidFill>
              <a:schemeClr val="lt2"/>
            </a:solidFill>
            <a:ln>
              <a:noFill/>
            </a:ln>
          </p:spPr>
        </p:sp>
        <p:sp>
          <p:nvSpPr>
            <p:cNvPr id="11" name="Line 11"/>
            <p:cNvSpPr/>
            <p:nvPr/>
          </p:nvSpPr>
          <p:spPr>
            <a:xfrm>
              <a:off x="10048875" y="1809750"/>
              <a:ext cx="1238250" cy="9525"/>
            </a:xfrm>
            <a:custGeom>
              <a:avLst/>
              <a:gdLst/>
              <a:ahLst/>
              <a:cxnLst/>
              <a:rect l="l" t="t" r="r" b="b"/>
              <a:pathLst>
                <a:path w="1238250" h="9525">
                  <a:moveTo>
                    <a:pt x="0" y="0"/>
                  </a:moveTo>
                  <a:lnTo>
                    <a:pt x="1238250" y="0"/>
                  </a:lnTo>
                </a:path>
              </a:pathLst>
            </a:custGeom>
            <a:noFill/>
            <a:ln w="38100">
              <a:solidFill>
                <a:schemeClr val="accent1"/>
              </a:solidFill>
            </a:ln>
          </p:spPr>
        </p:sp>
        <p:sp>
          <p:nvSpPr>
            <p:cNvPr id="12" name="Line 12"/>
            <p:cNvSpPr/>
            <p:nvPr/>
          </p:nvSpPr>
          <p:spPr>
            <a:xfrm>
              <a:off x="10668000" y="1809750"/>
              <a:ext cx="9525" cy="495300"/>
            </a:xfrm>
            <a:custGeom>
              <a:avLst/>
              <a:gdLst/>
              <a:ahLst/>
              <a:cxnLst/>
              <a:rect l="l" t="t" r="r" b="b"/>
              <a:pathLst>
                <a:path w="9525" h="495300">
                  <a:moveTo>
                    <a:pt x="0" y="0"/>
                  </a:moveTo>
                  <a:lnTo>
                    <a:pt x="0" y="495300"/>
                  </a:lnTo>
                </a:path>
              </a:pathLst>
            </a:custGeom>
            <a:noFill/>
            <a:ln w="19050">
              <a:solidFill>
                <a:schemeClr val="accent1"/>
              </a:solidFill>
            </a:ln>
          </p:spPr>
        </p:sp>
        <p:sp>
          <p:nvSpPr>
            <p:cNvPr id="13" name="Ellipse 13"/>
            <p:cNvSpPr/>
            <p:nvPr/>
          </p:nvSpPr>
          <p:spPr>
            <a:xfrm>
              <a:off x="10496550" y="2305050"/>
              <a:ext cx="342900" cy="342900"/>
            </a:xfrm>
            <a:prstGeom prst="ellipse">
              <a:avLst/>
            </a:prstGeom>
            <a:solidFill>
              <a:schemeClr val="lt1"/>
            </a:solidFill>
            <a:ln w="19050">
              <a:solidFill>
                <a:schemeClr val="accent1"/>
              </a:solidFill>
            </a:ln>
          </p:spPr>
        </p:sp>
        <p:sp>
          <p:nvSpPr>
            <p:cNvPr id="14" name="Ellipse 14"/>
            <p:cNvSpPr/>
            <p:nvPr/>
          </p:nvSpPr>
          <p:spPr>
            <a:xfrm>
              <a:off x="10496550" y="2514600"/>
              <a:ext cx="342900" cy="342900"/>
            </a:xfrm>
            <a:prstGeom prst="ellipse">
              <a:avLst/>
            </a:prstGeom>
            <a:noFill/>
            <a:ln w="19050">
              <a:solidFill>
                <a:schemeClr val="accent2"/>
              </a:solidFill>
            </a:ln>
          </p:spPr>
        </p:sp>
        <p:sp>
          <p:nvSpPr>
            <p:cNvPr id="15" name="Line 15"/>
            <p:cNvSpPr/>
            <p:nvPr/>
          </p:nvSpPr>
          <p:spPr>
            <a:xfrm>
              <a:off x="10668000" y="2857500"/>
              <a:ext cx="9525" cy="304800"/>
            </a:xfrm>
            <a:custGeom>
              <a:avLst/>
              <a:gdLst/>
              <a:ahLst/>
              <a:cxnLst/>
              <a:rect l="l" t="t" r="r" b="b"/>
              <a:pathLst>
                <a:path w="9525" h="304800">
                  <a:moveTo>
                    <a:pt x="0" y="0"/>
                  </a:moveTo>
                  <a:lnTo>
                    <a:pt x="0" y="304800"/>
                  </a:lnTo>
                </a:path>
              </a:pathLst>
            </a:custGeom>
            <a:noFill/>
            <a:ln w="19050">
              <a:solidFill>
                <a:schemeClr val="accent2"/>
              </a:solidFill>
            </a:ln>
          </p:spPr>
        </p:sp>
        <p:sp>
          <p:nvSpPr>
            <p:cNvPr id="16" name="Line 16"/>
            <p:cNvSpPr/>
            <p:nvPr/>
          </p:nvSpPr>
          <p:spPr>
            <a:xfrm>
              <a:off x="10048875" y="3162300"/>
              <a:ext cx="1238250" cy="9525"/>
            </a:xfrm>
            <a:custGeom>
              <a:avLst/>
              <a:gdLst/>
              <a:ahLst/>
              <a:cxnLst/>
              <a:rect l="l" t="t" r="r" b="b"/>
              <a:pathLst>
                <a:path w="1238250" h="9525">
                  <a:moveTo>
                    <a:pt x="0" y="0"/>
                  </a:moveTo>
                  <a:lnTo>
                    <a:pt x="1238250" y="0"/>
                  </a:lnTo>
                </a:path>
              </a:pathLst>
            </a:custGeom>
            <a:noFill/>
            <a:ln w="38100">
              <a:solidFill>
                <a:schemeClr val="accent2"/>
              </a:solidFill>
            </a:ln>
          </p:spPr>
        </p:sp>
        <p:sp>
          <p:nvSpPr>
            <p:cNvPr id="17" name="Line 17"/>
            <p:cNvSpPr/>
            <p:nvPr/>
          </p:nvSpPr>
          <p:spPr>
            <a:xfrm>
              <a:off x="10191750" y="3162300"/>
              <a:ext cx="9525" cy="485775"/>
            </a:xfrm>
            <a:custGeom>
              <a:avLst/>
              <a:gdLst/>
              <a:ahLst/>
              <a:cxnLst/>
              <a:rect l="l" t="t" r="r" b="b"/>
              <a:pathLst>
                <a:path w="9525" h="485775">
                  <a:moveTo>
                    <a:pt x="0" y="0"/>
                  </a:moveTo>
                  <a:lnTo>
                    <a:pt x="0" y="485775"/>
                  </a:lnTo>
                </a:path>
              </a:pathLst>
            </a:custGeom>
            <a:noFill/>
            <a:ln w="19050">
              <a:solidFill>
                <a:schemeClr val="accent2"/>
              </a:solidFill>
            </a:ln>
          </p:spPr>
        </p:sp>
        <p:sp>
          <p:nvSpPr>
            <p:cNvPr id="18" name="Line 18"/>
            <p:cNvSpPr/>
            <p:nvPr/>
          </p:nvSpPr>
          <p:spPr>
            <a:xfrm>
              <a:off x="10668000" y="3162300"/>
              <a:ext cx="9525" cy="485775"/>
            </a:xfrm>
            <a:custGeom>
              <a:avLst/>
              <a:gdLst/>
              <a:ahLst/>
              <a:cxnLst/>
              <a:rect l="l" t="t" r="r" b="b"/>
              <a:pathLst>
                <a:path w="9525" h="485775">
                  <a:moveTo>
                    <a:pt x="0" y="0"/>
                  </a:moveTo>
                  <a:lnTo>
                    <a:pt x="0" y="485775"/>
                  </a:lnTo>
                </a:path>
              </a:pathLst>
            </a:custGeom>
            <a:noFill/>
            <a:ln w="19050">
              <a:solidFill>
                <a:schemeClr val="accent2"/>
              </a:solidFill>
            </a:ln>
          </p:spPr>
        </p:sp>
        <p:sp>
          <p:nvSpPr>
            <p:cNvPr id="19" name="Line 19"/>
            <p:cNvSpPr/>
            <p:nvPr/>
          </p:nvSpPr>
          <p:spPr>
            <a:xfrm>
              <a:off x="11144250" y="3162300"/>
              <a:ext cx="9525" cy="485775"/>
            </a:xfrm>
            <a:custGeom>
              <a:avLst/>
              <a:gdLst/>
              <a:ahLst/>
              <a:cxnLst/>
              <a:rect l="l" t="t" r="r" b="b"/>
              <a:pathLst>
                <a:path w="9525" h="485775">
                  <a:moveTo>
                    <a:pt x="0" y="0"/>
                  </a:moveTo>
                  <a:lnTo>
                    <a:pt x="0" y="485775"/>
                  </a:lnTo>
                </a:path>
              </a:pathLst>
            </a:custGeom>
            <a:noFill/>
            <a:ln w="19050">
              <a:solidFill>
                <a:schemeClr val="accent2"/>
              </a:solidFill>
            </a:ln>
          </p:spPr>
        </p:sp>
        <p:sp>
          <p:nvSpPr>
            <p:cNvPr id="20" name="Ellipse 20"/>
            <p:cNvSpPr/>
            <p:nvPr/>
          </p:nvSpPr>
          <p:spPr>
            <a:xfrm>
              <a:off x="10134600" y="3657600"/>
              <a:ext cx="114300" cy="114300"/>
            </a:xfrm>
            <a:prstGeom prst="ellipse">
              <a:avLst/>
            </a:prstGeom>
            <a:solidFill>
              <a:schemeClr val="accent2"/>
            </a:solidFill>
            <a:ln>
              <a:noFill/>
            </a:ln>
          </p:spPr>
        </p:sp>
        <p:sp>
          <p:nvSpPr>
            <p:cNvPr id="21" name="Ellipse 21"/>
            <p:cNvSpPr/>
            <p:nvPr/>
          </p:nvSpPr>
          <p:spPr>
            <a:xfrm>
              <a:off x="10610850" y="3657600"/>
              <a:ext cx="114300" cy="114300"/>
            </a:xfrm>
            <a:prstGeom prst="ellipse">
              <a:avLst/>
            </a:prstGeom>
            <a:solidFill>
              <a:schemeClr val="accent2"/>
            </a:solidFill>
            <a:ln>
              <a:noFill/>
            </a:ln>
          </p:spPr>
        </p:sp>
        <p:sp>
          <p:nvSpPr>
            <p:cNvPr id="22" name="Ellipse 22"/>
            <p:cNvSpPr/>
            <p:nvPr/>
          </p:nvSpPr>
          <p:spPr>
            <a:xfrm>
              <a:off x="11087100" y="3657600"/>
              <a:ext cx="114300" cy="114300"/>
            </a:xfrm>
            <a:prstGeom prst="ellipse">
              <a:avLst/>
            </a:prstGeom>
            <a:solidFill>
              <a:schemeClr val="accent2"/>
            </a:solidFill>
            <a:ln>
              <a:noFill/>
            </a:ln>
          </p:spPr>
        </p:sp>
      </p:grpSp>
      <p:grpSp>
        <p:nvGrpSpPr>
          <p:cNvPr id="26" name="p01-authors"/>
          <p:cNvGrpSpPr/>
          <p:nvPr/>
        </p:nvGrpSpPr>
        <p:grpSpPr>
          <a:xfrm>
            <a:off x="563118" y="4616450"/>
            <a:ext cx="6964823" cy="586359"/>
            <a:chOff x="563118" y="4616450"/>
            <a:chExt cx="6964823" cy="586359"/>
          </a:xfrm>
        </p:grpSpPr>
        <p:sp>
          <p:nvSpPr>
            <p:cNvPr id="24" name="TextBox 24"/>
            <p:cNvSpPr txBox="1"/>
            <p:nvPr/>
          </p:nvSpPr>
          <p:spPr>
            <a:xfrm>
              <a:off x="563118" y="4616450"/>
              <a:ext cx="6964823"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Dunbin Xu · Ke Wang · Yan Xu* · Ziyue Huang · Fei Geng · Rui Yuan</a:t>
              </a:r>
            </a:p>
          </p:txBody>
        </p:sp>
        <p:sp>
          <p:nvSpPr>
            <p:cNvPr id="25" name="TextBox 25"/>
            <p:cNvSpPr txBox="1"/>
            <p:nvPr/>
          </p:nvSpPr>
          <p:spPr>
            <a:xfrm>
              <a:off x="566166" y="4997450"/>
              <a:ext cx="1476648"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 Corresponding author</a:t>
              </a:r>
            </a:p>
          </p:txBody>
        </p:sp>
      </p:grpSp>
      <p:grpSp>
        <p:nvGrpSpPr>
          <p:cNvPr id="29" name="p01-affiliations"/>
          <p:cNvGrpSpPr/>
          <p:nvPr/>
        </p:nvGrpSpPr>
        <p:grpSpPr>
          <a:xfrm>
            <a:off x="563880" y="5486400"/>
            <a:ext cx="9069263" cy="579120"/>
            <a:chOff x="563880" y="5486400"/>
            <a:chExt cx="9069263" cy="579120"/>
          </a:xfrm>
        </p:grpSpPr>
        <p:sp>
          <p:nvSpPr>
            <p:cNvPr id="27" name="TextBox 27"/>
            <p:cNvSpPr txBox="1"/>
            <p:nvPr/>
          </p:nvSpPr>
          <p:spPr>
            <a:xfrm>
              <a:off x="563880" y="5486400"/>
              <a:ext cx="3927587"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State Grid Xuzhou Power Supply Company</a:t>
              </a:r>
            </a:p>
          </p:txBody>
        </p:sp>
        <p:sp>
          <p:nvSpPr>
            <p:cNvPr id="28" name="TextBox 28"/>
            <p:cNvSpPr txBox="1"/>
            <p:nvPr/>
          </p:nvSpPr>
          <p:spPr>
            <a:xfrm>
              <a:off x="563880" y="5772150"/>
              <a:ext cx="9069263"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State Grid Jiangsu Electric Power Design &amp; Consulting Co., Ltd., Xuzhou Survey and Design Branch</a:t>
              </a:r>
            </a:p>
          </p:txBody>
        </p:sp>
      </p:grpSp>
      <p:grpSp>
        <p:nvGrpSpPr>
          <p:cNvPr id="32" name="p01-footer"/>
          <p:cNvGrpSpPr/>
          <p:nvPr/>
        </p:nvGrpSpPr>
        <p:grpSpPr>
          <a:xfrm>
            <a:off x="566166" y="6388100"/>
            <a:ext cx="11059668" cy="205359"/>
            <a:chOff x="566166" y="6388100"/>
            <a:chExt cx="11059668" cy="205359"/>
          </a:xfrm>
        </p:grpSpPr>
        <p:sp>
          <p:nvSpPr>
            <p:cNvPr id="30" name="TextBox 30"/>
            <p:cNvSpPr txBox="1"/>
            <p:nvPr/>
          </p:nvSpPr>
          <p:spPr>
            <a:xfrm>
              <a:off x="566166" y="6388100"/>
              <a:ext cx="4566322"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ENGINEERING PRIORS FOR DIFFERENTIATED GRID PLANNING</a:t>
              </a:r>
            </a:p>
          </p:txBody>
        </p:sp>
        <p:sp>
          <p:nvSpPr>
            <p:cNvPr id="31" name="TextBox 31"/>
            <p:cNvSpPr txBox="1"/>
            <p:nvPr/>
          </p:nvSpPr>
          <p:spPr>
            <a:xfrm>
              <a:off x="11182886" y="6388100"/>
              <a:ext cx="442948" cy="205359"/>
            </a:xfrm>
            <a:prstGeom prst="rect">
              <a:avLst/>
            </a:prstGeom>
            <a:noFill/>
            <a:ln>
              <a:noFill/>
            </a:ln>
          </p:spPr>
          <p:txBody>
            <a:bodyPr wrap="none" lIns="0" tIns="0" rIns="0" bIns="0" anchor="t" anchorCtr="0">
              <a:spAutoFit/>
            </a:bodyPr>
            <a:lstStyle/>
            <a:p>
              <a:pPr algn="r"/>
              <a:r>
                <a:rPr lang="en" sz="1050" dirty="0">
                  <a:solidFill>
                    <a:schemeClr val="accent5"/>
                  </a:solidFill>
                  <a:latin typeface="+mn-lt"/>
                  <a:ea typeface="+mn-ea"/>
                  <a:cs typeface="+mn-cs"/>
                </a:rPr>
                <a:t>01 / 05</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p02-title"/>
          <p:cNvGrpSpPr/>
          <p:nvPr/>
        </p:nvGrpSpPr>
        <p:grpSpPr>
          <a:xfrm>
            <a:off x="555498" y="606425"/>
            <a:ext cx="8127697" cy="616077"/>
            <a:chOff x="555498" y="606425"/>
            <a:chExt cx="8127697" cy="616077"/>
          </a:xfrm>
        </p:grpSpPr>
        <p:sp>
          <p:nvSpPr>
            <p:cNvPr id="2" name="TextBox 2"/>
            <p:cNvSpPr txBox="1"/>
            <p:nvPr/>
          </p:nvSpPr>
          <p:spPr>
            <a:xfrm>
              <a:off x="555498" y="606425"/>
              <a:ext cx="8127697" cy="616077"/>
            </a:xfrm>
            <a:prstGeom prst="rect">
              <a:avLst/>
            </a:prstGeom>
            <a:noFill/>
            <a:ln>
              <a:noFill/>
            </a:ln>
          </p:spPr>
          <p:txBody>
            <a:bodyPr wrap="none" lIns="0" tIns="0" rIns="0" bIns="0" anchor="t" anchorCtr="0">
              <a:spAutoFit/>
            </a:bodyPr>
            <a:lstStyle/>
            <a:p>
              <a:pPr algn="l"/>
              <a:r>
                <a:rPr lang="en" sz="3150" b="1" dirty="0">
                  <a:solidFill>
                    <a:schemeClr val="accent1"/>
                  </a:solidFill>
                  <a:latin typeface="+mn-lt"/>
                  <a:ea typeface="+mn-ea"/>
                  <a:cs typeface="+mn-cs"/>
                </a:rPr>
                <a:t>High PV calls for differentiated planning</a:t>
              </a:r>
            </a:p>
          </p:txBody>
        </p:sp>
      </p:grpSp>
      <p:grpSp>
        <p:nvGrpSpPr>
          <p:cNvPr id="5" name="p02-context"/>
          <p:cNvGrpSpPr/>
          <p:nvPr/>
        </p:nvGrpSpPr>
        <p:grpSpPr>
          <a:xfrm>
            <a:off x="560832" y="1365250"/>
            <a:ext cx="9032333" cy="410718"/>
            <a:chOff x="560832" y="1365250"/>
            <a:chExt cx="9032333" cy="410718"/>
          </a:xfrm>
        </p:grpSpPr>
        <p:sp>
          <p:nvSpPr>
            <p:cNvPr id="4" name="TextBox 4"/>
            <p:cNvSpPr txBox="1"/>
            <p:nvPr/>
          </p:nvSpPr>
          <p:spPr>
            <a:xfrm>
              <a:off x="560832" y="1365250"/>
              <a:ext cx="9032333" cy="410718"/>
            </a:xfrm>
            <a:prstGeom prst="rect">
              <a:avLst/>
            </a:prstGeom>
            <a:noFill/>
            <a:ln>
              <a:noFill/>
            </a:ln>
          </p:spPr>
          <p:txBody>
            <a:bodyPr wrap="none" lIns="0" tIns="0" rIns="0" bIns="0" anchor="t" anchorCtr="0">
              <a:spAutoFit/>
            </a:bodyPr>
            <a:lstStyle/>
            <a:p>
              <a:pPr algn="l"/>
              <a:r>
                <a:rPr lang="en" sz="2100" dirty="0">
                  <a:solidFill>
                    <a:schemeClr val="accent5"/>
                  </a:solidFill>
                  <a:latin typeface="+mn-lt"/>
                  <a:ea typeface="+mn-ea"/>
                  <a:cs typeface="+mn-cs"/>
                </a:rPr>
                <a:t>A fixed CLR cap of 2.0 misses station-level PV and transfer differences.</a:t>
              </a:r>
            </a:p>
          </p:txBody>
        </p:sp>
      </p:grpSp>
      <p:grpSp>
        <p:nvGrpSpPr>
          <p:cNvPr id="20" name="p02-power-flow"/>
          <p:cNvGrpSpPr/>
          <p:nvPr/>
        </p:nvGrpSpPr>
        <p:grpSpPr>
          <a:xfrm>
            <a:off x="742950" y="1990725"/>
            <a:ext cx="5219700" cy="3295650"/>
            <a:chOff x="742950" y="1990725"/>
            <a:chExt cx="5219700" cy="3295650"/>
          </a:xfrm>
        </p:grpSpPr>
        <p:sp>
          <p:nvSpPr>
            <p:cNvPr id="6" name="Rectangle 6"/>
            <p:cNvSpPr/>
            <p:nvPr/>
          </p:nvSpPr>
          <p:spPr>
            <a:xfrm>
              <a:off x="2028825" y="1990725"/>
              <a:ext cx="2686050" cy="609600"/>
            </a:xfrm>
            <a:prstGeom prst="rect">
              <a:avLst/>
            </a:prstGeom>
            <a:solidFill>
              <a:schemeClr val="lt2"/>
            </a:solidFill>
            <a:ln>
              <a:noFill/>
            </a:ln>
          </p:spPr>
        </p:sp>
        <p:sp>
          <p:nvSpPr>
            <p:cNvPr id="7" name="Rectangle 7"/>
            <p:cNvSpPr/>
            <p:nvPr/>
          </p:nvSpPr>
          <p:spPr>
            <a:xfrm>
              <a:off x="2028825" y="3438525"/>
              <a:ext cx="2686050" cy="742950"/>
            </a:xfrm>
            <a:prstGeom prst="rect">
              <a:avLst/>
            </a:prstGeom>
            <a:solidFill>
              <a:schemeClr val="accent1"/>
            </a:solidFill>
            <a:ln>
              <a:noFill/>
            </a:ln>
          </p:spPr>
        </p:sp>
        <p:sp>
          <p:nvSpPr>
            <p:cNvPr id="8" name="Rectangle 8"/>
            <p:cNvSpPr/>
            <p:nvPr/>
          </p:nvSpPr>
          <p:spPr>
            <a:xfrm>
              <a:off x="742950" y="4714875"/>
              <a:ext cx="1943100" cy="571500"/>
            </a:xfrm>
            <a:prstGeom prst="rect">
              <a:avLst/>
            </a:prstGeom>
            <a:solidFill>
              <a:schemeClr val="lt2"/>
            </a:solidFill>
            <a:ln>
              <a:noFill/>
            </a:ln>
          </p:spPr>
        </p:sp>
        <p:sp>
          <p:nvSpPr>
            <p:cNvPr id="9" name="Rectangle 9"/>
            <p:cNvSpPr/>
            <p:nvPr/>
          </p:nvSpPr>
          <p:spPr>
            <a:xfrm>
              <a:off x="4019550" y="4714875"/>
              <a:ext cx="1943100" cy="571500"/>
            </a:xfrm>
            <a:prstGeom prst="rect">
              <a:avLst/>
            </a:prstGeom>
            <a:solidFill>
              <a:schemeClr val="lt2"/>
            </a:solidFill>
            <a:ln>
              <a:noFill/>
            </a:ln>
          </p:spPr>
        </p:sp>
        <p:sp>
          <p:nvSpPr>
            <p:cNvPr id="10" name="Line 10"/>
            <p:cNvSpPr/>
            <p:nvPr/>
          </p:nvSpPr>
          <p:spPr>
            <a:xfrm flipV="1">
              <a:off x="2914650" y="2705100"/>
              <a:ext cx="1" cy="628650"/>
            </a:xfrm>
            <a:prstGeom prst="line">
              <a:avLst/>
            </a:prstGeom>
            <a:noFill/>
            <a:ln w="28575">
              <a:solidFill>
                <a:schemeClr val="accent2"/>
              </a:solidFill>
              <a:tailEnd type="triangle" w="lg" len="lg"/>
            </a:ln>
          </p:spPr>
        </p:sp>
        <p:sp>
          <p:nvSpPr>
            <p:cNvPr id="11" name="Line 11"/>
            <p:cNvSpPr/>
            <p:nvPr/>
          </p:nvSpPr>
          <p:spPr>
            <a:xfrm>
              <a:off x="3829050" y="2705100"/>
              <a:ext cx="1" cy="628650"/>
            </a:xfrm>
            <a:prstGeom prst="line">
              <a:avLst/>
            </a:prstGeom>
            <a:noFill/>
            <a:ln w="19050">
              <a:solidFill>
                <a:schemeClr val="accent3"/>
              </a:solidFill>
              <a:tailEnd type="triangle" w="lg" len="lg"/>
            </a:ln>
          </p:spPr>
        </p:sp>
        <p:sp>
          <p:nvSpPr>
            <p:cNvPr id="12" name="Line 12"/>
            <p:cNvSpPr/>
            <p:nvPr/>
          </p:nvSpPr>
          <p:spPr>
            <a:xfrm flipV="1">
              <a:off x="2352675" y="4276725"/>
              <a:ext cx="400050" cy="333375"/>
            </a:xfrm>
            <a:prstGeom prst="line">
              <a:avLst/>
            </a:prstGeom>
            <a:noFill/>
            <a:ln w="28575">
              <a:solidFill>
                <a:schemeClr val="accent2"/>
              </a:solidFill>
              <a:tailEnd type="triangle" w="lg" len="lg"/>
            </a:ln>
          </p:spPr>
        </p:sp>
        <p:sp>
          <p:nvSpPr>
            <p:cNvPr id="13" name="Line 13"/>
            <p:cNvSpPr/>
            <p:nvPr/>
          </p:nvSpPr>
          <p:spPr>
            <a:xfrm>
              <a:off x="4000500" y="4276725"/>
              <a:ext cx="409575" cy="333375"/>
            </a:xfrm>
            <a:prstGeom prst="line">
              <a:avLst/>
            </a:prstGeom>
            <a:noFill/>
            <a:ln w="19050">
              <a:solidFill>
                <a:schemeClr val="accent3"/>
              </a:solidFill>
              <a:tailEnd type="triangle" w="lg" len="lg"/>
            </a:ln>
          </p:spPr>
        </p:sp>
        <p:sp>
          <p:nvSpPr>
            <p:cNvPr id="14" name="TextBox 14"/>
            <p:cNvSpPr txBox="1"/>
            <p:nvPr/>
          </p:nvSpPr>
          <p:spPr>
            <a:xfrm>
              <a:off x="2469311" y="2136775"/>
              <a:ext cx="1805079" cy="410718"/>
            </a:xfrm>
            <a:prstGeom prst="rect">
              <a:avLst/>
            </a:prstGeom>
            <a:noFill/>
            <a:ln>
              <a:noFill/>
            </a:ln>
          </p:spPr>
          <p:txBody>
            <a:bodyPr wrap="none" lIns="0" tIns="0" rIns="0" bIns="0" anchor="t" anchorCtr="0">
              <a:spAutoFit/>
            </a:bodyPr>
            <a:lstStyle/>
            <a:p>
              <a:pPr algn="ctr"/>
              <a:r>
                <a:rPr lang="en" sz="2100" dirty="0">
                  <a:solidFill>
                    <a:schemeClr val="accent1"/>
                  </a:solidFill>
                  <a:latin typeface="+mn-lt"/>
                  <a:ea typeface="+mn-ea"/>
                  <a:cs typeface="+mn-cs"/>
                </a:rPr>
                <a:t>Upstream grid</a:t>
              </a:r>
            </a:p>
          </p:txBody>
        </p:sp>
        <p:sp>
          <p:nvSpPr>
            <p:cNvPr id="15" name="TextBox 15"/>
            <p:cNvSpPr txBox="1"/>
            <p:nvPr/>
          </p:nvSpPr>
          <p:spPr>
            <a:xfrm>
              <a:off x="2758854" y="3454400"/>
              <a:ext cx="1225991" cy="440055"/>
            </a:xfrm>
            <a:prstGeom prst="rect">
              <a:avLst/>
            </a:prstGeom>
            <a:noFill/>
            <a:ln>
              <a:noFill/>
            </a:ln>
          </p:spPr>
          <p:txBody>
            <a:bodyPr wrap="none" lIns="0" tIns="0" rIns="0" bIns="0" anchor="t" anchorCtr="0">
              <a:spAutoFit/>
            </a:bodyPr>
            <a:lstStyle/>
            <a:p>
              <a:pPr algn="ctr"/>
              <a:r>
                <a:rPr lang="en" sz="2250" b="1" dirty="0">
                  <a:solidFill>
                    <a:srgbClr val="FFFFFF"/>
                  </a:solidFill>
                  <a:latin typeface="+mn-lt"/>
                  <a:ea typeface="+mn-ea"/>
                  <a:cs typeface="+mn-cs"/>
                </a:rPr>
                <a:t>Station j</a:t>
              </a:r>
            </a:p>
          </p:txBody>
        </p:sp>
        <p:sp>
          <p:nvSpPr>
            <p:cNvPr id="16" name="TextBox 16"/>
            <p:cNvSpPr txBox="1"/>
            <p:nvPr/>
          </p:nvSpPr>
          <p:spPr>
            <a:xfrm>
              <a:off x="2476364" y="3854450"/>
              <a:ext cx="1790971" cy="322707"/>
            </a:xfrm>
            <a:prstGeom prst="rect">
              <a:avLst/>
            </a:prstGeom>
            <a:noFill/>
            <a:ln>
              <a:noFill/>
            </a:ln>
          </p:spPr>
          <p:txBody>
            <a:bodyPr wrap="none" lIns="0" tIns="0" rIns="0" bIns="0" anchor="t" anchorCtr="0">
              <a:spAutoFit/>
            </a:bodyPr>
            <a:lstStyle/>
            <a:p>
              <a:pPr algn="ctr"/>
              <a:r>
                <a:rPr lang="en" sz="1650" dirty="0">
                  <a:solidFill>
                    <a:srgbClr val="FFFFFF"/>
                  </a:solidFill>
                  <a:latin typeface="+mn-lt"/>
                  <a:ea typeface="+mn-ea"/>
                  <a:cs typeface="+mn-cs"/>
                </a:rPr>
                <a:t>110 kV substation</a:t>
              </a:r>
            </a:p>
          </p:txBody>
        </p:sp>
        <p:sp>
          <p:nvSpPr>
            <p:cNvPr id="17" name="TextBox 17"/>
            <p:cNvSpPr txBox="1"/>
            <p:nvPr/>
          </p:nvSpPr>
          <p:spPr>
            <a:xfrm>
              <a:off x="788543" y="4832350"/>
              <a:ext cx="1851914" cy="410718"/>
            </a:xfrm>
            <a:prstGeom prst="rect">
              <a:avLst/>
            </a:prstGeom>
            <a:noFill/>
            <a:ln>
              <a:noFill/>
            </a:ln>
          </p:spPr>
          <p:txBody>
            <a:bodyPr wrap="none" lIns="0" tIns="0" rIns="0" bIns="0" anchor="t" anchorCtr="0">
              <a:spAutoFit/>
            </a:bodyPr>
            <a:lstStyle/>
            <a:p>
              <a:pPr algn="ctr"/>
              <a:r>
                <a:rPr lang="en" sz="2100" dirty="0">
                  <a:solidFill>
                    <a:schemeClr val="accent2"/>
                  </a:solidFill>
                  <a:latin typeface="+mn-lt"/>
                  <a:ea typeface="+mn-ea"/>
                  <a:cs typeface="+mn-cs"/>
                </a:rPr>
                <a:t>Distributed PV</a:t>
              </a:r>
            </a:p>
          </p:txBody>
        </p:sp>
        <p:sp>
          <p:nvSpPr>
            <p:cNvPr id="18" name="TextBox 18"/>
            <p:cNvSpPr txBox="1"/>
            <p:nvPr/>
          </p:nvSpPr>
          <p:spPr>
            <a:xfrm>
              <a:off x="4331903" y="4832350"/>
              <a:ext cx="1318394" cy="410718"/>
            </a:xfrm>
            <a:prstGeom prst="rect">
              <a:avLst/>
            </a:prstGeom>
            <a:noFill/>
            <a:ln>
              <a:noFill/>
            </a:ln>
          </p:spPr>
          <p:txBody>
            <a:bodyPr wrap="none" lIns="0" tIns="0" rIns="0" bIns="0" anchor="t" anchorCtr="0">
              <a:spAutoFit/>
            </a:bodyPr>
            <a:lstStyle/>
            <a:p>
              <a:pPr algn="ctr"/>
              <a:r>
                <a:rPr lang="en" sz="2100" dirty="0">
                  <a:solidFill>
                    <a:schemeClr val="accent1"/>
                  </a:solidFill>
                  <a:latin typeface="+mn-lt"/>
                  <a:ea typeface="+mn-ea"/>
                  <a:cs typeface="+mn-cs"/>
                </a:rPr>
                <a:t>Local load</a:t>
              </a:r>
            </a:p>
          </p:txBody>
        </p:sp>
        <p:sp>
          <p:nvSpPr>
            <p:cNvPr id="19" name="TextBox 19"/>
            <p:cNvSpPr txBox="1"/>
            <p:nvPr/>
          </p:nvSpPr>
          <p:spPr>
            <a:xfrm>
              <a:off x="772668" y="2708275"/>
              <a:ext cx="1437262" cy="608457"/>
            </a:xfrm>
            <a:prstGeom prst="rect">
              <a:avLst/>
            </a:prstGeom>
            <a:noFill/>
            <a:ln>
              <a:noFill/>
            </a:ln>
          </p:spPr>
          <p:txBody>
            <a:bodyPr wrap="none" lIns="0" tIns="0" rIns="0" bIns="0" anchor="t" anchorCtr="0">
              <a:spAutoFit/>
            </a:bodyPr>
            <a:lstStyle/>
            <a:p>
              <a:pPr algn="l">
                <a:lnSpc>
                  <a:spcPts val="2250"/>
                </a:lnSpc>
              </a:pPr>
              <a:r>
                <a:rPr lang="en" sz="1650" b="1" dirty="0">
                  <a:solidFill>
                    <a:schemeClr val="accent2"/>
                  </a:solidFill>
                  <a:latin typeface="+mn-lt"/>
                  <a:ea typeface="+mn-ea"/>
                  <a:cs typeface="+mn-cs"/>
                </a:rPr>
                <a:t>Midday export</a:t>
              </a:r>
              <a:br>
                <a:rPr lang="en" sz="1650" b="1" dirty="0">
                  <a:solidFill>
                    <a:schemeClr val="accent2"/>
                  </a:solidFill>
                  <a:latin typeface="+mn-lt"/>
                  <a:ea typeface="+mn-ea"/>
                  <a:cs typeface="+mn-cs"/>
                </a:rPr>
              </a:br>
              <a:r>
                <a:rPr lang="en" sz="1650" b="1" dirty="0">
                  <a:solidFill>
                    <a:schemeClr val="accent2"/>
                  </a:solidFill>
                  <a:latin typeface="+mn-lt"/>
                  <a:ea typeface="+mn-ea"/>
                  <a:cs typeface="+mn-cs"/>
                </a:rPr>
                <a:t>Reverse flow</a:t>
              </a:r>
            </a:p>
          </p:txBody>
        </p:sp>
      </p:grpSp>
      <p:grpSp>
        <p:nvGrpSpPr>
          <p:cNvPr id="31" name="p02-planning-brief"/>
          <p:cNvGrpSpPr/>
          <p:nvPr/>
        </p:nvGrpSpPr>
        <p:grpSpPr>
          <a:xfrm>
            <a:off x="6572250" y="1924050"/>
            <a:ext cx="5048250" cy="3505200"/>
            <a:chOff x="6572250" y="1924050"/>
            <a:chExt cx="5048250" cy="3505200"/>
          </a:xfrm>
        </p:grpSpPr>
        <p:sp>
          <p:nvSpPr>
            <p:cNvPr id="21" name="Rectangle 21"/>
            <p:cNvSpPr/>
            <p:nvPr/>
          </p:nvSpPr>
          <p:spPr>
            <a:xfrm>
              <a:off x="6572250" y="1924050"/>
              <a:ext cx="5048250" cy="3505200"/>
            </a:xfrm>
            <a:prstGeom prst="rect">
              <a:avLst/>
            </a:prstGeom>
            <a:solidFill>
              <a:schemeClr val="lt2"/>
            </a:solidFill>
            <a:ln>
              <a:noFill/>
            </a:ln>
          </p:spPr>
        </p:sp>
        <p:sp>
          <p:nvSpPr>
            <p:cNvPr id="22" name="TextBox 22"/>
            <p:cNvSpPr txBox="1"/>
            <p:nvPr/>
          </p:nvSpPr>
          <p:spPr>
            <a:xfrm>
              <a:off x="6793230" y="2085975"/>
              <a:ext cx="2872130" cy="293370"/>
            </a:xfrm>
            <a:prstGeom prst="rect">
              <a:avLst/>
            </a:prstGeom>
            <a:noFill/>
            <a:ln>
              <a:noFill/>
            </a:ln>
          </p:spPr>
          <p:txBody>
            <a:bodyPr wrap="none" lIns="0" tIns="0" rIns="0" bIns="0" anchor="t" anchorCtr="0">
              <a:spAutoFit/>
            </a:bodyPr>
            <a:lstStyle/>
            <a:p>
              <a:pPr algn="l"/>
              <a:r>
                <a:rPr lang="en" sz="1500" b="1" dirty="0">
                  <a:solidFill>
                    <a:schemeClr val="accent5"/>
                  </a:solidFill>
                  <a:latin typeface="+mn-lt"/>
                  <a:ea typeface="+mn-ea"/>
                  <a:cs typeface="+mn-cs"/>
                </a:rPr>
                <a:t>JOINT STATION DECISIONS</a:t>
              </a:r>
            </a:p>
          </p:txBody>
        </p:sp>
        <p:sp>
          <p:nvSpPr>
            <p:cNvPr id="23" name="TextBox 23"/>
            <p:cNvSpPr txBox="1"/>
            <p:nvPr/>
          </p:nvSpPr>
          <p:spPr>
            <a:xfrm>
              <a:off x="6790182" y="2432050"/>
              <a:ext cx="3477213"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CLR Rj · Storage Pj (MW)</a:t>
              </a:r>
            </a:p>
          </p:txBody>
        </p:sp>
        <p:sp>
          <p:nvSpPr>
            <p:cNvPr id="24" name="TextBox 24"/>
            <p:cNvSpPr txBox="1"/>
            <p:nvPr/>
          </p:nvSpPr>
          <p:spPr>
            <a:xfrm>
              <a:off x="6792468" y="2841625"/>
              <a:ext cx="3377150" cy="608457"/>
            </a:xfrm>
            <a:prstGeom prst="rect">
              <a:avLst/>
            </a:prstGeom>
            <a:noFill/>
            <a:ln>
              <a:noFill/>
            </a:ln>
          </p:spPr>
          <p:txBody>
            <a:bodyPr wrap="none" lIns="0" tIns="0" rIns="0" bIns="0" anchor="t" anchorCtr="0">
              <a:spAutoFit/>
            </a:bodyPr>
            <a:lstStyle/>
            <a:p>
              <a:pPr algn="l">
                <a:lnSpc>
                  <a:spcPts val="2250"/>
                </a:lnSpc>
              </a:pPr>
              <a:r>
                <a:rPr lang="en" sz="1650" dirty="0">
                  <a:solidFill>
                    <a:schemeClr val="dk1"/>
                  </a:solidFill>
                  <a:latin typeface="+mn-lt"/>
                  <a:ea typeface="+mn-ea"/>
                  <a:cs typeface="+mn-cs"/>
                </a:rPr>
                <a:t>CLR = planned transformer capacity</a:t>
              </a:r>
              <a:br>
                <a:rPr lang="en" sz="1650" dirty="0">
                  <a:solidFill>
                    <a:schemeClr val="dk1"/>
                  </a:solidFill>
                  <a:latin typeface="+mn-lt"/>
                  <a:ea typeface="+mn-ea"/>
                  <a:cs typeface="+mn-cs"/>
                </a:rPr>
              </a:br>
              <a:r>
                <a:rPr lang="en" sz="1650" dirty="0">
                  <a:solidFill>
                    <a:schemeClr val="dk1"/>
                  </a:solidFill>
                  <a:latin typeface="+mn-lt"/>
                  <a:ea typeface="+mn-ea"/>
                  <a:cs typeface="+mn-cs"/>
                </a:rPr>
                <a:t>divided by forecast peak load</a:t>
              </a:r>
            </a:p>
          </p:txBody>
        </p:sp>
        <p:sp>
          <p:nvSpPr>
            <p:cNvPr id="25" name="Line 25"/>
            <p:cNvSpPr/>
            <p:nvPr/>
          </p:nvSpPr>
          <p:spPr>
            <a:xfrm>
              <a:off x="6800850" y="3571875"/>
              <a:ext cx="4591050" cy="9525"/>
            </a:xfrm>
            <a:custGeom>
              <a:avLst/>
              <a:gdLst/>
              <a:ahLst/>
              <a:cxnLst/>
              <a:rect l="l" t="t" r="r" b="b"/>
              <a:pathLst>
                <a:path w="4591050" h="9525">
                  <a:moveTo>
                    <a:pt x="0" y="0"/>
                  </a:moveTo>
                  <a:lnTo>
                    <a:pt x="4591050" y="0"/>
                  </a:lnTo>
                </a:path>
              </a:pathLst>
            </a:custGeom>
            <a:noFill/>
            <a:ln w="9525">
              <a:solidFill>
                <a:schemeClr val="accent6"/>
              </a:solidFill>
            </a:ln>
          </p:spPr>
        </p:sp>
        <p:sp>
          <p:nvSpPr>
            <p:cNvPr id="26" name="TextBox 26"/>
            <p:cNvSpPr txBox="1"/>
            <p:nvPr/>
          </p:nvSpPr>
          <p:spPr>
            <a:xfrm>
              <a:off x="6793230" y="3724275"/>
              <a:ext cx="975232" cy="293370"/>
            </a:xfrm>
            <a:prstGeom prst="rect">
              <a:avLst/>
            </a:prstGeom>
            <a:noFill/>
            <a:ln>
              <a:noFill/>
            </a:ln>
          </p:spPr>
          <p:txBody>
            <a:bodyPr wrap="none" lIns="0" tIns="0" rIns="0" bIns="0" anchor="t" anchorCtr="0">
              <a:spAutoFit/>
            </a:bodyPr>
            <a:lstStyle/>
            <a:p>
              <a:pPr algn="l"/>
              <a:r>
                <a:rPr lang="en" sz="1500" b="1" dirty="0">
                  <a:solidFill>
                    <a:schemeClr val="accent5"/>
                  </a:solidFill>
                  <a:latin typeface="+mn-lt"/>
                  <a:ea typeface="+mn-ea"/>
                  <a:cs typeface="+mn-cs"/>
                </a:rPr>
                <a:t>MINIMIZE</a:t>
              </a:r>
            </a:p>
          </p:txBody>
        </p:sp>
        <p:sp>
          <p:nvSpPr>
            <p:cNvPr id="27" name="TextBox 27"/>
            <p:cNvSpPr txBox="1"/>
            <p:nvPr/>
          </p:nvSpPr>
          <p:spPr>
            <a:xfrm>
              <a:off x="6790182" y="4041775"/>
              <a:ext cx="2025395" cy="410718"/>
            </a:xfrm>
            <a:prstGeom prst="rect">
              <a:avLst/>
            </a:prstGeom>
            <a:noFill/>
            <a:ln>
              <a:noFill/>
            </a:ln>
          </p:spPr>
          <p:txBody>
            <a:bodyPr wrap="none" lIns="0" tIns="0" rIns="0" bIns="0" anchor="t" anchorCtr="0">
              <a:spAutoFit/>
            </a:bodyPr>
            <a:lstStyle/>
            <a:p>
              <a:pPr algn="l"/>
              <a:r>
                <a:rPr lang="en" sz="2100" dirty="0">
                  <a:solidFill>
                    <a:schemeClr val="accent1"/>
                  </a:solidFill>
                  <a:latin typeface="+mn-lt"/>
                  <a:ea typeface="+mn-ea"/>
                  <a:cs typeface="+mn-cs"/>
                </a:rPr>
                <a:t>Annualized cost</a:t>
              </a:r>
            </a:p>
          </p:txBody>
        </p:sp>
        <p:sp>
          <p:nvSpPr>
            <p:cNvPr id="28" name="TextBox 28"/>
            <p:cNvSpPr txBox="1"/>
            <p:nvPr/>
          </p:nvSpPr>
          <p:spPr>
            <a:xfrm>
              <a:off x="6793230" y="4371975"/>
              <a:ext cx="1312405"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million CNY/yr</a:t>
              </a:r>
            </a:p>
          </p:txBody>
        </p:sp>
        <p:sp>
          <p:nvSpPr>
            <p:cNvPr id="29" name="TextBox 29"/>
            <p:cNvSpPr txBox="1"/>
            <p:nvPr/>
          </p:nvSpPr>
          <p:spPr>
            <a:xfrm>
              <a:off x="6790182" y="4699000"/>
              <a:ext cx="3754765" cy="410718"/>
            </a:xfrm>
            <a:prstGeom prst="rect">
              <a:avLst/>
            </a:prstGeom>
            <a:noFill/>
            <a:ln>
              <a:noFill/>
            </a:ln>
          </p:spPr>
          <p:txBody>
            <a:bodyPr wrap="none" lIns="0" tIns="0" rIns="0" bIns="0" anchor="t" anchorCtr="0">
              <a:spAutoFit/>
            </a:bodyPr>
            <a:lstStyle/>
            <a:p>
              <a:pPr algn="l"/>
              <a:r>
                <a:rPr lang="en" sz="2100" dirty="0">
                  <a:solidFill>
                    <a:schemeClr val="accent1"/>
                  </a:solidFill>
                  <a:latin typeface="+mn-lt"/>
                  <a:ea typeface="+mn-ea"/>
                  <a:cs typeface="+mn-cs"/>
                </a:rPr>
                <a:t>Expected energy not supplied</a:t>
              </a:r>
            </a:p>
          </p:txBody>
        </p:sp>
        <p:sp>
          <p:nvSpPr>
            <p:cNvPr id="30" name="TextBox 30"/>
            <p:cNvSpPr txBox="1"/>
            <p:nvPr/>
          </p:nvSpPr>
          <p:spPr>
            <a:xfrm>
              <a:off x="6793230" y="5048250"/>
              <a:ext cx="3145384"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EENS · MWh/yr · N−1 inadequacy</a:t>
              </a:r>
            </a:p>
          </p:txBody>
        </p:sp>
      </p:grpSp>
      <p:grpSp>
        <p:nvGrpSpPr>
          <p:cNvPr id="35" name="p02-constraints"/>
          <p:cNvGrpSpPr/>
          <p:nvPr/>
        </p:nvGrpSpPr>
        <p:grpSpPr>
          <a:xfrm>
            <a:off x="563118" y="5619750"/>
            <a:ext cx="11057382" cy="691007"/>
            <a:chOff x="563118" y="5619750"/>
            <a:chExt cx="11057382" cy="691007"/>
          </a:xfrm>
        </p:grpSpPr>
        <p:sp>
          <p:nvSpPr>
            <p:cNvPr id="32" name="Line 32"/>
            <p:cNvSpPr/>
            <p:nvPr/>
          </p:nvSpPr>
          <p:spPr>
            <a:xfrm>
              <a:off x="571500" y="5619750"/>
              <a:ext cx="11049000" cy="9525"/>
            </a:xfrm>
            <a:custGeom>
              <a:avLst/>
              <a:gdLst/>
              <a:ahLst/>
              <a:cxnLst/>
              <a:rect l="l" t="t" r="r" b="b"/>
              <a:pathLst>
                <a:path w="11049000" h="9525">
                  <a:moveTo>
                    <a:pt x="0" y="0"/>
                  </a:moveTo>
                  <a:lnTo>
                    <a:pt x="11049000" y="0"/>
                  </a:lnTo>
                </a:path>
              </a:pathLst>
            </a:custGeom>
            <a:noFill/>
            <a:ln w="9525">
              <a:solidFill>
                <a:schemeClr val="accent6"/>
              </a:solidFill>
            </a:ln>
          </p:spPr>
        </p:sp>
        <p:sp>
          <p:nvSpPr>
            <p:cNvPr id="33" name="TextBox 33"/>
            <p:cNvSpPr txBox="1"/>
            <p:nvPr/>
          </p:nvSpPr>
          <p:spPr>
            <a:xfrm>
              <a:off x="563118" y="5702300"/>
              <a:ext cx="7072806" cy="322707"/>
            </a:xfrm>
            <a:prstGeom prst="rect">
              <a:avLst/>
            </a:prstGeom>
            <a:noFill/>
            <a:ln>
              <a:noFill/>
            </a:ln>
          </p:spPr>
          <p:txBody>
            <a:bodyPr wrap="none" lIns="0" tIns="0" rIns="0" bIns="0" anchor="t" anchorCtr="0">
              <a:spAutoFit/>
            </a:bodyPr>
            <a:lstStyle/>
            <a:p>
              <a:pPr algn="l"/>
              <a:r>
                <a:rPr lang="en" sz="1650" b="1" dirty="0">
                  <a:solidFill>
                    <a:schemeClr val="accent1"/>
                  </a:solidFill>
                  <a:latin typeface="+mn-lt"/>
                  <a:ea typeface="+mn-ea"/>
                  <a:cs typeface="+mn-cs"/>
                </a:rPr>
                <a:t>Feasibility:</a:t>
              </a:r>
              <a:r>
                <a:rPr lang="en" sz="1650" dirty="0">
                  <a:solidFill>
                    <a:schemeClr val="dk1"/>
                  </a:solidFill>
                  <a:latin typeface="+mn-lt"/>
                  <a:ea typeface="+mn-ea"/>
                  <a:cs typeface="+mn-cs"/>
                </a:rPr>
                <a:t xml:space="preserve"> station reverse-flow limits · aggregate CLR band 1.80–3.00</a:t>
              </a:r>
            </a:p>
          </p:txBody>
        </p:sp>
        <p:sp>
          <p:nvSpPr>
            <p:cNvPr id="34" name="TextBox 34"/>
            <p:cNvSpPr txBox="1"/>
            <p:nvPr/>
          </p:nvSpPr>
          <p:spPr>
            <a:xfrm>
              <a:off x="563118" y="5988050"/>
              <a:ext cx="5048379"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Upstream reverse-flow limit included when enabled</a:t>
              </a:r>
            </a:p>
          </p:txBody>
        </p:sp>
      </p:grpSp>
      <p:grpSp>
        <p:nvGrpSpPr>
          <p:cNvPr id="38" name="p02-footer"/>
          <p:cNvGrpSpPr/>
          <p:nvPr/>
        </p:nvGrpSpPr>
        <p:grpSpPr>
          <a:xfrm>
            <a:off x="566166" y="6407150"/>
            <a:ext cx="11059668" cy="205359"/>
            <a:chOff x="566166" y="6407150"/>
            <a:chExt cx="11059668" cy="205359"/>
          </a:xfrm>
        </p:grpSpPr>
        <p:sp>
          <p:nvSpPr>
            <p:cNvPr id="36" name="TextBox 36"/>
            <p:cNvSpPr txBox="1"/>
            <p:nvPr/>
          </p:nvSpPr>
          <p:spPr>
            <a:xfrm>
              <a:off x="566166" y="6407150"/>
              <a:ext cx="5189360"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Source: camera-ready paper, Introduction and Section II-A. CLR is dimensionless.</a:t>
              </a:r>
            </a:p>
          </p:txBody>
        </p:sp>
        <p:sp>
          <p:nvSpPr>
            <p:cNvPr id="37" name="TextBox 37"/>
            <p:cNvSpPr txBox="1"/>
            <p:nvPr/>
          </p:nvSpPr>
          <p:spPr>
            <a:xfrm>
              <a:off x="11182886" y="6407150"/>
              <a:ext cx="442948" cy="205359"/>
            </a:xfrm>
            <a:prstGeom prst="rect">
              <a:avLst/>
            </a:prstGeom>
            <a:noFill/>
            <a:ln>
              <a:noFill/>
            </a:ln>
          </p:spPr>
          <p:txBody>
            <a:bodyPr wrap="none" lIns="0" tIns="0" rIns="0" bIns="0" anchor="t" anchorCtr="0">
              <a:spAutoFit/>
            </a:bodyPr>
            <a:lstStyle/>
            <a:p>
              <a:pPr algn="r"/>
              <a:r>
                <a:rPr lang="en" sz="1050" dirty="0">
                  <a:solidFill>
                    <a:schemeClr val="accent5"/>
                  </a:solidFill>
                  <a:latin typeface="+mn-lt"/>
                  <a:ea typeface="+mn-ea"/>
                  <a:cs typeface="+mn-cs"/>
                </a:rPr>
                <a:t>02 / 05</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p03-title"/>
          <p:cNvGrpSpPr/>
          <p:nvPr/>
        </p:nvGrpSpPr>
        <p:grpSpPr>
          <a:xfrm>
            <a:off x="555498" y="606425"/>
            <a:ext cx="7302753" cy="616077"/>
            <a:chOff x="555498" y="606425"/>
            <a:chExt cx="7302753" cy="616077"/>
          </a:xfrm>
        </p:grpSpPr>
        <p:sp>
          <p:nvSpPr>
            <p:cNvPr id="2" name="TextBox 2"/>
            <p:cNvSpPr txBox="1"/>
            <p:nvPr/>
          </p:nvSpPr>
          <p:spPr>
            <a:xfrm>
              <a:off x="555498" y="606425"/>
              <a:ext cx="7302753" cy="616077"/>
            </a:xfrm>
            <a:prstGeom prst="rect">
              <a:avLst/>
            </a:prstGeom>
            <a:noFill/>
            <a:ln>
              <a:noFill/>
            </a:ln>
          </p:spPr>
          <p:txBody>
            <a:bodyPr wrap="none" lIns="0" tIns="0" rIns="0" bIns="0" anchor="t" anchorCtr="0">
              <a:spAutoFit/>
            </a:bodyPr>
            <a:lstStyle/>
            <a:p>
              <a:pPr algn="l"/>
              <a:r>
                <a:rPr lang="en" sz="3150" b="1" dirty="0">
                  <a:solidFill>
                    <a:schemeClr val="accent1"/>
                  </a:solidFill>
                  <a:latin typeface="+mn-lt"/>
                  <a:ea typeface="+mn-ea"/>
                  <a:cs typeface="+mn-cs"/>
                </a:rPr>
                <a:t>Engineering priors guide the search</a:t>
              </a:r>
            </a:p>
          </p:txBody>
        </p:sp>
      </p:grpSp>
      <p:grpSp>
        <p:nvGrpSpPr>
          <p:cNvPr id="5" name="p03-method-definition"/>
          <p:cNvGrpSpPr/>
          <p:nvPr/>
        </p:nvGrpSpPr>
        <p:grpSpPr>
          <a:xfrm>
            <a:off x="560832" y="1374775"/>
            <a:ext cx="6254221" cy="410718"/>
            <a:chOff x="560832" y="1374775"/>
            <a:chExt cx="6254221" cy="410718"/>
          </a:xfrm>
        </p:grpSpPr>
        <p:sp>
          <p:nvSpPr>
            <p:cNvPr id="4" name="TextBox 4"/>
            <p:cNvSpPr txBox="1"/>
            <p:nvPr/>
          </p:nvSpPr>
          <p:spPr>
            <a:xfrm>
              <a:off x="560832" y="1374775"/>
              <a:ext cx="6254221" cy="410718"/>
            </a:xfrm>
            <a:prstGeom prst="rect">
              <a:avLst/>
            </a:prstGeom>
            <a:noFill/>
            <a:ln>
              <a:noFill/>
            </a:ln>
          </p:spPr>
          <p:txBody>
            <a:bodyPr wrap="none" lIns="0" tIns="0" rIns="0" bIns="0" anchor="t" anchorCtr="0">
              <a:spAutoFit/>
            </a:bodyPr>
            <a:lstStyle/>
            <a:p>
              <a:pPr algn="l"/>
              <a:r>
                <a:rPr lang="en" sz="2100" dirty="0">
                  <a:solidFill>
                    <a:schemeClr val="accent5"/>
                  </a:solidFill>
                  <a:latin typeface="+mn-lt"/>
                  <a:ea typeface="+mn-ea"/>
                  <a:cs typeface="+mn-cs"/>
                </a:rPr>
                <a:t xml:space="preserve">Standard NSGA-II + </a:t>
              </a:r>
              <a:r>
                <a:rPr lang="en" sz="2100" b="1" dirty="0">
                  <a:solidFill>
                    <a:schemeClr val="accent2"/>
                  </a:solidFill>
                  <a:latin typeface="+mn-lt"/>
                  <a:ea typeface="+mn-ea"/>
                  <a:cs typeface="+mn-cs"/>
                </a:rPr>
                <a:t>seeding</a:t>
              </a:r>
              <a:r>
                <a:rPr lang="en" sz="2100" dirty="0">
                  <a:solidFill>
                    <a:schemeClr val="accent5"/>
                  </a:solidFill>
                  <a:latin typeface="+mn-lt"/>
                  <a:ea typeface="+mn-ea"/>
                  <a:cs typeface="+mn-cs"/>
                </a:rPr>
                <a:t xml:space="preserve"> + </a:t>
              </a:r>
              <a:r>
                <a:rPr lang="en" sz="2100" b="1" dirty="0">
                  <a:solidFill>
                    <a:schemeClr val="accent2"/>
                  </a:solidFill>
                  <a:latin typeface="+mn-lt"/>
                  <a:ea typeface="+mn-ea"/>
                  <a:cs typeface="+mn-cs"/>
                </a:rPr>
                <a:t>feasibility repair</a:t>
              </a:r>
            </a:p>
          </p:txBody>
        </p:sp>
      </p:grpSp>
      <p:grpSp>
        <p:nvGrpSpPr>
          <p:cNvPr id="20" name="p03-evolutionary-sequence"/>
          <p:cNvGrpSpPr/>
          <p:nvPr/>
        </p:nvGrpSpPr>
        <p:grpSpPr>
          <a:xfrm>
            <a:off x="571500" y="2076450"/>
            <a:ext cx="11056620" cy="1826895"/>
            <a:chOff x="571500" y="2076450"/>
            <a:chExt cx="11056620" cy="1826895"/>
          </a:xfrm>
        </p:grpSpPr>
        <p:sp>
          <p:nvSpPr>
            <p:cNvPr id="6" name="Freeform 6"/>
            <p:cNvSpPr/>
            <p:nvPr/>
          </p:nvSpPr>
          <p:spPr>
            <a:xfrm>
              <a:off x="571500" y="2076450"/>
              <a:ext cx="2571750" cy="1314450"/>
            </a:xfrm>
            <a:prstGeom prst="chevron">
              <a:avLst>
                <a:gd name="adj" fmla="val 12000"/>
              </a:avLst>
            </a:prstGeom>
            <a:solidFill>
              <a:schemeClr val="accent2"/>
            </a:solidFill>
            <a:ln>
              <a:noFill/>
            </a:ln>
          </p:spPr>
        </p:sp>
        <p:sp>
          <p:nvSpPr>
            <p:cNvPr id="7" name="Freeform 7"/>
            <p:cNvSpPr/>
            <p:nvPr/>
          </p:nvSpPr>
          <p:spPr>
            <a:xfrm>
              <a:off x="3276600" y="2076450"/>
              <a:ext cx="2095500" cy="1314450"/>
            </a:xfrm>
            <a:prstGeom prst="chevron">
              <a:avLst>
                <a:gd name="adj" fmla="val 12000"/>
              </a:avLst>
            </a:prstGeom>
            <a:solidFill>
              <a:schemeClr val="lt2"/>
            </a:solidFill>
            <a:ln>
              <a:noFill/>
            </a:ln>
          </p:spPr>
        </p:sp>
        <p:sp>
          <p:nvSpPr>
            <p:cNvPr id="8" name="Freeform 8"/>
            <p:cNvSpPr/>
            <p:nvPr/>
          </p:nvSpPr>
          <p:spPr>
            <a:xfrm>
              <a:off x="5505450" y="2076450"/>
              <a:ext cx="2190750" cy="1314450"/>
            </a:xfrm>
            <a:prstGeom prst="chevron">
              <a:avLst>
                <a:gd name="adj" fmla="val 12000"/>
              </a:avLst>
            </a:prstGeom>
            <a:solidFill>
              <a:schemeClr val="accent2"/>
            </a:solidFill>
            <a:ln>
              <a:noFill/>
            </a:ln>
          </p:spPr>
        </p:sp>
        <p:sp>
          <p:nvSpPr>
            <p:cNvPr id="9" name="Freeform 9"/>
            <p:cNvSpPr/>
            <p:nvPr/>
          </p:nvSpPr>
          <p:spPr>
            <a:xfrm>
              <a:off x="7829550" y="2076450"/>
              <a:ext cx="3790950" cy="1314450"/>
            </a:xfrm>
            <a:prstGeom prst="chevron">
              <a:avLst>
                <a:gd name="adj" fmla="val 12000"/>
              </a:avLst>
            </a:prstGeom>
            <a:solidFill>
              <a:schemeClr val="lt2"/>
            </a:solidFill>
            <a:ln>
              <a:noFill/>
            </a:ln>
          </p:spPr>
        </p:sp>
        <p:grpSp>
          <p:nvGrpSpPr>
            <p:cNvPr id="18" name="Group 18"/>
            <p:cNvGrpSpPr/>
            <p:nvPr/>
          </p:nvGrpSpPr>
          <p:grpSpPr>
            <a:xfrm>
              <a:off x="930202" y="2289175"/>
              <a:ext cx="9973059" cy="747395"/>
              <a:chOff x="930202" y="2289175"/>
              <a:chExt cx="9973059" cy="747395"/>
            </a:xfrm>
          </p:grpSpPr>
          <p:sp>
            <p:nvSpPr>
              <p:cNvPr id="10" name="TextBox 10"/>
              <p:cNvSpPr txBox="1"/>
              <p:nvPr/>
            </p:nvSpPr>
            <p:spPr>
              <a:xfrm>
                <a:off x="930202" y="2289175"/>
                <a:ext cx="1854346" cy="410718"/>
              </a:xfrm>
              <a:prstGeom prst="rect">
                <a:avLst/>
              </a:prstGeom>
              <a:noFill/>
              <a:ln>
                <a:noFill/>
              </a:ln>
            </p:spPr>
            <p:txBody>
              <a:bodyPr wrap="none" lIns="0" tIns="0" rIns="0" bIns="0" anchor="t" anchorCtr="0">
                <a:spAutoFit/>
              </a:bodyPr>
              <a:lstStyle/>
              <a:p>
                <a:pPr algn="ctr"/>
                <a:r>
                  <a:rPr lang="en" sz="2100" b="1" dirty="0">
                    <a:solidFill>
                      <a:srgbClr val="FFFFFF"/>
                    </a:solidFill>
                    <a:latin typeface="+mn-lt"/>
                    <a:ea typeface="+mn-ea"/>
                    <a:cs typeface="+mn-cs"/>
                  </a:rPr>
                  <a:t>Seed &amp; repair</a:t>
                </a:r>
              </a:p>
            </p:txBody>
          </p:sp>
          <p:sp>
            <p:nvSpPr>
              <p:cNvPr id="11" name="TextBox 11"/>
              <p:cNvSpPr txBox="1"/>
              <p:nvPr/>
            </p:nvSpPr>
            <p:spPr>
              <a:xfrm>
                <a:off x="1117550" y="2743200"/>
                <a:ext cx="1479650" cy="293370"/>
              </a:xfrm>
              <a:prstGeom prst="rect">
                <a:avLst/>
              </a:prstGeom>
              <a:noFill/>
              <a:ln>
                <a:noFill/>
              </a:ln>
            </p:spPr>
            <p:txBody>
              <a:bodyPr wrap="none" lIns="0" tIns="0" rIns="0" bIns="0" anchor="t" anchorCtr="0">
                <a:spAutoFit/>
              </a:bodyPr>
              <a:lstStyle/>
              <a:p>
                <a:pPr algn="ctr"/>
                <a:r>
                  <a:rPr lang="en" sz="1500" dirty="0">
                    <a:solidFill>
                      <a:srgbClr val="FFFFFF"/>
                    </a:solidFill>
                    <a:latin typeface="+mn-lt"/>
                    <a:ea typeface="+mn-ea"/>
                    <a:cs typeface="+mn-cs"/>
                  </a:rPr>
                  <a:t>Initial population</a:t>
                </a:r>
              </a:p>
            </p:txBody>
          </p:sp>
          <p:sp>
            <p:nvSpPr>
              <p:cNvPr id="12" name="TextBox 12"/>
              <p:cNvSpPr txBox="1"/>
              <p:nvPr/>
            </p:nvSpPr>
            <p:spPr>
              <a:xfrm>
                <a:off x="3705065" y="2289175"/>
                <a:ext cx="1238569" cy="410718"/>
              </a:xfrm>
              <a:prstGeom prst="rect">
                <a:avLst/>
              </a:prstGeom>
              <a:noFill/>
              <a:ln>
                <a:noFill/>
              </a:ln>
            </p:spPr>
            <p:txBody>
              <a:bodyPr wrap="none" lIns="0" tIns="0" rIns="0" bIns="0" anchor="t" anchorCtr="0">
                <a:spAutoFit/>
              </a:bodyPr>
              <a:lstStyle/>
              <a:p>
                <a:pPr algn="ctr"/>
                <a:r>
                  <a:rPr lang="en" sz="2100" b="1" dirty="0">
                    <a:solidFill>
                      <a:schemeClr val="accent1"/>
                    </a:solidFill>
                    <a:latin typeface="+mn-lt"/>
                    <a:ea typeface="+mn-ea"/>
                    <a:cs typeface="+mn-cs"/>
                  </a:rPr>
                  <a:t>Variation</a:t>
                </a:r>
              </a:p>
            </p:txBody>
          </p:sp>
          <p:sp>
            <p:nvSpPr>
              <p:cNvPr id="13" name="TextBox 13"/>
              <p:cNvSpPr txBox="1"/>
              <p:nvPr/>
            </p:nvSpPr>
            <p:spPr>
              <a:xfrm>
                <a:off x="3449450" y="2743200"/>
                <a:ext cx="1749800" cy="293370"/>
              </a:xfrm>
              <a:prstGeom prst="rect">
                <a:avLst/>
              </a:prstGeom>
              <a:noFill/>
              <a:ln>
                <a:noFill/>
              </a:ln>
            </p:spPr>
            <p:txBody>
              <a:bodyPr wrap="none" lIns="0" tIns="0" rIns="0" bIns="0" anchor="t" anchorCtr="0">
                <a:spAutoFit/>
              </a:bodyPr>
              <a:lstStyle/>
              <a:p>
                <a:pPr algn="ctr"/>
                <a:r>
                  <a:rPr lang="en" sz="1500" dirty="0">
                    <a:solidFill>
                      <a:schemeClr val="accent5"/>
                    </a:solidFill>
                    <a:latin typeface="+mn-lt"/>
                    <a:ea typeface="+mn-ea"/>
                    <a:cs typeface="+mn-cs"/>
                  </a:rPr>
                  <a:t>Standard operators</a:t>
                </a:r>
              </a:p>
            </p:txBody>
          </p:sp>
          <p:sp>
            <p:nvSpPr>
              <p:cNvPr id="14" name="TextBox 14"/>
              <p:cNvSpPr txBox="1"/>
              <p:nvPr/>
            </p:nvSpPr>
            <p:spPr>
              <a:xfrm>
                <a:off x="6146066" y="2289175"/>
                <a:ext cx="909518" cy="410718"/>
              </a:xfrm>
              <a:prstGeom prst="rect">
                <a:avLst/>
              </a:prstGeom>
              <a:noFill/>
              <a:ln>
                <a:noFill/>
              </a:ln>
            </p:spPr>
            <p:txBody>
              <a:bodyPr wrap="none" lIns="0" tIns="0" rIns="0" bIns="0" anchor="t" anchorCtr="0">
                <a:spAutoFit/>
              </a:bodyPr>
              <a:lstStyle/>
              <a:p>
                <a:pPr algn="ctr"/>
                <a:r>
                  <a:rPr lang="en" sz="2100" b="1" dirty="0">
                    <a:solidFill>
                      <a:srgbClr val="FFFFFF"/>
                    </a:solidFill>
                    <a:latin typeface="+mn-lt"/>
                    <a:ea typeface="+mn-ea"/>
                    <a:cs typeface="+mn-cs"/>
                  </a:rPr>
                  <a:t>Repair</a:t>
                </a:r>
              </a:p>
            </p:txBody>
          </p:sp>
          <p:sp>
            <p:nvSpPr>
              <p:cNvPr id="15" name="TextBox 15"/>
              <p:cNvSpPr txBox="1"/>
              <p:nvPr/>
            </p:nvSpPr>
            <p:spPr>
              <a:xfrm>
                <a:off x="5967773" y="2743200"/>
                <a:ext cx="1266104" cy="293370"/>
              </a:xfrm>
              <a:prstGeom prst="rect">
                <a:avLst/>
              </a:prstGeom>
              <a:noFill/>
              <a:ln>
                <a:noFill/>
              </a:ln>
            </p:spPr>
            <p:txBody>
              <a:bodyPr wrap="none" lIns="0" tIns="0" rIns="0" bIns="0" anchor="t" anchorCtr="0">
                <a:spAutoFit/>
              </a:bodyPr>
              <a:lstStyle/>
              <a:p>
                <a:pPr algn="ctr"/>
                <a:r>
                  <a:rPr lang="en" sz="1500" dirty="0">
                    <a:solidFill>
                      <a:srgbClr val="FFFFFF"/>
                    </a:solidFill>
                    <a:latin typeface="+mn-lt"/>
                    <a:ea typeface="+mn-ea"/>
                    <a:cs typeface="+mn-cs"/>
                  </a:rPr>
                  <a:t>After variation</a:t>
                </a:r>
              </a:p>
            </p:txBody>
          </p:sp>
          <p:sp>
            <p:nvSpPr>
              <p:cNvPr id="16" name="TextBox 16"/>
              <p:cNvSpPr txBox="1"/>
              <p:nvPr/>
            </p:nvSpPr>
            <p:spPr>
              <a:xfrm>
                <a:off x="8546789" y="2289175"/>
                <a:ext cx="2356472" cy="410718"/>
              </a:xfrm>
              <a:prstGeom prst="rect">
                <a:avLst/>
              </a:prstGeom>
              <a:noFill/>
              <a:ln>
                <a:noFill/>
              </a:ln>
            </p:spPr>
            <p:txBody>
              <a:bodyPr wrap="none" lIns="0" tIns="0" rIns="0" bIns="0" anchor="t" anchorCtr="0">
                <a:spAutoFit/>
              </a:bodyPr>
              <a:lstStyle/>
              <a:p>
                <a:pPr algn="ctr"/>
                <a:r>
                  <a:rPr lang="en" sz="2100" b="1" dirty="0">
                    <a:solidFill>
                      <a:schemeClr val="accent1"/>
                    </a:solidFill>
                    <a:latin typeface="+mn-lt"/>
                    <a:ea typeface="+mn-ea"/>
                    <a:cs typeface="+mn-cs"/>
                  </a:rPr>
                  <a:t>Evaluate &amp; select</a:t>
                </a:r>
              </a:p>
            </p:txBody>
          </p:sp>
          <p:sp>
            <p:nvSpPr>
              <p:cNvPr id="17" name="TextBox 17"/>
              <p:cNvSpPr txBox="1"/>
              <p:nvPr/>
            </p:nvSpPr>
            <p:spPr>
              <a:xfrm>
                <a:off x="8692347" y="2743200"/>
                <a:ext cx="2065357" cy="293370"/>
              </a:xfrm>
              <a:prstGeom prst="rect">
                <a:avLst/>
              </a:prstGeom>
              <a:noFill/>
              <a:ln>
                <a:noFill/>
              </a:ln>
            </p:spPr>
            <p:txBody>
              <a:bodyPr wrap="none" lIns="0" tIns="0" rIns="0" bIns="0" anchor="t" anchorCtr="0">
                <a:spAutoFit/>
              </a:bodyPr>
              <a:lstStyle/>
              <a:p>
                <a:pPr algn="ctr"/>
                <a:r>
                  <a:rPr lang="en" sz="1500" dirty="0">
                    <a:solidFill>
                      <a:schemeClr val="accent5"/>
                    </a:solidFill>
                    <a:latin typeface="+mn-lt"/>
                    <a:ea typeface="+mn-ea"/>
                    <a:cs typeface="+mn-cs"/>
                  </a:rPr>
                  <a:t>Cost, EENS, feasibility</a:t>
                </a:r>
              </a:p>
            </p:txBody>
          </p:sp>
        </p:grpSp>
        <p:sp>
          <p:nvSpPr>
            <p:cNvPr id="19" name="TextBox 19"/>
            <p:cNvSpPr txBox="1"/>
            <p:nvPr/>
          </p:nvSpPr>
          <p:spPr>
            <a:xfrm>
              <a:off x="8497884" y="3609975"/>
              <a:ext cx="3130236" cy="293370"/>
            </a:xfrm>
            <a:prstGeom prst="rect">
              <a:avLst/>
            </a:prstGeom>
            <a:noFill/>
            <a:ln>
              <a:noFill/>
            </a:ln>
          </p:spPr>
          <p:txBody>
            <a:bodyPr wrap="none" lIns="0" tIns="0" rIns="0" bIns="0" anchor="t" anchorCtr="0">
              <a:spAutoFit/>
            </a:bodyPr>
            <a:lstStyle/>
            <a:p>
              <a:pPr algn="r"/>
              <a:r>
                <a:rPr lang="en" sz="1500" dirty="0">
                  <a:solidFill>
                    <a:schemeClr val="accent5"/>
                  </a:solidFill>
                  <a:latin typeface="+mn-lt"/>
                  <a:ea typeface="+mn-ea"/>
                  <a:cs typeface="+mn-cs"/>
                </a:rPr>
                <a:t>Next generation: return to variation</a:t>
              </a:r>
            </a:p>
          </p:txBody>
        </p:sp>
      </p:grpSp>
      <p:grpSp>
        <p:nvGrpSpPr>
          <p:cNvPr id="31" name="p03-repair-priorities"/>
          <p:cNvGrpSpPr/>
          <p:nvPr/>
        </p:nvGrpSpPr>
        <p:grpSpPr>
          <a:xfrm>
            <a:off x="560832" y="4229100"/>
            <a:ext cx="11059668" cy="1319657"/>
            <a:chOff x="560832" y="4229100"/>
            <a:chExt cx="11059668" cy="1319657"/>
          </a:xfrm>
        </p:grpSpPr>
        <p:sp>
          <p:nvSpPr>
            <p:cNvPr id="21" name="Line 21"/>
            <p:cNvSpPr/>
            <p:nvPr/>
          </p:nvSpPr>
          <p:spPr>
            <a:xfrm>
              <a:off x="571500" y="4229100"/>
              <a:ext cx="11049000" cy="9525"/>
            </a:xfrm>
            <a:custGeom>
              <a:avLst/>
              <a:gdLst/>
              <a:ahLst/>
              <a:cxnLst/>
              <a:rect l="l" t="t" r="r" b="b"/>
              <a:pathLst>
                <a:path w="11049000" h="9525">
                  <a:moveTo>
                    <a:pt x="0" y="0"/>
                  </a:moveTo>
                  <a:lnTo>
                    <a:pt x="11049000" y="0"/>
                  </a:lnTo>
                </a:path>
              </a:pathLst>
            </a:custGeom>
            <a:noFill/>
            <a:ln w="9525">
              <a:solidFill>
                <a:schemeClr val="accent6"/>
              </a:solidFill>
            </a:ln>
          </p:spPr>
        </p:sp>
        <p:sp>
          <p:nvSpPr>
            <p:cNvPr id="22" name="TextBox 22"/>
            <p:cNvSpPr txBox="1"/>
            <p:nvPr/>
          </p:nvSpPr>
          <p:spPr>
            <a:xfrm>
              <a:off x="563880" y="4362450"/>
              <a:ext cx="2089867"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REPAIR PRIORITIES</a:t>
              </a:r>
            </a:p>
          </p:txBody>
        </p:sp>
        <p:grpSp>
          <p:nvGrpSpPr>
            <p:cNvPr id="26" name="Group 26"/>
            <p:cNvGrpSpPr/>
            <p:nvPr/>
          </p:nvGrpSpPr>
          <p:grpSpPr>
            <a:xfrm>
              <a:off x="560832" y="4775200"/>
              <a:ext cx="9968633" cy="410718"/>
              <a:chOff x="560832" y="4775200"/>
              <a:chExt cx="9968633" cy="410718"/>
            </a:xfrm>
          </p:grpSpPr>
          <p:sp>
            <p:nvSpPr>
              <p:cNvPr id="23" name="TextBox 23"/>
              <p:cNvSpPr txBox="1"/>
              <p:nvPr/>
            </p:nvSpPr>
            <p:spPr>
              <a:xfrm>
                <a:off x="560832" y="4775200"/>
                <a:ext cx="2357999"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1 Aggregate CLR</a:t>
                </a:r>
              </a:p>
            </p:txBody>
          </p:sp>
          <p:sp>
            <p:nvSpPr>
              <p:cNvPr id="24" name="TextBox 24"/>
              <p:cNvSpPr txBox="1"/>
              <p:nvPr/>
            </p:nvSpPr>
            <p:spPr>
              <a:xfrm>
                <a:off x="4294632" y="4775200"/>
                <a:ext cx="2952816"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2 Station reverse flow</a:t>
                </a:r>
              </a:p>
            </p:txBody>
          </p:sp>
          <p:sp>
            <p:nvSpPr>
              <p:cNvPr id="25" name="TextBox 25"/>
              <p:cNvSpPr txBox="1"/>
              <p:nvPr/>
            </p:nvSpPr>
            <p:spPr>
              <a:xfrm>
                <a:off x="8314182" y="4775200"/>
                <a:ext cx="2215283"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3 Upstream flow</a:t>
                </a:r>
              </a:p>
            </p:txBody>
          </p:sp>
        </p:grpSp>
        <p:grpSp>
          <p:nvGrpSpPr>
            <p:cNvPr id="30" name="Group 30"/>
            <p:cNvGrpSpPr/>
            <p:nvPr/>
          </p:nvGrpSpPr>
          <p:grpSpPr>
            <a:xfrm>
              <a:off x="563118" y="5226050"/>
              <a:ext cx="10456126" cy="322707"/>
              <a:chOff x="563118" y="5226050"/>
              <a:chExt cx="10456126" cy="322707"/>
            </a:xfrm>
          </p:grpSpPr>
          <p:sp>
            <p:nvSpPr>
              <p:cNvPr id="27" name="TextBox 27"/>
              <p:cNvSpPr txBox="1"/>
              <p:nvPr/>
            </p:nvSpPr>
            <p:spPr>
              <a:xfrm>
                <a:off x="563118" y="5226050"/>
                <a:ext cx="2431795"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Bounded common offset</a:t>
                </a:r>
              </a:p>
            </p:txBody>
          </p:sp>
          <p:sp>
            <p:nvSpPr>
              <p:cNvPr id="28" name="TextBox 28"/>
              <p:cNvSpPr txBox="1"/>
              <p:nvPr/>
            </p:nvSpPr>
            <p:spPr>
              <a:xfrm>
                <a:off x="4296918" y="5226050"/>
                <a:ext cx="2344652"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Increase storage power</a:t>
                </a:r>
              </a:p>
            </p:txBody>
          </p:sp>
          <p:sp>
            <p:nvSpPr>
              <p:cNvPr id="29" name="TextBox 29"/>
              <p:cNvSpPr txBox="1"/>
              <p:nvPr/>
            </p:nvSpPr>
            <p:spPr>
              <a:xfrm>
                <a:off x="8316468" y="5226050"/>
                <a:ext cx="2702776"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Allocate storage, if enabled</a:t>
                </a:r>
              </a:p>
            </p:txBody>
          </p:sp>
        </p:grpSp>
      </p:grpSp>
      <p:grpSp>
        <p:nvGrpSpPr>
          <p:cNvPr id="33" name="p03-selection-policy"/>
          <p:cNvGrpSpPr/>
          <p:nvPr/>
        </p:nvGrpSpPr>
        <p:grpSpPr>
          <a:xfrm>
            <a:off x="563118" y="5873750"/>
            <a:ext cx="9123716" cy="322707"/>
            <a:chOff x="563118" y="5873750"/>
            <a:chExt cx="9123716" cy="322707"/>
          </a:xfrm>
        </p:grpSpPr>
        <p:sp>
          <p:nvSpPr>
            <p:cNvPr id="32" name="TextBox 32"/>
            <p:cNvSpPr txBox="1"/>
            <p:nvPr/>
          </p:nvSpPr>
          <p:spPr>
            <a:xfrm>
              <a:off x="563118" y="5873750"/>
              <a:ext cx="9123716"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Remaining violations use constraint domination; standard ranking and selection are retained.</a:t>
              </a:r>
            </a:p>
          </p:txBody>
        </p:sp>
      </p:grpSp>
      <p:grpSp>
        <p:nvGrpSpPr>
          <p:cNvPr id="36" name="p03-footer"/>
          <p:cNvGrpSpPr/>
          <p:nvPr/>
        </p:nvGrpSpPr>
        <p:grpSpPr>
          <a:xfrm>
            <a:off x="566166" y="6407150"/>
            <a:ext cx="11059668" cy="205359"/>
            <a:chOff x="566166" y="6407150"/>
            <a:chExt cx="11059668" cy="205359"/>
          </a:xfrm>
        </p:grpSpPr>
        <p:sp>
          <p:nvSpPr>
            <p:cNvPr id="34" name="TextBox 34"/>
            <p:cNvSpPr txBox="1"/>
            <p:nvPr/>
          </p:nvSpPr>
          <p:spPr>
            <a:xfrm>
              <a:off x="566166" y="6407150"/>
              <a:ext cx="3716070"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Source: camera-ready paper, Section II-B and Algorithm 1.</a:t>
              </a:r>
            </a:p>
          </p:txBody>
        </p:sp>
        <p:sp>
          <p:nvSpPr>
            <p:cNvPr id="35" name="TextBox 35"/>
            <p:cNvSpPr txBox="1"/>
            <p:nvPr/>
          </p:nvSpPr>
          <p:spPr>
            <a:xfrm>
              <a:off x="11182886" y="6407150"/>
              <a:ext cx="442948" cy="205359"/>
            </a:xfrm>
            <a:prstGeom prst="rect">
              <a:avLst/>
            </a:prstGeom>
            <a:noFill/>
            <a:ln>
              <a:noFill/>
            </a:ln>
          </p:spPr>
          <p:txBody>
            <a:bodyPr wrap="none" lIns="0" tIns="0" rIns="0" bIns="0" anchor="t" anchorCtr="0">
              <a:spAutoFit/>
            </a:bodyPr>
            <a:lstStyle/>
            <a:p>
              <a:pPr algn="r"/>
              <a:r>
                <a:rPr lang="en" sz="1050" dirty="0">
                  <a:solidFill>
                    <a:schemeClr val="accent5"/>
                  </a:solidFill>
                  <a:latin typeface="+mn-lt"/>
                  <a:ea typeface="+mn-ea"/>
                  <a:cs typeface="+mn-cs"/>
                </a:rPr>
                <a:t>03 / 05</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p04-title"/>
          <p:cNvGrpSpPr/>
          <p:nvPr/>
        </p:nvGrpSpPr>
        <p:grpSpPr>
          <a:xfrm>
            <a:off x="555498" y="606425"/>
            <a:ext cx="8835170" cy="616077"/>
            <a:chOff x="555498" y="606425"/>
            <a:chExt cx="8835170" cy="616077"/>
          </a:xfrm>
        </p:grpSpPr>
        <p:sp>
          <p:nvSpPr>
            <p:cNvPr id="2" name="TextBox 2"/>
            <p:cNvSpPr txBox="1"/>
            <p:nvPr/>
          </p:nvSpPr>
          <p:spPr>
            <a:xfrm>
              <a:off x="555498" y="606425"/>
              <a:ext cx="8835170" cy="616077"/>
            </a:xfrm>
            <a:prstGeom prst="rect">
              <a:avLst/>
            </a:prstGeom>
            <a:noFill/>
            <a:ln>
              <a:noFill/>
            </a:ln>
          </p:spPr>
          <p:txBody>
            <a:bodyPr wrap="none" lIns="0" tIns="0" rIns="0" bIns="0" anchor="t" anchorCtr="0">
              <a:spAutoFit/>
            </a:bodyPr>
            <a:lstStyle/>
            <a:p>
              <a:pPr algn="l"/>
              <a:r>
                <a:rPr lang="en" sz="3150" b="1" dirty="0">
                  <a:solidFill>
                    <a:schemeClr val="accent1"/>
                  </a:solidFill>
                  <a:latin typeface="+mn-lt"/>
                  <a:ea typeface="+mn-ea"/>
                  <a:cs typeface="+mn-cs"/>
                </a:rPr>
                <a:t>Better search, lower modeled planning cost</a:t>
              </a:r>
            </a:p>
          </p:txBody>
        </p:sp>
      </p:grpSp>
      <p:grpSp>
        <p:nvGrpSpPr>
          <p:cNvPr id="7" name="p04-search-headline"/>
          <p:cNvGrpSpPr/>
          <p:nvPr/>
        </p:nvGrpSpPr>
        <p:grpSpPr>
          <a:xfrm>
            <a:off x="552450" y="1679575"/>
            <a:ext cx="4897222" cy="1517650"/>
            <a:chOff x="552450" y="1679575"/>
            <a:chExt cx="4897222" cy="1517650"/>
          </a:xfrm>
        </p:grpSpPr>
        <p:sp>
          <p:nvSpPr>
            <p:cNvPr id="4" name="TextBox 4"/>
            <p:cNvSpPr txBox="1"/>
            <p:nvPr/>
          </p:nvSpPr>
          <p:spPr>
            <a:xfrm>
              <a:off x="560832" y="1679575"/>
              <a:ext cx="3055204"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Search quality | K = 40</a:t>
              </a:r>
            </a:p>
          </p:txBody>
        </p:sp>
        <p:sp>
          <p:nvSpPr>
            <p:cNvPr id="5" name="TextBox 5"/>
            <p:cNvSpPr txBox="1"/>
            <p:nvPr/>
          </p:nvSpPr>
          <p:spPr>
            <a:xfrm>
              <a:off x="552450" y="2092325"/>
              <a:ext cx="2235284" cy="1104900"/>
            </a:xfrm>
            <a:prstGeom prst="rect">
              <a:avLst/>
            </a:prstGeom>
            <a:noFill/>
            <a:ln>
              <a:noFill/>
            </a:ln>
          </p:spPr>
          <p:txBody>
            <a:bodyPr wrap="none" lIns="0" tIns="0" rIns="0" bIns="0" anchor="t" anchorCtr="0">
              <a:spAutoFit/>
            </a:bodyPr>
            <a:lstStyle/>
            <a:p>
              <a:pPr algn="l"/>
              <a:r>
                <a:rPr lang="en" sz="5700" b="1" dirty="0">
                  <a:solidFill>
                    <a:schemeClr val="accent2"/>
                  </a:solidFill>
                  <a:latin typeface="+mn-lt"/>
                  <a:ea typeface="+mn-ea"/>
                  <a:cs typeface="+mn-cs"/>
                </a:rPr>
                <a:t>+4.8%</a:t>
              </a:r>
            </a:p>
          </p:txBody>
        </p:sp>
        <p:sp>
          <p:nvSpPr>
            <p:cNvPr id="6" name="TextBox 6"/>
            <p:cNvSpPr txBox="1"/>
            <p:nvPr/>
          </p:nvSpPr>
          <p:spPr>
            <a:xfrm>
              <a:off x="3411855" y="2212975"/>
              <a:ext cx="2037817" cy="579120"/>
            </a:xfrm>
            <a:prstGeom prst="rect">
              <a:avLst/>
            </a:prstGeom>
            <a:noFill/>
            <a:ln>
              <a:noFill/>
            </a:ln>
          </p:spPr>
          <p:txBody>
            <a:bodyPr wrap="none" lIns="0" tIns="0" rIns="0" bIns="0" anchor="t" anchorCtr="0">
              <a:spAutoFit/>
            </a:bodyPr>
            <a:lstStyle/>
            <a:p>
              <a:pPr algn="l">
                <a:lnSpc>
                  <a:spcPts val="2250"/>
                </a:lnSpc>
              </a:pPr>
              <a:r>
                <a:rPr lang="en" sz="1500" dirty="0">
                  <a:solidFill>
                    <a:schemeClr val="accent5"/>
                  </a:solidFill>
                  <a:latin typeface="+mn-lt"/>
                  <a:ea typeface="+mn-ea"/>
                  <a:cs typeface="+mn-cs"/>
                </a:rPr>
                <a:t>vs standard NSGA-II</a:t>
              </a:r>
              <a:br>
                <a:rPr lang="en" sz="1500" dirty="0">
                  <a:solidFill>
                    <a:schemeClr val="accent5"/>
                  </a:solidFill>
                  <a:latin typeface="+mn-lt"/>
                  <a:ea typeface="+mn-ea"/>
                  <a:cs typeface="+mn-cs"/>
                </a:rPr>
              </a:br>
              <a:r>
                <a:rPr lang="en" sz="1500" dirty="0">
                  <a:solidFill>
                    <a:schemeClr val="accent5"/>
                  </a:solidFill>
                  <a:latin typeface="+mn-lt"/>
                  <a:ea typeface="+mn-ea"/>
                  <a:cs typeface="+mn-cs"/>
                </a:rPr>
                <a:t>mean final hypervolume</a:t>
              </a:r>
            </a:p>
          </p:txBody>
        </p:sp>
      </p:grpSp>
      <p:grpSp>
        <p:nvGrpSpPr>
          <p:cNvPr id="11" name="p04-planning-headline"/>
          <p:cNvGrpSpPr/>
          <p:nvPr/>
        </p:nvGrpSpPr>
        <p:grpSpPr>
          <a:xfrm>
            <a:off x="6743700" y="1679575"/>
            <a:ext cx="4449428" cy="1517650"/>
            <a:chOff x="6743700" y="1679575"/>
            <a:chExt cx="4449428" cy="1517650"/>
          </a:xfrm>
        </p:grpSpPr>
        <p:sp>
          <p:nvSpPr>
            <p:cNvPr id="8" name="TextBox 8"/>
            <p:cNvSpPr txBox="1"/>
            <p:nvPr/>
          </p:nvSpPr>
          <p:spPr>
            <a:xfrm>
              <a:off x="6752082" y="1679575"/>
              <a:ext cx="3573395"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Planning outcome | K = 20</a:t>
              </a:r>
            </a:p>
          </p:txBody>
        </p:sp>
        <p:sp>
          <p:nvSpPr>
            <p:cNvPr id="9" name="TextBox 9"/>
            <p:cNvSpPr txBox="1"/>
            <p:nvPr/>
          </p:nvSpPr>
          <p:spPr>
            <a:xfrm>
              <a:off x="6743700" y="2092325"/>
              <a:ext cx="2235284" cy="1104900"/>
            </a:xfrm>
            <a:prstGeom prst="rect">
              <a:avLst/>
            </a:prstGeom>
            <a:noFill/>
            <a:ln>
              <a:noFill/>
            </a:ln>
          </p:spPr>
          <p:txBody>
            <a:bodyPr wrap="none" lIns="0" tIns="0" rIns="0" bIns="0" anchor="t" anchorCtr="0">
              <a:spAutoFit/>
            </a:bodyPr>
            <a:lstStyle/>
            <a:p>
              <a:pPr algn="l"/>
              <a:r>
                <a:rPr lang="en" sz="5700" b="1" dirty="0">
                  <a:solidFill>
                    <a:schemeClr val="accent2"/>
                  </a:solidFill>
                  <a:latin typeface="+mn-lt"/>
                  <a:ea typeface="+mn-ea"/>
                  <a:cs typeface="+mn-cs"/>
                </a:rPr>
                <a:t>−3.4%</a:t>
              </a:r>
            </a:p>
          </p:txBody>
        </p:sp>
        <p:sp>
          <p:nvSpPr>
            <p:cNvPr id="10" name="TextBox 10"/>
            <p:cNvSpPr txBox="1"/>
            <p:nvPr/>
          </p:nvSpPr>
          <p:spPr>
            <a:xfrm>
              <a:off x="9774555" y="2495550"/>
              <a:ext cx="1418573"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annualized cost</a:t>
              </a:r>
            </a:p>
          </p:txBody>
        </p:sp>
      </p:grpSp>
      <p:graphicFrame>
        <p:nvGraphicFramePr>
          <p:cNvPr id="12" name="hv-comparison"/>
          <p:cNvGraphicFramePr>
            <a:graphicFrameLocks noGrp="1"/>
          </p:cNvGraphicFramePr>
          <p:nvPr/>
        </p:nvGraphicFramePr>
        <p:xfrm>
          <a:off x="571500" y="3238500"/>
          <a:ext cx="5619750" cy="2343150"/>
        </p:xfrm>
        <a:graphic>
          <a:graphicData uri="http://schemas.openxmlformats.org/drawingml/2006/table">
            <a:tbl>
              <a:tblPr firstRow="1" bandRow="0">
                <a:tableStyleId>{5C22544A-7EE6-4342-B048-85BDC9FD1C3A}</a:tableStyleId>
              </a:tblPr>
              <a:tblGrid>
                <a:gridCol w="2952750"/>
                <a:gridCol w="1143000"/>
                <a:gridCol w="1524000"/>
              </a:tblGrid>
              <a:tr h="390525">
                <a:tc>
                  <a:txBody>
                    <a:bodyPr/>
                    <a:lstStyle/>
                    <a:p>
                      <a:pPr/>
                      <a:r>
                        <a:rPr lang="en" sz="1650" b="1">
                          <a:solidFill>
                            <a:schemeClr val="accent5"/>
                          </a:solidFill>
                          <a:latin typeface="Arial"/>
                          <a:ea typeface="Microsoft YaHei"/>
                          <a:cs typeface="Arial"/>
                        </a:rPr>
                        <a:t>Method</a:t>
                      </a:r>
                    </a:p>
                  </a:txBody>
                  <a:tcPr anchor="ctr" marL="152400" marR="152400" marT="0" marB="0">
                    <a:lnL>
                      <a:noFill/>
                    </a:lnL>
                    <a:lnR>
                      <a:noFill/>
                    </a:lnR>
                    <a:lnT>
                      <a:noFill/>
                    </a:lnT>
                    <a:lnB w="9525">
                      <a:solidFill>
                        <a:srgbClr val="E6EDF0"/>
                      </a:solidFill>
                      <a:prstDash val="solid"/>
                    </a:lnB>
                    <a:solidFill>
                      <a:schemeClr val="lt2"/>
                    </a:solidFill>
                  </a:tcPr>
                </a:tc>
                <a:tc>
                  <a:txBody>
                    <a:bodyPr/>
                    <a:lstStyle/>
                    <a:p>
                      <a:pPr algn="r"/>
                      <a:r>
                        <a:rPr lang="en" sz="1650" b="1">
                          <a:solidFill>
                            <a:schemeClr val="accent5"/>
                          </a:solidFill>
                          <a:latin typeface="Arial"/>
                          <a:ea typeface="Microsoft YaHei"/>
                          <a:cs typeface="Arial"/>
                        </a:rPr>
                        <a:t>HV</a:t>
                      </a:r>
                    </a:p>
                  </a:txBody>
                  <a:tcPr anchor="ctr" marL="152400" marR="152400" marT="0" marB="0">
                    <a:lnL>
                      <a:noFill/>
                    </a:lnL>
                    <a:lnR>
                      <a:noFill/>
                    </a:lnR>
                    <a:lnT>
                      <a:noFill/>
                    </a:lnT>
                    <a:lnB w="9525">
                      <a:solidFill>
                        <a:srgbClr val="E6EDF0"/>
                      </a:solidFill>
                      <a:prstDash val="solid"/>
                    </a:lnB>
                    <a:solidFill>
                      <a:schemeClr val="lt2"/>
                    </a:solidFill>
                  </a:tcPr>
                </a:tc>
                <a:tc>
                  <a:txBody>
                    <a:bodyPr/>
                    <a:lstStyle/>
                    <a:p>
                      <a:pPr algn="r"/>
                      <a:r>
                        <a:rPr lang="en" sz="1650" b="1">
                          <a:solidFill>
                            <a:schemeClr val="accent5"/>
                          </a:solidFill>
                          <a:latin typeface="Arial"/>
                          <a:ea typeface="Microsoft YaHei"/>
                          <a:cs typeface="Arial"/>
                        </a:rPr>
                        <a:t>Gen.</a:t>
                      </a:r>
                    </a:p>
                  </a:txBody>
                  <a:tcPr anchor="ctr" marL="152400" marR="152400" marT="0" marB="0">
                    <a:lnL>
                      <a:noFill/>
                    </a:lnL>
                    <a:lnR>
                      <a:noFill/>
                    </a:lnR>
                    <a:lnT>
                      <a:noFill/>
                    </a:lnT>
                    <a:lnB w="9525">
                      <a:solidFill>
                        <a:srgbClr val="E6EDF0"/>
                      </a:solidFill>
                      <a:prstDash val="solid"/>
                    </a:lnB>
                    <a:solidFill>
                      <a:schemeClr val="lt2"/>
                    </a:solidFill>
                  </a:tcPr>
                </a:tc>
              </a:tr>
              <a:tr h="390525">
                <a:tc>
                  <a:txBody>
                    <a:bodyPr/>
                    <a:lstStyle/>
                    <a:p>
                      <a:pPr/>
                      <a:r>
                        <a:rPr lang="en" sz="1650" b="0">
                          <a:solidFill>
                            <a:schemeClr val="dk1"/>
                          </a:solidFill>
                          <a:latin typeface="Arial"/>
                          <a:ea typeface="Microsoft YaHei"/>
                          <a:cs typeface="Arial"/>
                        </a:rPr>
                        <a:t>NSGA-II</a:t>
                      </a:r>
                    </a:p>
                  </a:txBody>
                  <a:tcPr anchor="ctr" marL="152400" marR="152400" marT="0" marB="0">
                    <a:lnL>
                      <a:noFill/>
                    </a:lnL>
                    <a:lnR>
                      <a:noFill/>
                    </a:lnR>
                    <a:lnT>
                      <a:noFill/>
                    </a:lnT>
                    <a:lnB w="9525">
                      <a:solidFill>
                        <a:srgbClr val="E6EDF0"/>
                      </a:solidFill>
                      <a:prstDash val="solid"/>
                    </a:lnB>
                    <a:solidFill>
                      <a:schemeClr val="lt1"/>
                    </a:solidFill>
                  </a:tcPr>
                </a:tc>
                <a:tc>
                  <a:txBody>
                    <a:bodyPr/>
                    <a:lstStyle/>
                    <a:p>
                      <a:pPr algn="r"/>
                      <a:r>
                        <a:rPr lang="en" sz="1650" b="0">
                          <a:solidFill>
                            <a:schemeClr val="dk1"/>
                          </a:solidFill>
                          <a:latin typeface="Arial"/>
                          <a:ea typeface="Microsoft YaHei"/>
                          <a:cs typeface="Arial"/>
                        </a:rPr>
                        <a:t>1.000</a:t>
                      </a:r>
                    </a:p>
                  </a:txBody>
                  <a:tcPr anchor="ctr" marL="152400" marR="152400" marT="0" marB="0">
                    <a:lnL>
                      <a:noFill/>
                    </a:lnL>
                    <a:lnR>
                      <a:noFill/>
                    </a:lnR>
                    <a:lnT>
                      <a:noFill/>
                    </a:lnT>
                    <a:lnB w="9525">
                      <a:solidFill>
                        <a:srgbClr val="E6EDF0"/>
                      </a:solidFill>
                      <a:prstDash val="solid"/>
                    </a:lnB>
                    <a:solidFill>
                      <a:schemeClr val="lt1"/>
                    </a:solidFill>
                  </a:tcPr>
                </a:tc>
                <a:tc>
                  <a:txBody>
                    <a:bodyPr/>
                    <a:lstStyle/>
                    <a:p>
                      <a:pPr algn="r"/>
                      <a:r>
                        <a:rPr lang="en" sz="1650" b="0">
                          <a:solidFill>
                            <a:schemeClr val="dk1"/>
                          </a:solidFill>
                          <a:latin typeface="Arial"/>
                          <a:ea typeface="Microsoft YaHei"/>
                          <a:cs typeface="Arial"/>
                        </a:rPr>
                        <a:t>800</a:t>
                      </a:r>
                    </a:p>
                  </a:txBody>
                  <a:tcPr anchor="ctr" marL="152400" marR="152400" marT="0" marB="0">
                    <a:lnL>
                      <a:noFill/>
                    </a:lnL>
                    <a:lnR>
                      <a:noFill/>
                    </a:lnR>
                    <a:lnT>
                      <a:noFill/>
                    </a:lnT>
                    <a:lnB w="9525">
                      <a:solidFill>
                        <a:srgbClr val="E6EDF0"/>
                      </a:solidFill>
                      <a:prstDash val="solid"/>
                    </a:lnB>
                    <a:solidFill>
                      <a:schemeClr val="lt1"/>
                    </a:solidFill>
                  </a:tcPr>
                </a:tc>
              </a:tr>
              <a:tr h="390525">
                <a:tc>
                  <a:txBody>
                    <a:bodyPr/>
                    <a:lstStyle/>
                    <a:p>
                      <a:pPr/>
                      <a:r>
                        <a:rPr lang="en" sz="1650" b="0">
                          <a:solidFill>
                            <a:schemeClr val="dk1"/>
                          </a:solidFill>
                          <a:latin typeface="Arial"/>
                          <a:ea typeface="Microsoft YaHei"/>
                          <a:cs typeface="Arial"/>
                        </a:rPr>
                        <a:t>NSGA-III</a:t>
                      </a:r>
                    </a:p>
                  </a:txBody>
                  <a:tcPr anchor="ctr" marL="152400" marR="152400" marT="0" marB="0">
                    <a:lnL>
                      <a:noFill/>
                    </a:lnL>
                    <a:lnR>
                      <a:noFill/>
                    </a:lnR>
                    <a:lnT>
                      <a:noFill/>
                    </a:lnT>
                    <a:lnB w="9525">
                      <a:solidFill>
                        <a:srgbClr val="E6EDF0"/>
                      </a:solidFill>
                      <a:prstDash val="solid"/>
                    </a:lnB>
                    <a:solidFill>
                      <a:schemeClr val="lt1"/>
                    </a:solidFill>
                  </a:tcPr>
                </a:tc>
                <a:tc>
                  <a:txBody>
                    <a:bodyPr/>
                    <a:lstStyle/>
                    <a:p>
                      <a:pPr algn="r"/>
                      <a:r>
                        <a:rPr lang="en" sz="1650" b="0">
                          <a:solidFill>
                            <a:schemeClr val="dk1"/>
                          </a:solidFill>
                          <a:latin typeface="Arial"/>
                          <a:ea typeface="Microsoft YaHei"/>
                          <a:cs typeface="Arial"/>
                        </a:rPr>
                        <a:t>0.985</a:t>
                      </a:r>
                    </a:p>
                  </a:txBody>
                  <a:tcPr anchor="ctr" marL="152400" marR="152400" marT="0" marB="0">
                    <a:lnL>
                      <a:noFill/>
                    </a:lnL>
                    <a:lnR>
                      <a:noFill/>
                    </a:lnR>
                    <a:lnT>
                      <a:noFill/>
                    </a:lnT>
                    <a:lnB w="9525">
                      <a:solidFill>
                        <a:srgbClr val="E6EDF0"/>
                      </a:solidFill>
                      <a:prstDash val="solid"/>
                    </a:lnB>
                    <a:solidFill>
                      <a:schemeClr val="lt1"/>
                    </a:solidFill>
                  </a:tcPr>
                </a:tc>
                <a:tc>
                  <a:txBody>
                    <a:bodyPr/>
                    <a:lstStyle/>
                    <a:p>
                      <a:pPr algn="r"/>
                      <a:r>
                        <a:rPr lang="en" sz="1650" b="0">
                          <a:solidFill>
                            <a:schemeClr val="dk1"/>
                          </a:solidFill>
                          <a:latin typeface="Arial"/>
                          <a:ea typeface="Microsoft YaHei"/>
                          <a:cs typeface="Arial"/>
                        </a:rPr>
                        <a:t>800</a:t>
                      </a:r>
                    </a:p>
                  </a:txBody>
                  <a:tcPr anchor="ctr" marL="152400" marR="152400" marT="0" marB="0">
                    <a:lnL>
                      <a:noFill/>
                    </a:lnL>
                    <a:lnR>
                      <a:noFill/>
                    </a:lnR>
                    <a:lnT>
                      <a:noFill/>
                    </a:lnT>
                    <a:lnB w="9525">
                      <a:solidFill>
                        <a:srgbClr val="E6EDF0"/>
                      </a:solidFill>
                      <a:prstDash val="solid"/>
                    </a:lnB>
                    <a:solidFill>
                      <a:schemeClr val="lt1"/>
                    </a:solidFill>
                  </a:tcPr>
                </a:tc>
              </a:tr>
              <a:tr h="390525">
                <a:tc>
                  <a:txBody>
                    <a:bodyPr/>
                    <a:lstStyle/>
                    <a:p>
                      <a:pPr/>
                      <a:r>
                        <a:rPr lang="en" sz="1650" b="0">
                          <a:solidFill>
                            <a:schemeClr val="dk1"/>
                          </a:solidFill>
                          <a:latin typeface="Arial"/>
                          <a:ea typeface="Microsoft YaHei"/>
                          <a:cs typeface="Arial"/>
                        </a:rPr>
                        <a:t>Seeding-only</a:t>
                      </a:r>
                    </a:p>
                  </a:txBody>
                  <a:tcPr anchor="ctr" marL="152400" marR="152400" marT="0" marB="0">
                    <a:lnL>
                      <a:noFill/>
                    </a:lnL>
                    <a:lnR>
                      <a:noFill/>
                    </a:lnR>
                    <a:lnT>
                      <a:noFill/>
                    </a:lnT>
                    <a:lnB w="9525">
                      <a:solidFill>
                        <a:srgbClr val="E6EDF0"/>
                      </a:solidFill>
                      <a:prstDash val="solid"/>
                    </a:lnB>
                    <a:solidFill>
                      <a:schemeClr val="lt1"/>
                    </a:solidFill>
                  </a:tcPr>
                </a:tc>
                <a:tc>
                  <a:txBody>
                    <a:bodyPr/>
                    <a:lstStyle/>
                    <a:p>
                      <a:pPr algn="r"/>
                      <a:r>
                        <a:rPr lang="en" sz="1650" b="0">
                          <a:solidFill>
                            <a:schemeClr val="dk1"/>
                          </a:solidFill>
                          <a:latin typeface="Arial"/>
                          <a:ea typeface="Microsoft YaHei"/>
                          <a:cs typeface="Arial"/>
                        </a:rPr>
                        <a:t>0.998</a:t>
                      </a:r>
                    </a:p>
                  </a:txBody>
                  <a:tcPr anchor="ctr" marL="152400" marR="152400" marT="0" marB="0">
                    <a:lnL>
                      <a:noFill/>
                    </a:lnL>
                    <a:lnR>
                      <a:noFill/>
                    </a:lnR>
                    <a:lnT>
                      <a:noFill/>
                    </a:lnT>
                    <a:lnB w="9525">
                      <a:solidFill>
                        <a:srgbClr val="E6EDF0"/>
                      </a:solidFill>
                      <a:prstDash val="solid"/>
                    </a:lnB>
                    <a:solidFill>
                      <a:schemeClr val="lt1"/>
                    </a:solidFill>
                  </a:tcPr>
                </a:tc>
                <a:tc>
                  <a:txBody>
                    <a:bodyPr/>
                    <a:lstStyle/>
                    <a:p>
                      <a:pPr algn="r"/>
                      <a:r>
                        <a:rPr lang="en" sz="1650" b="0">
                          <a:solidFill>
                            <a:schemeClr val="dk1"/>
                          </a:solidFill>
                          <a:latin typeface="Arial"/>
                          <a:ea typeface="Microsoft YaHei"/>
                          <a:cs typeface="Arial"/>
                        </a:rPr>
                        <a:t>400</a:t>
                      </a:r>
                    </a:p>
                  </a:txBody>
                  <a:tcPr anchor="ctr" marL="152400" marR="152400" marT="0" marB="0">
                    <a:lnL>
                      <a:noFill/>
                    </a:lnL>
                    <a:lnR>
                      <a:noFill/>
                    </a:lnR>
                    <a:lnT>
                      <a:noFill/>
                    </a:lnT>
                    <a:lnB w="9525">
                      <a:solidFill>
                        <a:srgbClr val="E6EDF0"/>
                      </a:solidFill>
                      <a:prstDash val="solid"/>
                    </a:lnB>
                    <a:solidFill>
                      <a:schemeClr val="lt1"/>
                    </a:solidFill>
                  </a:tcPr>
                </a:tc>
              </a:tr>
              <a:tr h="390525">
                <a:tc>
                  <a:txBody>
                    <a:bodyPr/>
                    <a:lstStyle/>
                    <a:p>
                      <a:pPr/>
                      <a:r>
                        <a:rPr lang="en" sz="1650" b="0">
                          <a:solidFill>
                            <a:schemeClr val="dk1"/>
                          </a:solidFill>
                          <a:latin typeface="Arial"/>
                          <a:ea typeface="Microsoft YaHei"/>
                          <a:cs typeface="Arial"/>
                        </a:rPr>
                        <a:t>Repair-only</a:t>
                      </a:r>
                    </a:p>
                  </a:txBody>
                  <a:tcPr anchor="ctr" marL="152400" marR="152400" marT="0" marB="0">
                    <a:lnL>
                      <a:noFill/>
                    </a:lnL>
                    <a:lnR>
                      <a:noFill/>
                    </a:lnR>
                    <a:lnT>
                      <a:noFill/>
                    </a:lnT>
                    <a:lnB w="9525">
                      <a:solidFill>
                        <a:srgbClr val="E6EDF0"/>
                      </a:solidFill>
                      <a:prstDash val="solid"/>
                    </a:lnB>
                    <a:solidFill>
                      <a:schemeClr val="lt1"/>
                    </a:solidFill>
                  </a:tcPr>
                </a:tc>
                <a:tc>
                  <a:txBody>
                    <a:bodyPr/>
                    <a:lstStyle/>
                    <a:p>
                      <a:pPr algn="r"/>
                      <a:r>
                        <a:rPr lang="en" sz="1650" b="0">
                          <a:solidFill>
                            <a:schemeClr val="dk1"/>
                          </a:solidFill>
                          <a:latin typeface="Arial"/>
                          <a:ea typeface="Microsoft YaHei"/>
                          <a:cs typeface="Arial"/>
                        </a:rPr>
                        <a:t>1.048</a:t>
                      </a:r>
                    </a:p>
                  </a:txBody>
                  <a:tcPr anchor="ctr" marL="152400" marR="152400" marT="0" marB="0">
                    <a:lnL>
                      <a:noFill/>
                    </a:lnL>
                    <a:lnR>
                      <a:noFill/>
                    </a:lnR>
                    <a:lnT>
                      <a:noFill/>
                    </a:lnT>
                    <a:lnB w="9525">
                      <a:solidFill>
                        <a:srgbClr val="E6EDF0"/>
                      </a:solidFill>
                      <a:prstDash val="solid"/>
                    </a:lnB>
                    <a:solidFill>
                      <a:schemeClr val="lt1"/>
                    </a:solidFill>
                  </a:tcPr>
                </a:tc>
                <a:tc>
                  <a:txBody>
                    <a:bodyPr/>
                    <a:lstStyle/>
                    <a:p>
                      <a:pPr algn="r"/>
                      <a:r>
                        <a:rPr lang="en" sz="1650" b="0">
                          <a:solidFill>
                            <a:schemeClr val="dk1"/>
                          </a:solidFill>
                          <a:latin typeface="Arial"/>
                          <a:ea typeface="Microsoft YaHei"/>
                          <a:cs typeface="Arial"/>
                        </a:rPr>
                        <a:t>400</a:t>
                      </a:r>
                    </a:p>
                  </a:txBody>
                  <a:tcPr anchor="ctr" marL="152400" marR="152400" marT="0" marB="0">
                    <a:lnL>
                      <a:noFill/>
                    </a:lnL>
                    <a:lnR>
                      <a:noFill/>
                    </a:lnR>
                    <a:lnT>
                      <a:noFill/>
                    </a:lnT>
                    <a:lnB w="9525">
                      <a:solidFill>
                        <a:srgbClr val="E6EDF0"/>
                      </a:solidFill>
                      <a:prstDash val="solid"/>
                    </a:lnB>
                    <a:solidFill>
                      <a:schemeClr val="lt1"/>
                    </a:solidFill>
                  </a:tcPr>
                </a:tc>
              </a:tr>
              <a:tr h="390525">
                <a:tc>
                  <a:txBody>
                    <a:bodyPr/>
                    <a:lstStyle/>
                    <a:p>
                      <a:pPr/>
                      <a:r>
                        <a:rPr lang="en" sz="1650" b="1">
                          <a:solidFill>
                            <a:srgbClr val="FFFFFF"/>
                          </a:solidFill>
                          <a:latin typeface="Arial"/>
                          <a:ea typeface="Microsoft YaHei"/>
                          <a:cs typeface="Arial"/>
                        </a:rPr>
                        <a:t>EPG-NSGA-II</a:t>
                      </a:r>
                    </a:p>
                  </a:txBody>
                  <a:tcPr anchor="ctr" marL="152400" marR="152400" marT="0" marB="0">
                    <a:lnL>
                      <a:noFill/>
                    </a:lnL>
                    <a:lnR>
                      <a:noFill/>
                    </a:lnR>
                    <a:lnT>
                      <a:noFill/>
                    </a:lnT>
                    <a:lnB>
                      <a:noFill/>
                    </a:lnB>
                    <a:solidFill>
                      <a:schemeClr val="accent2"/>
                    </a:solidFill>
                  </a:tcPr>
                </a:tc>
                <a:tc>
                  <a:txBody>
                    <a:bodyPr/>
                    <a:lstStyle/>
                    <a:p>
                      <a:pPr algn="r"/>
                      <a:r>
                        <a:rPr lang="en" sz="1650" b="1">
                          <a:solidFill>
                            <a:srgbClr val="FFFFFF"/>
                          </a:solidFill>
                          <a:latin typeface="Arial"/>
                          <a:ea typeface="Microsoft YaHei"/>
                          <a:cs typeface="Arial"/>
                        </a:rPr>
                        <a:t>1.048</a:t>
                      </a:r>
                    </a:p>
                  </a:txBody>
                  <a:tcPr anchor="ctr" marL="152400" marR="152400" marT="0" marB="0">
                    <a:lnL>
                      <a:noFill/>
                    </a:lnL>
                    <a:lnR>
                      <a:noFill/>
                    </a:lnR>
                    <a:lnT>
                      <a:noFill/>
                    </a:lnT>
                    <a:lnB>
                      <a:noFill/>
                    </a:lnB>
                    <a:solidFill>
                      <a:schemeClr val="accent2"/>
                    </a:solidFill>
                  </a:tcPr>
                </a:tc>
                <a:tc>
                  <a:txBody>
                    <a:bodyPr/>
                    <a:lstStyle/>
                    <a:p>
                      <a:pPr algn="r"/>
                      <a:r>
                        <a:rPr lang="en" sz="1650" b="1">
                          <a:solidFill>
                            <a:srgbClr val="FFFFFF"/>
                          </a:solidFill>
                          <a:latin typeface="Arial"/>
                          <a:ea typeface="Microsoft YaHei"/>
                          <a:cs typeface="Arial"/>
                        </a:rPr>
                        <a:t>400</a:t>
                      </a:r>
                    </a:p>
                  </a:txBody>
                  <a:tcPr anchor="ctr" marL="152400" marR="152400" marT="0" marB="0">
                    <a:lnL>
                      <a:noFill/>
                    </a:lnL>
                    <a:lnR>
                      <a:noFill/>
                    </a:lnR>
                    <a:lnT>
                      <a:noFill/>
                    </a:lnT>
                    <a:lnB>
                      <a:noFill/>
                    </a:lnB>
                    <a:solidFill>
                      <a:schemeClr val="accent2"/>
                    </a:solidFill>
                  </a:tcPr>
                </a:tc>
              </a:tr>
            </a:tbl>
          </a:graphicData>
        </a:graphic>
      </p:graphicFrame>
      <p:grpSp>
        <p:nvGrpSpPr>
          <p:cNvPr id="18" name="p04-cost-comparison"/>
          <p:cNvGrpSpPr/>
          <p:nvPr/>
        </p:nvGrpSpPr>
        <p:grpSpPr>
          <a:xfrm>
            <a:off x="6746748" y="3254375"/>
            <a:ext cx="4889754" cy="1117600"/>
            <a:chOff x="6746748" y="3254375"/>
            <a:chExt cx="4889754" cy="1117600"/>
          </a:xfrm>
        </p:grpSpPr>
        <p:sp>
          <p:nvSpPr>
            <p:cNvPr id="13" name="TextBox 13"/>
            <p:cNvSpPr txBox="1"/>
            <p:nvPr/>
          </p:nvSpPr>
          <p:spPr>
            <a:xfrm>
              <a:off x="6754368" y="3254375"/>
              <a:ext cx="3229387"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Annualized cost (million CNY/yr)</a:t>
              </a:r>
            </a:p>
          </p:txBody>
        </p:sp>
        <p:sp>
          <p:nvSpPr>
            <p:cNvPr id="14" name="TextBox 14"/>
            <p:cNvSpPr txBox="1"/>
            <p:nvPr/>
          </p:nvSpPr>
          <p:spPr>
            <a:xfrm>
              <a:off x="6746748" y="3616325"/>
              <a:ext cx="1329097" cy="616077"/>
            </a:xfrm>
            <a:prstGeom prst="rect">
              <a:avLst/>
            </a:prstGeom>
            <a:noFill/>
            <a:ln>
              <a:noFill/>
            </a:ln>
          </p:spPr>
          <p:txBody>
            <a:bodyPr wrap="none" lIns="0" tIns="0" rIns="0" bIns="0" anchor="t" anchorCtr="0">
              <a:spAutoFit/>
            </a:bodyPr>
            <a:lstStyle/>
            <a:p>
              <a:pPr algn="l"/>
              <a:r>
                <a:rPr lang="en" sz="3150" dirty="0">
                  <a:solidFill>
                    <a:schemeClr val="accent5"/>
                  </a:solidFill>
                  <a:latin typeface="+mn-lt"/>
                  <a:ea typeface="+mn-ea"/>
                  <a:cs typeface="+mn-cs"/>
                </a:rPr>
                <a:t>236.40</a:t>
              </a:r>
            </a:p>
          </p:txBody>
        </p:sp>
        <p:sp>
          <p:nvSpPr>
            <p:cNvPr id="15" name="TextBox 15"/>
            <p:cNvSpPr txBox="1"/>
            <p:nvPr/>
          </p:nvSpPr>
          <p:spPr>
            <a:xfrm>
              <a:off x="8874633" y="3670300"/>
              <a:ext cx="347472" cy="469392"/>
            </a:xfrm>
            <a:prstGeom prst="rect">
              <a:avLst/>
            </a:prstGeom>
            <a:noFill/>
            <a:ln>
              <a:noFill/>
            </a:ln>
          </p:spPr>
          <p:txBody>
            <a:bodyPr wrap="none" lIns="0" tIns="0" rIns="0" bIns="0" anchor="t" anchorCtr="0">
              <a:spAutoFit/>
            </a:bodyPr>
            <a:lstStyle/>
            <a:p>
              <a:pPr algn="l"/>
              <a:r>
                <a:rPr lang="en" sz="2400" dirty="0">
                  <a:solidFill>
                    <a:schemeClr val="accent5"/>
                  </a:solidFill>
                  <a:latin typeface="+mn-lt"/>
                  <a:ea typeface="+mn-ea"/>
                  <a:cs typeface="+mn-cs"/>
                </a:rPr>
                <a:t>→</a:t>
              </a:r>
            </a:p>
          </p:txBody>
        </p:sp>
        <p:sp>
          <p:nvSpPr>
            <p:cNvPr id="16" name="TextBox 16"/>
            <p:cNvSpPr txBox="1"/>
            <p:nvPr/>
          </p:nvSpPr>
          <p:spPr>
            <a:xfrm>
              <a:off x="10307405" y="3616325"/>
              <a:ext cx="1329097" cy="616077"/>
            </a:xfrm>
            <a:prstGeom prst="rect">
              <a:avLst/>
            </a:prstGeom>
            <a:noFill/>
            <a:ln>
              <a:noFill/>
            </a:ln>
          </p:spPr>
          <p:txBody>
            <a:bodyPr wrap="none" lIns="0" tIns="0" rIns="0" bIns="0" anchor="t" anchorCtr="0">
              <a:spAutoFit/>
            </a:bodyPr>
            <a:lstStyle/>
            <a:p>
              <a:pPr algn="r"/>
              <a:r>
                <a:rPr lang="en" sz="3150" b="1" dirty="0">
                  <a:solidFill>
                    <a:schemeClr val="accent2"/>
                  </a:solidFill>
                  <a:latin typeface="+mn-lt"/>
                  <a:ea typeface="+mn-ea"/>
                  <a:cs typeface="+mn-cs"/>
                </a:rPr>
                <a:t>228.43</a:t>
              </a:r>
            </a:p>
          </p:txBody>
        </p:sp>
        <p:sp>
          <p:nvSpPr>
            <p:cNvPr id="17" name="Line 17"/>
            <p:cNvSpPr/>
            <p:nvPr/>
          </p:nvSpPr>
          <p:spPr>
            <a:xfrm>
              <a:off x="6762750" y="4362450"/>
              <a:ext cx="4857750" cy="9525"/>
            </a:xfrm>
            <a:custGeom>
              <a:avLst/>
              <a:gdLst/>
              <a:ahLst/>
              <a:cxnLst/>
              <a:rect l="l" t="t" r="r" b="b"/>
              <a:pathLst>
                <a:path w="4857750" h="9525">
                  <a:moveTo>
                    <a:pt x="0" y="0"/>
                  </a:moveTo>
                  <a:lnTo>
                    <a:pt x="4857750" y="0"/>
                  </a:lnTo>
                </a:path>
              </a:pathLst>
            </a:custGeom>
            <a:noFill/>
            <a:ln w="9525">
              <a:solidFill>
                <a:schemeClr val="accent6"/>
              </a:solidFill>
            </a:ln>
          </p:spPr>
        </p:sp>
      </p:grpSp>
      <p:grpSp>
        <p:nvGrpSpPr>
          <p:cNvPr id="23" name="p04-eens-comparison"/>
          <p:cNvGrpSpPr/>
          <p:nvPr/>
        </p:nvGrpSpPr>
        <p:grpSpPr>
          <a:xfrm>
            <a:off x="6746748" y="4654550"/>
            <a:ext cx="4889754" cy="978027"/>
            <a:chOff x="6746748" y="4654550"/>
            <a:chExt cx="4889754" cy="978027"/>
          </a:xfrm>
        </p:grpSpPr>
        <p:sp>
          <p:nvSpPr>
            <p:cNvPr id="19" name="TextBox 19"/>
            <p:cNvSpPr txBox="1"/>
            <p:nvPr/>
          </p:nvSpPr>
          <p:spPr>
            <a:xfrm>
              <a:off x="6754368" y="4654550"/>
              <a:ext cx="2571794"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Modeled EENS (MWh/yr)</a:t>
              </a:r>
            </a:p>
          </p:txBody>
        </p:sp>
        <p:sp>
          <p:nvSpPr>
            <p:cNvPr id="20" name="TextBox 20"/>
            <p:cNvSpPr txBox="1"/>
            <p:nvPr/>
          </p:nvSpPr>
          <p:spPr>
            <a:xfrm>
              <a:off x="6746748" y="5016500"/>
              <a:ext cx="1329097" cy="616077"/>
            </a:xfrm>
            <a:prstGeom prst="rect">
              <a:avLst/>
            </a:prstGeom>
            <a:noFill/>
            <a:ln>
              <a:noFill/>
            </a:ln>
          </p:spPr>
          <p:txBody>
            <a:bodyPr wrap="none" lIns="0" tIns="0" rIns="0" bIns="0" anchor="t" anchorCtr="0">
              <a:spAutoFit/>
            </a:bodyPr>
            <a:lstStyle/>
            <a:p>
              <a:pPr algn="l"/>
              <a:r>
                <a:rPr lang="en" sz="3150" dirty="0">
                  <a:solidFill>
                    <a:schemeClr val="accent5"/>
                  </a:solidFill>
                  <a:latin typeface="+mn-lt"/>
                  <a:ea typeface="+mn-ea"/>
                  <a:cs typeface="+mn-cs"/>
                </a:rPr>
                <a:t>561.00</a:t>
              </a:r>
            </a:p>
          </p:txBody>
        </p:sp>
        <p:sp>
          <p:nvSpPr>
            <p:cNvPr id="21" name="TextBox 21"/>
            <p:cNvSpPr txBox="1"/>
            <p:nvPr/>
          </p:nvSpPr>
          <p:spPr>
            <a:xfrm>
              <a:off x="8874633" y="5070475"/>
              <a:ext cx="347472" cy="469392"/>
            </a:xfrm>
            <a:prstGeom prst="rect">
              <a:avLst/>
            </a:prstGeom>
            <a:noFill/>
            <a:ln>
              <a:noFill/>
            </a:ln>
          </p:spPr>
          <p:txBody>
            <a:bodyPr wrap="none" lIns="0" tIns="0" rIns="0" bIns="0" anchor="t" anchorCtr="0">
              <a:spAutoFit/>
            </a:bodyPr>
            <a:lstStyle/>
            <a:p>
              <a:pPr algn="l"/>
              <a:r>
                <a:rPr lang="en" sz="2400" dirty="0">
                  <a:solidFill>
                    <a:schemeClr val="accent5"/>
                  </a:solidFill>
                  <a:latin typeface="+mn-lt"/>
                  <a:ea typeface="+mn-ea"/>
                  <a:cs typeface="+mn-cs"/>
                </a:rPr>
                <a:t>→</a:t>
              </a:r>
            </a:p>
          </p:txBody>
        </p:sp>
        <p:sp>
          <p:nvSpPr>
            <p:cNvPr id="22" name="TextBox 22"/>
            <p:cNvSpPr txBox="1"/>
            <p:nvPr/>
          </p:nvSpPr>
          <p:spPr>
            <a:xfrm>
              <a:off x="10779121" y="5016500"/>
              <a:ext cx="857381" cy="616077"/>
            </a:xfrm>
            <a:prstGeom prst="rect">
              <a:avLst/>
            </a:prstGeom>
            <a:noFill/>
            <a:ln>
              <a:noFill/>
            </a:ln>
          </p:spPr>
          <p:txBody>
            <a:bodyPr wrap="none" lIns="0" tIns="0" rIns="0" bIns="0" anchor="t" anchorCtr="0">
              <a:spAutoFit/>
            </a:bodyPr>
            <a:lstStyle/>
            <a:p>
              <a:pPr algn="r"/>
              <a:r>
                <a:rPr lang="en" sz="3150" b="1" dirty="0">
                  <a:solidFill>
                    <a:schemeClr val="accent2"/>
                  </a:solidFill>
                  <a:latin typeface="+mn-lt"/>
                  <a:ea typeface="+mn-ea"/>
                  <a:cs typeface="+mn-cs"/>
                </a:rPr>
                <a:t>0.00</a:t>
              </a:r>
            </a:p>
          </p:txBody>
        </p:sp>
      </p:grpSp>
      <p:grpSp>
        <p:nvGrpSpPr>
          <p:cNvPr id="26" name="p04-search-conditions"/>
          <p:cNvGrpSpPr/>
          <p:nvPr/>
        </p:nvGrpSpPr>
        <p:grpSpPr>
          <a:xfrm>
            <a:off x="566166" y="5673725"/>
            <a:ext cx="5140086" cy="405384"/>
            <a:chOff x="566166" y="5673725"/>
            <a:chExt cx="5140086" cy="405384"/>
          </a:xfrm>
        </p:grpSpPr>
        <p:sp>
          <p:nvSpPr>
            <p:cNvPr id="24" name="TextBox 24"/>
            <p:cNvSpPr txBox="1"/>
            <p:nvPr/>
          </p:nvSpPr>
          <p:spPr>
            <a:xfrm>
              <a:off x="566166" y="5673725"/>
              <a:ext cx="4233855"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HV normalized to NSGA-II at termination; common reference point.</a:t>
              </a:r>
            </a:p>
          </p:txBody>
        </p:sp>
        <p:sp>
          <p:nvSpPr>
            <p:cNvPr id="25" name="TextBox 25"/>
            <p:cNvSpPr txBox="1"/>
            <p:nvPr/>
          </p:nvSpPr>
          <p:spPr>
            <a:xfrm>
              <a:off x="566166" y="5873750"/>
              <a:ext cx="5140086"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Population 100 · Three independent runs · Repair nearly matches the full method.</a:t>
              </a:r>
            </a:p>
          </p:txBody>
        </p:sp>
      </p:grpSp>
      <p:grpSp>
        <p:nvGrpSpPr>
          <p:cNvPr id="28" name="p04-planning-conditions"/>
          <p:cNvGrpSpPr/>
          <p:nvPr/>
        </p:nvGrpSpPr>
        <p:grpSpPr>
          <a:xfrm>
            <a:off x="6755130" y="5724525"/>
            <a:ext cx="3046732" cy="293370"/>
            <a:chOff x="6755130" y="5724525"/>
            <a:chExt cx="3046732" cy="293370"/>
          </a:xfrm>
        </p:grpSpPr>
        <p:sp>
          <p:nvSpPr>
            <p:cNvPr id="27" name="TextBox 27"/>
            <p:cNvSpPr txBox="1"/>
            <p:nvPr/>
          </p:nvSpPr>
          <p:spPr>
            <a:xfrm>
              <a:off x="6755130" y="5724525"/>
              <a:ext cx="3046732"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2.0-capped → elastic CLR design</a:t>
              </a:r>
            </a:p>
          </p:txBody>
        </p:sp>
      </p:grpSp>
      <p:grpSp>
        <p:nvGrpSpPr>
          <p:cNvPr id="30" name="p04-model-scope"/>
          <p:cNvGrpSpPr/>
          <p:nvPr/>
        </p:nvGrpSpPr>
        <p:grpSpPr>
          <a:xfrm>
            <a:off x="563880" y="6086475"/>
            <a:ext cx="7891139" cy="293370"/>
            <a:chOff x="563880" y="6086475"/>
            <a:chExt cx="7891139" cy="293370"/>
          </a:xfrm>
        </p:grpSpPr>
        <p:sp>
          <p:nvSpPr>
            <p:cNvPr id="29" name="TextBox 29"/>
            <p:cNvSpPr txBox="1"/>
            <p:nvPr/>
          </p:nvSpPr>
          <p:spPr>
            <a:xfrm>
              <a:off x="563880" y="6086475"/>
              <a:ext cx="7891139"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Public-data benchmark · Energy/SOC limits and real-grid calibration remain future work.</a:t>
              </a:r>
            </a:p>
          </p:txBody>
        </p:sp>
      </p:grpSp>
      <p:grpSp>
        <p:nvGrpSpPr>
          <p:cNvPr id="33" name="p04-footer"/>
          <p:cNvGrpSpPr/>
          <p:nvPr/>
        </p:nvGrpSpPr>
        <p:grpSpPr>
          <a:xfrm>
            <a:off x="566166" y="6426200"/>
            <a:ext cx="11059668" cy="205359"/>
            <a:chOff x="566166" y="6426200"/>
            <a:chExt cx="11059668" cy="205359"/>
          </a:xfrm>
        </p:grpSpPr>
        <p:sp>
          <p:nvSpPr>
            <p:cNvPr id="31" name="TextBox 31"/>
            <p:cNvSpPr txBox="1"/>
            <p:nvPr/>
          </p:nvSpPr>
          <p:spPr>
            <a:xfrm>
              <a:off x="566166" y="6426200"/>
              <a:ext cx="6900307"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Source: camera-ready paper, Table I and Section III-C. Values checked against archived experimental CSVs.</a:t>
              </a:r>
            </a:p>
          </p:txBody>
        </p:sp>
        <p:sp>
          <p:nvSpPr>
            <p:cNvPr id="32" name="TextBox 32"/>
            <p:cNvSpPr txBox="1"/>
            <p:nvPr/>
          </p:nvSpPr>
          <p:spPr>
            <a:xfrm>
              <a:off x="11182886" y="6426200"/>
              <a:ext cx="442948" cy="205359"/>
            </a:xfrm>
            <a:prstGeom prst="rect">
              <a:avLst/>
            </a:prstGeom>
            <a:noFill/>
            <a:ln>
              <a:noFill/>
            </a:ln>
          </p:spPr>
          <p:txBody>
            <a:bodyPr wrap="none" lIns="0" tIns="0" rIns="0" bIns="0" anchor="t" anchorCtr="0">
              <a:spAutoFit/>
            </a:bodyPr>
            <a:lstStyle/>
            <a:p>
              <a:pPr algn="r"/>
              <a:r>
                <a:rPr lang="en" sz="1050" dirty="0">
                  <a:solidFill>
                    <a:schemeClr val="accent5"/>
                  </a:solidFill>
                  <a:latin typeface="+mn-lt"/>
                  <a:ea typeface="+mn-ea"/>
                  <a:cs typeface="+mn-cs"/>
                </a:rPr>
                <a:t>04 / 05</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p05-conference"/>
          <p:cNvGrpSpPr/>
          <p:nvPr/>
        </p:nvGrpSpPr>
        <p:grpSpPr>
          <a:xfrm>
            <a:off x="563880" y="457200"/>
            <a:ext cx="11064240" cy="361950"/>
            <a:chOff x="563880" y="457200"/>
            <a:chExt cx="11064240" cy="361950"/>
          </a:xfrm>
        </p:grpSpPr>
        <p:sp>
          <p:nvSpPr>
            <p:cNvPr id="2" name="TextBox 2"/>
            <p:cNvSpPr txBox="1"/>
            <p:nvPr/>
          </p:nvSpPr>
          <p:spPr>
            <a:xfrm>
              <a:off x="563880" y="457200"/>
              <a:ext cx="1094372"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MIND 2026</a:t>
              </a:r>
            </a:p>
          </p:txBody>
        </p:sp>
        <p:sp>
          <p:nvSpPr>
            <p:cNvPr id="3" name="TextBox 3"/>
            <p:cNvSpPr txBox="1"/>
            <p:nvPr/>
          </p:nvSpPr>
          <p:spPr>
            <a:xfrm>
              <a:off x="10297004" y="457200"/>
              <a:ext cx="1331116" cy="293370"/>
            </a:xfrm>
            <a:prstGeom prst="rect">
              <a:avLst/>
            </a:prstGeom>
            <a:noFill/>
            <a:ln>
              <a:noFill/>
            </a:ln>
          </p:spPr>
          <p:txBody>
            <a:bodyPr wrap="none" lIns="0" tIns="0" rIns="0" bIns="0" anchor="t" anchorCtr="0">
              <a:spAutoFit/>
            </a:bodyPr>
            <a:lstStyle/>
            <a:p>
              <a:pPr algn="r"/>
              <a:r>
                <a:rPr lang="en" sz="1500" dirty="0">
                  <a:solidFill>
                    <a:schemeClr val="accent5"/>
                  </a:solidFill>
                  <a:latin typeface="+mn-lt"/>
                  <a:ea typeface="+mn-ea"/>
                  <a:cs typeface="+mn-cs"/>
                </a:rPr>
                <a:t>EPG-NSGA-II</a:t>
              </a:r>
            </a:p>
          </p:txBody>
        </p:sp>
        <p:sp>
          <p:nvSpPr>
            <p:cNvPr id="4" name="Line 4"/>
            <p:cNvSpPr/>
            <p:nvPr/>
          </p:nvSpPr>
          <p:spPr>
            <a:xfrm>
              <a:off x="571500" y="809625"/>
              <a:ext cx="11049000" cy="9525"/>
            </a:xfrm>
            <a:custGeom>
              <a:avLst/>
              <a:gdLst/>
              <a:ahLst/>
              <a:cxnLst/>
              <a:rect l="l" t="t" r="r" b="b"/>
              <a:pathLst>
                <a:path w="11049000" h="9525">
                  <a:moveTo>
                    <a:pt x="0" y="0"/>
                  </a:moveTo>
                  <a:lnTo>
                    <a:pt x="11049000" y="0"/>
                  </a:lnTo>
                </a:path>
              </a:pathLst>
            </a:custGeom>
            <a:noFill/>
            <a:ln w="9525">
              <a:solidFill>
                <a:schemeClr val="accent6"/>
              </a:solidFill>
            </a:ln>
          </p:spPr>
        </p:sp>
      </p:grpSp>
      <p:grpSp>
        <p:nvGrpSpPr>
          <p:cNvPr id="7" name="p05-title"/>
          <p:cNvGrpSpPr/>
          <p:nvPr/>
        </p:nvGrpSpPr>
        <p:grpSpPr>
          <a:xfrm>
            <a:off x="552450" y="1720850"/>
            <a:ext cx="3902225" cy="1104900"/>
            <a:chOff x="552450" y="1720850"/>
            <a:chExt cx="3902225" cy="1104900"/>
          </a:xfrm>
        </p:grpSpPr>
        <p:sp>
          <p:nvSpPr>
            <p:cNvPr id="6" name="TextBox 6"/>
            <p:cNvSpPr txBox="1"/>
            <p:nvPr/>
          </p:nvSpPr>
          <p:spPr>
            <a:xfrm>
              <a:off x="552450" y="1720850"/>
              <a:ext cx="3902225" cy="1104900"/>
            </a:xfrm>
            <a:prstGeom prst="rect">
              <a:avLst/>
            </a:prstGeom>
            <a:noFill/>
            <a:ln>
              <a:noFill/>
            </a:ln>
          </p:spPr>
          <p:txBody>
            <a:bodyPr wrap="none" lIns="0" tIns="0" rIns="0" bIns="0" anchor="t" anchorCtr="0">
              <a:spAutoFit/>
            </a:bodyPr>
            <a:lstStyle/>
            <a:p>
              <a:pPr algn="l"/>
              <a:r>
                <a:rPr lang="en" sz="5700" b="1" dirty="0">
                  <a:solidFill>
                    <a:schemeClr val="accent1"/>
                  </a:solidFill>
                  <a:latin typeface="+mn-lt"/>
                  <a:ea typeface="+mn-ea"/>
                  <a:cs typeface="+mn-cs"/>
                </a:rPr>
                <a:t>Thank you</a:t>
              </a:r>
            </a:p>
          </p:txBody>
        </p:sp>
      </p:grpSp>
      <p:grpSp>
        <p:nvGrpSpPr>
          <p:cNvPr id="9" name="p05-discussion"/>
          <p:cNvGrpSpPr/>
          <p:nvPr/>
        </p:nvGrpSpPr>
        <p:grpSpPr>
          <a:xfrm>
            <a:off x="559308" y="2974975"/>
            <a:ext cx="3392695" cy="469392"/>
            <a:chOff x="559308" y="2974975"/>
            <a:chExt cx="3392695" cy="469392"/>
          </a:xfrm>
        </p:grpSpPr>
        <p:sp>
          <p:nvSpPr>
            <p:cNvPr id="8" name="TextBox 8"/>
            <p:cNvSpPr txBox="1"/>
            <p:nvPr/>
          </p:nvSpPr>
          <p:spPr>
            <a:xfrm>
              <a:off x="559308" y="2974975"/>
              <a:ext cx="3392695" cy="469392"/>
            </a:xfrm>
            <a:prstGeom prst="rect">
              <a:avLst/>
            </a:prstGeom>
            <a:noFill/>
            <a:ln>
              <a:noFill/>
            </a:ln>
          </p:spPr>
          <p:txBody>
            <a:bodyPr wrap="none" lIns="0" tIns="0" rIns="0" bIns="0" anchor="t" anchorCtr="0">
              <a:spAutoFit/>
            </a:bodyPr>
            <a:lstStyle/>
            <a:p>
              <a:pPr algn="l"/>
              <a:r>
                <a:rPr lang="en" sz="2400" dirty="0">
                  <a:solidFill>
                    <a:schemeClr val="accent5"/>
                  </a:solidFill>
                  <a:latin typeface="+mn-lt"/>
                  <a:ea typeface="+mn-ea"/>
                  <a:cs typeface="+mn-cs"/>
                </a:rPr>
                <a:t>Questions &amp; discussion</a:t>
              </a:r>
            </a:p>
          </p:txBody>
        </p:sp>
      </p:grpSp>
      <p:grpSp>
        <p:nvGrpSpPr>
          <p:cNvPr id="19" name="p05-grid-motif"/>
          <p:cNvGrpSpPr/>
          <p:nvPr/>
        </p:nvGrpSpPr>
        <p:grpSpPr>
          <a:xfrm>
            <a:off x="9763125" y="1866900"/>
            <a:ext cx="1714500" cy="1371600"/>
            <a:chOff x="9763125" y="1866900"/>
            <a:chExt cx="1714500" cy="1371600"/>
          </a:xfrm>
        </p:grpSpPr>
        <p:sp>
          <p:nvSpPr>
            <p:cNvPr id="10" name="Line 10"/>
            <p:cNvSpPr/>
            <p:nvPr/>
          </p:nvSpPr>
          <p:spPr>
            <a:xfrm>
              <a:off x="9763125" y="1866900"/>
              <a:ext cx="1714500" cy="9525"/>
            </a:xfrm>
            <a:custGeom>
              <a:avLst/>
              <a:gdLst/>
              <a:ahLst/>
              <a:cxnLst/>
              <a:rect l="l" t="t" r="r" b="b"/>
              <a:pathLst>
                <a:path w="1714500" h="9525">
                  <a:moveTo>
                    <a:pt x="0" y="0"/>
                  </a:moveTo>
                  <a:lnTo>
                    <a:pt x="1714500" y="0"/>
                  </a:lnTo>
                </a:path>
              </a:pathLst>
            </a:custGeom>
            <a:noFill/>
            <a:ln w="38100">
              <a:solidFill>
                <a:schemeClr val="accent1"/>
              </a:solidFill>
            </a:ln>
          </p:spPr>
        </p:sp>
        <p:sp>
          <p:nvSpPr>
            <p:cNvPr id="11" name="Line 11"/>
            <p:cNvSpPr/>
            <p:nvPr/>
          </p:nvSpPr>
          <p:spPr>
            <a:xfrm>
              <a:off x="10620375" y="1866900"/>
              <a:ext cx="9525" cy="466725"/>
            </a:xfrm>
            <a:custGeom>
              <a:avLst/>
              <a:gdLst/>
              <a:ahLst/>
              <a:cxnLst/>
              <a:rect l="l" t="t" r="r" b="b"/>
              <a:pathLst>
                <a:path w="9525" h="466725">
                  <a:moveTo>
                    <a:pt x="0" y="0"/>
                  </a:moveTo>
                  <a:lnTo>
                    <a:pt x="0" y="466725"/>
                  </a:lnTo>
                </a:path>
              </a:pathLst>
            </a:custGeom>
            <a:noFill/>
            <a:ln w="19050">
              <a:solidFill>
                <a:schemeClr val="accent1"/>
              </a:solidFill>
            </a:ln>
          </p:spPr>
        </p:sp>
        <p:sp>
          <p:nvSpPr>
            <p:cNvPr id="12" name="Ellipse 12"/>
            <p:cNvSpPr/>
            <p:nvPr/>
          </p:nvSpPr>
          <p:spPr>
            <a:xfrm>
              <a:off x="10448925" y="2333625"/>
              <a:ext cx="342900" cy="342900"/>
            </a:xfrm>
            <a:prstGeom prst="ellipse">
              <a:avLst/>
            </a:prstGeom>
            <a:solidFill>
              <a:schemeClr val="lt1"/>
            </a:solidFill>
            <a:ln w="19050">
              <a:solidFill>
                <a:schemeClr val="accent1"/>
              </a:solidFill>
            </a:ln>
          </p:spPr>
        </p:sp>
        <p:sp>
          <p:nvSpPr>
            <p:cNvPr id="13" name="Ellipse 13"/>
            <p:cNvSpPr/>
            <p:nvPr/>
          </p:nvSpPr>
          <p:spPr>
            <a:xfrm>
              <a:off x="10448925" y="2543175"/>
              <a:ext cx="342900" cy="342900"/>
            </a:xfrm>
            <a:prstGeom prst="ellipse">
              <a:avLst/>
            </a:prstGeom>
            <a:noFill/>
            <a:ln w="19050">
              <a:solidFill>
                <a:schemeClr val="accent2"/>
              </a:solidFill>
            </a:ln>
          </p:spPr>
        </p:sp>
        <p:sp>
          <p:nvSpPr>
            <p:cNvPr id="14" name="Line 14"/>
            <p:cNvSpPr/>
            <p:nvPr/>
          </p:nvSpPr>
          <p:spPr>
            <a:xfrm>
              <a:off x="10620375" y="2886075"/>
              <a:ext cx="9525" cy="295275"/>
            </a:xfrm>
            <a:custGeom>
              <a:avLst/>
              <a:gdLst/>
              <a:ahLst/>
              <a:cxnLst/>
              <a:rect l="l" t="t" r="r" b="b"/>
              <a:pathLst>
                <a:path w="9525" h="295275">
                  <a:moveTo>
                    <a:pt x="0" y="0"/>
                  </a:moveTo>
                  <a:lnTo>
                    <a:pt x="0" y="295275"/>
                  </a:lnTo>
                </a:path>
              </a:pathLst>
            </a:custGeom>
            <a:noFill/>
            <a:ln w="19050">
              <a:solidFill>
                <a:schemeClr val="accent2"/>
              </a:solidFill>
            </a:ln>
          </p:spPr>
        </p:sp>
        <p:sp>
          <p:nvSpPr>
            <p:cNvPr id="15" name="Line 15"/>
            <p:cNvSpPr/>
            <p:nvPr/>
          </p:nvSpPr>
          <p:spPr>
            <a:xfrm>
              <a:off x="9763125" y="3181350"/>
              <a:ext cx="1714500" cy="9525"/>
            </a:xfrm>
            <a:custGeom>
              <a:avLst/>
              <a:gdLst/>
              <a:ahLst/>
              <a:cxnLst/>
              <a:rect l="l" t="t" r="r" b="b"/>
              <a:pathLst>
                <a:path w="1714500" h="9525">
                  <a:moveTo>
                    <a:pt x="0" y="0"/>
                  </a:moveTo>
                  <a:lnTo>
                    <a:pt x="1714500" y="0"/>
                  </a:lnTo>
                </a:path>
              </a:pathLst>
            </a:custGeom>
            <a:noFill/>
            <a:ln w="38100">
              <a:solidFill>
                <a:schemeClr val="accent2"/>
              </a:solidFill>
            </a:ln>
          </p:spPr>
        </p:sp>
        <p:sp>
          <p:nvSpPr>
            <p:cNvPr id="16" name="Ellipse 16"/>
            <p:cNvSpPr/>
            <p:nvPr/>
          </p:nvSpPr>
          <p:spPr>
            <a:xfrm>
              <a:off x="9848850" y="3124200"/>
              <a:ext cx="114300" cy="114300"/>
            </a:xfrm>
            <a:prstGeom prst="ellipse">
              <a:avLst/>
            </a:prstGeom>
            <a:solidFill>
              <a:schemeClr val="accent2"/>
            </a:solidFill>
            <a:ln>
              <a:noFill/>
            </a:ln>
          </p:spPr>
        </p:sp>
        <p:sp>
          <p:nvSpPr>
            <p:cNvPr id="17" name="Ellipse 17"/>
            <p:cNvSpPr/>
            <p:nvPr/>
          </p:nvSpPr>
          <p:spPr>
            <a:xfrm>
              <a:off x="10563225" y="3124200"/>
              <a:ext cx="114300" cy="114300"/>
            </a:xfrm>
            <a:prstGeom prst="ellipse">
              <a:avLst/>
            </a:prstGeom>
            <a:solidFill>
              <a:schemeClr val="accent2"/>
            </a:solidFill>
            <a:ln>
              <a:noFill/>
            </a:ln>
          </p:spPr>
        </p:sp>
        <p:sp>
          <p:nvSpPr>
            <p:cNvPr id="18" name="Ellipse 18"/>
            <p:cNvSpPr/>
            <p:nvPr/>
          </p:nvSpPr>
          <p:spPr>
            <a:xfrm>
              <a:off x="11277600" y="3124200"/>
              <a:ext cx="114300" cy="114300"/>
            </a:xfrm>
            <a:prstGeom prst="ellipse">
              <a:avLst/>
            </a:prstGeom>
            <a:solidFill>
              <a:schemeClr val="accent2"/>
            </a:solidFill>
            <a:ln>
              <a:noFill/>
            </a:ln>
          </p:spPr>
        </p:sp>
      </p:grpSp>
      <p:grpSp>
        <p:nvGrpSpPr>
          <p:cNvPr id="22" name="p05-takeaway"/>
          <p:cNvGrpSpPr/>
          <p:nvPr/>
        </p:nvGrpSpPr>
        <p:grpSpPr>
          <a:xfrm>
            <a:off x="559308" y="4305300"/>
            <a:ext cx="11061192" cy="1136142"/>
            <a:chOff x="559308" y="4305300"/>
            <a:chExt cx="11061192" cy="1136142"/>
          </a:xfrm>
        </p:grpSpPr>
        <p:sp>
          <p:nvSpPr>
            <p:cNvPr id="20" name="Line 20"/>
            <p:cNvSpPr/>
            <p:nvPr/>
          </p:nvSpPr>
          <p:spPr>
            <a:xfrm>
              <a:off x="571500" y="4305300"/>
              <a:ext cx="11049000" cy="9525"/>
            </a:xfrm>
            <a:custGeom>
              <a:avLst/>
              <a:gdLst/>
              <a:ahLst/>
              <a:cxnLst/>
              <a:rect l="l" t="t" r="r" b="b"/>
              <a:pathLst>
                <a:path w="11049000" h="9525">
                  <a:moveTo>
                    <a:pt x="0" y="0"/>
                  </a:moveTo>
                  <a:lnTo>
                    <a:pt x="11049000" y="0"/>
                  </a:lnTo>
                </a:path>
              </a:pathLst>
            </a:custGeom>
            <a:noFill/>
            <a:ln w="9525">
              <a:solidFill>
                <a:schemeClr val="accent6"/>
              </a:solidFill>
            </a:ln>
          </p:spPr>
        </p:sp>
        <p:sp>
          <p:nvSpPr>
            <p:cNvPr id="21" name="TextBox 21"/>
            <p:cNvSpPr txBox="1"/>
            <p:nvPr/>
          </p:nvSpPr>
          <p:spPr>
            <a:xfrm>
              <a:off x="559308" y="4514850"/>
              <a:ext cx="6106790" cy="926592"/>
            </a:xfrm>
            <a:prstGeom prst="rect">
              <a:avLst/>
            </a:prstGeom>
            <a:noFill/>
            <a:ln>
              <a:noFill/>
            </a:ln>
          </p:spPr>
          <p:txBody>
            <a:bodyPr wrap="none" lIns="0" tIns="0" rIns="0" bIns="0" anchor="t" anchorCtr="0">
              <a:spAutoFit/>
            </a:bodyPr>
            <a:lstStyle/>
            <a:p>
              <a:pPr algn="l">
                <a:lnSpc>
                  <a:spcPts val="3600"/>
                </a:lnSpc>
              </a:pPr>
              <a:r>
                <a:rPr lang="en" sz="2400" dirty="0">
                  <a:solidFill>
                    <a:schemeClr val="accent1"/>
                  </a:solidFill>
                  <a:latin typeface="+mn-lt"/>
                  <a:ea typeface="+mn-ea"/>
                  <a:cs typeface="+mn-cs"/>
                </a:rPr>
                <a:t xml:space="preserve">Engineering priors → </a:t>
              </a:r>
              <a:r>
                <a:rPr lang="en" sz="2400" b="1" dirty="0">
                  <a:solidFill>
                    <a:schemeClr val="accent2"/>
                  </a:solidFill>
                  <a:latin typeface="+mn-lt"/>
                  <a:ea typeface="+mn-ea"/>
                  <a:cs typeface="+mn-cs"/>
                </a:rPr>
                <a:t>more effective search</a:t>
              </a:r>
              <a:br>
                <a:rPr lang="en" sz="2400" b="1" dirty="0">
                  <a:solidFill>
                    <a:schemeClr val="accent2"/>
                  </a:solidFill>
                  <a:latin typeface="+mn-lt"/>
                  <a:ea typeface="+mn-ea"/>
                  <a:cs typeface="+mn-cs"/>
                </a:rPr>
              </a:br>
              <a:r>
                <a:rPr lang="en" sz="2400" dirty="0">
                  <a:solidFill>
                    <a:schemeClr val="accent1"/>
                  </a:solidFill>
                  <a:latin typeface="+mn-lt"/>
                  <a:ea typeface="+mn-ea"/>
                  <a:cs typeface="+mn-cs"/>
                </a:rPr>
                <a:t>→ differentiated CLR and storage planning</a:t>
              </a:r>
            </a:p>
          </p:txBody>
        </p:sp>
      </p:grpSp>
      <p:grpSp>
        <p:nvGrpSpPr>
          <p:cNvPr id="25" name="p05-footer"/>
          <p:cNvGrpSpPr/>
          <p:nvPr/>
        </p:nvGrpSpPr>
        <p:grpSpPr>
          <a:xfrm>
            <a:off x="566166" y="6388100"/>
            <a:ext cx="11059668" cy="205359"/>
            <a:chOff x="566166" y="6388100"/>
            <a:chExt cx="11059668" cy="205359"/>
          </a:xfrm>
        </p:grpSpPr>
        <p:sp>
          <p:nvSpPr>
            <p:cNvPr id="23" name="TextBox 23"/>
            <p:cNvSpPr txBox="1"/>
            <p:nvPr/>
          </p:nvSpPr>
          <p:spPr>
            <a:xfrm>
              <a:off x="566166" y="6388100"/>
              <a:ext cx="4566322"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ENGINEERING PRIORS FOR DIFFERENTIATED GRID PLANNING</a:t>
              </a:r>
            </a:p>
          </p:txBody>
        </p:sp>
        <p:sp>
          <p:nvSpPr>
            <p:cNvPr id="24" name="TextBox 24"/>
            <p:cNvSpPr txBox="1"/>
            <p:nvPr/>
          </p:nvSpPr>
          <p:spPr>
            <a:xfrm>
              <a:off x="11182886" y="6388100"/>
              <a:ext cx="442948" cy="205359"/>
            </a:xfrm>
            <a:prstGeom prst="rect">
              <a:avLst/>
            </a:prstGeom>
            <a:noFill/>
            <a:ln>
              <a:noFill/>
            </a:ln>
          </p:spPr>
          <p:txBody>
            <a:bodyPr wrap="none" lIns="0" tIns="0" rIns="0" bIns="0" anchor="t" anchorCtr="0">
              <a:spAutoFit/>
            </a:bodyPr>
            <a:lstStyle/>
            <a:p>
              <a:pPr algn="r"/>
              <a:r>
                <a:rPr lang="en" sz="1050" dirty="0">
                  <a:solidFill>
                    <a:schemeClr val="accent5"/>
                  </a:solidFill>
                  <a:latin typeface="+mn-lt"/>
                  <a:ea typeface="+mn-ea"/>
                  <a:cs typeface="+mn-cs"/>
                </a:rPr>
                <a:t>05 / 05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EPG_NSGA_II_MIND2026_Oral">
  <a:themeElements>
    <a:clrScheme name="EPG_NSGA_II_MIND2026_Oral">
      <a:dk1>
        <a:srgbClr val="172B3A"/>
      </a:dk1>
      <a:lt1>
        <a:srgbClr val="FFFFFF"/>
      </a:lt1>
      <a:dk2>
        <a:srgbClr val="1F497D"/>
      </a:dk2>
      <a:lt2>
        <a:srgbClr val="F2F6F8"/>
      </a:lt2>
      <a:accent1>
        <a:srgbClr val="102B46"/>
      </a:accent1>
      <a:accent2>
        <a:srgbClr val="087E83"/>
      </a:accent2>
      <a:accent3>
        <a:srgbClr val="426D9B"/>
      </a:accent3>
      <a:accent4>
        <a:srgbClr val="102B46"/>
      </a:accent4>
      <a:accent5>
        <a:srgbClr val="536774"/>
      </a:accent5>
      <a:accent6>
        <a:srgbClr val="D3DFE4"/>
      </a:accent6>
      <a:hlink>
        <a:srgbClr val="087E83"/>
      </a:hlink>
      <a:folHlink>
        <a:srgbClr val="426D9B"/>
      </a:folHlink>
    </a:clrScheme>
    <a:fontScheme name="EPG_NSGA_II_MIND2026_Oral">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PG_NSGA_II_MIND2026_Or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EPG_NSGA_II_MIND2026_Oral">
  <a:themeElements>
    <a:clrScheme name="EPG_NSGA_II_MIND2026_Oral">
      <a:dk1>
        <a:srgbClr val="172B3A"/>
      </a:dk1>
      <a:lt1>
        <a:srgbClr val="FFFFFF"/>
      </a:lt1>
      <a:dk2>
        <a:srgbClr val="1F497D"/>
      </a:dk2>
      <a:lt2>
        <a:srgbClr val="F2F6F8"/>
      </a:lt2>
      <a:accent1>
        <a:srgbClr val="102B46"/>
      </a:accent1>
      <a:accent2>
        <a:srgbClr val="087E83"/>
      </a:accent2>
      <a:accent3>
        <a:srgbClr val="426D9B"/>
      </a:accent3>
      <a:accent4>
        <a:srgbClr val="102B46"/>
      </a:accent4>
      <a:accent5>
        <a:srgbClr val="536774"/>
      </a:accent5>
      <a:accent6>
        <a:srgbClr val="D3DFE4"/>
      </a:accent6>
      <a:hlink>
        <a:srgbClr val="087E83"/>
      </a:hlink>
      <a:folHlink>
        <a:srgbClr val="426D9B"/>
      </a:folHlink>
    </a:clrScheme>
    <a:fontScheme name="EPG_NSGA_II_MIND2026_Oral">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PG_NSGA_II_MIND2026_Or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dc:language>
  <cp:lastModifiedBy/>
  <cp:revision>1</cp:revision>
  <dcterms:created xsi:type="dcterms:W3CDTF">2026-10-20T07:30:53Z</dcterms:created>
  <dcterms:modified xsi:type="dcterms:W3CDTF">2026-10-20T07:30:53Z</dcterms:modified>
  <cp:category/>
  <cp:contentStatus/>
</cp:coreProperties>
</file>